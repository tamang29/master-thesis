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9be17c216c43b2" /><Relationship Type="http://schemas.openxmlformats.org/officeDocument/2006/relationships/extended-properties" Target="/docProps/app.xml" Id="R35b1a37d444c449c" /><Relationship Type="http://schemas.openxmlformats.org/officeDocument/2006/relationships/officeDocument" Target="/ppt/presentation.xml" Id="Re3a6eb1a25f24ae5" /></Relationships>
</file>

<file path=ppt/presentation.xml><?xml version="1.0" encoding="utf-8"?>
<p:presentation xmlns:p="http://schemas.openxmlformats.org/presentationml/2006/main">
  <p:sldMasterIdLst>
    <p:sldMasterId xmlns:r="http://schemas.openxmlformats.org/officeDocument/2006/relationships" id="2147483648" r:id="Ra3bc4929a46c4264"/>
  </p:sldMasterIdLst>
  <p:notesMasterIdLst>
    <p:notesMasterId xmlns:r="http://schemas.openxmlformats.org/officeDocument/2006/relationships" r:id="R20f675b043254582"/>
  </p:notesMasterIdLst>
  <p:sldIdLst>
    <p:sldId xmlns:r="http://schemas.openxmlformats.org/officeDocument/2006/relationships" id="256" r:id="Rffa2fe7e0e454e88"/>
    <p:sldId xmlns:r="http://schemas.openxmlformats.org/officeDocument/2006/relationships" id="257" r:id="R5fabf86473d044b1"/>
    <p:sldId xmlns:r="http://schemas.openxmlformats.org/officeDocument/2006/relationships" id="258" r:id="R2370754cc0424763"/>
    <p:sldId xmlns:r="http://schemas.openxmlformats.org/officeDocument/2006/relationships" id="259" r:id="R1f2c129aa23048de"/>
    <p:sldId xmlns:r="http://schemas.openxmlformats.org/officeDocument/2006/relationships" id="260" r:id="R862571fd68184cd8"/>
    <p:sldId xmlns:r="http://schemas.openxmlformats.org/officeDocument/2006/relationships" id="261" r:id="R17e0f5d26a7a47ba"/>
    <p:sldId xmlns:r="http://schemas.openxmlformats.org/officeDocument/2006/relationships" id="262" r:id="Ra56431cbb79b43c7"/>
    <p:sldId xmlns:r="http://schemas.openxmlformats.org/officeDocument/2006/relationships" id="263" r:id="R4ae45d9205d04efc"/>
    <p:sldId xmlns:r="http://schemas.openxmlformats.org/officeDocument/2006/relationships" id="264" r:id="Rc3b666abe5ed4554"/>
    <p:sldId xmlns:r="http://schemas.openxmlformats.org/officeDocument/2006/relationships" id="265" r:id="R6b9a690e94424897"/>
    <p:sldId xmlns:r="http://schemas.openxmlformats.org/officeDocument/2006/relationships" id="266" r:id="R8b98b95168374139"/>
    <p:sldId xmlns:r="http://schemas.openxmlformats.org/officeDocument/2006/relationships" id="267" r:id="Rf05051905a674f2e"/>
    <p:sldId xmlns:r="http://schemas.openxmlformats.org/officeDocument/2006/relationships" id="268" r:id="R19fc5d1662c24b5c"/>
    <p:sldId xmlns:r="http://schemas.openxmlformats.org/officeDocument/2006/relationships" id="269" r:id="R7b74a4c5ea5e4e87"/>
    <p:sldId xmlns:r="http://schemas.openxmlformats.org/officeDocument/2006/relationships" id="270" r:id="R66a3e5d2327a4f6d"/>
    <p:sldId xmlns:r="http://schemas.openxmlformats.org/officeDocument/2006/relationships" id="271" r:id="R37557d3404fa4270"/>
    <p:sldId xmlns:r="http://schemas.openxmlformats.org/officeDocument/2006/relationships" id="272" r:id="R89443e76cd844e09"/>
    <p:sldId xmlns:r="http://schemas.openxmlformats.org/officeDocument/2006/relationships" id="273" r:id="R7225de75af814bd4"/>
    <p:sldId xmlns:r="http://schemas.openxmlformats.org/officeDocument/2006/relationships" id="274" r:id="R37e5325e05954697"/>
    <p:sldId xmlns:r="http://schemas.openxmlformats.org/officeDocument/2006/relationships" id="275" r:id="R630f47310e9a47a3"/>
    <p:sldId xmlns:r="http://schemas.openxmlformats.org/officeDocument/2006/relationships" id="276" r:id="Ra28ed10be4744253"/>
    <p:sldId xmlns:r="http://schemas.openxmlformats.org/officeDocument/2006/relationships" id="277" r:id="R042d255eaceb49be"/>
    <p:sldId xmlns:r="http://schemas.openxmlformats.org/officeDocument/2006/relationships" id="278" r:id="Ra82430a6296d4f54"/>
    <p:sldId xmlns:r="http://schemas.openxmlformats.org/officeDocument/2006/relationships" id="279" r:id="R315f3e5002fc487e"/>
    <p:sldId xmlns:r="http://schemas.openxmlformats.org/officeDocument/2006/relationships" id="280" r:id="R7fca411f4cc2404c"/>
    <p:sldId xmlns:r="http://schemas.openxmlformats.org/officeDocument/2006/relationships" id="281" r:id="Rd52ab903524c4b56"/>
    <p:sldId xmlns:r="http://schemas.openxmlformats.org/officeDocument/2006/relationships" id="282" r:id="R80fe8b0ea44e4488"/>
    <p:sldId xmlns:r="http://schemas.openxmlformats.org/officeDocument/2006/relationships" id="283" r:id="Rd2831623883f4b84"/>
    <p:sldId xmlns:r="http://schemas.openxmlformats.org/officeDocument/2006/relationships" id="284" r:id="Rb4ff8dc47f024aa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a4758fcef54c8b" /><Relationship Type="http://schemas.openxmlformats.org/officeDocument/2006/relationships/slideMaster" Target="/ppt/slideMasters/slideMaster1.xml" Id="Ra3bc4929a46c4264" /><Relationship Type="http://schemas.openxmlformats.org/officeDocument/2006/relationships/notesMaster" Target="/ppt/notesMasters/notesMaster1.xml" Id="R20f675b043254582" /><Relationship Type="http://schemas.openxmlformats.org/officeDocument/2006/relationships/presProps" Target="/ppt/presProps.xml" Id="Rf3564e0c3b214dae" /><Relationship Type="http://schemas.openxmlformats.org/officeDocument/2006/relationships/tableStyles" Target="/ppt/tableStyles.xml" Id="R5a2c1a64b22c4496" /><Relationship Type="http://schemas.openxmlformats.org/officeDocument/2006/relationships/slide" Target="/ppt/slides/slide1.xml" Id="Rffa2fe7e0e454e88" /><Relationship Type="http://schemas.openxmlformats.org/officeDocument/2006/relationships/slide" Target="/ppt/slides/slide2.xml" Id="R5fabf86473d044b1" /><Relationship Type="http://schemas.openxmlformats.org/officeDocument/2006/relationships/slide" Target="/ppt/slides/slide3.xml" Id="R2370754cc0424763" /><Relationship Type="http://schemas.openxmlformats.org/officeDocument/2006/relationships/slide" Target="/ppt/slides/slide4.xml" Id="R1f2c129aa23048de" /><Relationship Type="http://schemas.openxmlformats.org/officeDocument/2006/relationships/slide" Target="/ppt/slides/slide5.xml" Id="R862571fd68184cd8" /><Relationship Type="http://schemas.openxmlformats.org/officeDocument/2006/relationships/slide" Target="/ppt/slides/slide6.xml" Id="R17e0f5d26a7a47ba" /><Relationship Type="http://schemas.openxmlformats.org/officeDocument/2006/relationships/slide" Target="/ppt/slides/slide7.xml" Id="Ra56431cbb79b43c7" /><Relationship Type="http://schemas.openxmlformats.org/officeDocument/2006/relationships/slide" Target="/ppt/slides/slide8.xml" Id="R4ae45d9205d04efc" /><Relationship Type="http://schemas.openxmlformats.org/officeDocument/2006/relationships/slide" Target="/ppt/slides/slide9.xml" Id="Rc3b666abe5ed4554" /><Relationship Type="http://schemas.openxmlformats.org/officeDocument/2006/relationships/slide" Target="/ppt/slides/slide10.xml" Id="R6b9a690e94424897" /><Relationship Type="http://schemas.openxmlformats.org/officeDocument/2006/relationships/slide" Target="/ppt/slides/slide11.xml" Id="R8b98b95168374139" /><Relationship Type="http://schemas.openxmlformats.org/officeDocument/2006/relationships/slide" Target="/ppt/slides/slide12.xml" Id="Rf05051905a674f2e" /><Relationship Type="http://schemas.openxmlformats.org/officeDocument/2006/relationships/slide" Target="/ppt/slides/slide13.xml" Id="R19fc5d1662c24b5c" /><Relationship Type="http://schemas.openxmlformats.org/officeDocument/2006/relationships/slide" Target="/ppt/slides/slide14.xml" Id="R7b74a4c5ea5e4e87" /><Relationship Type="http://schemas.openxmlformats.org/officeDocument/2006/relationships/slide" Target="/ppt/slides/slide15.xml" Id="R66a3e5d2327a4f6d" /><Relationship Type="http://schemas.openxmlformats.org/officeDocument/2006/relationships/slide" Target="/ppt/slides/slide16.xml" Id="R37557d3404fa4270" /><Relationship Type="http://schemas.openxmlformats.org/officeDocument/2006/relationships/slide" Target="/ppt/slides/slide17.xml" Id="R89443e76cd844e09" /><Relationship Type="http://schemas.openxmlformats.org/officeDocument/2006/relationships/slide" Target="/ppt/slides/slide18.xml" Id="R7225de75af814bd4" /><Relationship Type="http://schemas.openxmlformats.org/officeDocument/2006/relationships/slide" Target="/ppt/slides/slide19.xml" Id="R37e5325e05954697" /><Relationship Type="http://schemas.openxmlformats.org/officeDocument/2006/relationships/slide" Target="/ppt/slides/slide20.xml" Id="R630f47310e9a47a3" /><Relationship Type="http://schemas.openxmlformats.org/officeDocument/2006/relationships/slide" Target="/ppt/slides/slide21.xml" Id="Ra28ed10be4744253" /><Relationship Type="http://schemas.openxmlformats.org/officeDocument/2006/relationships/slide" Target="/ppt/slides/slide22.xml" Id="R042d255eaceb49be" /><Relationship Type="http://schemas.openxmlformats.org/officeDocument/2006/relationships/slide" Target="/ppt/slides/slide23.xml" Id="Ra82430a6296d4f54" /><Relationship Type="http://schemas.openxmlformats.org/officeDocument/2006/relationships/slide" Target="/ppt/slides/slide24.xml" Id="R315f3e5002fc487e" /><Relationship Type="http://schemas.openxmlformats.org/officeDocument/2006/relationships/slide" Target="/ppt/slides/slide25.xml" Id="R7fca411f4cc2404c" /><Relationship Type="http://schemas.openxmlformats.org/officeDocument/2006/relationships/slide" Target="/ppt/slides/slide26.xml" Id="Rd52ab903524c4b56" /><Relationship Type="http://schemas.openxmlformats.org/officeDocument/2006/relationships/slide" Target="/ppt/slides/slide27.xml" Id="R80fe8b0ea44e4488" /><Relationship Type="http://schemas.openxmlformats.org/officeDocument/2006/relationships/slide" Target="/ppt/slides/slide28.xml" Id="Rd2831623883f4b84" /><Relationship Type="http://schemas.openxmlformats.org/officeDocument/2006/relationships/slide" Target="/ppt/slides/slide29.xml" Id="Rb4ff8dc47f024a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58094a7b5046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UM">
      <a:dk1>
        <a:srgbClr val="000000"/>
      </a:dk1>
      <a:lt1>
        <a:srgbClr val="FFFFFF"/>
      </a:lt1>
      <a:dk2>
        <a:srgbClr val="003359"/>
      </a:dk2>
      <a:lt2>
        <a:srgbClr val="EAF4FB"/>
      </a:lt2>
      <a:accent1>
        <a:srgbClr val="0065BD"/>
      </a:accent1>
      <a:accent2>
        <a:srgbClr val="98C6EA"/>
      </a:accent2>
      <a:accent3>
        <a:srgbClr val="64A0C8"/>
      </a:accent3>
      <a:accent4>
        <a:srgbClr val="DAD7CB"/>
      </a:accent4>
      <a:accent5>
        <a:srgbClr val="A2AD00"/>
      </a:accent5>
      <a:accent6>
        <a:srgbClr val="E37222"/>
      </a:accent6>
      <a:hlink>
        <a:srgbClr val="0065BD"/>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T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45d87bf0d44dd3" /><Relationship Type="http://schemas.openxmlformats.org/officeDocument/2006/relationships/notesMaster" Target="/ppt/notesMasters/notesMaster1.xml" Id="Rc158053e17c34f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4bd2e914704eb1" /><Relationship Type="http://schemas.openxmlformats.org/officeDocument/2006/relationships/notesMaster" Target="/ppt/notesMasters/notesMaster1.xml" Id="R0faa2b71688743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93cfafdeed4aed" /><Relationship Type="http://schemas.openxmlformats.org/officeDocument/2006/relationships/notesMaster" Target="/ppt/notesMasters/notesMaster1.xml" Id="Rce5ea290f2b344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e27367485b4c80" /><Relationship Type="http://schemas.openxmlformats.org/officeDocument/2006/relationships/notesMaster" Target="/ppt/notesMasters/notesMaster1.xml" Id="Rc8eaa23f46b84c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c6d27b6dad422e" /><Relationship Type="http://schemas.openxmlformats.org/officeDocument/2006/relationships/notesMaster" Target="/ppt/notesMasters/notesMaster1.xml" Id="Rd7c0fff23c824d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fe2e2c54a74af8" /><Relationship Type="http://schemas.openxmlformats.org/officeDocument/2006/relationships/notesMaster" Target="/ppt/notesMasters/notesMaster1.xml" Id="Rfb460efe4dd446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6b994c849d4b66" /><Relationship Type="http://schemas.openxmlformats.org/officeDocument/2006/relationships/notesMaster" Target="/ppt/notesMasters/notesMaster1.xml" Id="R631df0d1a57c4b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8f54bc04cd433d" /><Relationship Type="http://schemas.openxmlformats.org/officeDocument/2006/relationships/notesMaster" Target="/ppt/notesMasters/notesMaster1.xml" Id="R2cc16c05f3ce4f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071f974a1e46ca" /><Relationship Type="http://schemas.openxmlformats.org/officeDocument/2006/relationships/notesMaster" Target="/ppt/notesMasters/notesMaster1.xml" Id="R927c8149eac847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8f80f4f22c421b" /><Relationship Type="http://schemas.openxmlformats.org/officeDocument/2006/relationships/notesMaster" Target="/ppt/notesMasters/notesMaster1.xml" Id="Ra3fa8156f24841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e0dd47d391439a" /><Relationship Type="http://schemas.openxmlformats.org/officeDocument/2006/relationships/notesMaster" Target="/ppt/notesMasters/notesMaster1.xml" Id="Rcea4125f268a49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f4c98e62f84e53" /><Relationship Type="http://schemas.openxmlformats.org/officeDocument/2006/relationships/notesMaster" Target="/ppt/notesMasters/notesMaster1.xml" Id="R6956d072797e44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49038eccb14a4d" /><Relationship Type="http://schemas.openxmlformats.org/officeDocument/2006/relationships/notesMaster" Target="/ppt/notesMasters/notesMaster1.xml" Id="R93e8c9e1d2c141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f4204b1bfc4426" /><Relationship Type="http://schemas.openxmlformats.org/officeDocument/2006/relationships/notesMaster" Target="/ppt/notesMasters/notesMaster1.xml" Id="Re546bf596ae444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257cce1ceb43f7" /><Relationship Type="http://schemas.openxmlformats.org/officeDocument/2006/relationships/notesMaster" Target="/ppt/notesMasters/notesMaster1.xml" Id="R7ad8ce88493540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c87e3bde484cae" /><Relationship Type="http://schemas.openxmlformats.org/officeDocument/2006/relationships/notesMaster" Target="/ppt/notesMasters/notesMaster1.xml" Id="R142914b2a57841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578d80d06540db" /><Relationship Type="http://schemas.openxmlformats.org/officeDocument/2006/relationships/notesMaster" Target="/ppt/notesMasters/notesMaster1.xml" Id="R1e41413547da4f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7ad0f2395f4e40" /><Relationship Type="http://schemas.openxmlformats.org/officeDocument/2006/relationships/notesMaster" Target="/ppt/notesMasters/notesMaster1.xml" Id="Ra99a6cde3c3b41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b9f6b151de47e8" /><Relationship Type="http://schemas.openxmlformats.org/officeDocument/2006/relationships/notesMaster" Target="/ppt/notesMasters/notesMaster1.xml" Id="R249ce64970574bc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04920a6e4f4d6f" /><Relationship Type="http://schemas.openxmlformats.org/officeDocument/2006/relationships/notesMaster" Target="/ppt/notesMasters/notesMaster1.xml" Id="R8ebbacafe7024c1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294d27cfdc4d3f" /><Relationship Type="http://schemas.openxmlformats.org/officeDocument/2006/relationships/notesMaster" Target="/ppt/notesMasters/notesMaster1.xml" Id="Rd6989a813e7440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04d27df70549fb" /><Relationship Type="http://schemas.openxmlformats.org/officeDocument/2006/relationships/notesMaster" Target="/ppt/notesMasters/notesMaster1.xml" Id="R5e8a51741b3b49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b8f6c347af14f30" /><Relationship Type="http://schemas.openxmlformats.org/officeDocument/2006/relationships/notesMaster" Target="/ppt/notesMasters/notesMaster1.xml" Id="R43e493287c604fd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df1b5b959c4963" /><Relationship Type="http://schemas.openxmlformats.org/officeDocument/2006/relationships/notesMaster" Target="/ppt/notesMasters/notesMaster1.xml" Id="Rc041f6e779a046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a479277d44d4239" /><Relationship Type="http://schemas.openxmlformats.org/officeDocument/2006/relationships/notesMaster" Target="/ppt/notesMasters/notesMaster1.xml" Id="R1668f52f690c406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010406401c4bcc" /><Relationship Type="http://schemas.openxmlformats.org/officeDocument/2006/relationships/notesMaster" Target="/ppt/notesMasters/notesMaster1.xml" Id="Rf87199cbc2864b0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83aa61080145a1" /><Relationship Type="http://schemas.openxmlformats.org/officeDocument/2006/relationships/notesMaster" Target="/ppt/notesMasters/notesMaster1.xml" Id="R141d5632b53e465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9a7f90a6cd4a22" /><Relationship Type="http://schemas.openxmlformats.org/officeDocument/2006/relationships/notesMaster" Target="/ppt/notesMasters/notesMaster1.xml" Id="R1e0fd6476b334a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f420d8e006a4068" /><Relationship Type="http://schemas.openxmlformats.org/officeDocument/2006/relationships/notesMaster" Target="/ppt/notesMasters/notesMaster1.xml" Id="Ra8da5c4e257346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Open with the outcome: this thesis made collaboration visible and moved Artemis onto maintained Apollon while keeping teaching workflows intact. Mobile, VS Code, and Athena are supporting ecosystem results. Source: thesis metadata and abstract.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0:15-0:50. Use the diagram's three columns. Standalone and mobile are Apollon applications. Artemis, VS Code, and Athena are integrations; Artemis is the primary one. The standalone conversion service is intentionally absent because it is an internal server component, not a peer environment. Apollon JSON: presentation-research/diagrams/apollon-products-and-integrations.json.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0:50-1:30. Tell this as one connected problem. Editing friction affected individual modeling; missing awareness affected teams; Artemis migration turned shared-editor changes into compatibility work. Source: thesis introduction, requirements, and implementation chapters.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1:30-2:05. Read the four verb-led objectives. The status slide repeats these sentences exactly. The third objective intentionally names Artemis rather than saying educational systems. Source: thesis objectives, made presentation-specific without changing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2:05-2:35. Keep the full formal model large and point to only three areas: direct diagram editing, collaborator following, and Artemis teaching workflows. The model was authored in Apollon and has a JSON source at figures/requirements-use-case-model.json.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2:35-3:15. Demonstrate the interaction principle: correct the geometry directly instead of deleting and recreating relationships. Mention the secondary improvements in one sentence. Source: thesis implementation chapter, edge usability and editor interaction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3:15-3:55. Tell the UI evolution in three steps: remote selection and drag highlights, named live cursors, then viewport following. These signals expose intent before the final model update arrives. The same awareness surface is reusable in standalone shared sessions and Artemis team modeling. Source: thesis collaboration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3:55-4:25. The communication model explains why awareness belongs beside, not inside, the diagram model. Yjs synchronizes model state; awareness messages describe the current session and disappear with it. Apollon JSON: figures/standalone-collaboration-communication.json.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4:25-7:25. Open the current Apollon home, import a realistic JSON model, demonstrate one editing or collaboration interaction, then export PPTX and show separately editable elements. Use the prepared screencast if collaboration or export is unstable. Return to slide 10 for the architecture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7:25-8:00. Artemis owns modeling exercises, quiz data, assessment records, permissions, persistence, and team sessions. Apollon provides the diagram editor, model and renderer, and collaboration-awareness UI. The conversion service is not a peer integration and is deliberately absent. Apollon JSON: presentation-research/diagrams/artemis-apollon-integration-focus.json.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8:00-8:40. Present the migration through user-visible teaching workflows rather than package changes. Modeling is the base; quiz generation and assessment needed concrete compatibility fixes; team modeling reuses the new collaboration UI. Source: Artemis migration, quiz, assessment, and collaboration sections of the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8:40-9:15. Walk left to right. Nested class members are resolved before export. The background excludes selected items; cut-outs and drop locations use the same coordinates, preventing drift. The model was validated in Apollon and saved as presentation-research/diagrams/artemis-quiz-generation-activity.json.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9:15-9:55. Keep Athena out of this slide. Explain the two concrete Artemis fixes: assessment/structured-grading compatibility and library-level collaboration awareness reused by team modeling. Source: thesis Artemis assessment and collaboration implementation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9:55-10:30. Give VS Code more space because it is the more important secondary integration. Athena is brief: it does not embed the editor; it reads versioned serialized models to support AI feedback suggestions in the Artemis ecosystem. Source: thesis VS Code and Athena sections; Athena project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10:30-11:05. This is a current screenshot, not the outdated home-page image in the thesis. Explain that the mobile app uses the standalone workflow inside a Capacitor shell and supports PNG, PDF, JSON, SVG, and PPTX export through platform file handling. Source: thesis mobile implementation and current Apollon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11:05-11:45. Be explicit about the evidence boundary. Feedback from developers, students, teaching contexts, integration work, tests, and walkthroughs supports the direction. The thesis does not statistically quantify task time, errors, or satisfaction. Source: thesis evaluation chapter.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11:45-12:25. Return to the exact wording and order from slide 4. All four objectives are realized within the defined scope. Do not imply that the qualitative evaluation proves a quantified usability gain. Source: thesis summary and realized 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12:25-13:00. Make the workflow explicit for the audience: save the JSON model, import it into the hosted Apollon app, export PPTX for editable slide elements, and keep JSON for future changes. This is also how the presentation's formal models remain reproducible. Official Apollon documentation: https://ls1intum.github.io/Apollon/.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13:00-13:35. Select three directions: systematic evaluation, stronger persistence/ownership/review, and deeper Artemis teaching support. VS Code and export continuity fit under the product-level ecosystem work. Source: thesis future-work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13:35-13:50. Resolve the opening in one sentence: collaboration became visible and Artemis migrated without losing teaching workflows. Invite questions. The remaining time is buffer for the live demo and transitions.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 Use only during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Traceability reference from the thesis requirements and summary chapters.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 model separates persisted diagram content and versions from transient collaboration state. Artemis owns exercises and assessments; Athena owns feedback requests. Apollon JSON source is stored beside the thesis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component model, not a deployment model. It shows the reusable editor, application logic, server responsibilities, collaboration relay, and persistence components. Apollon JSON: figures/apollon-standalone-decomposition.json.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answer deployment questions without mixing component and deployment ideas. Local diagrams use browser storage; shared standalone diagrams use Redis; Artemis owns course and submission persistence; VS Code uses workspace files. Apollon JSON: figures/apollon-deployment-and-persistence-architecture.json.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activity model for detailed questions about the edit-correct-save-export flow. It is the same Apollon model shown in two enlarged sequential views for projector readability. Apollon JSON: figures/requirements-editing-activity-model.json.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thesis implementation timeline. The sequence explains why migration, collaboration, and usability could not be developed as isolated work packages.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Attribution follows Fady-contribution-history/fady-contribution-inventory.md and the user's ownership rule. The main presentation remains a joint thesis narrative.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map for reproducibility. The official Apollon application can import the JSON sources and export editable PPTX or other visual formats while JSON remains the editable model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c5bb86ee5947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8df4d9e5b8464b" /><Relationship Type="http://schemas.openxmlformats.org/officeDocument/2006/relationships/slideLayout" Target="/ppt/slideLayouts/slideLayout1.xml" Id="R760d916a22094c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0d916a22094c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UM">
      <a:dk1>
        <a:srgbClr val="000000"/>
      </a:dk1>
      <a:lt1>
        <a:srgbClr val="FFFFFF"/>
      </a:lt1>
      <a:dk2>
        <a:srgbClr val="003359"/>
      </a:dk2>
      <a:lt2>
        <a:srgbClr val="EAF4FB"/>
      </a:lt2>
      <a:accent1>
        <a:srgbClr val="0065BD"/>
      </a:accent1>
      <a:accent2>
        <a:srgbClr val="98C6EA"/>
      </a:accent2>
      <a:accent3>
        <a:srgbClr val="64A0C8"/>
      </a:accent3>
      <a:accent4>
        <a:srgbClr val="DAD7CB"/>
      </a:accent4>
      <a:accent5>
        <a:srgbClr val="A2AD00"/>
      </a:accent5>
      <a:accent6>
        <a:srgbClr val="E37222"/>
      </a:accent6>
      <a:hlink>
        <a:srgbClr val="0065BD"/>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T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0c336df5ab4d2b" /><Relationship Type="http://schemas.openxmlformats.org/officeDocument/2006/relationships/image" Target="/ppt/media/image.png" Id="Rfa7da354c08b49a3" /><Relationship Type="http://schemas.openxmlformats.org/officeDocument/2006/relationships/notesSlide" Target="/ppt/notesSlides/notesSlide1.xml" Id="R8733682194a44a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abecd77f2c4388" /><Relationship Type="http://schemas.openxmlformats.org/officeDocument/2006/relationships/image" Target="/ppt/media/image2.png" Id="Rd29d7faefac34e51" /><Relationship Type="http://schemas.openxmlformats.org/officeDocument/2006/relationships/image" Target="/ppt/media/image3.png" Id="R0fa832b66afe4cd2" /><Relationship Type="http://schemas.openxmlformats.org/officeDocument/2006/relationships/notesSlide" Target="/ppt/notesSlides/notesSlide2.xml" Id="Rd41dc0c03de545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bdc4538bb94db1" /><Relationship Type="http://schemas.openxmlformats.org/officeDocument/2006/relationships/image" Target="/ppt/media/image4.png" Id="R9b505eca1a3746b0" /><Relationship Type="http://schemas.openxmlformats.org/officeDocument/2006/relationships/notesSlide" Target="/ppt/notesSlides/notesSlide3.xml" Id="R70d0c029398a48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6488111d624bd0" /><Relationship Type="http://schemas.openxmlformats.org/officeDocument/2006/relationships/image" Target="/ppt/media/image5.png" Id="R2d910ccd991f42f2" /><Relationship Type="http://schemas.openxmlformats.org/officeDocument/2006/relationships/notesSlide" Target="/ppt/notesSlides/notesSlide4.xml" Id="R40e7c2c617a443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f17ea90d7b41d6" /><Relationship Type="http://schemas.openxmlformats.org/officeDocument/2006/relationships/image" Target="/ppt/media/image6.png" Id="Rd8004a3fd31047d7" /><Relationship Type="http://schemas.openxmlformats.org/officeDocument/2006/relationships/image" Target="/ppt/media/image7.png" Id="R4f325ceca1714f80" /><Relationship Type="http://schemas.openxmlformats.org/officeDocument/2006/relationships/notesSlide" Target="/ppt/notesSlides/notesSlide5.xml" Id="R07c5c1c664454e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73dea4044d4880" /><Relationship Type="http://schemas.openxmlformats.org/officeDocument/2006/relationships/image" Target="/ppt/media/image8.png" Id="Ra709fa9e1a6d4d70" /><Relationship Type="http://schemas.openxmlformats.org/officeDocument/2006/relationships/image" Target="/ppt/media/image9.png" Id="R552d3a42c80f4abb" /><Relationship Type="http://schemas.openxmlformats.org/officeDocument/2006/relationships/image" Target="/ppt/media/image10.png" Id="R4f8d98c6f96f4bf5" /><Relationship Type="http://schemas.openxmlformats.org/officeDocument/2006/relationships/notesSlide" Target="/ppt/notesSlides/notesSlide6.xml" Id="R414d3cbded4145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25df1e32eb42a6" /><Relationship Type="http://schemas.openxmlformats.org/officeDocument/2006/relationships/image" Target="/ppt/media/image11.png" Id="R0e47c83dd934458b" /><Relationship Type="http://schemas.openxmlformats.org/officeDocument/2006/relationships/image" Target="/ppt/media/image12.png" Id="Rd0cf1283d8d94bdc" /><Relationship Type="http://schemas.openxmlformats.org/officeDocument/2006/relationships/image" Target="/ppt/media/image13.png" Id="R5251585136f74aa0" /><Relationship Type="http://schemas.openxmlformats.org/officeDocument/2006/relationships/notesSlide" Target="/ppt/notesSlides/notesSlide7.xml" Id="R3cbcc10ac4eb43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aa04c32c194f41" /><Relationship Type="http://schemas.openxmlformats.org/officeDocument/2006/relationships/image" Target="/ppt/media/image14.png" Id="Rf20ee2d5c640430c" /><Relationship Type="http://schemas.openxmlformats.org/officeDocument/2006/relationships/image" Target="/ppt/media/image15.png" Id="Rcfd78d019ead4eb4" /><Relationship Type="http://schemas.openxmlformats.org/officeDocument/2006/relationships/notesSlide" Target="/ppt/notesSlides/notesSlide8.xml" Id="R1ec6190c0de84e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998dceba1f47c0" /><Relationship Type="http://schemas.openxmlformats.org/officeDocument/2006/relationships/image" Target="/ppt/media/image16.png" Id="R05430915a61745f9" /><Relationship Type="http://schemas.openxmlformats.org/officeDocument/2006/relationships/notesSlide" Target="/ppt/notesSlides/notesSlide9.xml" Id="R274c27d3a49c40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dd29a7173f478d" /><Relationship Type="http://schemas.openxmlformats.org/officeDocument/2006/relationships/image" Target="/ppt/media/image17.png" Id="Rdcf0319625f74def" /><Relationship Type="http://schemas.openxmlformats.org/officeDocument/2006/relationships/image" Target="/ppt/media/image18.png" Id="Rca3e7847b0ac4019" /><Relationship Type="http://schemas.openxmlformats.org/officeDocument/2006/relationships/notesSlide" Target="/ppt/notesSlides/notesSlide10.xml" Id="R9c4931ff887841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365ef176324d77" /><Relationship Type="http://schemas.openxmlformats.org/officeDocument/2006/relationships/image" Target="/ppt/media/image19.png" Id="R792a4e2cbbf34a9a" /><Relationship Type="http://schemas.openxmlformats.org/officeDocument/2006/relationships/notesSlide" Target="/ppt/notesSlides/notesSlide11.xml" Id="R7ddf66d3557940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3d50e7e19643d8" /><Relationship Type="http://schemas.openxmlformats.org/officeDocument/2006/relationships/image" Target="/ppt/media/image20.png" Id="R61604ae161204ff8" /><Relationship Type="http://schemas.openxmlformats.org/officeDocument/2006/relationships/notesSlide" Target="/ppt/notesSlides/notesSlide12.xml" Id="R433cb1ad4cce40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fe279679464142" /><Relationship Type="http://schemas.openxmlformats.org/officeDocument/2006/relationships/image" Target="/ppt/media/image21.png" Id="Rc535f74303364c10" /><Relationship Type="http://schemas.openxmlformats.org/officeDocument/2006/relationships/notesSlide" Target="/ppt/notesSlides/notesSlide13.xml" Id="Rac8c6505beed4a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b2d5a9b37a43ca" /><Relationship Type="http://schemas.openxmlformats.org/officeDocument/2006/relationships/image" Target="/ppt/media/image22.png" Id="R8f16b83da7ed4024" /><Relationship Type="http://schemas.openxmlformats.org/officeDocument/2006/relationships/notesSlide" Target="/ppt/notesSlides/notesSlide14.xml" Id="Rf5e2252df7cc4a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a047712c6f1485c" /><Relationship Type="http://schemas.openxmlformats.org/officeDocument/2006/relationships/image" Target="/ppt/media/image23.png" Id="Rb46e24526c764524" /><Relationship Type="http://schemas.openxmlformats.org/officeDocument/2006/relationships/image" Target="/ppt/media/image.jpeg" Id="Rc65636577146401d" /><Relationship Type="http://schemas.openxmlformats.org/officeDocument/2006/relationships/notesSlide" Target="/ppt/notesSlides/notesSlide15.xml" Id="Rf5eae9e7fd1741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d343f0a9aa42fb" /><Relationship Type="http://schemas.openxmlformats.org/officeDocument/2006/relationships/image" Target="/ppt/media/image24.png" Id="R5dcf9b7549ec456c" /><Relationship Type="http://schemas.openxmlformats.org/officeDocument/2006/relationships/notesSlide" Target="/ppt/notesSlides/notesSlide16.xml" Id="R4b0c0ea647f24b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71ae3249f6b4963" /><Relationship Type="http://schemas.openxmlformats.org/officeDocument/2006/relationships/image" Target="/ppt/media/image25.png" Id="Reaae4416c16740b9" /><Relationship Type="http://schemas.openxmlformats.org/officeDocument/2006/relationships/notesSlide" Target="/ppt/notesSlides/notesSlide17.xml" Id="R13ddeba6df4d40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c3a2eec2c464472" /><Relationship Type="http://schemas.openxmlformats.org/officeDocument/2006/relationships/image" Target="/ppt/media/image26.png" Id="R99e31fc4f5ef4d69" /><Relationship Type="http://schemas.openxmlformats.org/officeDocument/2006/relationships/image" Target="/ppt/media/image2.jpeg" Id="Rd26892877dba400d" /><Relationship Type="http://schemas.openxmlformats.org/officeDocument/2006/relationships/notesSlide" Target="/ppt/notesSlides/notesSlide18.xml" Id="R0b7bb2500893410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d41f792dc4941fe" /><Relationship Type="http://schemas.openxmlformats.org/officeDocument/2006/relationships/image" Target="/ppt/media/image27.png" Id="R865782434ca84caa" /><Relationship Type="http://schemas.openxmlformats.org/officeDocument/2006/relationships/notesSlide" Target="/ppt/notesSlides/notesSlide19.xml" Id="R5cd23c9b26d0496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5c4aed3f8d94e54" /><Relationship Type="http://schemas.openxmlformats.org/officeDocument/2006/relationships/image" Target="/ppt/media/image28.png" Id="Ra07258ea5e5e4c48" /><Relationship Type="http://schemas.openxmlformats.org/officeDocument/2006/relationships/notesSlide" Target="/ppt/notesSlides/notesSlide20.xml" Id="R6a63672f39ab49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b4096f4bd634abf" /><Relationship Type="http://schemas.openxmlformats.org/officeDocument/2006/relationships/image" Target="/ppt/media/image29.png" Id="Rb3f1e0647cf14b09" /><Relationship Type="http://schemas.openxmlformats.org/officeDocument/2006/relationships/notesSlide" Target="/ppt/notesSlides/notesSlide21.xml" Id="R04c78630f9314ef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b7efd2be033402f" /><Relationship Type="http://schemas.openxmlformats.org/officeDocument/2006/relationships/image" Target="/ppt/media/image30.png" Id="Rd3abbc76e3f4403d" /><Relationship Type="http://schemas.openxmlformats.org/officeDocument/2006/relationships/notesSlide" Target="/ppt/notesSlides/notesSlide22.xml" Id="Rc42351f3ad9c42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d8200c530de45fe" /><Relationship Type="http://schemas.openxmlformats.org/officeDocument/2006/relationships/image" Target="/ppt/media/image31.png" Id="R76224118ff974318" /><Relationship Type="http://schemas.openxmlformats.org/officeDocument/2006/relationships/image" Target="/ppt/media/image32.png" Id="Rc58086ecf77942c8" /><Relationship Type="http://schemas.openxmlformats.org/officeDocument/2006/relationships/notesSlide" Target="/ppt/notesSlides/notesSlide23.xml" Id="R0009ec290ee84b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ab67cf4f07046d1" /><Relationship Type="http://schemas.openxmlformats.org/officeDocument/2006/relationships/image" Target="/ppt/media/image33.png" Id="R35c3dfbaf474407f" /><Relationship Type="http://schemas.openxmlformats.org/officeDocument/2006/relationships/image" Target="/ppt/media/image34.png" Id="R8e541bd33daa47c4" /><Relationship Type="http://schemas.openxmlformats.org/officeDocument/2006/relationships/notesSlide" Target="/ppt/notesSlides/notesSlide24.xml" Id="R9d9774532a5244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2d5e22022c94423" /><Relationship Type="http://schemas.openxmlformats.org/officeDocument/2006/relationships/image" Target="/ppt/media/image35.png" Id="Re37255cdb2a24fad" /><Relationship Type="http://schemas.openxmlformats.org/officeDocument/2006/relationships/image" Target="/ppt/media/image36.png" Id="R88c0a481f3ab40cc" /><Relationship Type="http://schemas.openxmlformats.org/officeDocument/2006/relationships/notesSlide" Target="/ppt/notesSlides/notesSlide25.xml" Id="R764dbe36968f46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89cfdfc9d1344a0" /><Relationship Type="http://schemas.openxmlformats.org/officeDocument/2006/relationships/image" Target="/ppt/media/image37.png" Id="Ra30fd32fa0b6444f" /><Relationship Type="http://schemas.openxmlformats.org/officeDocument/2006/relationships/image" Target="/ppt/media/image38.png" Id="R52b1b3e3c38545fc" /><Relationship Type="http://schemas.openxmlformats.org/officeDocument/2006/relationships/image" Target="/ppt/media/image39.png" Id="Rbd54bdd554234f9a" /><Relationship Type="http://schemas.openxmlformats.org/officeDocument/2006/relationships/notesSlide" Target="/ppt/notesSlides/notesSlide26.xml" Id="R68309dd26e8b47d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bba8488aee3457d" /><Relationship Type="http://schemas.openxmlformats.org/officeDocument/2006/relationships/image" Target="/ppt/media/image40.png" Id="Rdff9ab1c941947b6" /><Relationship Type="http://schemas.openxmlformats.org/officeDocument/2006/relationships/notesSlide" Target="/ppt/notesSlides/notesSlide27.xml" Id="Rd4d348b969e54ea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8ff35f5d5f4f1a" /><Relationship Type="http://schemas.openxmlformats.org/officeDocument/2006/relationships/image" Target="/ppt/media/image41.png" Id="R1ec1c566b2a4498a" /><Relationship Type="http://schemas.openxmlformats.org/officeDocument/2006/relationships/notesSlide" Target="/ppt/notesSlides/notesSlide28.xml" Id="Ref12e91160c44cf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66ecac183764af6" /><Relationship Type="http://schemas.openxmlformats.org/officeDocument/2006/relationships/image" Target="/ppt/media/image42.png" Id="R308ee5b352314c05" /><Relationship Type="http://schemas.openxmlformats.org/officeDocument/2006/relationships/notesSlide" Target="/ppt/notesSlides/notesSlide29.xml" Id="R13472b9d7c9c4b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3EDA39-4023-4197-9854-2560DCB50F6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0065B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9352B1-E087-4BF4-A15A-6BEA17C7C97E}"/>
              </a:ext>
            </a:extLst>
          </p:cNvPr>
          <p:cNvSpPr>
            <a:spLocks xmlns:a="http://schemas.openxmlformats.org/drawingml/2006/main" noGrp="1"/>
          </p:cNvSpPr>
          <p:nvPr/>
        </p:nvSpPr>
        <p:spPr>
          <a:xfrm xmlns:a="http://schemas.openxmlformats.org/drawingml/2006/main">
            <a:off x="190500" y="0"/>
            <a:ext cx="66675" cy="6858000"/>
          </a:xfrm>
          <a:prstGeom xmlns:a="http://schemas.openxmlformats.org/drawingml/2006/main" prst="rect">
            <a:avLst/>
          </a:prstGeom>
          <a:solidFill xmlns:a="http://schemas.openxmlformats.org/drawingml/2006/main">
            <a:srgbClr val="98C6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97E972-EEFF-4C70-A871-EEBFC5C42146}"/>
              </a:ext>
            </a:extLst>
          </p:cNvPr>
          <p:cNvSpPr>
            <a:spLocks xmlns:a="http://schemas.openxmlformats.org/drawingml/2006/main" noGrp="1"/>
          </p:cNvSpPr>
          <p:nvPr/>
        </p:nvSpPr>
        <p:spPr>
          <a:xfrm xmlns:a="http://schemas.openxmlformats.org/drawingml/2006/main">
            <a:off x="666750" y="6096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065BD"/>
                </a:solidFill>
                <a:latin typeface="Arial"/>
                <a:ea typeface="Arial"/>
                <a:cs typeface="Arial"/>
              </a:defRPr>
            </a:pPr>
            <a:r>
              <a:rPr sz="1050" b="1">
                <a:solidFill>
                  <a:srgbClr val="0065BD"/>
                </a:solidFill>
                <a:latin typeface="Arial"/>
                <a:ea typeface="Arial"/>
                <a:cs typeface="Arial"/>
              </a:rPr>
              <a:t>MASTER'S THESIS | INFORMATION SYSTEMS / INFORMATIK</a:t>
            </a:r>
          </a:p>
        </p:txBody>
      </p:sp>
      <p:sp>
        <p:nvSpPr>
          <p:cNvPr id="4" name="">
            <a:extLst xmlns:a="http://schemas.openxmlformats.org/drawingml/2006/main">
              <a:ext uri="{FF2B5EF4-FFF2-40B4-BE49-F238E27FC236}">
                <a16:creationId xmlns:a16="http://schemas.microsoft.com/office/drawing/2014/main" id="{69D29A2B-57B5-4168-BBF9-55071C973B1F}"/>
              </a:ext>
            </a:extLst>
          </p:cNvPr>
          <p:cNvSpPr>
            <a:spLocks xmlns:a="http://schemas.openxmlformats.org/drawingml/2006/main" noGrp="1"/>
          </p:cNvSpPr>
          <p:nvPr/>
        </p:nvSpPr>
        <p:spPr>
          <a:xfrm xmlns:a="http://schemas.openxmlformats.org/drawingml/2006/main">
            <a:off x="666750" y="1257300"/>
            <a:ext cx="9239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450" b="1">
                <a:solidFill>
                  <a:srgbClr val="111820"/>
                </a:solidFill>
                <a:latin typeface="Arial"/>
                <a:ea typeface="Arial"/>
                <a:cs typeface="Arial"/>
              </a:defRPr>
            </a:pPr>
            <a:r>
              <a:rPr sz="3450" b="1">
                <a:solidFill>
                  <a:srgbClr val="111820"/>
                </a:solidFill>
                <a:latin typeface="Arial"/>
                <a:ea typeface="Arial"/>
                <a:cs typeface="Arial"/>
              </a:rPr>
              <a:t>Enhance Usability of the Educational Modeling Software Apollon</a:t>
            </a:r>
          </a:p>
        </p:txBody>
      </p:sp>
      <p:sp>
        <p:nvSpPr>
          <p:cNvPr id="5" name="">
            <a:extLst xmlns:a="http://schemas.openxmlformats.org/drawingml/2006/main">
              <a:ext uri="{FF2B5EF4-FFF2-40B4-BE49-F238E27FC236}">
                <a16:creationId xmlns:a16="http://schemas.microsoft.com/office/drawing/2014/main" id="{8F4A8E17-7585-4A3C-887E-A3283DA0355F}"/>
              </a:ext>
            </a:extLst>
          </p:cNvPr>
          <p:cNvSpPr>
            <a:spLocks xmlns:a="http://schemas.openxmlformats.org/drawingml/2006/main" noGrp="1"/>
          </p:cNvSpPr>
          <p:nvPr/>
        </p:nvSpPr>
        <p:spPr>
          <a:xfrm xmlns:a="http://schemas.openxmlformats.org/drawingml/2006/main">
            <a:off x="666750" y="280035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3359"/>
                </a:solidFill>
                <a:latin typeface="Arial"/>
                <a:ea typeface="Arial"/>
                <a:cs typeface="Arial"/>
              </a:defRPr>
            </a:pPr>
            <a:r>
              <a:rPr sz="1800" b="1">
                <a:solidFill>
                  <a:srgbClr val="003359"/>
                </a:solidFill>
                <a:latin typeface="Arial"/>
                <a:ea typeface="Arial"/>
                <a:cs typeface="Arial"/>
              </a:rPr>
              <a:t>Collaboration-aware modeling and a maintained Artemis integration</a:t>
            </a:r>
          </a:p>
        </p:txBody>
      </p:sp>
      <p:sp>
        <p:nvSpPr>
          <p:cNvPr id="6" name="">
            <a:extLst xmlns:a="http://schemas.openxmlformats.org/drawingml/2006/main">
              <a:ext uri="{FF2B5EF4-FFF2-40B4-BE49-F238E27FC236}">
                <a16:creationId xmlns:a16="http://schemas.microsoft.com/office/drawing/2014/main" id="{E8C7C4DA-6256-452C-9E7B-09326AADC272}"/>
              </a:ext>
            </a:extLst>
          </p:cNvPr>
          <p:cNvSpPr>
            <a:spLocks xmlns:a="http://schemas.openxmlformats.org/drawingml/2006/main" noGrp="1"/>
          </p:cNvSpPr>
          <p:nvPr/>
        </p:nvSpPr>
        <p:spPr>
          <a:xfrm xmlns:a="http://schemas.openxmlformats.org/drawingml/2006/main">
            <a:off x="666750" y="32575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6616B"/>
                </a:solidFill>
                <a:latin typeface="Arial"/>
                <a:ea typeface="Arial"/>
                <a:cs typeface="Arial"/>
              </a:defRPr>
            </a:pPr>
            <a:r>
              <a:rPr sz="1500" b="0">
                <a:solidFill>
                  <a:srgbClr val="56616B"/>
                </a:solidFill>
                <a:latin typeface="Arial"/>
                <a:ea typeface="Arial"/>
                <a:cs typeface="Arial"/>
              </a:rPr>
              <a:t>with mobile and VS Code support, plus Athena model compatibility</a:t>
            </a:r>
          </a:p>
        </p:txBody>
      </p:sp>
      <p:sp>
        <p:nvSpPr>
          <p:cNvPr id="7" name="">
            <a:extLst xmlns:a="http://schemas.openxmlformats.org/drawingml/2006/main">
              <a:ext uri="{FF2B5EF4-FFF2-40B4-BE49-F238E27FC236}">
                <a16:creationId xmlns:a16="http://schemas.microsoft.com/office/drawing/2014/main" id="{0184FF29-D01C-41AD-975B-00DD42AB3995}"/>
              </a:ext>
            </a:extLst>
          </p:cNvPr>
          <p:cNvSpPr>
            <a:spLocks xmlns:a="http://schemas.openxmlformats.org/drawingml/2006/main" noGrp="1"/>
          </p:cNvSpPr>
          <p:nvPr/>
        </p:nvSpPr>
        <p:spPr>
          <a:xfrm xmlns:a="http://schemas.openxmlformats.org/drawingml/2006/main">
            <a:off x="666750" y="3981450"/>
            <a:ext cx="1981200" cy="9525"/>
          </a:xfrm>
          <a:prstGeom xmlns:a="http://schemas.openxmlformats.org/drawingml/2006/main" prst="line">
            <a:avLst/>
          </a:prstGeom>
          <a:noFill xmlns:a="http://schemas.openxmlformats.org/drawingml/2006/main"/>
          <a:ln xmlns:a="http://schemas.openxmlformats.org/drawingml/2006/main" w="57150">
            <a:solidFill>
              <a:srgbClr val="0065BD"/>
            </a:solidFill>
            <a:prstDash val="solid"/>
          </a:ln>
        </p:spPr>
      </p:sp>
      <p:sp>
        <p:nvSpPr>
          <p:cNvPr id="8" name="">
            <a:extLst xmlns:a="http://schemas.openxmlformats.org/drawingml/2006/main">
              <a:ext uri="{FF2B5EF4-FFF2-40B4-BE49-F238E27FC236}">
                <a16:creationId xmlns:a16="http://schemas.microsoft.com/office/drawing/2014/main" id="{4B694302-A8B0-4259-B287-2DC9C2B74E28}"/>
              </a:ext>
            </a:extLst>
          </p:cNvPr>
          <p:cNvSpPr>
            <a:spLocks xmlns:a="http://schemas.openxmlformats.org/drawingml/2006/main" noGrp="1"/>
          </p:cNvSpPr>
          <p:nvPr/>
        </p:nvSpPr>
        <p:spPr>
          <a:xfrm xmlns:a="http://schemas.openxmlformats.org/drawingml/2006/main">
            <a:off x="666750" y="4343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820"/>
                </a:solidFill>
                <a:latin typeface="Arial"/>
                <a:ea typeface="Arial"/>
                <a:cs typeface="Arial"/>
              </a:defRPr>
            </a:pPr>
            <a:r>
              <a:rPr sz="1800" b="1">
                <a:solidFill>
                  <a:srgbClr val="111820"/>
                </a:solidFill>
                <a:latin typeface="Arial"/>
                <a:ea typeface="Arial"/>
                <a:cs typeface="Arial"/>
              </a:rPr>
              <a:t>Fady Samaan | Ravi Tamang</a:t>
            </a:r>
          </a:p>
        </p:txBody>
      </p:sp>
      <p:sp>
        <p:nvSpPr>
          <p:cNvPr id="9" name="">
            <a:extLst xmlns:a="http://schemas.openxmlformats.org/drawingml/2006/main">
              <a:ext uri="{FF2B5EF4-FFF2-40B4-BE49-F238E27FC236}">
                <a16:creationId xmlns:a16="http://schemas.microsoft.com/office/drawing/2014/main" id="{3B83B682-6ECD-46AD-ADDA-82B4BCA94B08}"/>
              </a:ext>
            </a:extLst>
          </p:cNvPr>
          <p:cNvSpPr>
            <a:spLocks xmlns:a="http://schemas.openxmlformats.org/drawingml/2006/main" noGrp="1"/>
          </p:cNvSpPr>
          <p:nvPr/>
        </p:nvSpPr>
        <p:spPr>
          <a:xfrm xmlns:a="http://schemas.openxmlformats.org/drawingml/2006/main">
            <a:off x="666750" y="4800600"/>
            <a:ext cx="6096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6616B"/>
                </a:solidFill>
                <a:latin typeface="Arial"/>
                <a:ea typeface="Arial"/>
                <a:cs typeface="Arial"/>
              </a:defRPr>
            </a:pPr>
            <a:r>
              <a:rPr sz="1350" b="0">
                <a:solidFill>
                  <a:srgbClr val="56616B"/>
                </a:solidFill>
                <a:latin typeface="Arial"/>
                <a:ea typeface="Arial"/>
                <a:cs typeface="Arial"/>
              </a:rPr>
              <a:t>Supervisor: Felix Dietrich, M.Sc.</a:t>
            </a:r>
          </a:p>
          <a:p xmlns:a="http://schemas.openxmlformats.org/drawingml/2006/main">
            <a:pPr algn="l">
              <a:defRPr sz="1350" b="0">
                <a:solidFill>
                  <a:srgbClr val="56616B"/>
                </a:solidFill>
                <a:latin typeface="Arial"/>
                <a:ea typeface="Arial"/>
                <a:cs typeface="Arial"/>
              </a:defRPr>
            </a:pPr>
            <a:r>
              <a:rPr sz="1350" b="0">
                <a:solidFill>
                  <a:srgbClr val="56616B"/>
                </a:solidFill>
                <a:latin typeface="Arial"/>
                <a:ea typeface="Arial"/>
                <a:cs typeface="Arial"/>
              </a:rPr>
              <a:t>Examiner: Prof. Dr. Stephan Krusche</a:t>
            </a:r>
          </a:p>
          <a:p xmlns:a="http://schemas.openxmlformats.org/drawingml/2006/main">
            <a:pPr algn="l">
              <a:defRPr sz="1350" b="0">
                <a:solidFill>
                  <a:srgbClr val="56616B"/>
                </a:solidFill>
                <a:latin typeface="Arial"/>
                <a:ea typeface="Arial"/>
                <a:cs typeface="Arial"/>
              </a:defRPr>
            </a:pPr>
            <a:r>
              <a:rPr sz="1350" b="0">
                <a:solidFill>
                  <a:srgbClr val="56616B"/>
                </a:solidFill>
                <a:latin typeface="Arial"/>
                <a:ea typeface="Arial"/>
                <a:cs typeface="Arial"/>
              </a:rPr>
              <a:t>Munich | July 2026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7da354c08b49a3"/>
          <a:stretch xmlns:a="http://schemas.openxmlformats.org/drawingml/2006/main"/>
        </p:blipFill>
        <p:spPr>
          <a:xfrm xmlns:a="http://schemas.openxmlformats.org/drawingml/2006/main">
            <a:off x="10881946" y="400050"/>
            <a:ext cx="867508" cy="4572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B30DFE7-9133-49EB-AA07-F6BD25331DF0}"/>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a:t>
            </a:r>
          </a:p>
        </p:txBody>
      </p:sp>
    </p:spTree>
    <p:extLst>
      <p:ext uri="{BB962C8B-B14F-4D97-AF65-F5344CB8AC3E}">
        <p14:creationId xmlns:p14="http://schemas.microsoft.com/office/powerpoint/2010/main" val="11148562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1D8ECE15-FD3E-456A-A00B-5E6E2F6D9D9E}"/>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CONTEXT | COMPONENT MODEL</a:t>
            </a:r>
          </a:p>
        </p:txBody>
      </p:sp>
      <p:sp>
        <p:nvSpPr>
          <p:cNvPr id="2" name="Slide title">
            <a:extLst xmlns:a="http://schemas.openxmlformats.org/drawingml/2006/main">
              <a:ext uri="{FF2B5EF4-FFF2-40B4-BE49-F238E27FC236}">
                <a16:creationId xmlns:a16="http://schemas.microsoft.com/office/drawing/2014/main" id="{FAEA60C2-A9C0-4F7E-B52E-6FCFBC3915F9}"/>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820"/>
                </a:solidFill>
                <a:latin typeface="Arial"/>
                <a:ea typeface="Arial"/>
                <a:cs typeface="Arial"/>
              </a:defRPr>
            </a:pPr>
            <a:r>
              <a:rPr sz="2025" b="1">
                <a:solidFill>
                  <a:srgbClr val="111820"/>
                </a:solidFill>
                <a:latin typeface="Arial"/>
                <a:ea typeface="Arial"/>
                <a:cs typeface="Arial"/>
              </a:rPr>
              <a:t>Two applications and three integrations reuse one Apollon library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29d7faefac34e51"/>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B4FBDA-B7B1-4E7E-A291-53E6F189EF90}"/>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B6F9F4E0-EAD6-40C2-9EA5-2622D5BD8992}"/>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65E5CFD4-9A10-471F-86C5-68E1563CB3C1}"/>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a:t>
            </a:r>
          </a:p>
        </p:txBody>
      </p:sp>
      <p:sp>
        <p:nvSpPr>
          <p:cNvPr id="7" name="Diagram stage">
            <a:extLst xmlns:a="http://schemas.openxmlformats.org/drawingml/2006/main">
              <a:ext uri="{FF2B5EF4-FFF2-40B4-BE49-F238E27FC236}">
                <a16:creationId xmlns:a16="http://schemas.microsoft.com/office/drawing/2014/main" id="{EEF53AFC-CBAB-4836-9EF7-3D9FFC205E58}"/>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fa832b66afe4cd2"/>
          <a:stretch xmlns:a="http://schemas.openxmlformats.org/drawingml/2006/main"/>
        </p:blipFill>
        <p:spPr>
          <a:xfrm xmlns:a="http://schemas.openxmlformats.org/drawingml/2006/main">
            <a:off x="988088" y="1371600"/>
            <a:ext cx="10215824" cy="46482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7148F7F-8767-42C6-B9ED-A4EE537CFC68}"/>
              </a:ext>
            </a:extLst>
          </p:cNvPr>
          <p:cNvSpPr>
            <a:spLocks xmlns:a="http://schemas.openxmlformats.org/drawingml/2006/main" noGrp="1"/>
          </p:cNvSpPr>
          <p:nvPr/>
        </p:nvSpPr>
        <p:spPr>
          <a:xfrm xmlns:a="http://schemas.openxmlformats.org/drawingml/2006/main">
            <a:off x="1257300" y="6143625"/>
            <a:ext cx="967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03359"/>
                </a:solidFill>
                <a:latin typeface="Arial"/>
                <a:ea typeface="Arial"/>
                <a:cs typeface="Arial"/>
              </a:defRPr>
            </a:pPr>
            <a:r>
              <a:rPr sz="1200" b="1">
                <a:solidFill>
                  <a:srgbClr val="003359"/>
                </a:solidFill>
                <a:latin typeface="Arial"/>
                <a:ea typeface="Arial"/>
                <a:cs typeface="Arial"/>
              </a:rPr>
              <a:t>Applications run Apollon. Artemis, VS Code, and Athena integrate it - in that order of importance here.</a:t>
            </a:r>
          </a:p>
        </p:txBody>
      </p:sp>
    </p:spTree>
    <p:extLst>
      <p:ext uri="{BB962C8B-B14F-4D97-AF65-F5344CB8AC3E}">
        <p14:creationId xmlns:p14="http://schemas.microsoft.com/office/powerpoint/2010/main" val="828463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6FFA5D43-B733-4D5E-8A1D-38D958397FFD}"/>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PROBLEM</a:t>
            </a:r>
          </a:p>
        </p:txBody>
      </p:sp>
      <p:sp>
        <p:nvSpPr>
          <p:cNvPr id="2" name="Slide title">
            <a:extLst xmlns:a="http://schemas.openxmlformats.org/drawingml/2006/main">
              <a:ext uri="{FF2B5EF4-FFF2-40B4-BE49-F238E27FC236}">
                <a16:creationId xmlns:a16="http://schemas.microsoft.com/office/drawing/2014/main" id="{50113151-90B1-4F03-9F09-A5348BF1441B}"/>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Shared editing worked, but collaborators could not read intent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b505eca1a3746b0"/>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459963-1A70-4127-AF5D-2E60F8DEC0DE}"/>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EC8DA361-6A9F-49A8-B10C-F8D49AD674AB}"/>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6FF8C138-6D0E-4E26-8F02-1CCC02CACAB9}"/>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A9AA12C7-92BE-48EA-A32C-D661C8B7F020}"/>
              </a:ext>
            </a:extLst>
          </p:cNvPr>
          <p:cNvSpPr>
            <a:spLocks xmlns:a="http://schemas.openxmlformats.org/drawingml/2006/main" noGrp="1"/>
          </p:cNvSpPr>
          <p:nvPr/>
        </p:nvSpPr>
        <p:spPr>
          <a:xfrm xmlns:a="http://schemas.openxmlformats.org/drawingml/2006/main">
            <a:off x="609600" y="1524000"/>
            <a:ext cx="3333750" cy="3200400"/>
          </a:xfrm>
          <a:prstGeom xmlns:a="http://schemas.openxmlformats.org/drawingml/2006/main" prst="roundRect">
            <a:avLst>
              <a:gd name="adj" fmla="val 3571"/>
            </a:avLst>
          </a:prstGeom>
          <a:solidFill xmlns:a="http://schemas.openxmlformats.org/drawingml/2006/main">
            <a:srgbClr val="EAF4FB"/>
          </a:solidFill>
          <a:ln xmlns:a="http://schemas.openxmlformats.org/drawingml/2006/main" w="11430">
            <a:solidFill>
              <a:srgbClr val="DDE3E8"/>
            </a:solidFill>
            <a:prstDash val="solid"/>
          </a:ln>
        </p:spPr>
      </p:sp>
      <p:sp>
        <p:nvSpPr>
          <p:cNvPr id="8" name="">
            <a:extLst xmlns:a="http://schemas.openxmlformats.org/drawingml/2006/main">
              <a:ext uri="{FF2B5EF4-FFF2-40B4-BE49-F238E27FC236}">
                <a16:creationId xmlns:a16="http://schemas.microsoft.com/office/drawing/2014/main" id="{688D52AD-70D3-4C64-9018-52198FDE3373}"/>
              </a:ext>
            </a:extLst>
          </p:cNvPr>
          <p:cNvSpPr>
            <a:spLocks xmlns:a="http://schemas.openxmlformats.org/drawingml/2006/main" noGrp="1"/>
          </p:cNvSpPr>
          <p:nvPr/>
        </p:nvSpPr>
        <p:spPr>
          <a:xfrm xmlns:a="http://schemas.openxmlformats.org/drawingml/2006/main">
            <a:off x="609600" y="1524000"/>
            <a:ext cx="66675" cy="3200400"/>
          </a:xfrm>
          <a:prstGeom xmlns:a="http://schemas.openxmlformats.org/drawingml/2006/main" prst="rect">
            <a:avLst/>
          </a:prstGeom>
          <a:solidFill xmlns:a="http://schemas.openxmlformats.org/drawingml/2006/main">
            <a:srgbClr val="0065B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41C94CC-7198-4C60-87C9-44308F4EF75D}"/>
              </a:ext>
            </a:extLst>
          </p:cNvPr>
          <p:cNvSpPr>
            <a:spLocks xmlns:a="http://schemas.openxmlformats.org/drawingml/2006/main" noGrp="1"/>
          </p:cNvSpPr>
          <p:nvPr/>
        </p:nvSpPr>
        <p:spPr>
          <a:xfrm xmlns:a="http://schemas.openxmlformats.org/drawingml/2006/main">
            <a:off x="847725" y="1695450"/>
            <a:ext cx="2876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65BD"/>
                </a:solidFill>
                <a:latin typeface="Arial"/>
                <a:ea typeface="Arial"/>
                <a:cs typeface="Arial"/>
              </a:defRPr>
            </a:pPr>
            <a:r>
              <a:rPr sz="825" b="1">
                <a:solidFill>
                  <a:srgbClr val="0065BD"/>
                </a:solidFill>
                <a:latin typeface="Arial"/>
                <a:ea typeface="Arial"/>
                <a:cs typeface="Arial"/>
              </a:rPr>
              <a:t>ON THE CANVAS</a:t>
            </a:r>
          </a:p>
        </p:txBody>
      </p:sp>
      <p:sp>
        <p:nvSpPr>
          <p:cNvPr id="10" name="">
            <a:extLst xmlns:a="http://schemas.openxmlformats.org/drawingml/2006/main">
              <a:ext uri="{FF2B5EF4-FFF2-40B4-BE49-F238E27FC236}">
                <a16:creationId xmlns:a16="http://schemas.microsoft.com/office/drawing/2014/main" id="{A4AAE378-7E5F-4F32-876E-4C7B79E885D6}"/>
              </a:ext>
            </a:extLst>
          </p:cNvPr>
          <p:cNvSpPr>
            <a:spLocks xmlns:a="http://schemas.openxmlformats.org/drawingml/2006/main" noGrp="1"/>
          </p:cNvSpPr>
          <p:nvPr/>
        </p:nvSpPr>
        <p:spPr>
          <a:xfrm xmlns:a="http://schemas.openxmlformats.org/drawingml/2006/main">
            <a:off x="847725" y="1990725"/>
            <a:ext cx="2876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11820"/>
                </a:solidFill>
                <a:latin typeface="Arial"/>
                <a:ea typeface="Arial"/>
                <a:cs typeface="Arial"/>
              </a:defRPr>
            </a:pPr>
            <a:r>
              <a:rPr sz="1875" b="1">
                <a:solidFill>
                  <a:srgbClr val="111820"/>
                </a:solidFill>
                <a:latin typeface="Arial"/>
                <a:ea typeface="Arial"/>
                <a:cs typeface="Arial"/>
              </a:rPr>
              <a:t>Editing demanded repair work</a:t>
            </a:r>
          </a:p>
        </p:txBody>
      </p:sp>
      <p:sp>
        <p:nvSpPr>
          <p:cNvPr id="11" name="">
            <a:extLst xmlns:a="http://schemas.openxmlformats.org/drawingml/2006/main">
              <a:ext uri="{FF2B5EF4-FFF2-40B4-BE49-F238E27FC236}">
                <a16:creationId xmlns:a16="http://schemas.microsoft.com/office/drawing/2014/main" id="{73EF1D24-9D30-4E15-8C8B-2F473E5310C1}"/>
              </a:ext>
            </a:extLst>
          </p:cNvPr>
          <p:cNvSpPr>
            <a:spLocks xmlns:a="http://schemas.openxmlformats.org/drawingml/2006/main" noGrp="1"/>
          </p:cNvSpPr>
          <p:nvPr/>
        </p:nvSpPr>
        <p:spPr>
          <a:xfrm xmlns:a="http://schemas.openxmlformats.org/drawingml/2006/main">
            <a:off x="847725" y="2695575"/>
            <a:ext cx="28765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Correcting edge paths, arranging elements, and navigating larger diagrams repeatedly interrupted the modeling task.</a:t>
            </a:r>
          </a:p>
        </p:txBody>
      </p:sp>
      <p:sp>
        <p:nvSpPr>
          <p:cNvPr id="12" name="">
            <a:extLst xmlns:a="http://schemas.openxmlformats.org/drawingml/2006/main">
              <a:ext uri="{FF2B5EF4-FFF2-40B4-BE49-F238E27FC236}">
                <a16:creationId xmlns:a16="http://schemas.microsoft.com/office/drawing/2014/main" id="{D9FDE626-0D66-410E-A318-D96DD5623CF5}"/>
              </a:ext>
            </a:extLst>
          </p:cNvPr>
          <p:cNvSpPr>
            <a:spLocks xmlns:a="http://schemas.openxmlformats.org/drawingml/2006/main" noGrp="1"/>
          </p:cNvSpPr>
          <p:nvPr/>
        </p:nvSpPr>
        <p:spPr>
          <a:xfrm xmlns:a="http://schemas.openxmlformats.org/drawingml/2006/main">
            <a:off x="4429125" y="1524000"/>
            <a:ext cx="3333750" cy="3200400"/>
          </a:xfrm>
          <a:prstGeom xmlns:a="http://schemas.openxmlformats.org/drawingml/2006/main" prst="roundRect">
            <a:avLst>
              <a:gd name="adj" fmla="val 3571"/>
            </a:avLst>
          </a:prstGeom>
          <a:solidFill xmlns:a="http://schemas.openxmlformats.org/drawingml/2006/main">
            <a:srgbClr val="FFF1E7"/>
          </a:solidFill>
          <a:ln xmlns:a="http://schemas.openxmlformats.org/drawingml/2006/main" w="11430">
            <a:solidFill>
              <a:srgbClr val="DDE3E8"/>
            </a:solidFill>
            <a:prstDash val="solid"/>
          </a:ln>
        </p:spPr>
      </p:sp>
      <p:sp>
        <p:nvSpPr>
          <p:cNvPr id="13" name="">
            <a:extLst xmlns:a="http://schemas.openxmlformats.org/drawingml/2006/main">
              <a:ext uri="{FF2B5EF4-FFF2-40B4-BE49-F238E27FC236}">
                <a16:creationId xmlns:a16="http://schemas.microsoft.com/office/drawing/2014/main" id="{8B72C256-FBFF-4541-BC9E-1EA1B27F17FA}"/>
              </a:ext>
            </a:extLst>
          </p:cNvPr>
          <p:cNvSpPr>
            <a:spLocks xmlns:a="http://schemas.openxmlformats.org/drawingml/2006/main" noGrp="1"/>
          </p:cNvSpPr>
          <p:nvPr/>
        </p:nvSpPr>
        <p:spPr>
          <a:xfrm xmlns:a="http://schemas.openxmlformats.org/drawingml/2006/main">
            <a:off x="4429125" y="1524000"/>
            <a:ext cx="66675" cy="3200400"/>
          </a:xfrm>
          <a:prstGeom xmlns:a="http://schemas.openxmlformats.org/drawingml/2006/main" prst="rect">
            <a:avLst/>
          </a:prstGeom>
          <a:solidFill xmlns:a="http://schemas.openxmlformats.org/drawingml/2006/main">
            <a:srgbClr val="E372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EFE67D-6600-465B-AD51-CDE374CB3875}"/>
              </a:ext>
            </a:extLst>
          </p:cNvPr>
          <p:cNvSpPr>
            <a:spLocks xmlns:a="http://schemas.openxmlformats.org/drawingml/2006/main" noGrp="1"/>
          </p:cNvSpPr>
          <p:nvPr/>
        </p:nvSpPr>
        <p:spPr>
          <a:xfrm xmlns:a="http://schemas.openxmlformats.org/drawingml/2006/main">
            <a:off x="4667250" y="1695450"/>
            <a:ext cx="2876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E37222"/>
                </a:solidFill>
                <a:latin typeface="Arial"/>
                <a:ea typeface="Arial"/>
                <a:cs typeface="Arial"/>
              </a:defRPr>
            </a:pPr>
            <a:r>
              <a:rPr sz="825" b="1">
                <a:solidFill>
                  <a:srgbClr val="E37222"/>
                </a:solidFill>
                <a:latin typeface="Arial"/>
                <a:ea typeface="Arial"/>
                <a:cs typeface="Arial"/>
              </a:rPr>
              <a:t>IN COLLABORATION</a:t>
            </a:r>
          </a:p>
        </p:txBody>
      </p:sp>
      <p:sp>
        <p:nvSpPr>
          <p:cNvPr id="15" name="">
            <a:extLst xmlns:a="http://schemas.openxmlformats.org/drawingml/2006/main">
              <a:ext uri="{FF2B5EF4-FFF2-40B4-BE49-F238E27FC236}">
                <a16:creationId xmlns:a16="http://schemas.microsoft.com/office/drawing/2014/main" id="{2AE876A6-9C66-473E-A691-B7CE283D98A9}"/>
              </a:ext>
            </a:extLst>
          </p:cNvPr>
          <p:cNvSpPr>
            <a:spLocks xmlns:a="http://schemas.openxmlformats.org/drawingml/2006/main" noGrp="1"/>
          </p:cNvSpPr>
          <p:nvPr/>
        </p:nvSpPr>
        <p:spPr>
          <a:xfrm xmlns:a="http://schemas.openxmlformats.org/drawingml/2006/main">
            <a:off x="4667250" y="1990725"/>
            <a:ext cx="2876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11820"/>
                </a:solidFill>
                <a:latin typeface="Arial"/>
                <a:ea typeface="Arial"/>
                <a:cs typeface="Arial"/>
              </a:defRPr>
            </a:pPr>
            <a:r>
              <a:rPr sz="1875" b="1">
                <a:solidFill>
                  <a:srgbClr val="111820"/>
                </a:solidFill>
                <a:latin typeface="Arial"/>
                <a:ea typeface="Arial"/>
                <a:cs typeface="Arial"/>
              </a:rPr>
              <a:t>State sync was not enough</a:t>
            </a:r>
          </a:p>
        </p:txBody>
      </p:sp>
      <p:sp>
        <p:nvSpPr>
          <p:cNvPr id="16" name="">
            <a:extLst xmlns:a="http://schemas.openxmlformats.org/drawingml/2006/main">
              <a:ext uri="{FF2B5EF4-FFF2-40B4-BE49-F238E27FC236}">
                <a16:creationId xmlns:a16="http://schemas.microsoft.com/office/drawing/2014/main" id="{43E4414E-851D-4970-BD11-89E7360B5DDA}"/>
              </a:ext>
            </a:extLst>
          </p:cNvPr>
          <p:cNvSpPr>
            <a:spLocks xmlns:a="http://schemas.openxmlformats.org/drawingml/2006/main" noGrp="1"/>
          </p:cNvSpPr>
          <p:nvPr/>
        </p:nvSpPr>
        <p:spPr>
          <a:xfrm xmlns:a="http://schemas.openxmlformats.org/drawingml/2006/main">
            <a:off x="4667250" y="2695575"/>
            <a:ext cx="28765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The final model arrived, but users could not reliably see who was active, what they selected, or where they were looking.</a:t>
            </a:r>
          </a:p>
        </p:txBody>
      </p:sp>
      <p:sp>
        <p:nvSpPr>
          <p:cNvPr id="17" name="">
            <a:extLst xmlns:a="http://schemas.openxmlformats.org/drawingml/2006/main">
              <a:ext uri="{FF2B5EF4-FFF2-40B4-BE49-F238E27FC236}">
                <a16:creationId xmlns:a16="http://schemas.microsoft.com/office/drawing/2014/main" id="{C5AC60D3-A8BE-47F0-8094-E703413F96B1}"/>
              </a:ext>
            </a:extLst>
          </p:cNvPr>
          <p:cNvSpPr>
            <a:spLocks xmlns:a="http://schemas.openxmlformats.org/drawingml/2006/main" noGrp="1"/>
          </p:cNvSpPr>
          <p:nvPr/>
        </p:nvSpPr>
        <p:spPr>
          <a:xfrm xmlns:a="http://schemas.openxmlformats.org/drawingml/2006/main">
            <a:off x="8248650" y="1524000"/>
            <a:ext cx="3333750" cy="3200400"/>
          </a:xfrm>
          <a:prstGeom xmlns:a="http://schemas.openxmlformats.org/drawingml/2006/main" prst="roundRect">
            <a:avLst>
              <a:gd name="adj" fmla="val 3571"/>
            </a:avLst>
          </a:prstGeom>
          <a:solidFill xmlns:a="http://schemas.openxmlformats.org/drawingml/2006/main">
            <a:srgbClr val="F1F5DA"/>
          </a:solidFill>
          <a:ln xmlns:a="http://schemas.openxmlformats.org/drawingml/2006/main" w="11430">
            <a:solidFill>
              <a:srgbClr val="DDE3E8"/>
            </a:solidFill>
            <a:prstDash val="solid"/>
          </a:ln>
        </p:spPr>
      </p:sp>
      <p:sp>
        <p:nvSpPr>
          <p:cNvPr id="18" name="">
            <a:extLst xmlns:a="http://schemas.openxmlformats.org/drawingml/2006/main">
              <a:ext uri="{FF2B5EF4-FFF2-40B4-BE49-F238E27FC236}">
                <a16:creationId xmlns:a16="http://schemas.microsoft.com/office/drawing/2014/main" id="{8501D9C3-24C8-4E36-9F54-F85B53A1F551}"/>
              </a:ext>
            </a:extLst>
          </p:cNvPr>
          <p:cNvSpPr>
            <a:spLocks xmlns:a="http://schemas.openxmlformats.org/drawingml/2006/main" noGrp="1"/>
          </p:cNvSpPr>
          <p:nvPr/>
        </p:nvSpPr>
        <p:spPr>
          <a:xfrm xmlns:a="http://schemas.openxmlformats.org/drawingml/2006/main">
            <a:off x="8248650" y="1524000"/>
            <a:ext cx="66675" cy="3200400"/>
          </a:xfrm>
          <a:prstGeom xmlns:a="http://schemas.openxmlformats.org/drawingml/2006/main" prst="rect">
            <a:avLst/>
          </a:prstGeom>
          <a:solidFill xmlns:a="http://schemas.openxmlformats.org/drawingml/2006/main">
            <a:srgbClr val="A2AD0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917EF7-4520-4B66-8584-3E1703C553D6}"/>
              </a:ext>
            </a:extLst>
          </p:cNvPr>
          <p:cNvSpPr>
            <a:spLocks xmlns:a="http://schemas.openxmlformats.org/drawingml/2006/main" noGrp="1"/>
          </p:cNvSpPr>
          <p:nvPr/>
        </p:nvSpPr>
        <p:spPr>
          <a:xfrm xmlns:a="http://schemas.openxmlformats.org/drawingml/2006/main">
            <a:off x="8486775" y="1695450"/>
            <a:ext cx="2876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2AD00"/>
                </a:solidFill>
                <a:latin typeface="Arial"/>
                <a:ea typeface="Arial"/>
                <a:cs typeface="Arial"/>
              </a:defRPr>
            </a:pPr>
            <a:r>
              <a:rPr sz="825" b="1">
                <a:solidFill>
                  <a:srgbClr val="A2AD00"/>
                </a:solidFill>
                <a:latin typeface="Arial"/>
                <a:ea typeface="Arial"/>
                <a:cs typeface="Arial"/>
              </a:rPr>
              <a:t>IN THE MAIN INTEGRATION</a:t>
            </a:r>
          </a:p>
        </p:txBody>
      </p:sp>
      <p:sp>
        <p:nvSpPr>
          <p:cNvPr id="20" name="">
            <a:extLst xmlns:a="http://schemas.openxmlformats.org/drawingml/2006/main">
              <a:ext uri="{FF2B5EF4-FFF2-40B4-BE49-F238E27FC236}">
                <a16:creationId xmlns:a16="http://schemas.microsoft.com/office/drawing/2014/main" id="{C7CD2934-1C77-4521-9BF7-F7BC557A917A}"/>
              </a:ext>
            </a:extLst>
          </p:cNvPr>
          <p:cNvSpPr>
            <a:spLocks xmlns:a="http://schemas.openxmlformats.org/drawingml/2006/main" noGrp="1"/>
          </p:cNvSpPr>
          <p:nvPr/>
        </p:nvSpPr>
        <p:spPr>
          <a:xfrm xmlns:a="http://schemas.openxmlformats.org/drawingml/2006/main">
            <a:off x="8486775" y="1990725"/>
            <a:ext cx="2876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11820"/>
                </a:solidFill>
                <a:latin typeface="Arial"/>
                <a:ea typeface="Arial"/>
                <a:cs typeface="Arial"/>
              </a:defRPr>
            </a:pPr>
            <a:r>
              <a:rPr sz="1875" b="1">
                <a:solidFill>
                  <a:srgbClr val="111820"/>
                </a:solidFill>
                <a:latin typeface="Arial"/>
                <a:ea typeface="Arial"/>
                <a:cs typeface="Arial"/>
              </a:rPr>
              <a:t>Artemis could not switch by import alone</a:t>
            </a:r>
          </a:p>
        </p:txBody>
      </p:sp>
      <p:sp>
        <p:nvSpPr>
          <p:cNvPr id="21" name="">
            <a:extLst xmlns:a="http://schemas.openxmlformats.org/drawingml/2006/main">
              <a:ext uri="{FF2B5EF4-FFF2-40B4-BE49-F238E27FC236}">
                <a16:creationId xmlns:a16="http://schemas.microsoft.com/office/drawing/2014/main" id="{C62F5AD7-E7D7-4F87-8C5B-57A69B1DAEDE}"/>
              </a:ext>
            </a:extLst>
          </p:cNvPr>
          <p:cNvSpPr>
            <a:spLocks xmlns:a="http://schemas.openxmlformats.org/drawingml/2006/main" noGrp="1"/>
          </p:cNvSpPr>
          <p:nvPr/>
        </p:nvSpPr>
        <p:spPr>
          <a:xfrm xmlns:a="http://schemas.openxmlformats.org/drawingml/2006/main">
            <a:off x="8486775" y="2695575"/>
            <a:ext cx="28765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Modeling, quizzes, assessment, and team sessions depended on legacy behavior and serialized models.</a:t>
            </a:r>
          </a:p>
        </p:txBody>
      </p:sp>
      <p:sp>
        <p:nvSpPr>
          <p:cNvPr id="22" name="">
            <a:extLst xmlns:a="http://schemas.openxmlformats.org/drawingml/2006/main">
              <a:ext uri="{FF2B5EF4-FFF2-40B4-BE49-F238E27FC236}">
                <a16:creationId xmlns:a16="http://schemas.microsoft.com/office/drawing/2014/main" id="{24E7E644-3BE9-48EA-A546-19799B166CA6}"/>
              </a:ext>
            </a:extLst>
          </p:cNvPr>
          <p:cNvSpPr>
            <a:spLocks xmlns:a="http://schemas.openxmlformats.org/drawingml/2006/main" noGrp="1"/>
          </p:cNvSpPr>
          <p:nvPr/>
        </p:nvSpPr>
        <p:spPr>
          <a:xfrm xmlns:a="http://schemas.openxmlformats.org/drawingml/2006/main">
            <a:off x="1428750" y="521970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025" b="1">
                <a:solidFill>
                  <a:srgbClr val="003359"/>
                </a:solidFill>
                <a:latin typeface="Arial"/>
                <a:ea typeface="Arial"/>
                <a:cs typeface="Arial"/>
              </a:defRPr>
            </a:pPr>
            <a:r>
              <a:rPr sz="2025" b="1">
                <a:solidFill>
                  <a:srgbClr val="003359"/>
                </a:solidFill>
                <a:latin typeface="Arial"/>
                <a:ea typeface="Arial"/>
                <a:cs typeface="Arial"/>
              </a:rPr>
              <a:t>The hard part was reusing improvements without breaking host workflows.</a:t>
            </a:r>
          </a:p>
        </p:txBody>
      </p:sp>
    </p:spTree>
    <p:extLst>
      <p:ext uri="{BB962C8B-B14F-4D97-AF65-F5344CB8AC3E}">
        <p14:creationId xmlns:p14="http://schemas.microsoft.com/office/powerpoint/2010/main" val="9049878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02A3DCF9-8480-4AAC-BB5B-BF59435C1D3B}"/>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OBJECTIVES</a:t>
            </a:r>
          </a:p>
        </p:txBody>
      </p:sp>
      <p:sp>
        <p:nvSpPr>
          <p:cNvPr id="2" name="Slide title">
            <a:extLst xmlns:a="http://schemas.openxmlformats.org/drawingml/2006/main">
              <a:ext uri="{FF2B5EF4-FFF2-40B4-BE49-F238E27FC236}">
                <a16:creationId xmlns:a16="http://schemas.microsoft.com/office/drawing/2014/main" id="{A44E5F50-B8F1-4950-A85A-5571304392AE}"/>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Four objectives guided the thesis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d910ccd991f42f2"/>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B839A6-C6C9-4908-84D4-CB7EF834DF17}"/>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53AEB629-6710-4851-81F4-DCDCC08B9E9F}"/>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C42CFA05-20D1-4565-BD4A-901CC180E5FE}"/>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C899C2F3-4D75-40BD-A980-74EBA2BD5165}"/>
              </a:ext>
            </a:extLst>
          </p:cNvPr>
          <p:cNvSpPr>
            <a:spLocks xmlns:a="http://schemas.openxmlformats.org/drawingml/2006/main" noGrp="1"/>
          </p:cNvSpPr>
          <p:nvPr/>
        </p:nvSpPr>
        <p:spPr>
          <a:xfrm xmlns:a="http://schemas.openxmlformats.org/drawingml/2006/main">
            <a:off x="666750" y="1409700"/>
            <a:ext cx="742950" cy="704850"/>
          </a:xfrm>
          <a:prstGeom xmlns:a="http://schemas.openxmlformats.org/drawingml/2006/main" prst="roundRect">
            <a:avLst>
              <a:gd name="adj" fmla="val 16216"/>
            </a:avLst>
          </a:prstGeom>
          <a:solidFill xmlns:a="http://schemas.openxmlformats.org/drawingml/2006/main">
            <a:srgbClr val="0065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85F6D2-3C83-4C66-A420-F3D6427C7CFD}"/>
              </a:ext>
            </a:extLst>
          </p:cNvPr>
          <p:cNvSpPr>
            <a:spLocks xmlns:a="http://schemas.openxmlformats.org/drawingml/2006/main" noGrp="1"/>
          </p:cNvSpPr>
          <p:nvPr/>
        </p:nvSpPr>
        <p:spPr>
          <a:xfrm xmlns:a="http://schemas.openxmlformats.org/drawingml/2006/main">
            <a:off x="742950" y="16192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O1</a:t>
            </a:r>
          </a:p>
        </p:txBody>
      </p:sp>
      <p:sp>
        <p:nvSpPr>
          <p:cNvPr id="9" name="">
            <a:extLst xmlns:a="http://schemas.openxmlformats.org/drawingml/2006/main">
              <a:ext uri="{FF2B5EF4-FFF2-40B4-BE49-F238E27FC236}">
                <a16:creationId xmlns:a16="http://schemas.microsoft.com/office/drawing/2014/main" id="{A21C38BA-672D-4849-BA89-C7223FFDBFD8}"/>
              </a:ext>
            </a:extLst>
          </p:cNvPr>
          <p:cNvSpPr>
            <a:spLocks xmlns:a="http://schemas.openxmlformats.org/drawingml/2006/main" noGrp="1"/>
          </p:cNvSpPr>
          <p:nvPr/>
        </p:nvSpPr>
        <p:spPr>
          <a:xfrm xmlns:a="http://schemas.openxmlformats.org/drawingml/2006/main">
            <a:off x="1695450" y="14192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820"/>
                </a:solidFill>
                <a:latin typeface="Arial"/>
                <a:ea typeface="Arial"/>
                <a:cs typeface="Arial"/>
              </a:defRPr>
            </a:pPr>
            <a:r>
              <a:rPr sz="1650" b="1">
                <a:solidFill>
                  <a:srgbClr val="111820"/>
                </a:solidFill>
                <a:latin typeface="Arial"/>
                <a:ea typeface="Arial"/>
                <a:cs typeface="Arial"/>
              </a:rPr>
              <a:t>Improve modeling and application usability</a:t>
            </a:r>
          </a:p>
        </p:txBody>
      </p:sp>
      <p:sp>
        <p:nvSpPr>
          <p:cNvPr id="10" name="">
            <a:extLst xmlns:a="http://schemas.openxmlformats.org/drawingml/2006/main">
              <a:ext uri="{FF2B5EF4-FFF2-40B4-BE49-F238E27FC236}">
                <a16:creationId xmlns:a16="http://schemas.microsoft.com/office/drawing/2014/main" id="{E5FB3F04-4A1B-4AFD-9610-3967FB213497}"/>
              </a:ext>
            </a:extLst>
          </p:cNvPr>
          <p:cNvSpPr>
            <a:spLocks xmlns:a="http://schemas.openxmlformats.org/drawingml/2006/main" noGrp="1"/>
          </p:cNvSpPr>
          <p:nvPr/>
        </p:nvSpPr>
        <p:spPr>
          <a:xfrm xmlns:a="http://schemas.openxmlformats.org/drawingml/2006/main">
            <a:off x="1695450" y="18002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Direct editing, clearer navigation, current standalone workflows, and mobile use</a:t>
            </a:r>
          </a:p>
        </p:txBody>
      </p:sp>
      <p:sp>
        <p:nvSpPr>
          <p:cNvPr id="11" name="">
            <a:extLst xmlns:a="http://schemas.openxmlformats.org/drawingml/2006/main">
              <a:ext uri="{FF2B5EF4-FFF2-40B4-BE49-F238E27FC236}">
                <a16:creationId xmlns:a16="http://schemas.microsoft.com/office/drawing/2014/main" id="{3540DEAF-3267-4B6B-8278-DA0F95BC3246}"/>
              </a:ext>
            </a:extLst>
          </p:cNvPr>
          <p:cNvSpPr>
            <a:spLocks xmlns:a="http://schemas.openxmlformats.org/drawingml/2006/main" noGrp="1"/>
          </p:cNvSpPr>
          <p:nvPr/>
        </p:nvSpPr>
        <p:spPr>
          <a:xfrm xmlns:a="http://schemas.openxmlformats.org/drawingml/2006/main">
            <a:off x="666750" y="2438400"/>
            <a:ext cx="742950" cy="704850"/>
          </a:xfrm>
          <a:prstGeom xmlns:a="http://schemas.openxmlformats.org/drawingml/2006/main" prst="roundRect">
            <a:avLst>
              <a:gd name="adj" fmla="val 16216"/>
            </a:avLst>
          </a:prstGeom>
          <a:solidFill xmlns:a="http://schemas.openxmlformats.org/drawingml/2006/main">
            <a:srgbClr val="64A0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E40E70-1DB8-423E-B391-CC0F7E269D92}"/>
              </a:ext>
            </a:extLst>
          </p:cNvPr>
          <p:cNvSpPr>
            <a:spLocks xmlns:a="http://schemas.openxmlformats.org/drawingml/2006/main" noGrp="1"/>
          </p:cNvSpPr>
          <p:nvPr/>
        </p:nvSpPr>
        <p:spPr>
          <a:xfrm xmlns:a="http://schemas.openxmlformats.org/drawingml/2006/main">
            <a:off x="742950" y="26479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O2</a:t>
            </a:r>
          </a:p>
        </p:txBody>
      </p:sp>
      <p:sp>
        <p:nvSpPr>
          <p:cNvPr id="13" name="">
            <a:extLst xmlns:a="http://schemas.openxmlformats.org/drawingml/2006/main">
              <a:ext uri="{FF2B5EF4-FFF2-40B4-BE49-F238E27FC236}">
                <a16:creationId xmlns:a16="http://schemas.microsoft.com/office/drawing/2014/main" id="{F3A4FBC8-1DAB-4F4E-9512-1BA677F924CE}"/>
              </a:ext>
            </a:extLst>
          </p:cNvPr>
          <p:cNvSpPr>
            <a:spLocks xmlns:a="http://schemas.openxmlformats.org/drawingml/2006/main" noGrp="1"/>
          </p:cNvSpPr>
          <p:nvPr/>
        </p:nvSpPr>
        <p:spPr>
          <a:xfrm xmlns:a="http://schemas.openxmlformats.org/drawingml/2006/main">
            <a:off x="1695450" y="24479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820"/>
                </a:solidFill>
                <a:latin typeface="Arial"/>
                <a:ea typeface="Arial"/>
                <a:cs typeface="Arial"/>
              </a:defRPr>
            </a:pPr>
            <a:r>
              <a:rPr sz="1650" b="1">
                <a:solidFill>
                  <a:srgbClr val="111820"/>
                </a:solidFill>
                <a:latin typeface="Arial"/>
                <a:ea typeface="Arial"/>
                <a:cs typeface="Arial"/>
              </a:rPr>
              <a:t>Support collaborative modeling</a:t>
            </a:r>
          </a:p>
        </p:txBody>
      </p:sp>
      <p:sp>
        <p:nvSpPr>
          <p:cNvPr id="14" name="">
            <a:extLst xmlns:a="http://schemas.openxmlformats.org/drawingml/2006/main">
              <a:ext uri="{FF2B5EF4-FFF2-40B4-BE49-F238E27FC236}">
                <a16:creationId xmlns:a16="http://schemas.microsoft.com/office/drawing/2014/main" id="{C416F6E1-79F2-41F8-AF9C-484EB8BF3C99}"/>
              </a:ext>
            </a:extLst>
          </p:cNvPr>
          <p:cNvSpPr>
            <a:spLocks xmlns:a="http://schemas.openxmlformats.org/drawingml/2006/main" noGrp="1"/>
          </p:cNvSpPr>
          <p:nvPr/>
        </p:nvSpPr>
        <p:spPr>
          <a:xfrm xmlns:a="http://schemas.openxmlformats.org/drawingml/2006/main">
            <a:off x="1695450" y="28289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Named cursors, remote selections, drag highlights, and viewport following</a:t>
            </a:r>
          </a:p>
        </p:txBody>
      </p:sp>
      <p:sp>
        <p:nvSpPr>
          <p:cNvPr id="15" name="">
            <a:extLst xmlns:a="http://schemas.openxmlformats.org/drawingml/2006/main">
              <a:ext uri="{FF2B5EF4-FFF2-40B4-BE49-F238E27FC236}">
                <a16:creationId xmlns:a16="http://schemas.microsoft.com/office/drawing/2014/main" id="{79CC7614-9567-494B-8678-5F6A01A146F6}"/>
              </a:ext>
            </a:extLst>
          </p:cNvPr>
          <p:cNvSpPr>
            <a:spLocks xmlns:a="http://schemas.openxmlformats.org/drawingml/2006/main" noGrp="1"/>
          </p:cNvSpPr>
          <p:nvPr/>
        </p:nvSpPr>
        <p:spPr>
          <a:xfrm xmlns:a="http://schemas.openxmlformats.org/drawingml/2006/main">
            <a:off x="666750" y="3467100"/>
            <a:ext cx="742950" cy="704850"/>
          </a:xfrm>
          <a:prstGeom xmlns:a="http://schemas.openxmlformats.org/drawingml/2006/main" prst="roundRect">
            <a:avLst>
              <a:gd name="adj" fmla="val 16216"/>
            </a:avLst>
          </a:prstGeom>
          <a:solidFill xmlns:a="http://schemas.openxmlformats.org/drawingml/2006/main">
            <a:srgbClr val="A2AD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E85D0E-44FE-45E6-AD8C-4010AB4E8D57}"/>
              </a:ext>
            </a:extLst>
          </p:cNvPr>
          <p:cNvSpPr>
            <a:spLocks xmlns:a="http://schemas.openxmlformats.org/drawingml/2006/main" noGrp="1"/>
          </p:cNvSpPr>
          <p:nvPr/>
        </p:nvSpPr>
        <p:spPr>
          <a:xfrm xmlns:a="http://schemas.openxmlformats.org/drawingml/2006/main">
            <a:off x="742950" y="36766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O3</a:t>
            </a:r>
          </a:p>
        </p:txBody>
      </p:sp>
      <p:sp>
        <p:nvSpPr>
          <p:cNvPr id="17" name="">
            <a:extLst xmlns:a="http://schemas.openxmlformats.org/drawingml/2006/main">
              <a:ext uri="{FF2B5EF4-FFF2-40B4-BE49-F238E27FC236}">
                <a16:creationId xmlns:a16="http://schemas.microsoft.com/office/drawing/2014/main" id="{14E26808-0A7A-4D27-89D6-234A8D9AA1C2}"/>
              </a:ext>
            </a:extLst>
          </p:cNvPr>
          <p:cNvSpPr>
            <a:spLocks xmlns:a="http://schemas.openxmlformats.org/drawingml/2006/main" noGrp="1"/>
          </p:cNvSpPr>
          <p:nvPr/>
        </p:nvSpPr>
        <p:spPr>
          <a:xfrm xmlns:a="http://schemas.openxmlformats.org/drawingml/2006/main">
            <a:off x="1695450" y="34766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820"/>
                </a:solidFill>
                <a:latin typeface="Arial"/>
                <a:ea typeface="Arial"/>
                <a:cs typeface="Arial"/>
              </a:defRPr>
            </a:pPr>
            <a:r>
              <a:rPr sz="1425" b="1">
                <a:solidFill>
                  <a:srgbClr val="111820"/>
                </a:solidFill>
                <a:latin typeface="Arial"/>
                <a:ea typeface="Arial"/>
                <a:cs typeface="Arial"/>
              </a:rPr>
              <a:t>Migrate Artemis to maintained Apollon without breaking teaching workflows</a:t>
            </a:r>
          </a:p>
        </p:txBody>
      </p:sp>
      <p:sp>
        <p:nvSpPr>
          <p:cNvPr id="18" name="">
            <a:extLst xmlns:a="http://schemas.openxmlformats.org/drawingml/2006/main">
              <a:ext uri="{FF2B5EF4-FFF2-40B4-BE49-F238E27FC236}">
                <a16:creationId xmlns:a16="http://schemas.microsoft.com/office/drawing/2014/main" id="{BCE295CA-CDB3-4216-953E-1CDF9E250DE4}"/>
              </a:ext>
            </a:extLst>
          </p:cNvPr>
          <p:cNvSpPr>
            <a:spLocks xmlns:a="http://schemas.openxmlformats.org/drawingml/2006/main" noGrp="1"/>
          </p:cNvSpPr>
          <p:nvPr/>
        </p:nvSpPr>
        <p:spPr>
          <a:xfrm xmlns:a="http://schemas.openxmlformats.org/drawingml/2006/main">
            <a:off x="1695450" y="38576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Modeling, quiz generation, assessment, and team modeling</a:t>
            </a:r>
          </a:p>
        </p:txBody>
      </p:sp>
      <p:sp>
        <p:nvSpPr>
          <p:cNvPr id="19" name="">
            <a:extLst xmlns:a="http://schemas.openxmlformats.org/drawingml/2006/main">
              <a:ext uri="{FF2B5EF4-FFF2-40B4-BE49-F238E27FC236}">
                <a16:creationId xmlns:a16="http://schemas.microsoft.com/office/drawing/2014/main" id="{E2D03E3F-5233-4B3D-9961-7631B315B2E1}"/>
              </a:ext>
            </a:extLst>
          </p:cNvPr>
          <p:cNvSpPr>
            <a:spLocks xmlns:a="http://schemas.openxmlformats.org/drawingml/2006/main" noGrp="1"/>
          </p:cNvSpPr>
          <p:nvPr/>
        </p:nvSpPr>
        <p:spPr>
          <a:xfrm xmlns:a="http://schemas.openxmlformats.org/drawingml/2006/main">
            <a:off x="666750" y="4495800"/>
            <a:ext cx="742950" cy="704850"/>
          </a:xfrm>
          <a:prstGeom xmlns:a="http://schemas.openxmlformats.org/drawingml/2006/main" prst="roundRect">
            <a:avLst>
              <a:gd name="adj" fmla="val 16216"/>
            </a:avLst>
          </a:prstGeom>
          <a:solidFill xmlns:a="http://schemas.openxmlformats.org/drawingml/2006/main">
            <a:srgbClr val="E3722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CA17FA7-77F4-48BC-A556-A2E0E5312DFA}"/>
              </a:ext>
            </a:extLst>
          </p:cNvPr>
          <p:cNvSpPr>
            <a:spLocks xmlns:a="http://schemas.openxmlformats.org/drawingml/2006/main" noGrp="1"/>
          </p:cNvSpPr>
          <p:nvPr/>
        </p:nvSpPr>
        <p:spPr>
          <a:xfrm xmlns:a="http://schemas.openxmlformats.org/drawingml/2006/main">
            <a:off x="742950" y="47053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O4</a:t>
            </a:r>
          </a:p>
        </p:txBody>
      </p:sp>
      <p:sp>
        <p:nvSpPr>
          <p:cNvPr id="21" name="">
            <a:extLst xmlns:a="http://schemas.openxmlformats.org/drawingml/2006/main">
              <a:ext uri="{FF2B5EF4-FFF2-40B4-BE49-F238E27FC236}">
                <a16:creationId xmlns:a16="http://schemas.microsoft.com/office/drawing/2014/main" id="{110E0CE1-46E6-44EE-9A51-07B4276F03F2}"/>
              </a:ext>
            </a:extLst>
          </p:cNvPr>
          <p:cNvSpPr>
            <a:spLocks xmlns:a="http://schemas.openxmlformats.org/drawingml/2006/main" noGrp="1"/>
          </p:cNvSpPr>
          <p:nvPr/>
        </p:nvSpPr>
        <p:spPr>
          <a:xfrm xmlns:a="http://schemas.openxmlformats.org/drawingml/2006/main">
            <a:off x="1695450" y="45053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820"/>
                </a:solidFill>
                <a:latin typeface="Arial"/>
                <a:ea typeface="Arial"/>
                <a:cs typeface="Arial"/>
              </a:defRPr>
            </a:pPr>
            <a:r>
              <a:rPr sz="1650" b="1">
                <a:solidFill>
                  <a:srgbClr val="111820"/>
                </a:solidFill>
                <a:latin typeface="Arial"/>
                <a:ea typeface="Arial"/>
                <a:cs typeface="Arial"/>
              </a:rPr>
              <a:t>Improve diagram portability across web, mobile, and integrations</a:t>
            </a:r>
          </a:p>
        </p:txBody>
      </p:sp>
      <p:sp>
        <p:nvSpPr>
          <p:cNvPr id="22" name="">
            <a:extLst xmlns:a="http://schemas.openxmlformats.org/drawingml/2006/main">
              <a:ext uri="{FF2B5EF4-FFF2-40B4-BE49-F238E27FC236}">
                <a16:creationId xmlns:a16="http://schemas.microsoft.com/office/drawing/2014/main" id="{739A4C12-0ACD-4D89-A723-3C88E595F816}"/>
              </a:ext>
            </a:extLst>
          </p:cNvPr>
          <p:cNvSpPr>
            <a:spLocks xmlns:a="http://schemas.openxmlformats.org/drawingml/2006/main" noGrp="1"/>
          </p:cNvSpPr>
          <p:nvPr/>
        </p:nvSpPr>
        <p:spPr>
          <a:xfrm xmlns:a="http://schemas.openxmlformats.org/drawingml/2006/main">
            <a:off x="1695450" y="48863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Reusable JSON and dependable SVG, PNG, PDF, and PPTX output</a:t>
            </a:r>
          </a:p>
        </p:txBody>
      </p:sp>
    </p:spTree>
    <p:extLst>
      <p:ext uri="{BB962C8B-B14F-4D97-AF65-F5344CB8AC3E}">
        <p14:creationId xmlns:p14="http://schemas.microsoft.com/office/powerpoint/2010/main" val="6730220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13BBEC34-9E63-475B-A108-48113327A90A}"/>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SCOPE | USE-CASE MODEL</a:t>
            </a:r>
          </a:p>
        </p:txBody>
      </p:sp>
      <p:sp>
        <p:nvSpPr>
          <p:cNvPr id="2" name="Slide title">
            <a:extLst xmlns:a="http://schemas.openxmlformats.org/drawingml/2006/main">
              <a:ext uri="{FF2B5EF4-FFF2-40B4-BE49-F238E27FC236}">
                <a16:creationId xmlns:a16="http://schemas.microsoft.com/office/drawing/2014/main" id="{4801D8CB-FE52-4A1B-BDE7-8096D46BF435}"/>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820"/>
                </a:solidFill>
                <a:latin typeface="Arial"/>
                <a:ea typeface="Arial"/>
                <a:cs typeface="Arial"/>
              </a:defRPr>
            </a:pPr>
            <a:r>
              <a:rPr sz="2025" b="1">
                <a:solidFill>
                  <a:srgbClr val="111820"/>
                </a:solidFill>
                <a:latin typeface="Arial"/>
                <a:ea typeface="Arial"/>
                <a:cs typeface="Arial"/>
              </a:rPr>
              <a:t>The same model serves individual, collaborative, and teaching work</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8004a3fd31047d7"/>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4B910D-6FC5-4DDD-84B8-BE22950A193B}"/>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12860B16-91FB-44C0-8DF4-A094780EB3C9}"/>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0690CCEE-EDA4-4A52-B236-85D5E1C63F65}"/>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5</a:t>
            </a:r>
          </a:p>
        </p:txBody>
      </p:sp>
      <p:sp>
        <p:nvSpPr>
          <p:cNvPr id="7" name="Diagram stage">
            <a:extLst xmlns:a="http://schemas.openxmlformats.org/drawingml/2006/main">
              <a:ext uri="{FF2B5EF4-FFF2-40B4-BE49-F238E27FC236}">
                <a16:creationId xmlns:a16="http://schemas.microsoft.com/office/drawing/2014/main" id="{CA2C40B2-933F-4B92-9751-A07AC48FF49E}"/>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f325ceca1714f80"/>
          <a:stretch xmlns:a="http://schemas.openxmlformats.org/drawingml/2006/main"/>
        </p:blipFill>
        <p:spPr>
          <a:xfrm xmlns:a="http://schemas.openxmlformats.org/drawingml/2006/main">
            <a:off x="4044464" y="1390650"/>
            <a:ext cx="4103072" cy="4610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57F243A-5957-4F0F-BDDB-DC82687E49EA}"/>
              </a:ext>
            </a:extLst>
          </p:cNvPr>
          <p:cNvSpPr>
            <a:spLocks xmlns:a="http://schemas.openxmlformats.org/drawingml/2006/main" noGrp="1"/>
          </p:cNvSpPr>
          <p:nvPr/>
        </p:nvSpPr>
        <p:spPr>
          <a:xfrm xmlns:a="http://schemas.openxmlformats.org/drawingml/2006/main">
            <a:off x="3810000" y="61436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56616B"/>
                </a:solidFill>
                <a:latin typeface="Arial"/>
                <a:ea typeface="Arial"/>
                <a:cs typeface="Arial"/>
              </a:defRPr>
            </a:pPr>
            <a:r>
              <a:rPr sz="1125" b="1">
                <a:solidFill>
                  <a:srgbClr val="56616B"/>
                </a:solidFill>
                <a:latin typeface="Arial"/>
                <a:ea typeface="Arial"/>
                <a:cs typeface="Arial"/>
              </a:rPr>
              <a:t>White: existing | Orange: modified | Blue: added</a:t>
            </a:r>
          </a:p>
        </p:txBody>
      </p:sp>
    </p:spTree>
    <p:extLst>
      <p:ext uri="{BB962C8B-B14F-4D97-AF65-F5344CB8AC3E}">
        <p14:creationId xmlns:p14="http://schemas.microsoft.com/office/powerpoint/2010/main" val="16221514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 label">
            <a:extLst xmlns:a="http://schemas.openxmlformats.org/drawingml/2006/main">
              <a:ext uri="{FF2B5EF4-FFF2-40B4-BE49-F238E27FC236}">
                <a16:creationId xmlns:a16="http://schemas.microsoft.com/office/drawing/2014/main" id="{37E39EFF-61E2-4E49-AC67-6A7259691A3E}"/>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1 | EDITING</a:t>
            </a:r>
          </a:p>
        </p:txBody>
      </p:sp>
      <p:sp>
        <p:nvSpPr>
          <p:cNvPr id="2" name="Slide title">
            <a:extLst xmlns:a="http://schemas.openxmlformats.org/drawingml/2006/main">
              <a:ext uri="{FF2B5EF4-FFF2-40B4-BE49-F238E27FC236}">
                <a16:creationId xmlns:a16="http://schemas.microsoft.com/office/drawing/2014/main" id="{52711D2C-7314-491D-B1DE-E1EE19498891}"/>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Editing should change the diagram - not interrupt the thought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709fa9e1a6d4d70"/>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DCBBF8-4500-491C-A5B0-F18CB002FA60}"/>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331E30D7-80A0-49F2-92CC-F24849D7A748}"/>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4A17B2F3-ED9D-4317-B336-7953BEB539AD}"/>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81515324-1890-4021-9489-15F589C790FB}"/>
              </a:ext>
            </a:extLst>
          </p:cNvPr>
          <p:cNvSpPr>
            <a:spLocks xmlns:a="http://schemas.openxmlformats.org/drawingml/2006/main" noGrp="1"/>
          </p:cNvSpPr>
          <p:nvPr/>
        </p:nvSpPr>
        <p:spPr>
          <a:xfrm xmlns:a="http://schemas.openxmlformats.org/drawingml/2006/main">
            <a:off x="495300" y="1381125"/>
            <a:ext cx="5381625" cy="39624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11430">
            <a:solidFill>
              <a:srgbClr val="DDE3E8"/>
            </a:solidFill>
            <a:prstDash val="solid"/>
          </a:ln>
        </p:spPr>
      </p:sp>
      <p:sp>
        <p:nvSpPr>
          <p:cNvPr id="8" name="">
            <a:extLst xmlns:a="http://schemas.openxmlformats.org/drawingml/2006/main">
              <a:ext uri="{FF2B5EF4-FFF2-40B4-BE49-F238E27FC236}">
                <a16:creationId xmlns:a16="http://schemas.microsoft.com/office/drawing/2014/main" id="{30619F72-0E04-46B4-B7DC-CC125ED1521F}"/>
              </a:ext>
            </a:extLst>
          </p:cNvPr>
          <p:cNvSpPr>
            <a:spLocks xmlns:a="http://schemas.openxmlformats.org/drawingml/2006/main" noGrp="1"/>
          </p:cNvSpPr>
          <p:nvPr/>
        </p:nvSpPr>
        <p:spPr>
          <a:xfrm xmlns:a="http://schemas.openxmlformats.org/drawingml/2006/main">
            <a:off x="6305550" y="1381125"/>
            <a:ext cx="5391150" cy="39624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11430">
            <a:solidFill>
              <a:srgbClr val="DDE3E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52d3a42c80f4abb"/>
          <a:stretch xmlns:a="http://schemas.openxmlformats.org/drawingml/2006/main"/>
        </p:blipFill>
        <p:spPr>
          <a:xfrm xmlns:a="http://schemas.openxmlformats.org/drawingml/2006/main">
            <a:off x="1451301" y="1581150"/>
            <a:ext cx="3469623" cy="272415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f8d98c6f96f4bf5"/>
          <a:stretch xmlns:a="http://schemas.openxmlformats.org/drawingml/2006/main"/>
        </p:blipFill>
        <p:spPr>
          <a:xfrm xmlns:a="http://schemas.openxmlformats.org/drawingml/2006/main">
            <a:off x="6534150" y="1601537"/>
            <a:ext cx="4933950" cy="2683376"/>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7228316-EDED-4597-B998-75B78CCBCF8B}"/>
              </a:ext>
            </a:extLst>
          </p:cNvPr>
          <p:cNvSpPr>
            <a:spLocks xmlns:a="http://schemas.openxmlformats.org/drawingml/2006/main" noGrp="1"/>
          </p:cNvSpPr>
          <p:nvPr/>
        </p:nvSpPr>
        <p:spPr>
          <a:xfrm xmlns:a="http://schemas.openxmlformats.org/drawingml/2006/main">
            <a:off x="742950" y="4495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3359"/>
                </a:solidFill>
                <a:latin typeface="Arial"/>
                <a:ea typeface="Arial"/>
                <a:cs typeface="Arial"/>
              </a:defRPr>
            </a:pPr>
            <a:r>
              <a:rPr sz="1800" b="1">
                <a:solidFill>
                  <a:srgbClr val="003359"/>
                </a:solidFill>
                <a:latin typeface="Arial"/>
                <a:ea typeface="Arial"/>
                <a:cs typeface="Arial"/>
              </a:rPr>
              <a:t>Bend, move, reconnect</a:t>
            </a:r>
          </a:p>
        </p:txBody>
      </p:sp>
      <p:sp>
        <p:nvSpPr>
          <p:cNvPr id="12" name="">
            <a:extLst xmlns:a="http://schemas.openxmlformats.org/drawingml/2006/main">
              <a:ext uri="{FF2B5EF4-FFF2-40B4-BE49-F238E27FC236}">
                <a16:creationId xmlns:a16="http://schemas.microsoft.com/office/drawing/2014/main" id="{7A343956-B31A-4538-B861-57EF46417019}"/>
              </a:ext>
            </a:extLst>
          </p:cNvPr>
          <p:cNvSpPr>
            <a:spLocks xmlns:a="http://schemas.openxmlformats.org/drawingml/2006/main" noGrp="1"/>
          </p:cNvSpPr>
          <p:nvPr/>
        </p:nvSpPr>
        <p:spPr>
          <a:xfrm xmlns:a="http://schemas.openxmlformats.org/drawingml/2006/main">
            <a:off x="742950" y="48863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6616B"/>
                </a:solidFill>
                <a:latin typeface="Arial"/>
                <a:ea typeface="Arial"/>
                <a:cs typeface="Arial"/>
              </a:defRPr>
            </a:pPr>
            <a:r>
              <a:rPr sz="1275" b="0">
                <a:solidFill>
                  <a:srgbClr val="56616B"/>
                </a:solidFill>
                <a:latin typeface="Arial"/>
                <a:ea typeface="Arial"/>
                <a:cs typeface="Arial"/>
              </a:rPr>
              <a:t>Keep the semantic edge while correcting its path and endpoints.</a:t>
            </a:r>
          </a:p>
        </p:txBody>
      </p:sp>
      <p:sp>
        <p:nvSpPr>
          <p:cNvPr id="13" name="">
            <a:extLst xmlns:a="http://schemas.openxmlformats.org/drawingml/2006/main">
              <a:ext uri="{FF2B5EF4-FFF2-40B4-BE49-F238E27FC236}">
                <a16:creationId xmlns:a16="http://schemas.microsoft.com/office/drawing/2014/main" id="{461546DC-CC82-4A52-8BAD-1217FA02358A}"/>
              </a:ext>
            </a:extLst>
          </p:cNvPr>
          <p:cNvSpPr>
            <a:spLocks xmlns:a="http://schemas.openxmlformats.org/drawingml/2006/main" noGrp="1"/>
          </p:cNvSpPr>
          <p:nvPr/>
        </p:nvSpPr>
        <p:spPr>
          <a:xfrm xmlns:a="http://schemas.openxmlformats.org/drawingml/2006/main">
            <a:off x="6553200" y="4495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3359"/>
                </a:solidFill>
                <a:latin typeface="Arial"/>
                <a:ea typeface="Arial"/>
                <a:cs typeface="Arial"/>
              </a:defRPr>
            </a:pPr>
            <a:r>
              <a:rPr sz="1800" b="1">
                <a:solidFill>
                  <a:srgbClr val="003359"/>
                </a:solidFill>
                <a:latin typeface="Arial"/>
                <a:ea typeface="Arial"/>
                <a:cs typeface="Arial"/>
              </a:rPr>
              <a:t>Read crossings immediately</a:t>
            </a:r>
          </a:p>
        </p:txBody>
      </p:sp>
      <p:sp>
        <p:nvSpPr>
          <p:cNvPr id="14" name="">
            <a:extLst xmlns:a="http://schemas.openxmlformats.org/drawingml/2006/main">
              <a:ext uri="{FF2B5EF4-FFF2-40B4-BE49-F238E27FC236}">
                <a16:creationId xmlns:a16="http://schemas.microsoft.com/office/drawing/2014/main" id="{897B43CF-A541-48FB-95C2-E69AE1870EF5}"/>
              </a:ext>
            </a:extLst>
          </p:cNvPr>
          <p:cNvSpPr>
            <a:spLocks xmlns:a="http://schemas.openxmlformats.org/drawingml/2006/main" noGrp="1"/>
          </p:cNvSpPr>
          <p:nvPr/>
        </p:nvSpPr>
        <p:spPr>
          <a:xfrm xmlns:a="http://schemas.openxmlformats.org/drawingml/2006/main">
            <a:off x="6553200" y="48863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6616B"/>
                </a:solidFill>
                <a:latin typeface="Arial"/>
                <a:ea typeface="Arial"/>
                <a:cs typeface="Arial"/>
              </a:defRPr>
            </a:pPr>
            <a:r>
              <a:rPr sz="1275" b="0">
                <a:solidFill>
                  <a:srgbClr val="56616B"/>
                </a:solidFill>
                <a:latin typeface="Arial"/>
                <a:ea typeface="Arial"/>
                <a:cs typeface="Arial"/>
              </a:rPr>
              <a:t>Line jumps and geometry-aware handles reduce visual ambiguity.</a:t>
            </a:r>
          </a:p>
        </p:txBody>
      </p:sp>
      <p:sp>
        <p:nvSpPr>
          <p:cNvPr id="15" name="">
            <a:extLst xmlns:a="http://schemas.openxmlformats.org/drawingml/2006/main">
              <a:ext uri="{FF2B5EF4-FFF2-40B4-BE49-F238E27FC236}">
                <a16:creationId xmlns:a16="http://schemas.microsoft.com/office/drawing/2014/main" id="{B207B690-C702-4FF3-8D0D-FB33572BADD6}"/>
              </a:ext>
            </a:extLst>
          </p:cNvPr>
          <p:cNvSpPr>
            <a:spLocks xmlns:a="http://schemas.openxmlformats.org/drawingml/2006/main" noGrp="1"/>
          </p:cNvSpPr>
          <p:nvPr/>
        </p:nvSpPr>
        <p:spPr>
          <a:xfrm xmlns:a="http://schemas.openxmlformats.org/drawingml/2006/main">
            <a:off x="781050" y="5724525"/>
            <a:ext cx="10629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56616B"/>
                </a:solidFill>
                <a:latin typeface="Arial"/>
                <a:ea typeface="Arial"/>
                <a:cs typeface="Arial"/>
              </a:defRPr>
            </a:pPr>
            <a:r>
              <a:rPr sz="1275" b="1">
                <a:solidFill>
                  <a:srgbClr val="56616B"/>
                </a:solidFill>
                <a:latin typeface="Arial"/>
                <a:ea typeface="Arial"/>
                <a:cs typeface="Arial"/>
              </a:rPr>
              <a:t>Also improved: alignment guides, hit areas, keyboard deletion, class-member ordering, labels, and scroll lock.</a:t>
            </a:r>
          </a:p>
        </p:txBody>
      </p:sp>
    </p:spTree>
    <p:extLst>
      <p:ext uri="{BB962C8B-B14F-4D97-AF65-F5344CB8AC3E}">
        <p14:creationId xmlns:p14="http://schemas.microsoft.com/office/powerpoint/2010/main" val="11292393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 label">
            <a:extLst xmlns:a="http://schemas.openxmlformats.org/drawingml/2006/main">
              <a:ext uri="{FF2B5EF4-FFF2-40B4-BE49-F238E27FC236}">
                <a16:creationId xmlns:a16="http://schemas.microsoft.com/office/drawing/2014/main" id="{634CBD9E-BC05-48F2-A969-03EBD434E8E8}"/>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2 | COLLABORATION</a:t>
            </a:r>
          </a:p>
        </p:txBody>
      </p:sp>
      <p:sp>
        <p:nvSpPr>
          <p:cNvPr id="2" name="Slide title">
            <a:extLst xmlns:a="http://schemas.openxmlformats.org/drawingml/2006/main">
              <a:ext uri="{FF2B5EF4-FFF2-40B4-BE49-F238E27FC236}">
                <a16:creationId xmlns:a16="http://schemas.microsoft.com/office/drawing/2014/main" id="{EDB29AE0-DC3A-453D-944D-2541AB3A4A16}"/>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Collaboration UI moved from state sync to shared intent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e47c83dd934458b"/>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DDFCD8-FDFA-4009-A019-0C371CF15045}"/>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74E2D2F9-1649-4C5A-8D1F-B9D356B77A98}"/>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55557FAD-8E21-4ABB-8F7E-72F736BDDAE1}"/>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7</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0cf1283d8d94bdc"/>
          <a:stretch xmlns:a="http://schemas.openxmlformats.org/drawingml/2006/main"/>
        </p:blipFill>
        <p:spPr>
          <a:xfrm xmlns:a="http://schemas.openxmlformats.org/drawingml/2006/main">
            <a:off x="718984" y="1428750"/>
            <a:ext cx="6620182" cy="360045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251585136f74aa0"/>
          <a:stretch xmlns:a="http://schemas.openxmlformats.org/drawingml/2006/main"/>
        </p:blipFill>
        <p:spPr>
          <a:xfrm xmlns:a="http://schemas.openxmlformats.org/drawingml/2006/main">
            <a:off x="7867650" y="2208653"/>
            <a:ext cx="3771900" cy="2040644"/>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79E15B0-1E3D-41F5-B047-28F0F52D57CD}"/>
              </a:ext>
            </a:extLst>
          </p:cNvPr>
          <p:cNvSpPr>
            <a:spLocks xmlns:a="http://schemas.openxmlformats.org/drawingml/2006/main" noGrp="1"/>
          </p:cNvSpPr>
          <p:nvPr/>
        </p:nvSpPr>
        <p:spPr>
          <a:xfrm xmlns:a="http://schemas.openxmlformats.org/drawingml/2006/main">
            <a:off x="666750" y="5162550"/>
            <a:ext cx="3067050" cy="361950"/>
          </a:xfrm>
          <a:prstGeom xmlns:a="http://schemas.openxmlformats.org/drawingml/2006/main" prst="roundRect">
            <a:avLst>
              <a:gd name="adj" fmla="val 31579"/>
            </a:avLst>
          </a:prstGeom>
          <a:solidFill xmlns:a="http://schemas.openxmlformats.org/drawingml/2006/main">
            <a:srgbClr val="FFF1E7"/>
          </a:solidFill>
          <a:ln xmlns:a="http://schemas.openxmlformats.org/drawingml/2006/main" w="11430">
            <a:solidFill>
              <a:srgbClr val="E37222"/>
            </a:solidFill>
            <a:prstDash val="solid"/>
          </a:ln>
        </p:spPr>
      </p:sp>
      <p:sp>
        <p:nvSpPr>
          <p:cNvPr id="10" name="">
            <a:extLst xmlns:a="http://schemas.openxmlformats.org/drawingml/2006/main">
              <a:ext uri="{FF2B5EF4-FFF2-40B4-BE49-F238E27FC236}">
                <a16:creationId xmlns:a16="http://schemas.microsoft.com/office/drawing/2014/main" id="{F7B02FF7-79F8-433E-B437-CF4C94F5DF6E}"/>
              </a:ext>
            </a:extLst>
          </p:cNvPr>
          <p:cNvSpPr>
            <a:spLocks xmlns:a="http://schemas.openxmlformats.org/drawingml/2006/main" noGrp="1"/>
          </p:cNvSpPr>
          <p:nvPr/>
        </p:nvSpPr>
        <p:spPr>
          <a:xfrm xmlns:a="http://schemas.openxmlformats.org/drawingml/2006/main">
            <a:off x="781050" y="525780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E37222"/>
                </a:solidFill>
                <a:latin typeface="Arial"/>
                <a:ea typeface="Arial"/>
                <a:cs typeface="Arial"/>
              </a:defRPr>
            </a:pPr>
            <a:r>
              <a:rPr sz="1050" b="1">
                <a:solidFill>
                  <a:srgbClr val="E37222"/>
                </a:solidFill>
                <a:latin typeface="Arial"/>
                <a:ea typeface="Arial"/>
                <a:cs typeface="Arial"/>
              </a:rPr>
              <a:t>1  SEE SELECTIONS AND DRAGS</a:t>
            </a:r>
          </a:p>
        </p:txBody>
      </p:sp>
      <p:sp>
        <p:nvSpPr>
          <p:cNvPr id="11" name="">
            <a:extLst xmlns:a="http://schemas.openxmlformats.org/drawingml/2006/main">
              <a:ext uri="{FF2B5EF4-FFF2-40B4-BE49-F238E27FC236}">
                <a16:creationId xmlns:a16="http://schemas.microsoft.com/office/drawing/2014/main" id="{254CF070-C902-40CF-B3BD-8EFD98DD27F8}"/>
              </a:ext>
            </a:extLst>
          </p:cNvPr>
          <p:cNvSpPr>
            <a:spLocks xmlns:a="http://schemas.openxmlformats.org/drawingml/2006/main" noGrp="1"/>
          </p:cNvSpPr>
          <p:nvPr/>
        </p:nvSpPr>
        <p:spPr>
          <a:xfrm xmlns:a="http://schemas.openxmlformats.org/drawingml/2006/main">
            <a:off x="3943350" y="5162550"/>
            <a:ext cx="3067050" cy="361950"/>
          </a:xfrm>
          <a:prstGeom xmlns:a="http://schemas.openxmlformats.org/drawingml/2006/main" prst="roundRect">
            <a:avLst>
              <a:gd name="adj" fmla="val 31579"/>
            </a:avLst>
          </a:prstGeom>
          <a:solidFill xmlns:a="http://schemas.openxmlformats.org/drawingml/2006/main">
            <a:srgbClr val="EAF4FB"/>
          </a:solidFill>
          <a:ln xmlns:a="http://schemas.openxmlformats.org/drawingml/2006/main" w="11430">
            <a:solidFill>
              <a:srgbClr val="0065BD"/>
            </a:solidFill>
            <a:prstDash val="solid"/>
          </a:ln>
        </p:spPr>
      </p:sp>
      <p:sp>
        <p:nvSpPr>
          <p:cNvPr id="12" name="">
            <a:extLst xmlns:a="http://schemas.openxmlformats.org/drawingml/2006/main">
              <a:ext uri="{FF2B5EF4-FFF2-40B4-BE49-F238E27FC236}">
                <a16:creationId xmlns:a16="http://schemas.microsoft.com/office/drawing/2014/main" id="{DDF2145C-28D0-4511-9C5D-1A1CE91031C3}"/>
              </a:ext>
            </a:extLst>
          </p:cNvPr>
          <p:cNvSpPr>
            <a:spLocks xmlns:a="http://schemas.openxmlformats.org/drawingml/2006/main" noGrp="1"/>
          </p:cNvSpPr>
          <p:nvPr/>
        </p:nvSpPr>
        <p:spPr>
          <a:xfrm xmlns:a="http://schemas.openxmlformats.org/drawingml/2006/main">
            <a:off x="4057650" y="525780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065BD"/>
                </a:solidFill>
                <a:latin typeface="Arial"/>
                <a:ea typeface="Arial"/>
                <a:cs typeface="Arial"/>
              </a:defRPr>
            </a:pPr>
            <a:r>
              <a:rPr sz="1050" b="1">
                <a:solidFill>
                  <a:srgbClr val="0065BD"/>
                </a:solidFill>
                <a:latin typeface="Arial"/>
                <a:ea typeface="Arial"/>
                <a:cs typeface="Arial"/>
              </a:rPr>
              <a:t>2  RECOGNIZE NAMED CURSORS</a:t>
            </a:r>
          </a:p>
        </p:txBody>
      </p:sp>
      <p:sp>
        <p:nvSpPr>
          <p:cNvPr id="13" name="">
            <a:extLst xmlns:a="http://schemas.openxmlformats.org/drawingml/2006/main">
              <a:ext uri="{FF2B5EF4-FFF2-40B4-BE49-F238E27FC236}">
                <a16:creationId xmlns:a16="http://schemas.microsoft.com/office/drawing/2014/main" id="{9AC8EF88-0957-40A3-A470-432F02021A73}"/>
              </a:ext>
            </a:extLst>
          </p:cNvPr>
          <p:cNvSpPr>
            <a:spLocks xmlns:a="http://schemas.openxmlformats.org/drawingml/2006/main" noGrp="1"/>
          </p:cNvSpPr>
          <p:nvPr/>
        </p:nvSpPr>
        <p:spPr>
          <a:xfrm xmlns:a="http://schemas.openxmlformats.org/drawingml/2006/main">
            <a:off x="8096250" y="5162550"/>
            <a:ext cx="3067050" cy="361950"/>
          </a:xfrm>
          <a:prstGeom xmlns:a="http://schemas.openxmlformats.org/drawingml/2006/main" prst="roundRect">
            <a:avLst>
              <a:gd name="adj" fmla="val 31579"/>
            </a:avLst>
          </a:prstGeom>
          <a:solidFill xmlns:a="http://schemas.openxmlformats.org/drawingml/2006/main">
            <a:srgbClr val="EAF4FB"/>
          </a:solidFill>
          <a:ln xmlns:a="http://schemas.openxmlformats.org/drawingml/2006/main" w="11430">
            <a:solidFill>
              <a:srgbClr val="64A0C8"/>
            </a:solidFill>
            <a:prstDash val="solid"/>
          </a:ln>
        </p:spPr>
      </p:sp>
      <p:sp>
        <p:nvSpPr>
          <p:cNvPr id="14" name="">
            <a:extLst xmlns:a="http://schemas.openxmlformats.org/drawingml/2006/main">
              <a:ext uri="{FF2B5EF4-FFF2-40B4-BE49-F238E27FC236}">
                <a16:creationId xmlns:a16="http://schemas.microsoft.com/office/drawing/2014/main" id="{2C617C24-6100-442B-85E0-1B7B6A97F015}"/>
              </a:ext>
            </a:extLst>
          </p:cNvPr>
          <p:cNvSpPr>
            <a:spLocks xmlns:a="http://schemas.openxmlformats.org/drawingml/2006/main" noGrp="1"/>
          </p:cNvSpPr>
          <p:nvPr/>
        </p:nvSpPr>
        <p:spPr>
          <a:xfrm xmlns:a="http://schemas.openxmlformats.org/drawingml/2006/main">
            <a:off x="8210550" y="525780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64A0C8"/>
                </a:solidFill>
                <a:latin typeface="Arial"/>
                <a:ea typeface="Arial"/>
                <a:cs typeface="Arial"/>
              </a:defRPr>
            </a:pPr>
            <a:r>
              <a:rPr sz="1050" b="1">
                <a:solidFill>
                  <a:srgbClr val="64A0C8"/>
                </a:solidFill>
                <a:latin typeface="Arial"/>
                <a:ea typeface="Arial"/>
                <a:cs typeface="Arial"/>
              </a:rPr>
              <a:t>3  FOLLOW A VIEWPORT</a:t>
            </a:r>
          </a:p>
        </p:txBody>
      </p:sp>
      <p:sp>
        <p:nvSpPr>
          <p:cNvPr id="15" name="">
            <a:extLst xmlns:a="http://schemas.openxmlformats.org/drawingml/2006/main">
              <a:ext uri="{FF2B5EF4-FFF2-40B4-BE49-F238E27FC236}">
                <a16:creationId xmlns:a16="http://schemas.microsoft.com/office/drawing/2014/main" id="{2EFE91F2-CA69-4369-BA87-5A1E2DA12612}"/>
              </a:ext>
            </a:extLst>
          </p:cNvPr>
          <p:cNvSpPr>
            <a:spLocks xmlns:a="http://schemas.openxmlformats.org/drawingml/2006/main" noGrp="1"/>
          </p:cNvSpPr>
          <p:nvPr/>
        </p:nvSpPr>
        <p:spPr>
          <a:xfrm xmlns:a="http://schemas.openxmlformats.org/drawingml/2006/main">
            <a:off x="1809750" y="58102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03359"/>
                </a:solidFill>
                <a:latin typeface="Arial"/>
                <a:ea typeface="Arial"/>
                <a:cs typeface="Arial"/>
              </a:defRPr>
            </a:pPr>
            <a:r>
              <a:rPr sz="1425" b="1">
                <a:solidFill>
                  <a:srgbClr val="003359"/>
                </a:solidFill>
                <a:latin typeface="Arial"/>
                <a:ea typeface="Arial"/>
                <a:cs typeface="Arial"/>
              </a:rPr>
              <a:t>Awareness is transient session state; it never becomes part of the saved diagram.</a:t>
            </a:r>
          </a:p>
        </p:txBody>
      </p:sp>
    </p:spTree>
    <p:extLst>
      <p:ext uri="{BB962C8B-B14F-4D97-AF65-F5344CB8AC3E}">
        <p14:creationId xmlns:p14="http://schemas.microsoft.com/office/powerpoint/2010/main" val="17869592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BCAEE469-BA1B-465F-93E4-C1249A5FB068}"/>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2 | COMMUNICATION MODEL</a:t>
            </a:r>
          </a:p>
        </p:txBody>
      </p:sp>
      <p:sp>
        <p:nvSpPr>
          <p:cNvPr id="2" name="Slide title">
            <a:extLst xmlns:a="http://schemas.openxmlformats.org/drawingml/2006/main">
              <a:ext uri="{FF2B5EF4-FFF2-40B4-BE49-F238E27FC236}">
                <a16:creationId xmlns:a16="http://schemas.microsoft.com/office/drawing/2014/main" id="{ABB9D867-A695-44F4-8E24-109E144BAB61}"/>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One session carries two different kinds of change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20ee2d5c640430c"/>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E3E051-349F-458D-A721-17C49ADE52D1}"/>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2FE270AB-CF99-402F-A9C9-D3B5BDB6F1F1}"/>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E0876035-5A87-4C61-B266-B7F925FD758E}"/>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8</a:t>
            </a:r>
          </a:p>
        </p:txBody>
      </p:sp>
      <p:sp>
        <p:nvSpPr>
          <p:cNvPr id="7" name="Diagram stage">
            <a:extLst xmlns:a="http://schemas.openxmlformats.org/drawingml/2006/main">
              <a:ext uri="{FF2B5EF4-FFF2-40B4-BE49-F238E27FC236}">
                <a16:creationId xmlns:a16="http://schemas.microsoft.com/office/drawing/2014/main" id="{C29722B0-E221-44B0-8B88-7B797138562E}"/>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fd78d019ead4eb4"/>
          <a:stretch xmlns:a="http://schemas.openxmlformats.org/drawingml/2006/main"/>
        </p:blipFill>
        <p:spPr>
          <a:xfrm xmlns:a="http://schemas.openxmlformats.org/drawingml/2006/main">
            <a:off x="3423123" y="1390650"/>
            <a:ext cx="5345754" cy="4610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9922AF5-334B-4B65-B432-1C5FD258D06A}"/>
              </a:ext>
            </a:extLst>
          </p:cNvPr>
          <p:cNvSpPr>
            <a:spLocks xmlns:a="http://schemas.openxmlformats.org/drawingml/2006/main" noGrp="1"/>
          </p:cNvSpPr>
          <p:nvPr/>
        </p:nvSpPr>
        <p:spPr>
          <a:xfrm xmlns:a="http://schemas.openxmlformats.org/drawingml/2006/main">
            <a:off x="2000250" y="6143625"/>
            <a:ext cx="819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03359"/>
                </a:solidFill>
                <a:latin typeface="Arial"/>
                <a:ea typeface="Arial"/>
                <a:cs typeface="Arial"/>
              </a:defRPr>
            </a:pPr>
            <a:r>
              <a:rPr sz="1125" b="1">
                <a:solidFill>
                  <a:srgbClr val="003359"/>
                </a:solidFill>
                <a:latin typeface="Arial"/>
                <a:ea typeface="Arial"/>
                <a:cs typeface="Arial"/>
              </a:rPr>
              <a:t>Persisted model updates | Transient presence, cursor, selection, drag, and viewport awareness</a:t>
            </a:r>
          </a:p>
        </p:txBody>
      </p:sp>
    </p:spTree>
    <p:extLst>
      <p:ext uri="{BB962C8B-B14F-4D97-AF65-F5344CB8AC3E}">
        <p14:creationId xmlns:p14="http://schemas.microsoft.com/office/powerpoint/2010/main" val="2114442926"/>
      </p:ext>
    </p:extLst>
  </p:cSld>
</p:sld>
</file>

<file path=ppt/slides/slide9.xml><?xml version="1.0" encoding="utf-8"?>
<p:sld xmlns:p="http://schemas.openxmlformats.org/presentationml/2006/main">
  <p:cSld>
    <p:bg>
      <p:bgPr>
        <a:solidFill xmlns:a="http://schemas.openxmlformats.org/drawingml/2006/main">
          <a:srgbClr val="0A355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B88941A-A2EA-4D74-8894-1146F8055C04}"/>
              </a:ext>
            </a:extLst>
          </p:cNvPr>
          <p:cNvSpPr>
            <a:spLocks xmlns:a="http://schemas.openxmlformats.org/drawingml/2006/main" noGrp="1"/>
          </p:cNvSpPr>
          <p:nvPr/>
        </p:nvSpPr>
        <p:spPr>
          <a:xfrm xmlns:a="http://schemas.openxmlformats.org/drawingml/2006/main">
            <a:off x="495300" y="2857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98C6EA"/>
                </a:solidFill>
                <a:latin typeface="Arial"/>
                <a:ea typeface="Arial"/>
                <a:cs typeface="Arial"/>
              </a:defRPr>
            </a:pPr>
            <a:r>
              <a:rPr sz="900" b="1">
                <a:solidFill>
                  <a:srgbClr val="98C6EA"/>
                </a:solidFill>
                <a:latin typeface="Arial"/>
                <a:ea typeface="Arial"/>
                <a:cs typeface="Arial"/>
              </a:rPr>
              <a:t>MASTER'S THESIS | APOLLON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5430915a61745f9"/>
          <a:stretch xmlns:a="http://schemas.openxmlformats.org/drawingml/2006/main"/>
        </p:blipFill>
        <p:spPr>
          <a:xfrm xmlns:a="http://schemas.openxmlformats.org/drawingml/2006/main">
            <a:off x="10993315" y="266700"/>
            <a:ext cx="759069" cy="400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CFAACD-D605-4BF6-84A0-9D5378AE0697}"/>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8C6EA"/>
                </a:solidFill>
                <a:latin typeface="Arial"/>
                <a:ea typeface="Arial"/>
                <a:cs typeface="Arial"/>
              </a:defRPr>
            </a:pPr>
            <a:r>
              <a:rPr sz="825" b="0">
                <a:solidFill>
                  <a:srgbClr val="98C6EA"/>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90B33619-45A9-4B56-9ED8-EC191DAEF317}"/>
              </a:ext>
            </a:extLst>
          </p:cNvPr>
          <p:cNvSpPr>
            <a:spLocks xmlns:a="http://schemas.openxmlformats.org/drawingml/2006/main" noGrp="1"/>
          </p:cNvSpPr>
          <p:nvPr/>
        </p:nvSpPr>
        <p:spPr>
          <a:xfrm xmlns:a="http://schemas.openxmlformats.org/drawingml/2006/main">
            <a:off x="685800" y="1428750"/>
            <a:ext cx="666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Live Demo</a:t>
            </a:r>
          </a:p>
        </p:txBody>
      </p:sp>
      <p:sp>
        <p:nvSpPr>
          <p:cNvPr id="5" name="">
            <a:extLst xmlns:a="http://schemas.openxmlformats.org/drawingml/2006/main">
              <a:ext uri="{FF2B5EF4-FFF2-40B4-BE49-F238E27FC236}">
                <a16:creationId xmlns:a16="http://schemas.microsoft.com/office/drawing/2014/main" id="{8FD28B8F-9838-4E39-B5FF-B33B6CC8403D}"/>
              </a:ext>
            </a:extLst>
          </p:cNvPr>
          <p:cNvSpPr>
            <a:spLocks xmlns:a="http://schemas.openxmlformats.org/drawingml/2006/main" noGrp="1"/>
          </p:cNvSpPr>
          <p:nvPr/>
        </p:nvSpPr>
        <p:spPr>
          <a:xfrm xmlns:a="http://schemas.openxmlformats.org/drawingml/2006/main">
            <a:off x="723900" y="230505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98C6EA"/>
                </a:solidFill>
                <a:latin typeface="Arial"/>
                <a:ea typeface="Arial"/>
                <a:cs typeface="Arial"/>
              </a:defRPr>
            </a:pPr>
            <a:r>
              <a:rPr sz="1875" b="0">
                <a:solidFill>
                  <a:srgbClr val="98C6EA"/>
                </a:solidFill>
                <a:latin typeface="Arial"/>
                <a:ea typeface="Arial"/>
                <a:cs typeface="Arial"/>
              </a:rPr>
              <a:t>A current diagram, from JSON to editable presentation</a:t>
            </a:r>
          </a:p>
        </p:txBody>
      </p:sp>
      <p:sp>
        <p:nvSpPr>
          <p:cNvPr id="6" name="">
            <a:extLst xmlns:a="http://schemas.openxmlformats.org/drawingml/2006/main">
              <a:ext uri="{FF2B5EF4-FFF2-40B4-BE49-F238E27FC236}">
                <a16:creationId xmlns:a16="http://schemas.microsoft.com/office/drawing/2014/main" id="{0AFE5693-12AF-4A6C-AA86-4B1A469F3419}"/>
              </a:ext>
            </a:extLst>
          </p:cNvPr>
          <p:cNvSpPr>
            <a:spLocks xmlns:a="http://schemas.openxmlformats.org/drawingml/2006/main" noGrp="1"/>
          </p:cNvSpPr>
          <p:nvPr/>
        </p:nvSpPr>
        <p:spPr>
          <a:xfrm xmlns:a="http://schemas.openxmlformats.org/drawingml/2006/main">
            <a:off x="2190750" y="3781425"/>
            <a:ext cx="800100" cy="9525"/>
          </a:xfrm>
          <a:prstGeom xmlns:a="http://schemas.openxmlformats.org/drawingml/2006/main" prst="line">
            <a:avLst/>
          </a:prstGeom>
          <a:noFill xmlns:a="http://schemas.openxmlformats.org/drawingml/2006/main"/>
          <a:ln xmlns:a="http://schemas.openxmlformats.org/drawingml/2006/main" w="23813">
            <a:solidFill>
              <a:srgbClr val="98C6EA"/>
            </a:solidFill>
            <a:prstDash val="solid"/>
          </a:ln>
        </p:spPr>
      </p:sp>
      <p:sp>
        <p:nvSpPr>
          <p:cNvPr id="7" name="">
            <a:extLst xmlns:a="http://schemas.openxmlformats.org/drawingml/2006/main">
              <a:ext uri="{FF2B5EF4-FFF2-40B4-BE49-F238E27FC236}">
                <a16:creationId xmlns:a16="http://schemas.microsoft.com/office/drawing/2014/main" id="{11FBB9EF-7FCF-43B2-B262-BBFD77BB09EC}"/>
              </a:ext>
            </a:extLst>
          </p:cNvPr>
          <p:cNvSpPr>
            <a:spLocks xmlns:a="http://schemas.openxmlformats.org/drawingml/2006/main" noGrp="1"/>
          </p:cNvSpPr>
          <p:nvPr/>
        </p:nvSpPr>
        <p:spPr>
          <a:xfrm xmlns:a="http://schemas.openxmlformats.org/drawingml/2006/main">
            <a:off x="723900" y="3381375"/>
            <a:ext cx="800100" cy="8001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F92E83-9941-4D62-9C3E-A50FAC947C5C}"/>
              </a:ext>
            </a:extLst>
          </p:cNvPr>
          <p:cNvSpPr>
            <a:spLocks xmlns:a="http://schemas.openxmlformats.org/drawingml/2006/main" noGrp="1"/>
          </p:cNvSpPr>
          <p:nvPr/>
        </p:nvSpPr>
        <p:spPr>
          <a:xfrm xmlns:a="http://schemas.openxmlformats.org/drawingml/2006/main">
            <a:off x="933450" y="360997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562817DA-CEF9-4666-A546-123C853EA1DF}"/>
              </a:ext>
            </a:extLst>
          </p:cNvPr>
          <p:cNvSpPr>
            <a:spLocks xmlns:a="http://schemas.openxmlformats.org/drawingml/2006/main" noGrp="1"/>
          </p:cNvSpPr>
          <p:nvPr/>
        </p:nvSpPr>
        <p:spPr>
          <a:xfrm xmlns:a="http://schemas.openxmlformats.org/drawingml/2006/main">
            <a:off x="1657350" y="3419475"/>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Open</a:t>
            </a:r>
          </a:p>
        </p:txBody>
      </p:sp>
      <p:sp>
        <p:nvSpPr>
          <p:cNvPr id="10" name="">
            <a:extLst xmlns:a="http://schemas.openxmlformats.org/drawingml/2006/main">
              <a:ext uri="{FF2B5EF4-FFF2-40B4-BE49-F238E27FC236}">
                <a16:creationId xmlns:a16="http://schemas.microsoft.com/office/drawing/2014/main" id="{5B2CAFCF-FC71-4644-B757-182578964C93}"/>
              </a:ext>
            </a:extLst>
          </p:cNvPr>
          <p:cNvSpPr>
            <a:spLocks xmlns:a="http://schemas.openxmlformats.org/drawingml/2006/main" noGrp="1"/>
          </p:cNvSpPr>
          <p:nvPr/>
        </p:nvSpPr>
        <p:spPr>
          <a:xfrm xmlns:a="http://schemas.openxmlformats.org/drawingml/2006/main">
            <a:off x="1657350" y="38195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8C6EA"/>
                </a:solidFill>
                <a:latin typeface="Arial"/>
                <a:ea typeface="Arial"/>
                <a:cs typeface="Arial"/>
              </a:defRPr>
            </a:pPr>
            <a:r>
              <a:rPr sz="1125" b="0">
                <a:solidFill>
                  <a:srgbClr val="98C6EA"/>
                </a:solidFill>
                <a:latin typeface="Arial"/>
                <a:ea typeface="Arial"/>
                <a:cs typeface="Arial"/>
              </a:rPr>
              <a:t>Current home</a:t>
            </a:r>
          </a:p>
        </p:txBody>
      </p:sp>
      <p:sp>
        <p:nvSpPr>
          <p:cNvPr id="11" name="">
            <a:extLst xmlns:a="http://schemas.openxmlformats.org/drawingml/2006/main">
              <a:ext uri="{FF2B5EF4-FFF2-40B4-BE49-F238E27FC236}">
                <a16:creationId xmlns:a16="http://schemas.microsoft.com/office/drawing/2014/main" id="{FB2F1424-BDA1-44F4-9B69-CFA0950897F5}"/>
              </a:ext>
            </a:extLst>
          </p:cNvPr>
          <p:cNvSpPr>
            <a:spLocks xmlns:a="http://schemas.openxmlformats.org/drawingml/2006/main" noGrp="1"/>
          </p:cNvSpPr>
          <p:nvPr/>
        </p:nvSpPr>
        <p:spPr>
          <a:xfrm xmlns:a="http://schemas.openxmlformats.org/drawingml/2006/main">
            <a:off x="4457700" y="3781425"/>
            <a:ext cx="800100" cy="9525"/>
          </a:xfrm>
          <a:prstGeom xmlns:a="http://schemas.openxmlformats.org/drawingml/2006/main" prst="line">
            <a:avLst/>
          </a:prstGeom>
          <a:noFill xmlns:a="http://schemas.openxmlformats.org/drawingml/2006/main"/>
          <a:ln xmlns:a="http://schemas.openxmlformats.org/drawingml/2006/main" w="23813">
            <a:solidFill>
              <a:srgbClr val="98C6EA"/>
            </a:solidFill>
            <a:prstDash val="solid"/>
          </a:ln>
        </p:spPr>
      </p:sp>
      <p:sp>
        <p:nvSpPr>
          <p:cNvPr id="12" name="">
            <a:extLst xmlns:a="http://schemas.openxmlformats.org/drawingml/2006/main">
              <a:ext uri="{FF2B5EF4-FFF2-40B4-BE49-F238E27FC236}">
                <a16:creationId xmlns:a16="http://schemas.microsoft.com/office/drawing/2014/main" id="{7FD51F96-F373-4836-9459-2298EE2D1B35}"/>
              </a:ext>
            </a:extLst>
          </p:cNvPr>
          <p:cNvSpPr>
            <a:spLocks xmlns:a="http://schemas.openxmlformats.org/drawingml/2006/main" noGrp="1"/>
          </p:cNvSpPr>
          <p:nvPr/>
        </p:nvSpPr>
        <p:spPr>
          <a:xfrm xmlns:a="http://schemas.openxmlformats.org/drawingml/2006/main">
            <a:off x="2990850" y="3381375"/>
            <a:ext cx="800100" cy="8001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D5F1481-A109-4621-846D-D4A8905F286D}"/>
              </a:ext>
            </a:extLst>
          </p:cNvPr>
          <p:cNvSpPr>
            <a:spLocks xmlns:a="http://schemas.openxmlformats.org/drawingml/2006/main" noGrp="1"/>
          </p:cNvSpPr>
          <p:nvPr/>
        </p:nvSpPr>
        <p:spPr>
          <a:xfrm xmlns:a="http://schemas.openxmlformats.org/drawingml/2006/main">
            <a:off x="3200400" y="360997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93CCAAF-9171-4A2B-B26F-EB6E05876BB6}"/>
              </a:ext>
            </a:extLst>
          </p:cNvPr>
          <p:cNvSpPr>
            <a:spLocks xmlns:a="http://schemas.openxmlformats.org/drawingml/2006/main" noGrp="1"/>
          </p:cNvSpPr>
          <p:nvPr/>
        </p:nvSpPr>
        <p:spPr>
          <a:xfrm xmlns:a="http://schemas.openxmlformats.org/drawingml/2006/main">
            <a:off x="3924300" y="3419475"/>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Edit</a:t>
            </a:r>
          </a:p>
        </p:txBody>
      </p:sp>
      <p:sp>
        <p:nvSpPr>
          <p:cNvPr id="15" name="">
            <a:extLst xmlns:a="http://schemas.openxmlformats.org/drawingml/2006/main">
              <a:ext uri="{FF2B5EF4-FFF2-40B4-BE49-F238E27FC236}">
                <a16:creationId xmlns:a16="http://schemas.microsoft.com/office/drawing/2014/main" id="{2F624133-8DA0-47E4-82B7-42287FF4E72E}"/>
              </a:ext>
            </a:extLst>
          </p:cNvPr>
          <p:cNvSpPr>
            <a:spLocks xmlns:a="http://schemas.openxmlformats.org/drawingml/2006/main" noGrp="1"/>
          </p:cNvSpPr>
          <p:nvPr/>
        </p:nvSpPr>
        <p:spPr>
          <a:xfrm xmlns:a="http://schemas.openxmlformats.org/drawingml/2006/main">
            <a:off x="3924300" y="38195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8C6EA"/>
                </a:solidFill>
                <a:latin typeface="Arial"/>
                <a:ea typeface="Arial"/>
                <a:cs typeface="Arial"/>
              </a:defRPr>
            </a:pPr>
            <a:r>
              <a:rPr sz="1125" b="0">
                <a:solidFill>
                  <a:srgbClr val="98C6EA"/>
                </a:solidFill>
                <a:latin typeface="Arial"/>
                <a:ea typeface="Arial"/>
                <a:cs typeface="Arial"/>
              </a:rPr>
              <a:t>One direct interaction</a:t>
            </a:r>
          </a:p>
        </p:txBody>
      </p:sp>
      <p:sp>
        <p:nvSpPr>
          <p:cNvPr id="16" name="">
            <a:extLst xmlns:a="http://schemas.openxmlformats.org/drawingml/2006/main">
              <a:ext uri="{FF2B5EF4-FFF2-40B4-BE49-F238E27FC236}">
                <a16:creationId xmlns:a16="http://schemas.microsoft.com/office/drawing/2014/main" id="{294DD96C-F558-45C2-8B11-C537F80246E3}"/>
              </a:ext>
            </a:extLst>
          </p:cNvPr>
          <p:cNvSpPr>
            <a:spLocks xmlns:a="http://schemas.openxmlformats.org/drawingml/2006/main" noGrp="1"/>
          </p:cNvSpPr>
          <p:nvPr/>
        </p:nvSpPr>
        <p:spPr>
          <a:xfrm xmlns:a="http://schemas.openxmlformats.org/drawingml/2006/main">
            <a:off x="6724650" y="3781425"/>
            <a:ext cx="800100" cy="9525"/>
          </a:xfrm>
          <a:prstGeom xmlns:a="http://schemas.openxmlformats.org/drawingml/2006/main" prst="line">
            <a:avLst/>
          </a:prstGeom>
          <a:noFill xmlns:a="http://schemas.openxmlformats.org/drawingml/2006/main"/>
          <a:ln xmlns:a="http://schemas.openxmlformats.org/drawingml/2006/main" w="23813">
            <a:solidFill>
              <a:srgbClr val="98C6EA"/>
            </a:solidFill>
            <a:prstDash val="solid"/>
          </a:ln>
        </p:spPr>
      </p:sp>
      <p:sp>
        <p:nvSpPr>
          <p:cNvPr id="17" name="">
            <a:extLst xmlns:a="http://schemas.openxmlformats.org/drawingml/2006/main">
              <a:ext uri="{FF2B5EF4-FFF2-40B4-BE49-F238E27FC236}">
                <a16:creationId xmlns:a16="http://schemas.microsoft.com/office/drawing/2014/main" id="{4B57DC9D-51AB-4D2F-9790-C86340017FEE}"/>
              </a:ext>
            </a:extLst>
          </p:cNvPr>
          <p:cNvSpPr>
            <a:spLocks xmlns:a="http://schemas.openxmlformats.org/drawingml/2006/main" noGrp="1"/>
          </p:cNvSpPr>
          <p:nvPr/>
        </p:nvSpPr>
        <p:spPr>
          <a:xfrm xmlns:a="http://schemas.openxmlformats.org/drawingml/2006/main">
            <a:off x="5257800" y="3381375"/>
            <a:ext cx="800100" cy="8001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EFFCEB0-93FC-4925-AA12-F77D7079832D}"/>
              </a:ext>
            </a:extLst>
          </p:cNvPr>
          <p:cNvSpPr>
            <a:spLocks xmlns:a="http://schemas.openxmlformats.org/drawingml/2006/main" noGrp="1"/>
          </p:cNvSpPr>
          <p:nvPr/>
        </p:nvSpPr>
        <p:spPr>
          <a:xfrm xmlns:a="http://schemas.openxmlformats.org/drawingml/2006/main">
            <a:off x="5467350" y="360997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B0F4A9D4-3807-474C-B5F0-EF5D32DABA78}"/>
              </a:ext>
            </a:extLst>
          </p:cNvPr>
          <p:cNvSpPr>
            <a:spLocks xmlns:a="http://schemas.openxmlformats.org/drawingml/2006/main" noGrp="1"/>
          </p:cNvSpPr>
          <p:nvPr/>
        </p:nvSpPr>
        <p:spPr>
          <a:xfrm xmlns:a="http://schemas.openxmlformats.org/drawingml/2006/main">
            <a:off x="6191250" y="3419475"/>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Collaborate</a:t>
            </a:r>
          </a:p>
        </p:txBody>
      </p:sp>
      <p:sp>
        <p:nvSpPr>
          <p:cNvPr id="20" name="">
            <a:extLst xmlns:a="http://schemas.openxmlformats.org/drawingml/2006/main">
              <a:ext uri="{FF2B5EF4-FFF2-40B4-BE49-F238E27FC236}">
                <a16:creationId xmlns:a16="http://schemas.microsoft.com/office/drawing/2014/main" id="{2D5DB993-B8B4-42FB-9BE9-7204490EE2F2}"/>
              </a:ext>
            </a:extLst>
          </p:cNvPr>
          <p:cNvSpPr>
            <a:spLocks xmlns:a="http://schemas.openxmlformats.org/drawingml/2006/main" noGrp="1"/>
          </p:cNvSpPr>
          <p:nvPr/>
        </p:nvSpPr>
        <p:spPr>
          <a:xfrm xmlns:a="http://schemas.openxmlformats.org/drawingml/2006/main">
            <a:off x="6191250" y="38195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8C6EA"/>
                </a:solidFill>
                <a:latin typeface="Arial"/>
                <a:ea typeface="Arial"/>
                <a:cs typeface="Arial"/>
              </a:defRPr>
            </a:pPr>
            <a:r>
              <a:rPr sz="1125" b="0">
                <a:solidFill>
                  <a:srgbClr val="98C6EA"/>
                </a:solidFill>
                <a:latin typeface="Arial"/>
                <a:ea typeface="Arial"/>
                <a:cs typeface="Arial"/>
              </a:rPr>
              <a:t>Awareness if stable</a:t>
            </a:r>
          </a:p>
        </p:txBody>
      </p:sp>
      <p:sp>
        <p:nvSpPr>
          <p:cNvPr id="21" name="">
            <a:extLst xmlns:a="http://schemas.openxmlformats.org/drawingml/2006/main">
              <a:ext uri="{FF2B5EF4-FFF2-40B4-BE49-F238E27FC236}">
                <a16:creationId xmlns:a16="http://schemas.microsoft.com/office/drawing/2014/main" id="{A386D4D0-4B19-446A-B2BE-4CC6D71DD095}"/>
              </a:ext>
            </a:extLst>
          </p:cNvPr>
          <p:cNvSpPr>
            <a:spLocks xmlns:a="http://schemas.openxmlformats.org/drawingml/2006/main" noGrp="1"/>
          </p:cNvSpPr>
          <p:nvPr/>
        </p:nvSpPr>
        <p:spPr>
          <a:xfrm xmlns:a="http://schemas.openxmlformats.org/drawingml/2006/main">
            <a:off x="7524750" y="3381375"/>
            <a:ext cx="800100" cy="800100"/>
          </a:xfrm>
          <a:prstGeom xmlns:a="http://schemas.openxmlformats.org/drawingml/2006/main" prst="ellipse">
            <a:avLst/>
          </a:prstGeom>
          <a:solidFill xmlns:a="http://schemas.openxmlformats.org/drawingml/2006/main">
            <a:srgbClr val="E3722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3B86EFB-925F-414E-B8B9-F648D6D34101}"/>
              </a:ext>
            </a:extLst>
          </p:cNvPr>
          <p:cNvSpPr>
            <a:spLocks xmlns:a="http://schemas.openxmlformats.org/drawingml/2006/main" noGrp="1"/>
          </p:cNvSpPr>
          <p:nvPr/>
        </p:nvSpPr>
        <p:spPr>
          <a:xfrm xmlns:a="http://schemas.openxmlformats.org/drawingml/2006/main">
            <a:off x="7734300" y="360997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0BC43F8D-C998-4F12-A6E5-33ABDED6F3AF}"/>
              </a:ext>
            </a:extLst>
          </p:cNvPr>
          <p:cNvSpPr>
            <a:spLocks xmlns:a="http://schemas.openxmlformats.org/drawingml/2006/main" noGrp="1"/>
          </p:cNvSpPr>
          <p:nvPr/>
        </p:nvSpPr>
        <p:spPr>
          <a:xfrm xmlns:a="http://schemas.openxmlformats.org/drawingml/2006/main">
            <a:off x="8458200" y="3419475"/>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Export</a:t>
            </a:r>
          </a:p>
        </p:txBody>
      </p:sp>
      <p:sp>
        <p:nvSpPr>
          <p:cNvPr id="24" name="">
            <a:extLst xmlns:a="http://schemas.openxmlformats.org/drawingml/2006/main">
              <a:ext uri="{FF2B5EF4-FFF2-40B4-BE49-F238E27FC236}">
                <a16:creationId xmlns:a16="http://schemas.microsoft.com/office/drawing/2014/main" id="{A2117E74-1B73-4298-BE32-76BDA91E6F36}"/>
              </a:ext>
            </a:extLst>
          </p:cNvPr>
          <p:cNvSpPr>
            <a:spLocks xmlns:a="http://schemas.openxmlformats.org/drawingml/2006/main" noGrp="1"/>
          </p:cNvSpPr>
          <p:nvPr/>
        </p:nvSpPr>
        <p:spPr>
          <a:xfrm xmlns:a="http://schemas.openxmlformats.org/drawingml/2006/main">
            <a:off x="8458200" y="38195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8C6EA"/>
                </a:solidFill>
                <a:latin typeface="Arial"/>
                <a:ea typeface="Arial"/>
                <a:cs typeface="Arial"/>
              </a:defRPr>
            </a:pPr>
            <a:r>
              <a:rPr sz="1125" b="0">
                <a:solidFill>
                  <a:srgbClr val="98C6EA"/>
                </a:solidFill>
                <a:latin typeface="Arial"/>
                <a:ea typeface="Arial"/>
                <a:cs typeface="Arial"/>
              </a:rPr>
              <a:t>JSON + PPTX</a:t>
            </a:r>
          </a:p>
        </p:txBody>
      </p:sp>
      <p:sp>
        <p:nvSpPr>
          <p:cNvPr id="25" name="">
            <a:extLst xmlns:a="http://schemas.openxmlformats.org/drawingml/2006/main">
              <a:ext uri="{FF2B5EF4-FFF2-40B4-BE49-F238E27FC236}">
                <a16:creationId xmlns:a16="http://schemas.microsoft.com/office/drawing/2014/main" id="{09409157-0B0E-43A5-B32F-90AA73179517}"/>
              </a:ext>
            </a:extLst>
          </p:cNvPr>
          <p:cNvSpPr>
            <a:spLocks xmlns:a="http://schemas.openxmlformats.org/drawingml/2006/main" noGrp="1"/>
          </p:cNvSpPr>
          <p:nvPr/>
        </p:nvSpPr>
        <p:spPr>
          <a:xfrm xmlns:a="http://schemas.openxmlformats.org/drawingml/2006/main">
            <a:off x="10001250" y="2933700"/>
            <a:ext cx="1428750" cy="1428750"/>
          </a:xfrm>
          <a:prstGeom xmlns:a="http://schemas.openxmlformats.org/drawingml/2006/main" prst="ellipse">
            <a:avLst/>
          </a:prstGeom>
          <a:solidFill xmlns:a="http://schemas.openxmlformats.org/drawingml/2006/main">
            <a:srgbClr val="0A3558"/>
          </a:solidFill>
          <a:ln xmlns:a="http://schemas.openxmlformats.org/drawingml/2006/main" w="11430">
            <a:solidFill>
              <a:srgbClr val="98C6EA"/>
            </a:solidFill>
            <a:prstDash val="solid"/>
          </a:ln>
        </p:spPr>
      </p:sp>
      <p:sp>
        <p:nvSpPr>
          <p:cNvPr id="26" name="">
            <a:extLst xmlns:a="http://schemas.openxmlformats.org/drawingml/2006/main">
              <a:ext uri="{FF2B5EF4-FFF2-40B4-BE49-F238E27FC236}">
                <a16:creationId xmlns:a16="http://schemas.microsoft.com/office/drawing/2014/main" id="{F4544D5A-AA39-40EC-8BB4-B42B8F09FAA4}"/>
              </a:ext>
            </a:extLst>
          </p:cNvPr>
          <p:cNvSpPr>
            <a:spLocks xmlns:a="http://schemas.openxmlformats.org/drawingml/2006/main" noGrp="1"/>
          </p:cNvSpPr>
          <p:nvPr/>
        </p:nvSpPr>
        <p:spPr>
          <a:xfrm xmlns:a="http://schemas.openxmlformats.org/drawingml/2006/main">
            <a:off x="10134600" y="3343275"/>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3 min</a:t>
            </a:r>
          </a:p>
        </p:txBody>
      </p:sp>
      <p:sp>
        <p:nvSpPr>
          <p:cNvPr id="27" name="">
            <a:extLst xmlns:a="http://schemas.openxmlformats.org/drawingml/2006/main">
              <a:ext uri="{FF2B5EF4-FFF2-40B4-BE49-F238E27FC236}">
                <a16:creationId xmlns:a16="http://schemas.microsoft.com/office/drawing/2014/main" id="{CFB6D31B-2E4E-4042-8D17-666DF52D72DB}"/>
              </a:ext>
            </a:extLst>
          </p:cNvPr>
          <p:cNvSpPr>
            <a:spLocks xmlns:a="http://schemas.openxmlformats.org/drawingml/2006/main" noGrp="1"/>
          </p:cNvSpPr>
          <p:nvPr/>
        </p:nvSpPr>
        <p:spPr>
          <a:xfrm xmlns:a="http://schemas.openxmlformats.org/drawingml/2006/main">
            <a:off x="9848850" y="385762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98C6EA"/>
                </a:solidFill>
                <a:latin typeface="Arial"/>
                <a:ea typeface="Arial"/>
                <a:cs typeface="Arial"/>
              </a:defRPr>
            </a:pPr>
            <a:r>
              <a:rPr sz="1050" b="0">
                <a:solidFill>
                  <a:srgbClr val="98C6EA"/>
                </a:solidFill>
                <a:latin typeface="Arial"/>
                <a:ea typeface="Arial"/>
                <a:cs typeface="Arial"/>
              </a:rPr>
              <a:t>backup cast ready</a:t>
            </a:r>
          </a:p>
        </p:txBody>
      </p:sp>
      <p:sp>
        <p:nvSpPr>
          <p:cNvPr id="28" name="">
            <a:extLst xmlns:a="http://schemas.openxmlformats.org/drawingml/2006/main">
              <a:ext uri="{FF2B5EF4-FFF2-40B4-BE49-F238E27FC236}">
                <a16:creationId xmlns:a16="http://schemas.microsoft.com/office/drawing/2014/main" id="{61DA84FB-9379-4CDA-870E-25B2AF4D31D8}"/>
              </a:ext>
            </a:extLst>
          </p:cNvPr>
          <p:cNvSpPr>
            <a:spLocks xmlns:a="http://schemas.openxmlformats.org/drawingml/2006/main" noGrp="1"/>
          </p:cNvSpPr>
          <p:nvPr/>
        </p:nvSpPr>
        <p:spPr>
          <a:xfrm xmlns:a="http://schemas.openxmlformats.org/drawingml/2006/main">
            <a:off x="723900" y="55816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98C6EA"/>
                </a:solidFill>
                <a:latin typeface="Arial"/>
                <a:ea typeface="Arial"/>
                <a:cs typeface="Arial"/>
              </a:defRPr>
            </a:pPr>
            <a:r>
              <a:rPr sz="1275" b="0">
                <a:solidFill>
                  <a:srgbClr val="98C6EA"/>
                </a:solidFill>
                <a:latin typeface="Arial"/>
                <a:ea typeface="Arial"/>
                <a:cs typeface="Arial"/>
              </a:rPr>
              <a:t>Current Apollon app | Realistic thesis diagram | Backup screencast available</a:t>
            </a:r>
          </a:p>
        </p:txBody>
      </p:sp>
    </p:spTree>
    <p:extLst>
      <p:ext uri="{BB962C8B-B14F-4D97-AF65-F5344CB8AC3E}">
        <p14:creationId xmlns:p14="http://schemas.microsoft.com/office/powerpoint/2010/main" val="16116390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B4048034-3FE9-4462-B8AA-E7995F6A6F86}"/>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3 | COMPONENT MODEL</a:t>
            </a:r>
          </a:p>
        </p:txBody>
      </p:sp>
      <p:sp>
        <p:nvSpPr>
          <p:cNvPr id="2" name="Slide title">
            <a:extLst xmlns:a="http://schemas.openxmlformats.org/drawingml/2006/main">
              <a:ext uri="{FF2B5EF4-FFF2-40B4-BE49-F238E27FC236}">
                <a16:creationId xmlns:a16="http://schemas.microsoft.com/office/drawing/2014/main" id="{DAFDE04F-5BE2-4F26-922B-1CF0A08B612E}"/>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Artemis owns teaching workflows; Apollon owns editor behavior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cf0319625f74def"/>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3E61A9-5BB7-4B04-A0A0-CDBD84F55946}"/>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9A546F7C-0F7A-47DE-9196-A86F7CD28EDE}"/>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AB6DBAB3-5A35-4FFC-BC24-B50B77A77051}"/>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10</a:t>
            </a:r>
          </a:p>
        </p:txBody>
      </p:sp>
      <p:sp>
        <p:nvSpPr>
          <p:cNvPr id="7" name="Diagram stage">
            <a:extLst xmlns:a="http://schemas.openxmlformats.org/drawingml/2006/main">
              <a:ext uri="{FF2B5EF4-FFF2-40B4-BE49-F238E27FC236}">
                <a16:creationId xmlns:a16="http://schemas.microsoft.com/office/drawing/2014/main" id="{1A1C408C-B70A-4222-9496-79B13DD4F892}"/>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a3e7847b0ac4019"/>
          <a:stretch xmlns:a="http://schemas.openxmlformats.org/drawingml/2006/main"/>
        </p:blipFill>
        <p:spPr>
          <a:xfrm xmlns:a="http://schemas.openxmlformats.org/drawingml/2006/main">
            <a:off x="1929370" y="1371600"/>
            <a:ext cx="8333259" cy="46482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EBA9840-491A-4A11-9999-DD1A90EE48EC}"/>
              </a:ext>
            </a:extLst>
          </p:cNvPr>
          <p:cNvSpPr>
            <a:spLocks xmlns:a="http://schemas.openxmlformats.org/drawingml/2006/main" noGrp="1"/>
          </p:cNvSpPr>
          <p:nvPr/>
        </p:nvSpPr>
        <p:spPr>
          <a:xfrm xmlns:a="http://schemas.openxmlformats.org/drawingml/2006/main">
            <a:off x="2209800" y="6143625"/>
            <a:ext cx="7772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03359"/>
                </a:solidFill>
                <a:latin typeface="Arial"/>
                <a:ea typeface="Arial"/>
                <a:cs typeface="Arial"/>
              </a:defRPr>
            </a:pPr>
            <a:r>
              <a:rPr sz="1125" b="1">
                <a:solidFill>
                  <a:srgbClr val="003359"/>
                </a:solidFill>
                <a:latin typeface="Arial"/>
                <a:ea typeface="Arial"/>
                <a:cs typeface="Arial"/>
              </a:rPr>
              <a:t>The boundary that matters: Artemis workflows reuse one maintained Apollon library.</a:t>
            </a:r>
          </a:p>
        </p:txBody>
      </p:sp>
    </p:spTree>
    <p:extLst>
      <p:ext uri="{BB962C8B-B14F-4D97-AF65-F5344CB8AC3E}">
        <p14:creationId xmlns:p14="http://schemas.microsoft.com/office/powerpoint/2010/main" val="11626065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 label">
            <a:extLst xmlns:a="http://schemas.openxmlformats.org/drawingml/2006/main">
              <a:ext uri="{FF2B5EF4-FFF2-40B4-BE49-F238E27FC236}">
                <a16:creationId xmlns:a16="http://schemas.microsoft.com/office/drawing/2014/main" id="{2D2A44B8-EC94-45AF-8C88-0C98059E06DD}"/>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3 | ARTEMIS</a:t>
            </a:r>
          </a:p>
        </p:txBody>
      </p:sp>
      <p:sp>
        <p:nvSpPr>
          <p:cNvPr id="2" name="Slide title">
            <a:extLst xmlns:a="http://schemas.openxmlformats.org/drawingml/2006/main">
              <a:ext uri="{FF2B5EF4-FFF2-40B4-BE49-F238E27FC236}">
                <a16:creationId xmlns:a16="http://schemas.microsoft.com/office/drawing/2014/main" id="{8D1F6B14-1962-4440-9367-EBFD1C6D8F72}"/>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Artemis kept four teaching workflows on maintained Apollon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92a4e2cbbf34a9a"/>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668464-7110-4BB8-A761-AA79C10B87DA}"/>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BC9E38C8-625A-46BA-858C-3025E3467F00}"/>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7C0BADA8-1FA6-47E8-B4BB-BAD62D2A6F30}"/>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EFF419D1-7F33-41F5-9D58-0529C9D46845}"/>
              </a:ext>
            </a:extLst>
          </p:cNvPr>
          <p:cNvSpPr>
            <a:spLocks xmlns:a="http://schemas.openxmlformats.org/drawingml/2006/main" noGrp="1"/>
          </p:cNvSpPr>
          <p:nvPr/>
        </p:nvSpPr>
        <p:spPr>
          <a:xfrm xmlns:a="http://schemas.openxmlformats.org/drawingml/2006/main">
            <a:off x="1409700" y="1619250"/>
            <a:ext cx="647700" cy="6477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345515-8492-406E-B514-527DE4E976E7}"/>
              </a:ext>
            </a:extLst>
          </p:cNvPr>
          <p:cNvSpPr>
            <a:spLocks xmlns:a="http://schemas.openxmlformats.org/drawingml/2006/main" noGrp="1"/>
          </p:cNvSpPr>
          <p:nvPr/>
        </p:nvSpPr>
        <p:spPr>
          <a:xfrm xmlns:a="http://schemas.openxmlformats.org/drawingml/2006/main">
            <a:off x="1581150" y="18002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E6439C22-E777-48F1-ACB6-3AF81FE17A7B}"/>
              </a:ext>
            </a:extLst>
          </p:cNvPr>
          <p:cNvSpPr>
            <a:spLocks xmlns:a="http://schemas.openxmlformats.org/drawingml/2006/main" noGrp="1"/>
          </p:cNvSpPr>
          <p:nvPr/>
        </p:nvSpPr>
        <p:spPr>
          <a:xfrm xmlns:a="http://schemas.openxmlformats.org/drawingml/2006/main">
            <a:off x="609600" y="25146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003359"/>
                </a:solidFill>
                <a:latin typeface="Arial"/>
                <a:ea typeface="Arial"/>
                <a:cs typeface="Arial"/>
              </a:defRPr>
            </a:pPr>
            <a:r>
              <a:rPr sz="1875" b="1">
                <a:solidFill>
                  <a:srgbClr val="003359"/>
                </a:solidFill>
                <a:latin typeface="Arial"/>
                <a:ea typeface="Arial"/>
                <a:cs typeface="Arial"/>
              </a:rPr>
              <a:t>Model</a:t>
            </a:r>
          </a:p>
        </p:txBody>
      </p:sp>
      <p:sp>
        <p:nvSpPr>
          <p:cNvPr id="10" name="">
            <a:extLst xmlns:a="http://schemas.openxmlformats.org/drawingml/2006/main">
              <a:ext uri="{FF2B5EF4-FFF2-40B4-BE49-F238E27FC236}">
                <a16:creationId xmlns:a16="http://schemas.microsoft.com/office/drawing/2014/main" id="{BBE80297-727F-4783-BDCC-E70E3877EA7B}"/>
              </a:ext>
            </a:extLst>
          </p:cNvPr>
          <p:cNvSpPr>
            <a:spLocks xmlns:a="http://schemas.openxmlformats.org/drawingml/2006/main" noGrp="1"/>
          </p:cNvSpPr>
          <p:nvPr/>
        </p:nvSpPr>
        <p:spPr>
          <a:xfrm xmlns:a="http://schemas.openxmlformats.org/drawingml/2006/main">
            <a:off x="609600" y="3048000"/>
            <a:ext cx="2247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56616B"/>
                </a:solidFill>
                <a:latin typeface="Arial"/>
                <a:ea typeface="Arial"/>
                <a:cs typeface="Arial"/>
              </a:defRPr>
            </a:pPr>
            <a:r>
              <a:rPr sz="1275" b="0">
                <a:solidFill>
                  <a:srgbClr val="56616B"/>
                </a:solidFill>
                <a:latin typeface="Arial"/>
                <a:ea typeface="Arial"/>
                <a:cs typeface="Arial"/>
              </a:rPr>
              <a:t>Modeling exercises use the maintained editor and model behavior.</a:t>
            </a:r>
          </a:p>
        </p:txBody>
      </p:sp>
      <p:sp>
        <p:nvSpPr>
          <p:cNvPr id="11" name="">
            <a:extLst xmlns:a="http://schemas.openxmlformats.org/drawingml/2006/main">
              <a:ext uri="{FF2B5EF4-FFF2-40B4-BE49-F238E27FC236}">
                <a16:creationId xmlns:a16="http://schemas.microsoft.com/office/drawing/2014/main" id="{420CC575-0AC9-4C49-9B1A-EE1A5DC0690B}"/>
              </a:ext>
            </a:extLst>
          </p:cNvPr>
          <p:cNvSpPr>
            <a:spLocks xmlns:a="http://schemas.openxmlformats.org/drawingml/2006/main" noGrp="1"/>
          </p:cNvSpPr>
          <p:nvPr/>
        </p:nvSpPr>
        <p:spPr>
          <a:xfrm xmlns:a="http://schemas.openxmlformats.org/drawingml/2006/main">
            <a:off x="4171950" y="1619250"/>
            <a:ext cx="647700" cy="647700"/>
          </a:xfrm>
          <a:prstGeom xmlns:a="http://schemas.openxmlformats.org/drawingml/2006/main" prst="ellipse">
            <a:avLst/>
          </a:prstGeom>
          <a:solidFill xmlns:a="http://schemas.openxmlformats.org/drawingml/2006/main">
            <a:srgbClr val="E3722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76F50E-D7DA-4791-8B99-F606A1B24855}"/>
              </a:ext>
            </a:extLst>
          </p:cNvPr>
          <p:cNvSpPr>
            <a:spLocks xmlns:a="http://schemas.openxmlformats.org/drawingml/2006/main" noGrp="1"/>
          </p:cNvSpPr>
          <p:nvPr/>
        </p:nvSpPr>
        <p:spPr>
          <a:xfrm xmlns:a="http://schemas.openxmlformats.org/drawingml/2006/main">
            <a:off x="4343400" y="18002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3BFA4EE-C45C-4F4D-815F-2CCA93975D96}"/>
              </a:ext>
            </a:extLst>
          </p:cNvPr>
          <p:cNvSpPr>
            <a:spLocks xmlns:a="http://schemas.openxmlformats.org/drawingml/2006/main" noGrp="1"/>
          </p:cNvSpPr>
          <p:nvPr/>
        </p:nvSpPr>
        <p:spPr>
          <a:xfrm xmlns:a="http://schemas.openxmlformats.org/drawingml/2006/main">
            <a:off x="3371850" y="25146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003359"/>
                </a:solidFill>
                <a:latin typeface="Arial"/>
                <a:ea typeface="Arial"/>
                <a:cs typeface="Arial"/>
              </a:defRPr>
            </a:pPr>
            <a:r>
              <a:rPr sz="1875" b="1">
                <a:solidFill>
                  <a:srgbClr val="003359"/>
                </a:solidFill>
                <a:latin typeface="Arial"/>
                <a:ea typeface="Arial"/>
                <a:cs typeface="Arial"/>
              </a:rPr>
              <a:t>Quiz</a:t>
            </a:r>
          </a:p>
        </p:txBody>
      </p:sp>
      <p:sp>
        <p:nvSpPr>
          <p:cNvPr id="14" name="">
            <a:extLst xmlns:a="http://schemas.openxmlformats.org/drawingml/2006/main">
              <a:ext uri="{FF2B5EF4-FFF2-40B4-BE49-F238E27FC236}">
                <a16:creationId xmlns:a16="http://schemas.microsoft.com/office/drawing/2014/main" id="{8C1BB0FC-7EFD-450E-B90F-0C12A699C29C}"/>
              </a:ext>
            </a:extLst>
          </p:cNvPr>
          <p:cNvSpPr>
            <a:spLocks xmlns:a="http://schemas.openxmlformats.org/drawingml/2006/main" noGrp="1"/>
          </p:cNvSpPr>
          <p:nvPr/>
        </p:nvSpPr>
        <p:spPr>
          <a:xfrm xmlns:a="http://schemas.openxmlformats.org/drawingml/2006/main">
            <a:off x="3371850" y="3048000"/>
            <a:ext cx="2247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56616B"/>
                </a:solidFill>
                <a:latin typeface="Arial"/>
                <a:ea typeface="Arial"/>
                <a:cs typeface="Arial"/>
              </a:defRPr>
            </a:pPr>
            <a:r>
              <a:rPr sz="1275" b="0">
                <a:solidFill>
                  <a:srgbClr val="56616B"/>
                </a:solidFill>
                <a:latin typeface="Arial"/>
                <a:ea typeface="Arial"/>
                <a:cs typeface="Arial"/>
              </a:rPr>
              <a:t>Selected and nested elements become aligned cut-outs and drop locations.</a:t>
            </a:r>
          </a:p>
        </p:txBody>
      </p:sp>
      <p:sp>
        <p:nvSpPr>
          <p:cNvPr id="15" name="">
            <a:extLst xmlns:a="http://schemas.openxmlformats.org/drawingml/2006/main">
              <a:ext uri="{FF2B5EF4-FFF2-40B4-BE49-F238E27FC236}">
                <a16:creationId xmlns:a16="http://schemas.microsoft.com/office/drawing/2014/main" id="{0BC2421C-F21D-4589-A431-6EB9E760953F}"/>
              </a:ext>
            </a:extLst>
          </p:cNvPr>
          <p:cNvSpPr>
            <a:spLocks xmlns:a="http://schemas.openxmlformats.org/drawingml/2006/main" noGrp="1"/>
          </p:cNvSpPr>
          <p:nvPr/>
        </p:nvSpPr>
        <p:spPr>
          <a:xfrm xmlns:a="http://schemas.openxmlformats.org/drawingml/2006/main">
            <a:off x="6934200" y="1619250"/>
            <a:ext cx="647700" cy="64770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66C13B-43D9-44B8-9197-A98D525E9E56}"/>
              </a:ext>
            </a:extLst>
          </p:cNvPr>
          <p:cNvSpPr>
            <a:spLocks xmlns:a="http://schemas.openxmlformats.org/drawingml/2006/main" noGrp="1"/>
          </p:cNvSpPr>
          <p:nvPr/>
        </p:nvSpPr>
        <p:spPr>
          <a:xfrm xmlns:a="http://schemas.openxmlformats.org/drawingml/2006/main">
            <a:off x="7105650" y="18002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442EBDA4-B533-4661-8539-19727B55A913}"/>
              </a:ext>
            </a:extLst>
          </p:cNvPr>
          <p:cNvSpPr>
            <a:spLocks xmlns:a="http://schemas.openxmlformats.org/drawingml/2006/main" noGrp="1"/>
          </p:cNvSpPr>
          <p:nvPr/>
        </p:nvSpPr>
        <p:spPr>
          <a:xfrm xmlns:a="http://schemas.openxmlformats.org/drawingml/2006/main">
            <a:off x="6134100" y="25146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003359"/>
                </a:solidFill>
                <a:latin typeface="Arial"/>
                <a:ea typeface="Arial"/>
                <a:cs typeface="Arial"/>
              </a:defRPr>
            </a:pPr>
            <a:r>
              <a:rPr sz="1875" b="1">
                <a:solidFill>
                  <a:srgbClr val="003359"/>
                </a:solidFill>
                <a:latin typeface="Arial"/>
                <a:ea typeface="Arial"/>
                <a:cs typeface="Arial"/>
              </a:rPr>
              <a:t>Assess</a:t>
            </a:r>
          </a:p>
        </p:txBody>
      </p:sp>
      <p:sp>
        <p:nvSpPr>
          <p:cNvPr id="18" name="">
            <a:extLst xmlns:a="http://schemas.openxmlformats.org/drawingml/2006/main">
              <a:ext uri="{FF2B5EF4-FFF2-40B4-BE49-F238E27FC236}">
                <a16:creationId xmlns:a16="http://schemas.microsoft.com/office/drawing/2014/main" id="{24C5A983-41B8-407A-8269-6DD687DFB94F}"/>
              </a:ext>
            </a:extLst>
          </p:cNvPr>
          <p:cNvSpPr>
            <a:spLocks xmlns:a="http://schemas.openxmlformats.org/drawingml/2006/main" noGrp="1"/>
          </p:cNvSpPr>
          <p:nvPr/>
        </p:nvSpPr>
        <p:spPr>
          <a:xfrm xmlns:a="http://schemas.openxmlformats.org/drawingml/2006/main">
            <a:off x="6134100" y="3048000"/>
            <a:ext cx="2247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56616B"/>
                </a:solidFill>
                <a:latin typeface="Arial"/>
                <a:ea typeface="Arial"/>
                <a:cs typeface="Arial"/>
              </a:defRPr>
            </a:pPr>
            <a:r>
              <a:rPr sz="1275" b="0">
                <a:solidFill>
                  <a:srgbClr val="56616B"/>
                </a:solidFill>
                <a:latin typeface="Arial"/>
                <a:ea typeface="Arial"/>
                <a:cs typeface="Arial"/>
              </a:rPr>
              <a:t>Element targeting and structured-grading compatibility remain intact.</a:t>
            </a:r>
          </a:p>
        </p:txBody>
      </p:sp>
      <p:sp>
        <p:nvSpPr>
          <p:cNvPr id="19" name="">
            <a:extLst xmlns:a="http://schemas.openxmlformats.org/drawingml/2006/main">
              <a:ext uri="{FF2B5EF4-FFF2-40B4-BE49-F238E27FC236}">
                <a16:creationId xmlns:a16="http://schemas.microsoft.com/office/drawing/2014/main" id="{7AAC72F7-18B4-4137-AFA7-F19C9F50C8D3}"/>
              </a:ext>
            </a:extLst>
          </p:cNvPr>
          <p:cNvSpPr>
            <a:spLocks xmlns:a="http://schemas.openxmlformats.org/drawingml/2006/main" noGrp="1"/>
          </p:cNvSpPr>
          <p:nvPr/>
        </p:nvSpPr>
        <p:spPr>
          <a:xfrm xmlns:a="http://schemas.openxmlformats.org/drawingml/2006/main">
            <a:off x="9696450" y="1619250"/>
            <a:ext cx="647700" cy="647700"/>
          </a:xfrm>
          <a:prstGeom xmlns:a="http://schemas.openxmlformats.org/drawingml/2006/main" prst="ellipse">
            <a:avLst/>
          </a:prstGeom>
          <a:solidFill xmlns:a="http://schemas.openxmlformats.org/drawingml/2006/main">
            <a:srgbClr val="64A0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D5B8CFF-2CAD-4BA6-8E89-5D30B2973795}"/>
              </a:ext>
            </a:extLst>
          </p:cNvPr>
          <p:cNvSpPr>
            <a:spLocks xmlns:a="http://schemas.openxmlformats.org/drawingml/2006/main" noGrp="1"/>
          </p:cNvSpPr>
          <p:nvPr/>
        </p:nvSpPr>
        <p:spPr>
          <a:xfrm xmlns:a="http://schemas.openxmlformats.org/drawingml/2006/main">
            <a:off x="9867900" y="18002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88498750-0038-4079-A785-FA64E1F7EF15}"/>
              </a:ext>
            </a:extLst>
          </p:cNvPr>
          <p:cNvSpPr>
            <a:spLocks xmlns:a="http://schemas.openxmlformats.org/drawingml/2006/main" noGrp="1"/>
          </p:cNvSpPr>
          <p:nvPr/>
        </p:nvSpPr>
        <p:spPr>
          <a:xfrm xmlns:a="http://schemas.openxmlformats.org/drawingml/2006/main">
            <a:off x="8896350" y="25146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003359"/>
                </a:solidFill>
                <a:latin typeface="Arial"/>
                <a:ea typeface="Arial"/>
                <a:cs typeface="Arial"/>
              </a:defRPr>
            </a:pPr>
            <a:r>
              <a:rPr sz="1875" b="1">
                <a:solidFill>
                  <a:srgbClr val="003359"/>
                </a:solidFill>
                <a:latin typeface="Arial"/>
                <a:ea typeface="Arial"/>
                <a:cs typeface="Arial"/>
              </a:rPr>
              <a:t>Collaborate</a:t>
            </a:r>
          </a:p>
        </p:txBody>
      </p:sp>
      <p:sp>
        <p:nvSpPr>
          <p:cNvPr id="22" name="">
            <a:extLst xmlns:a="http://schemas.openxmlformats.org/drawingml/2006/main">
              <a:ext uri="{FF2B5EF4-FFF2-40B4-BE49-F238E27FC236}">
                <a16:creationId xmlns:a16="http://schemas.microsoft.com/office/drawing/2014/main" id="{AFB1DBCE-CA4C-4B6E-8FE6-A42937E55B36}"/>
              </a:ext>
            </a:extLst>
          </p:cNvPr>
          <p:cNvSpPr>
            <a:spLocks xmlns:a="http://schemas.openxmlformats.org/drawingml/2006/main" noGrp="1"/>
          </p:cNvSpPr>
          <p:nvPr/>
        </p:nvSpPr>
        <p:spPr>
          <a:xfrm xmlns:a="http://schemas.openxmlformats.org/drawingml/2006/main">
            <a:off x="8896350" y="3048000"/>
            <a:ext cx="2247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56616B"/>
                </a:solidFill>
                <a:latin typeface="Arial"/>
                <a:ea typeface="Arial"/>
                <a:cs typeface="Arial"/>
              </a:defRPr>
            </a:pPr>
            <a:r>
              <a:rPr sz="1275" b="0">
                <a:solidFill>
                  <a:srgbClr val="56616B"/>
                </a:solidFill>
                <a:latin typeface="Arial"/>
                <a:ea typeface="Arial"/>
                <a:cs typeface="Arial"/>
              </a:rPr>
              <a:t>Team modeling reuses the library's transient awareness surface.</a:t>
            </a:r>
          </a:p>
        </p:txBody>
      </p:sp>
      <p:sp>
        <p:nvSpPr>
          <p:cNvPr id="23" name="">
            <a:extLst xmlns:a="http://schemas.openxmlformats.org/drawingml/2006/main">
              <a:ext uri="{FF2B5EF4-FFF2-40B4-BE49-F238E27FC236}">
                <a16:creationId xmlns:a16="http://schemas.microsoft.com/office/drawing/2014/main" id="{CB286AED-7137-43F0-97DD-EF9DD917A9C0}"/>
              </a:ext>
            </a:extLst>
          </p:cNvPr>
          <p:cNvSpPr>
            <a:spLocks xmlns:a="http://schemas.openxmlformats.org/drawingml/2006/main" noGrp="1"/>
          </p:cNvSpPr>
          <p:nvPr/>
        </p:nvSpPr>
        <p:spPr>
          <a:xfrm xmlns:a="http://schemas.openxmlformats.org/drawingml/2006/main">
            <a:off x="1295400" y="4762500"/>
            <a:ext cx="9601200" cy="933450"/>
          </a:xfrm>
          <a:prstGeom xmlns:a="http://schemas.openxmlformats.org/drawingml/2006/main" prst="roundRect">
            <a:avLst>
              <a:gd name="adj" fmla="val 12245"/>
            </a:avLst>
          </a:prstGeom>
          <a:solidFill xmlns:a="http://schemas.openxmlformats.org/drawingml/2006/main">
            <a:srgbClr val="F7F9FB"/>
          </a:solidFill>
          <a:ln xmlns:a="http://schemas.openxmlformats.org/drawingml/2006/main" w="11430">
            <a:solidFill>
              <a:srgbClr val="DDE3E8"/>
            </a:solidFill>
            <a:prstDash val="solid"/>
          </a:ln>
        </p:spPr>
      </p:sp>
      <p:sp>
        <p:nvSpPr>
          <p:cNvPr id="24" name="">
            <a:extLst xmlns:a="http://schemas.openxmlformats.org/drawingml/2006/main">
              <a:ext uri="{FF2B5EF4-FFF2-40B4-BE49-F238E27FC236}">
                <a16:creationId xmlns:a16="http://schemas.microsoft.com/office/drawing/2014/main" id="{86D4291F-1EE0-420A-BC45-06272D13C54F}"/>
              </a:ext>
            </a:extLst>
          </p:cNvPr>
          <p:cNvSpPr>
            <a:spLocks xmlns:a="http://schemas.openxmlformats.org/drawingml/2006/main" noGrp="1"/>
          </p:cNvSpPr>
          <p:nvPr/>
        </p:nvSpPr>
        <p:spPr>
          <a:xfrm xmlns:a="http://schemas.openxmlformats.org/drawingml/2006/main">
            <a:off x="1619250" y="49815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E37222"/>
                </a:solidFill>
                <a:latin typeface="Arial"/>
                <a:ea typeface="Arial"/>
                <a:cs typeface="Arial"/>
              </a:defRPr>
            </a:pPr>
            <a:r>
              <a:rPr sz="1425" b="1">
                <a:solidFill>
                  <a:srgbClr val="E37222"/>
                </a:solidFill>
                <a:latin typeface="Arial"/>
                <a:ea typeface="Arial"/>
                <a:cs typeface="Arial"/>
              </a:rPr>
              <a:t>Migration constraint</a:t>
            </a:r>
          </a:p>
        </p:txBody>
      </p:sp>
      <p:sp>
        <p:nvSpPr>
          <p:cNvPr id="25" name="">
            <a:extLst xmlns:a="http://schemas.openxmlformats.org/drawingml/2006/main">
              <a:ext uri="{FF2B5EF4-FFF2-40B4-BE49-F238E27FC236}">
                <a16:creationId xmlns:a16="http://schemas.microsoft.com/office/drawing/2014/main" id="{99153E97-3B8D-43B9-A2A2-E7EE07D21208}"/>
              </a:ext>
            </a:extLst>
          </p:cNvPr>
          <p:cNvSpPr>
            <a:spLocks xmlns:a="http://schemas.openxmlformats.org/drawingml/2006/main" noGrp="1"/>
          </p:cNvSpPr>
          <p:nvPr/>
        </p:nvSpPr>
        <p:spPr>
          <a:xfrm xmlns:a="http://schemas.openxmlformats.org/drawingml/2006/main">
            <a:off x="3905250" y="4914900"/>
            <a:ext cx="6610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6616B"/>
                </a:solidFill>
                <a:latin typeface="Arial"/>
                <a:ea typeface="Arial"/>
                <a:cs typeface="Arial"/>
              </a:defRPr>
            </a:pPr>
            <a:r>
              <a:rPr sz="1350" b="0">
                <a:solidFill>
                  <a:srgbClr val="56616B"/>
                </a:solidFill>
                <a:latin typeface="Arial"/>
                <a:ea typeface="Arial"/>
                <a:cs typeface="Arial"/>
              </a:rPr>
              <a:t>Existing courses, stored diagrams, quiz generation, assessment, and team sessions had to continue working.</a:t>
            </a:r>
          </a:p>
        </p:txBody>
      </p:sp>
    </p:spTree>
    <p:extLst>
      <p:ext uri="{BB962C8B-B14F-4D97-AF65-F5344CB8AC3E}">
        <p14:creationId xmlns:p14="http://schemas.microsoft.com/office/powerpoint/2010/main" val="1042798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ection label">
            <a:extLst xmlns:a="http://schemas.openxmlformats.org/drawingml/2006/main">
              <a:ext uri="{FF2B5EF4-FFF2-40B4-BE49-F238E27FC236}">
                <a16:creationId xmlns:a16="http://schemas.microsoft.com/office/drawing/2014/main" id="{D3323AA4-F162-4417-9995-869C09EDC559}"/>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3 | ACTIVITY MODEL</a:t>
            </a:r>
          </a:p>
        </p:txBody>
      </p:sp>
      <p:sp>
        <p:nvSpPr>
          <p:cNvPr id="2" name="Slide title">
            <a:extLst xmlns:a="http://schemas.openxmlformats.org/drawingml/2006/main">
              <a:ext uri="{FF2B5EF4-FFF2-40B4-BE49-F238E27FC236}">
                <a16:creationId xmlns:a16="http://schemas.microsoft.com/office/drawing/2014/main" id="{D6349C08-4453-45B4-A033-23D0E2D891D9}"/>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One aligned pipeline turns diagram selections into a quiz</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1604ae161204ff8"/>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179EA3-8669-43B0-8C62-EC2F0424939C}"/>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3604251B-B089-4ECC-A40C-41E484A6BEE2}"/>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11429D51-D018-4090-9627-0F5750C0451F}"/>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12</a:t>
            </a:r>
          </a:p>
        </p:txBody>
      </p:sp>
      <p:sp>
        <p:nvSpPr>
          <p:cNvPr id="7" name="Diagram stage">
            <a:extLst xmlns:a="http://schemas.openxmlformats.org/drawingml/2006/main">
              <a:ext uri="{FF2B5EF4-FFF2-40B4-BE49-F238E27FC236}">
                <a16:creationId xmlns:a16="http://schemas.microsoft.com/office/drawing/2014/main" id="{A637B2D9-D789-4F80-8778-C2B9ED35DDF0}"/>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sp>
        <p:nvSpPr>
          <p:cNvPr id="8" name="">
            <a:extLst xmlns:a="http://schemas.openxmlformats.org/drawingml/2006/main">
              <a:ext uri="{FF2B5EF4-FFF2-40B4-BE49-F238E27FC236}">
                <a16:creationId xmlns:a16="http://schemas.microsoft.com/office/drawing/2014/main" id="{8D04D238-9384-4C24-9E0D-445ACC3368A5}"/>
              </a:ext>
            </a:extLst>
          </p:cNvPr>
          <p:cNvSpPr>
            <a:spLocks xmlns:a="http://schemas.openxmlformats.org/drawingml/2006/main" noGrp="1"/>
          </p:cNvSpPr>
          <p:nvPr/>
        </p:nvSpPr>
        <p:spPr>
          <a:xfrm xmlns:a="http://schemas.openxmlformats.org/drawingml/2006/main">
            <a:off x="4038600" y="1581150"/>
            <a:ext cx="1428750" cy="361950"/>
          </a:xfrm>
          <a:prstGeom xmlns:a="http://schemas.openxmlformats.org/drawingml/2006/main" prst="roundRect">
            <a:avLst>
              <a:gd name="adj" fmla="val 31579"/>
            </a:avLst>
          </a:prstGeom>
          <a:solidFill xmlns:a="http://schemas.openxmlformats.org/drawingml/2006/main">
            <a:srgbClr val="FFF1E7"/>
          </a:solidFill>
          <a:ln xmlns:a="http://schemas.openxmlformats.org/drawingml/2006/main" w="11430">
            <a:solidFill>
              <a:srgbClr val="E37222"/>
            </a:solidFill>
            <a:prstDash val="solid"/>
          </a:ln>
        </p:spPr>
      </p:sp>
      <p:sp>
        <p:nvSpPr>
          <p:cNvPr id="9" name="">
            <a:extLst xmlns:a="http://schemas.openxmlformats.org/drawingml/2006/main">
              <a:ext uri="{FF2B5EF4-FFF2-40B4-BE49-F238E27FC236}">
                <a16:creationId xmlns:a16="http://schemas.microsoft.com/office/drawing/2014/main" id="{4A246D4A-1CA8-4CCA-BECD-EC47F87B1361}"/>
              </a:ext>
            </a:extLst>
          </p:cNvPr>
          <p:cNvSpPr>
            <a:spLocks xmlns:a="http://schemas.openxmlformats.org/drawingml/2006/main" noGrp="1"/>
          </p:cNvSpPr>
          <p:nvPr/>
        </p:nvSpPr>
        <p:spPr>
          <a:xfrm xmlns:a="http://schemas.openxmlformats.org/drawingml/2006/main">
            <a:off x="4152900" y="167640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E37222"/>
                </a:solidFill>
                <a:latin typeface="Arial"/>
                <a:ea typeface="Arial"/>
                <a:cs typeface="Arial"/>
              </a:defRPr>
            </a:pPr>
            <a:r>
              <a:rPr sz="1050" b="1">
                <a:solidFill>
                  <a:srgbClr val="E37222"/>
                </a:solidFill>
                <a:latin typeface="Arial"/>
                <a:ea typeface="Arial"/>
                <a:cs typeface="Arial"/>
              </a:rPr>
              <a:t>MODIFIED</a:t>
            </a:r>
          </a:p>
        </p:txBody>
      </p:sp>
      <p:sp>
        <p:nvSpPr>
          <p:cNvPr id="10" name="">
            <a:extLst xmlns:a="http://schemas.openxmlformats.org/drawingml/2006/main">
              <a:ext uri="{FF2B5EF4-FFF2-40B4-BE49-F238E27FC236}">
                <a16:creationId xmlns:a16="http://schemas.microsoft.com/office/drawing/2014/main" id="{D8A5EEF3-2CFD-47A5-8B57-297994E7438D}"/>
              </a:ext>
            </a:extLst>
          </p:cNvPr>
          <p:cNvSpPr>
            <a:spLocks xmlns:a="http://schemas.openxmlformats.org/drawingml/2006/main" noGrp="1"/>
          </p:cNvSpPr>
          <p:nvPr/>
        </p:nvSpPr>
        <p:spPr>
          <a:xfrm xmlns:a="http://schemas.openxmlformats.org/drawingml/2006/main">
            <a:off x="5619750" y="1581150"/>
            <a:ext cx="1428750" cy="361950"/>
          </a:xfrm>
          <a:prstGeom xmlns:a="http://schemas.openxmlformats.org/drawingml/2006/main" prst="roundRect">
            <a:avLst>
              <a:gd name="adj" fmla="val 31579"/>
            </a:avLst>
          </a:prstGeom>
          <a:solidFill xmlns:a="http://schemas.openxmlformats.org/drawingml/2006/main">
            <a:srgbClr val="EAF4FB"/>
          </a:solidFill>
          <a:ln xmlns:a="http://schemas.openxmlformats.org/drawingml/2006/main" w="11430">
            <a:solidFill>
              <a:srgbClr val="0065BD"/>
            </a:solidFill>
            <a:prstDash val="solid"/>
          </a:ln>
        </p:spPr>
      </p:sp>
      <p:sp>
        <p:nvSpPr>
          <p:cNvPr id="11" name="">
            <a:extLst xmlns:a="http://schemas.openxmlformats.org/drawingml/2006/main">
              <a:ext uri="{FF2B5EF4-FFF2-40B4-BE49-F238E27FC236}">
                <a16:creationId xmlns:a16="http://schemas.microsoft.com/office/drawing/2014/main" id="{12BE51C8-9EAE-425E-AF3C-934DADAAF184}"/>
              </a:ext>
            </a:extLst>
          </p:cNvPr>
          <p:cNvSpPr>
            <a:spLocks xmlns:a="http://schemas.openxmlformats.org/drawingml/2006/main" noGrp="1"/>
          </p:cNvSpPr>
          <p:nvPr/>
        </p:nvSpPr>
        <p:spPr>
          <a:xfrm xmlns:a="http://schemas.openxmlformats.org/drawingml/2006/main">
            <a:off x="5734050" y="167640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065BD"/>
                </a:solidFill>
                <a:latin typeface="Arial"/>
                <a:ea typeface="Arial"/>
                <a:cs typeface="Arial"/>
              </a:defRPr>
            </a:pPr>
            <a:r>
              <a:rPr sz="1050" b="1">
                <a:solidFill>
                  <a:srgbClr val="0065BD"/>
                </a:solidFill>
                <a:latin typeface="Arial"/>
                <a:ea typeface="Arial"/>
                <a:cs typeface="Arial"/>
              </a:rPr>
              <a:t>ADDED</a:t>
            </a:r>
          </a:p>
        </p:txBody>
      </p:sp>
      <p:sp>
        <p:nvSpPr>
          <p:cNvPr id="12" name="">
            <a:extLst xmlns:a="http://schemas.openxmlformats.org/drawingml/2006/main">
              <a:ext uri="{FF2B5EF4-FFF2-40B4-BE49-F238E27FC236}">
                <a16:creationId xmlns:a16="http://schemas.microsoft.com/office/drawing/2014/main" id="{02F62041-E370-4732-BB8C-23BA01756A93}"/>
              </a:ext>
            </a:extLst>
          </p:cNvPr>
          <p:cNvSpPr>
            <a:spLocks xmlns:a="http://schemas.openxmlformats.org/drawingml/2006/main" noGrp="1"/>
          </p:cNvSpPr>
          <p:nvPr/>
        </p:nvSpPr>
        <p:spPr>
          <a:xfrm xmlns:a="http://schemas.openxmlformats.org/drawingml/2006/main">
            <a:off x="762000" y="3295650"/>
            <a:ext cx="323850" cy="323850"/>
          </a:xfrm>
          <a:prstGeom xmlns:a="http://schemas.openxmlformats.org/drawingml/2006/main" prst="ellipse">
            <a:avLst/>
          </a:prstGeom>
          <a:solidFill xmlns:a="http://schemas.openxmlformats.org/drawingml/2006/main">
            <a:srgbClr val="1118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3DEF09-B2E2-43EF-93D6-FD98B9601CF3}"/>
              </a:ext>
            </a:extLst>
          </p:cNvPr>
          <p:cNvSpPr>
            <a:spLocks xmlns:a="http://schemas.openxmlformats.org/drawingml/2006/main" noGrp="1"/>
          </p:cNvSpPr>
          <p:nvPr/>
        </p:nvSpPr>
        <p:spPr>
          <a:xfrm xmlns:a="http://schemas.openxmlformats.org/drawingml/2006/main">
            <a:off x="1352550" y="3076575"/>
            <a:ext cx="1657350" cy="781050"/>
          </a:xfrm>
          <a:prstGeom xmlns:a="http://schemas.openxmlformats.org/drawingml/2006/main" prst="roundRect">
            <a:avLst>
              <a:gd name="adj" fmla="val 14634"/>
            </a:avLst>
          </a:prstGeom>
          <a:solidFill xmlns:a="http://schemas.openxmlformats.org/drawingml/2006/main">
            <a:srgbClr val="FFF1E7"/>
          </a:solidFill>
          <a:ln xmlns:a="http://schemas.openxmlformats.org/drawingml/2006/main" w="11430">
            <a:solidFill>
              <a:srgbClr val="E37222"/>
            </a:solidFill>
            <a:prstDash val="solid"/>
          </a:ln>
        </p:spPr>
      </p:sp>
      <p:sp>
        <p:nvSpPr>
          <p:cNvPr id="14" name="">
            <a:extLst xmlns:a="http://schemas.openxmlformats.org/drawingml/2006/main">
              <a:ext uri="{FF2B5EF4-FFF2-40B4-BE49-F238E27FC236}">
                <a16:creationId xmlns:a16="http://schemas.microsoft.com/office/drawing/2014/main" id="{2671A043-4EF7-4467-BF2A-72FD7011C95A}"/>
              </a:ext>
            </a:extLst>
          </p:cNvPr>
          <p:cNvSpPr>
            <a:spLocks xmlns:a="http://schemas.openxmlformats.org/drawingml/2006/main" noGrp="1"/>
          </p:cNvSpPr>
          <p:nvPr/>
        </p:nvSpPr>
        <p:spPr>
          <a:xfrm xmlns:a="http://schemas.openxmlformats.org/drawingml/2006/main">
            <a:off x="1466850" y="32670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Select diagram</a:t>
            </a:r>
          </a:p>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elements</a:t>
            </a:r>
          </a:p>
        </p:txBody>
      </p:sp>
      <p:sp>
        <p:nvSpPr>
          <p:cNvPr id="15" name="">
            <a:extLst xmlns:a="http://schemas.openxmlformats.org/drawingml/2006/main">
              <a:ext uri="{FF2B5EF4-FFF2-40B4-BE49-F238E27FC236}">
                <a16:creationId xmlns:a16="http://schemas.microsoft.com/office/drawing/2014/main" id="{47767EDF-0DAD-4C03-9FE5-A74FCC78FCC3}"/>
              </a:ext>
            </a:extLst>
          </p:cNvPr>
          <p:cNvSpPr>
            <a:spLocks xmlns:a="http://schemas.openxmlformats.org/drawingml/2006/main" noGrp="1"/>
          </p:cNvSpPr>
          <p:nvPr/>
        </p:nvSpPr>
        <p:spPr>
          <a:xfrm xmlns:a="http://schemas.openxmlformats.org/drawingml/2006/main">
            <a:off x="3295650" y="3076575"/>
            <a:ext cx="1657350" cy="781050"/>
          </a:xfrm>
          <a:prstGeom xmlns:a="http://schemas.openxmlformats.org/drawingml/2006/main" prst="roundRect">
            <a:avLst>
              <a:gd name="adj" fmla="val 14634"/>
            </a:avLst>
          </a:prstGeom>
          <a:solidFill xmlns:a="http://schemas.openxmlformats.org/drawingml/2006/main">
            <a:srgbClr val="FFF1E7"/>
          </a:solidFill>
          <a:ln xmlns:a="http://schemas.openxmlformats.org/drawingml/2006/main" w="11430">
            <a:solidFill>
              <a:srgbClr val="E37222"/>
            </a:solidFill>
            <a:prstDash val="solid"/>
          </a:ln>
        </p:spPr>
      </p:sp>
      <p:sp>
        <p:nvSpPr>
          <p:cNvPr id="16" name="">
            <a:extLst xmlns:a="http://schemas.openxmlformats.org/drawingml/2006/main">
              <a:ext uri="{FF2B5EF4-FFF2-40B4-BE49-F238E27FC236}">
                <a16:creationId xmlns:a16="http://schemas.microsoft.com/office/drawing/2014/main" id="{F34225B0-84CF-4E02-AF17-136B6BACF9F1}"/>
              </a:ext>
            </a:extLst>
          </p:cNvPr>
          <p:cNvSpPr>
            <a:spLocks xmlns:a="http://schemas.openxmlformats.org/drawingml/2006/main" noGrp="1"/>
          </p:cNvSpPr>
          <p:nvPr/>
        </p:nvSpPr>
        <p:spPr>
          <a:xfrm xmlns:a="http://schemas.openxmlformats.org/drawingml/2006/main">
            <a:off x="3409950" y="32670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Resolve nested</a:t>
            </a:r>
          </a:p>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selections</a:t>
            </a:r>
          </a:p>
        </p:txBody>
      </p:sp>
      <p:sp>
        <p:nvSpPr>
          <p:cNvPr id="17" name="">
            <a:extLst xmlns:a="http://schemas.openxmlformats.org/drawingml/2006/main">
              <a:ext uri="{FF2B5EF4-FFF2-40B4-BE49-F238E27FC236}">
                <a16:creationId xmlns:a16="http://schemas.microsoft.com/office/drawing/2014/main" id="{1179DC86-8199-4F80-96F8-522DE781B024}"/>
              </a:ext>
            </a:extLst>
          </p:cNvPr>
          <p:cNvSpPr>
            <a:spLocks xmlns:a="http://schemas.openxmlformats.org/drawingml/2006/main" noGrp="1"/>
          </p:cNvSpPr>
          <p:nvPr/>
        </p:nvSpPr>
        <p:spPr>
          <a:xfrm xmlns:a="http://schemas.openxmlformats.org/drawingml/2006/main">
            <a:off x="5238750" y="3076575"/>
            <a:ext cx="1695450" cy="781050"/>
          </a:xfrm>
          <a:prstGeom xmlns:a="http://schemas.openxmlformats.org/drawingml/2006/main" prst="roundRect">
            <a:avLst>
              <a:gd name="adj" fmla="val 14634"/>
            </a:avLst>
          </a:prstGeom>
          <a:solidFill xmlns:a="http://schemas.openxmlformats.org/drawingml/2006/main">
            <a:srgbClr val="FFF1E7"/>
          </a:solidFill>
          <a:ln xmlns:a="http://schemas.openxmlformats.org/drawingml/2006/main" w="11430">
            <a:solidFill>
              <a:srgbClr val="E37222"/>
            </a:solidFill>
            <a:prstDash val="solid"/>
          </a:ln>
        </p:spPr>
      </p:sp>
      <p:sp>
        <p:nvSpPr>
          <p:cNvPr id="18" name="">
            <a:extLst xmlns:a="http://schemas.openxmlformats.org/drawingml/2006/main">
              <a:ext uri="{FF2B5EF4-FFF2-40B4-BE49-F238E27FC236}">
                <a16:creationId xmlns:a16="http://schemas.microsoft.com/office/drawing/2014/main" id="{54492928-909E-4364-B09E-8FEEB17D351F}"/>
              </a:ext>
            </a:extLst>
          </p:cNvPr>
          <p:cNvSpPr>
            <a:spLocks xmlns:a="http://schemas.openxmlformats.org/drawingml/2006/main" noGrp="1"/>
          </p:cNvSpPr>
          <p:nvPr/>
        </p:nvSpPr>
        <p:spPr>
          <a:xfrm xmlns:a="http://schemas.openxmlformats.org/drawingml/2006/main">
            <a:off x="5353050" y="3267075"/>
            <a:ext cx="1466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Export background</a:t>
            </a:r>
          </a:p>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without selections</a:t>
            </a:r>
          </a:p>
        </p:txBody>
      </p:sp>
      <p:sp>
        <p:nvSpPr>
          <p:cNvPr id="19" name="">
            <a:extLst xmlns:a="http://schemas.openxmlformats.org/drawingml/2006/main">
              <a:ext uri="{FF2B5EF4-FFF2-40B4-BE49-F238E27FC236}">
                <a16:creationId xmlns:a16="http://schemas.microsoft.com/office/drawing/2014/main" id="{9E53BD99-36AD-49D4-87E3-014EB4BDB48F}"/>
              </a:ext>
            </a:extLst>
          </p:cNvPr>
          <p:cNvSpPr>
            <a:spLocks xmlns:a="http://schemas.openxmlformats.org/drawingml/2006/main" noGrp="1"/>
          </p:cNvSpPr>
          <p:nvPr/>
        </p:nvSpPr>
        <p:spPr>
          <a:xfrm xmlns:a="http://schemas.openxmlformats.org/drawingml/2006/main">
            <a:off x="7219950" y="3076575"/>
            <a:ext cx="1771650" cy="781050"/>
          </a:xfrm>
          <a:prstGeom xmlns:a="http://schemas.openxmlformats.org/drawingml/2006/main" prst="roundRect">
            <a:avLst>
              <a:gd name="adj" fmla="val 14634"/>
            </a:avLst>
          </a:prstGeom>
          <a:solidFill xmlns:a="http://schemas.openxmlformats.org/drawingml/2006/main">
            <a:srgbClr val="EAF4FB"/>
          </a:solidFill>
          <a:ln xmlns:a="http://schemas.openxmlformats.org/drawingml/2006/main" w="11430">
            <a:solidFill>
              <a:srgbClr val="0065BD"/>
            </a:solidFill>
            <a:prstDash val="solid"/>
          </a:ln>
        </p:spPr>
      </p:sp>
      <p:sp>
        <p:nvSpPr>
          <p:cNvPr id="20" name="">
            <a:extLst xmlns:a="http://schemas.openxmlformats.org/drawingml/2006/main">
              <a:ext uri="{FF2B5EF4-FFF2-40B4-BE49-F238E27FC236}">
                <a16:creationId xmlns:a16="http://schemas.microsoft.com/office/drawing/2014/main" id="{03EA760E-DC3B-4300-A2E7-63C8AE41E70D}"/>
              </a:ext>
            </a:extLst>
          </p:cNvPr>
          <p:cNvSpPr>
            <a:spLocks xmlns:a="http://schemas.openxmlformats.org/drawingml/2006/main" noGrp="1"/>
          </p:cNvSpPr>
          <p:nvPr/>
        </p:nvSpPr>
        <p:spPr>
          <a:xfrm xmlns:a="http://schemas.openxmlformats.org/drawingml/2006/main">
            <a:off x="7334250" y="3267075"/>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Create cut-outs and</a:t>
            </a:r>
          </a:p>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drop locations</a:t>
            </a:r>
          </a:p>
        </p:txBody>
      </p:sp>
      <p:sp>
        <p:nvSpPr>
          <p:cNvPr id="21" name="">
            <a:extLst xmlns:a="http://schemas.openxmlformats.org/drawingml/2006/main">
              <a:ext uri="{FF2B5EF4-FFF2-40B4-BE49-F238E27FC236}">
                <a16:creationId xmlns:a16="http://schemas.microsoft.com/office/drawing/2014/main" id="{2CCCDABD-4EC6-4C77-8886-DD9A00C4FA76}"/>
              </a:ext>
            </a:extLst>
          </p:cNvPr>
          <p:cNvSpPr>
            <a:spLocks xmlns:a="http://schemas.openxmlformats.org/drawingml/2006/main" noGrp="1"/>
          </p:cNvSpPr>
          <p:nvPr/>
        </p:nvSpPr>
        <p:spPr>
          <a:xfrm xmlns:a="http://schemas.openxmlformats.org/drawingml/2006/main">
            <a:off x="9277350" y="3076575"/>
            <a:ext cx="1619250" cy="781050"/>
          </a:xfrm>
          <a:prstGeom xmlns:a="http://schemas.openxmlformats.org/drawingml/2006/main" prst="roundRect">
            <a:avLst>
              <a:gd name="adj" fmla="val 14634"/>
            </a:avLst>
          </a:prstGeom>
          <a:solidFill xmlns:a="http://schemas.openxmlformats.org/drawingml/2006/main">
            <a:srgbClr val="EAF4FB"/>
          </a:solidFill>
          <a:ln xmlns:a="http://schemas.openxmlformats.org/drawingml/2006/main" w="11430">
            <a:solidFill>
              <a:srgbClr val="0065BD"/>
            </a:solidFill>
            <a:prstDash val="solid"/>
          </a:ln>
        </p:spPr>
      </p:sp>
      <p:sp>
        <p:nvSpPr>
          <p:cNvPr id="22" name="">
            <a:extLst xmlns:a="http://schemas.openxmlformats.org/drawingml/2006/main">
              <a:ext uri="{FF2B5EF4-FFF2-40B4-BE49-F238E27FC236}">
                <a16:creationId xmlns:a16="http://schemas.microsoft.com/office/drawing/2014/main" id="{AF8850C7-539F-47E6-93F7-D4435C504592}"/>
              </a:ext>
            </a:extLst>
          </p:cNvPr>
          <p:cNvSpPr>
            <a:spLocks xmlns:a="http://schemas.openxmlformats.org/drawingml/2006/main" noGrp="1"/>
          </p:cNvSpPr>
          <p:nvPr/>
        </p:nvSpPr>
        <p:spPr>
          <a:xfrm xmlns:a="http://schemas.openxmlformats.org/drawingml/2006/main">
            <a:off x="9391650" y="3267075"/>
            <a:ext cx="1390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Aligned drag-and-</a:t>
            </a:r>
          </a:p>
          <a:p xmlns:a="http://schemas.openxmlformats.org/drawingml/2006/main">
            <a:pPr algn="ctr">
              <a:defRPr sz="1200" b="1">
                <a:solidFill>
                  <a:srgbClr val="111820"/>
                </a:solidFill>
                <a:latin typeface="Arial"/>
                <a:ea typeface="Arial"/>
                <a:cs typeface="Arial"/>
              </a:defRPr>
            </a:pPr>
            <a:r>
              <a:rPr sz="1200" b="1">
                <a:solidFill>
                  <a:srgbClr val="111820"/>
                </a:solidFill>
                <a:latin typeface="Arial"/>
                <a:ea typeface="Arial"/>
                <a:cs typeface="Arial"/>
              </a:rPr>
              <a:t>drop quiz</a:t>
            </a:r>
          </a:p>
        </p:txBody>
      </p:sp>
      <p:sp>
        <p:nvSpPr>
          <p:cNvPr id="23" name="">
            <a:extLst xmlns:a="http://schemas.openxmlformats.org/drawingml/2006/main">
              <a:ext uri="{FF2B5EF4-FFF2-40B4-BE49-F238E27FC236}">
                <a16:creationId xmlns:a16="http://schemas.microsoft.com/office/drawing/2014/main" id="{96B6C82A-2D15-4567-82D5-BC6D27A36B11}"/>
              </a:ext>
            </a:extLst>
          </p:cNvPr>
          <p:cNvSpPr>
            <a:spLocks xmlns:a="http://schemas.openxmlformats.org/drawingml/2006/main" noGrp="1"/>
          </p:cNvSpPr>
          <p:nvPr/>
        </p:nvSpPr>
        <p:spPr>
          <a:xfrm xmlns:a="http://schemas.openxmlformats.org/drawingml/2006/main">
            <a:off x="11163300" y="3295650"/>
            <a:ext cx="323850" cy="323850"/>
          </a:xfrm>
          <a:prstGeom xmlns:a="http://schemas.openxmlformats.org/drawingml/2006/main" prst="ellipse">
            <a:avLst/>
          </a:prstGeom>
          <a:solidFill xmlns:a="http://schemas.openxmlformats.org/drawingml/2006/main">
            <a:srgbClr val="FFFFFF"/>
          </a:solidFill>
          <a:ln xmlns:a="http://schemas.openxmlformats.org/drawingml/2006/main" w="11430">
            <a:solidFill>
              <a:srgbClr val="111820"/>
            </a:solidFill>
            <a:prstDash val="solid"/>
          </a:ln>
        </p:spPr>
      </p:sp>
      <p:sp>
        <p:nvSpPr>
          <p:cNvPr id="24" name="">
            <a:extLst xmlns:a="http://schemas.openxmlformats.org/drawingml/2006/main">
              <a:ext uri="{FF2B5EF4-FFF2-40B4-BE49-F238E27FC236}">
                <a16:creationId xmlns:a16="http://schemas.microsoft.com/office/drawing/2014/main" id="{56E4CA40-14B0-4978-89D5-29C4623122B6}"/>
              </a:ext>
            </a:extLst>
          </p:cNvPr>
          <p:cNvSpPr>
            <a:spLocks xmlns:a="http://schemas.openxmlformats.org/drawingml/2006/main" noGrp="1"/>
          </p:cNvSpPr>
          <p:nvPr/>
        </p:nvSpPr>
        <p:spPr>
          <a:xfrm xmlns:a="http://schemas.openxmlformats.org/drawingml/2006/main">
            <a:off x="11229975" y="3362325"/>
            <a:ext cx="190500" cy="190500"/>
          </a:xfrm>
          <a:prstGeom xmlns:a="http://schemas.openxmlformats.org/drawingml/2006/main" prst="ellipse">
            <a:avLst/>
          </a:prstGeom>
          <a:solidFill xmlns:a="http://schemas.openxmlformats.org/drawingml/2006/main">
            <a:srgbClr val="11182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5346714-1399-40E8-AEFD-15BF1EC58520}"/>
              </a:ext>
            </a:extLst>
          </p:cNvPr>
          <p:cNvSpPr>
            <a:spLocks xmlns:a="http://schemas.openxmlformats.org/drawingml/2006/main" noGrp="1"/>
          </p:cNvSpPr>
          <p:nvPr/>
        </p:nvSpPr>
        <p:spPr>
          <a:xfrm xmlns:a="http://schemas.openxmlformats.org/drawingml/2006/main">
            <a:off x="1095375" y="326707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3359"/>
                </a:solidFill>
                <a:latin typeface="Arial"/>
                <a:ea typeface="Arial"/>
                <a:cs typeface="Arial"/>
              </a:defRPr>
            </a:pPr>
            <a:r>
              <a:rPr sz="2100" b="1">
                <a:solidFill>
                  <a:srgbClr val="003359"/>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B27D1F57-06F4-4E38-A4B1-003130CA5442}"/>
              </a:ext>
            </a:extLst>
          </p:cNvPr>
          <p:cNvSpPr>
            <a:spLocks xmlns:a="http://schemas.openxmlformats.org/drawingml/2006/main" noGrp="1"/>
          </p:cNvSpPr>
          <p:nvPr/>
        </p:nvSpPr>
        <p:spPr>
          <a:xfrm xmlns:a="http://schemas.openxmlformats.org/drawingml/2006/main">
            <a:off x="3048000" y="326707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3359"/>
                </a:solidFill>
                <a:latin typeface="Arial"/>
                <a:ea typeface="Arial"/>
                <a:cs typeface="Arial"/>
              </a:defRPr>
            </a:pPr>
            <a:r>
              <a:rPr sz="2100" b="1">
                <a:solidFill>
                  <a:srgbClr val="003359"/>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7ED5660B-E288-4789-B8FF-FD850504E99F}"/>
              </a:ext>
            </a:extLst>
          </p:cNvPr>
          <p:cNvSpPr>
            <a:spLocks xmlns:a="http://schemas.openxmlformats.org/drawingml/2006/main" noGrp="1"/>
          </p:cNvSpPr>
          <p:nvPr/>
        </p:nvSpPr>
        <p:spPr>
          <a:xfrm xmlns:a="http://schemas.openxmlformats.org/drawingml/2006/main">
            <a:off x="4991100" y="326707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3359"/>
                </a:solidFill>
                <a:latin typeface="Arial"/>
                <a:ea typeface="Arial"/>
                <a:cs typeface="Arial"/>
              </a:defRPr>
            </a:pPr>
            <a:r>
              <a:rPr sz="2100" b="1">
                <a:solidFill>
                  <a:srgbClr val="003359"/>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2664DCD1-0C3F-4E6B-8FD3-73ED897C953D}"/>
              </a:ext>
            </a:extLst>
          </p:cNvPr>
          <p:cNvSpPr>
            <a:spLocks xmlns:a="http://schemas.openxmlformats.org/drawingml/2006/main" noGrp="1"/>
          </p:cNvSpPr>
          <p:nvPr/>
        </p:nvSpPr>
        <p:spPr>
          <a:xfrm xmlns:a="http://schemas.openxmlformats.org/drawingml/2006/main">
            <a:off x="7010400" y="326707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3359"/>
                </a:solidFill>
                <a:latin typeface="Arial"/>
                <a:ea typeface="Arial"/>
                <a:cs typeface="Arial"/>
              </a:defRPr>
            </a:pPr>
            <a:r>
              <a:rPr sz="2100" b="1">
                <a:solidFill>
                  <a:srgbClr val="003359"/>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E05ABDC3-BF80-41B3-8F66-D46A24BBCB77}"/>
              </a:ext>
            </a:extLst>
          </p:cNvPr>
          <p:cNvSpPr>
            <a:spLocks xmlns:a="http://schemas.openxmlformats.org/drawingml/2006/main" noGrp="1"/>
          </p:cNvSpPr>
          <p:nvPr/>
        </p:nvSpPr>
        <p:spPr>
          <a:xfrm xmlns:a="http://schemas.openxmlformats.org/drawingml/2006/main">
            <a:off x="9048750" y="326707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3359"/>
                </a:solidFill>
                <a:latin typeface="Arial"/>
                <a:ea typeface="Arial"/>
                <a:cs typeface="Arial"/>
              </a:defRPr>
            </a:pPr>
            <a:r>
              <a:rPr sz="2100" b="1">
                <a:solidFill>
                  <a:srgbClr val="003359"/>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4B0EE2ED-0D21-4318-A27C-56C4E72E1908}"/>
              </a:ext>
            </a:extLst>
          </p:cNvPr>
          <p:cNvSpPr>
            <a:spLocks xmlns:a="http://schemas.openxmlformats.org/drawingml/2006/main" noGrp="1"/>
          </p:cNvSpPr>
          <p:nvPr/>
        </p:nvSpPr>
        <p:spPr>
          <a:xfrm xmlns:a="http://schemas.openxmlformats.org/drawingml/2006/main">
            <a:off x="10934700" y="326707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3359"/>
                </a:solidFill>
                <a:latin typeface="Arial"/>
                <a:ea typeface="Arial"/>
                <a:cs typeface="Arial"/>
              </a:defRPr>
            </a:pPr>
            <a:r>
              <a:rPr sz="2100" b="1">
                <a:solidFill>
                  <a:srgbClr val="003359"/>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836C4C7A-19C4-4C9A-AC23-76B005C894A8}"/>
              </a:ext>
            </a:extLst>
          </p:cNvPr>
          <p:cNvSpPr>
            <a:spLocks xmlns:a="http://schemas.openxmlformats.org/drawingml/2006/main" noGrp="1"/>
          </p:cNvSpPr>
          <p:nvPr/>
        </p:nvSpPr>
        <p:spPr>
          <a:xfrm xmlns:a="http://schemas.openxmlformats.org/drawingml/2006/main">
            <a:off x="2476500" y="47625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03359"/>
                </a:solidFill>
                <a:latin typeface="Arial"/>
                <a:ea typeface="Arial"/>
                <a:cs typeface="Arial"/>
              </a:defRPr>
            </a:pPr>
            <a:r>
              <a:rPr sz="1650" b="1">
                <a:solidFill>
                  <a:srgbClr val="003359"/>
                </a:solidFill>
                <a:latin typeface="Arial"/>
                <a:ea typeface="Arial"/>
                <a:cs typeface="Arial"/>
              </a:rPr>
              <a:t>The background, cut-outs, and drop locations share one coordinate system.</a:t>
            </a:r>
          </a:p>
        </p:txBody>
      </p:sp>
      <p:sp>
        <p:nvSpPr>
          <p:cNvPr id="32" name="">
            <a:extLst xmlns:a="http://schemas.openxmlformats.org/drawingml/2006/main">
              <a:ext uri="{FF2B5EF4-FFF2-40B4-BE49-F238E27FC236}">
                <a16:creationId xmlns:a16="http://schemas.microsoft.com/office/drawing/2014/main" id="{9BB885ED-02BF-4128-84F9-43700DB5F586}"/>
              </a:ext>
            </a:extLst>
          </p:cNvPr>
          <p:cNvSpPr>
            <a:spLocks xmlns:a="http://schemas.openxmlformats.org/drawingml/2006/main" noGrp="1"/>
          </p:cNvSpPr>
          <p:nvPr/>
        </p:nvSpPr>
        <p:spPr>
          <a:xfrm xmlns:a="http://schemas.openxmlformats.org/drawingml/2006/main">
            <a:off x="3657600" y="5476875"/>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56616B"/>
                </a:solidFill>
                <a:latin typeface="Arial"/>
                <a:ea typeface="Arial"/>
                <a:cs typeface="Arial"/>
              </a:defRPr>
            </a:pPr>
            <a:r>
              <a:rPr sz="1125" b="0">
                <a:solidFill>
                  <a:srgbClr val="56616B"/>
                </a:solidFill>
                <a:latin typeface="Arial"/>
                <a:ea typeface="Arial"/>
                <a:cs typeface="Arial"/>
              </a:rPr>
              <a:t>Apollon JSON source saved for re-import and later editing</a:t>
            </a:r>
          </a:p>
        </p:txBody>
      </p:sp>
    </p:spTree>
    <p:extLst>
      <p:ext uri="{BB962C8B-B14F-4D97-AF65-F5344CB8AC3E}">
        <p14:creationId xmlns:p14="http://schemas.microsoft.com/office/powerpoint/2010/main" val="11042352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2CF19633-D2A8-417F-845A-607F7125424E}"/>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3 | ARTEMIS</a:t>
            </a:r>
          </a:p>
        </p:txBody>
      </p:sp>
      <p:sp>
        <p:nvSpPr>
          <p:cNvPr id="2" name="Slide title">
            <a:extLst xmlns:a="http://schemas.openxmlformats.org/drawingml/2006/main">
              <a:ext uri="{FF2B5EF4-FFF2-40B4-BE49-F238E27FC236}">
                <a16:creationId xmlns:a16="http://schemas.microsoft.com/office/drawing/2014/main" id="{F9189B6F-7AED-46E5-A9CA-34A86F114DD4}"/>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Compatibility fixes kept assessment and team modeling coherent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535f74303364c10"/>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A48152-A07E-434A-A52B-E302EF32C8CE}"/>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0ECF9A7A-0801-4EEF-A098-85D0A5849ABA}"/>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E1187551-5EED-4273-8B99-8CC288889B06}"/>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D5B388AA-B861-47B3-A123-73D31C08A93F}"/>
              </a:ext>
            </a:extLst>
          </p:cNvPr>
          <p:cNvSpPr>
            <a:spLocks xmlns:a="http://schemas.openxmlformats.org/drawingml/2006/main" noGrp="1"/>
          </p:cNvSpPr>
          <p:nvPr/>
        </p:nvSpPr>
        <p:spPr>
          <a:xfrm xmlns:a="http://schemas.openxmlformats.org/drawingml/2006/main">
            <a:off x="666750" y="1524000"/>
            <a:ext cx="5143500" cy="3714750"/>
          </a:xfrm>
          <a:prstGeom xmlns:a="http://schemas.openxmlformats.org/drawingml/2006/main" prst="roundRect">
            <a:avLst>
              <a:gd name="adj" fmla="val 3077"/>
            </a:avLst>
          </a:prstGeom>
          <a:solidFill xmlns:a="http://schemas.openxmlformats.org/drawingml/2006/main">
            <a:srgbClr val="FFF1E7"/>
          </a:solidFill>
          <a:ln xmlns:a="http://schemas.openxmlformats.org/drawingml/2006/main" w="11430">
            <a:solidFill>
              <a:srgbClr val="DDE3E8"/>
            </a:solidFill>
            <a:prstDash val="solid"/>
          </a:ln>
        </p:spPr>
      </p:sp>
      <p:sp>
        <p:nvSpPr>
          <p:cNvPr id="8" name="">
            <a:extLst xmlns:a="http://schemas.openxmlformats.org/drawingml/2006/main">
              <a:ext uri="{FF2B5EF4-FFF2-40B4-BE49-F238E27FC236}">
                <a16:creationId xmlns:a16="http://schemas.microsoft.com/office/drawing/2014/main" id="{024F7896-57F7-496D-AE79-AD470F2513E7}"/>
              </a:ext>
            </a:extLst>
          </p:cNvPr>
          <p:cNvSpPr>
            <a:spLocks xmlns:a="http://schemas.openxmlformats.org/drawingml/2006/main" noGrp="1"/>
          </p:cNvSpPr>
          <p:nvPr/>
        </p:nvSpPr>
        <p:spPr>
          <a:xfrm xmlns:a="http://schemas.openxmlformats.org/drawingml/2006/main">
            <a:off x="666750" y="1524000"/>
            <a:ext cx="66675" cy="3714750"/>
          </a:xfrm>
          <a:prstGeom xmlns:a="http://schemas.openxmlformats.org/drawingml/2006/main" prst="rect">
            <a:avLst/>
          </a:prstGeom>
          <a:solidFill xmlns:a="http://schemas.openxmlformats.org/drawingml/2006/main">
            <a:srgbClr val="E3722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2A1DE3-AE6F-4886-9D38-68B161C44735}"/>
              </a:ext>
            </a:extLst>
          </p:cNvPr>
          <p:cNvSpPr>
            <a:spLocks xmlns:a="http://schemas.openxmlformats.org/drawingml/2006/main" noGrp="1"/>
          </p:cNvSpPr>
          <p:nvPr/>
        </p:nvSpPr>
        <p:spPr>
          <a:xfrm xmlns:a="http://schemas.openxmlformats.org/drawingml/2006/main">
            <a:off x="904875" y="1695450"/>
            <a:ext cx="468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E37222"/>
                </a:solidFill>
                <a:latin typeface="Arial"/>
                <a:ea typeface="Arial"/>
                <a:cs typeface="Arial"/>
              </a:defRPr>
            </a:pPr>
            <a:r>
              <a:rPr sz="825" b="1">
                <a:solidFill>
                  <a:srgbClr val="E37222"/>
                </a:solidFill>
                <a:latin typeface="Arial"/>
                <a:ea typeface="Arial"/>
                <a:cs typeface="Arial"/>
              </a:rPr>
              <a:t>ARTEMIS FIX</a:t>
            </a:r>
          </a:p>
        </p:txBody>
      </p:sp>
      <p:sp>
        <p:nvSpPr>
          <p:cNvPr id="10" name="">
            <a:extLst xmlns:a="http://schemas.openxmlformats.org/drawingml/2006/main">
              <a:ext uri="{FF2B5EF4-FFF2-40B4-BE49-F238E27FC236}">
                <a16:creationId xmlns:a16="http://schemas.microsoft.com/office/drawing/2014/main" id="{1E59E8B3-BBC0-4524-9D96-EB0EEF18A5A8}"/>
              </a:ext>
            </a:extLst>
          </p:cNvPr>
          <p:cNvSpPr>
            <a:spLocks xmlns:a="http://schemas.openxmlformats.org/drawingml/2006/main" noGrp="1"/>
          </p:cNvSpPr>
          <p:nvPr/>
        </p:nvSpPr>
        <p:spPr>
          <a:xfrm xmlns:a="http://schemas.openxmlformats.org/drawingml/2006/main">
            <a:off x="904875" y="1990725"/>
            <a:ext cx="468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0"/>
                </a:solidFill>
                <a:latin typeface="Arial"/>
                <a:ea typeface="Arial"/>
                <a:cs typeface="Arial"/>
              </a:defRPr>
            </a:pPr>
            <a:r>
              <a:rPr sz="2100" b="1">
                <a:solidFill>
                  <a:srgbClr val="111820"/>
                </a:solidFill>
                <a:latin typeface="Arial"/>
                <a:ea typeface="Arial"/>
                <a:cs typeface="Arial"/>
              </a:rPr>
              <a:t>Assessment compatibility</a:t>
            </a:r>
          </a:p>
        </p:txBody>
      </p:sp>
      <p:sp>
        <p:nvSpPr>
          <p:cNvPr id="11" name="">
            <a:extLst xmlns:a="http://schemas.openxmlformats.org/drawingml/2006/main">
              <a:ext uri="{FF2B5EF4-FFF2-40B4-BE49-F238E27FC236}">
                <a16:creationId xmlns:a16="http://schemas.microsoft.com/office/drawing/2014/main" id="{240C6AA9-65BF-4318-A94D-186E880FE69D}"/>
              </a:ext>
            </a:extLst>
          </p:cNvPr>
          <p:cNvSpPr>
            <a:spLocks xmlns:a="http://schemas.openxmlformats.org/drawingml/2006/main" noGrp="1"/>
          </p:cNvSpPr>
          <p:nvPr/>
        </p:nvSpPr>
        <p:spPr>
          <a:xfrm xmlns:a="http://schemas.openxmlformats.org/drawingml/2006/main">
            <a:off x="904875" y="2524125"/>
            <a:ext cx="4686300" cy="2543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6616B"/>
                </a:solidFill>
                <a:latin typeface="Arial"/>
                <a:ea typeface="Arial"/>
                <a:cs typeface="Arial"/>
              </a:defRPr>
            </a:pPr>
            <a:r>
              <a:rPr sz="1500" b="0">
                <a:solidFill>
                  <a:srgbClr val="56616B"/>
                </a:solidFill>
                <a:latin typeface="Arial"/>
                <a:ea typeface="Arial"/>
                <a:cs typeface="Arial"/>
              </a:rPr>
              <a:t>Element targeting continued to work after the maintained-model migration. Structured-grading usage counts were repaired where flattened serialization had changed the expected structure.</a:t>
            </a:r>
          </a:p>
        </p:txBody>
      </p:sp>
      <p:sp>
        <p:nvSpPr>
          <p:cNvPr id="12" name="">
            <a:extLst xmlns:a="http://schemas.openxmlformats.org/drawingml/2006/main">
              <a:ext uri="{FF2B5EF4-FFF2-40B4-BE49-F238E27FC236}">
                <a16:creationId xmlns:a16="http://schemas.microsoft.com/office/drawing/2014/main" id="{5D10ED83-1F0B-405D-A513-E5D4B7174880}"/>
              </a:ext>
            </a:extLst>
          </p:cNvPr>
          <p:cNvSpPr>
            <a:spLocks xmlns:a="http://schemas.openxmlformats.org/drawingml/2006/main" noGrp="1"/>
          </p:cNvSpPr>
          <p:nvPr/>
        </p:nvSpPr>
        <p:spPr>
          <a:xfrm xmlns:a="http://schemas.openxmlformats.org/drawingml/2006/main">
            <a:off x="6381750" y="1524000"/>
            <a:ext cx="5143500" cy="3714750"/>
          </a:xfrm>
          <a:prstGeom xmlns:a="http://schemas.openxmlformats.org/drawingml/2006/main" prst="roundRect">
            <a:avLst>
              <a:gd name="adj" fmla="val 3077"/>
            </a:avLst>
          </a:prstGeom>
          <a:solidFill xmlns:a="http://schemas.openxmlformats.org/drawingml/2006/main">
            <a:srgbClr val="EAF4FB"/>
          </a:solidFill>
          <a:ln xmlns:a="http://schemas.openxmlformats.org/drawingml/2006/main" w="11430">
            <a:solidFill>
              <a:srgbClr val="DDE3E8"/>
            </a:solidFill>
            <a:prstDash val="solid"/>
          </a:ln>
        </p:spPr>
      </p:sp>
      <p:sp>
        <p:nvSpPr>
          <p:cNvPr id="13" name="">
            <a:extLst xmlns:a="http://schemas.openxmlformats.org/drawingml/2006/main">
              <a:ext uri="{FF2B5EF4-FFF2-40B4-BE49-F238E27FC236}">
                <a16:creationId xmlns:a16="http://schemas.microsoft.com/office/drawing/2014/main" id="{155DDCD7-66DA-41F1-8D16-13D5D89A06F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065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637BC23-E3B6-4775-9917-8BF732B007D2}"/>
              </a:ext>
            </a:extLst>
          </p:cNvPr>
          <p:cNvSpPr>
            <a:spLocks xmlns:a="http://schemas.openxmlformats.org/drawingml/2006/main" noGrp="1"/>
          </p:cNvSpPr>
          <p:nvPr/>
        </p:nvSpPr>
        <p:spPr>
          <a:xfrm xmlns:a="http://schemas.openxmlformats.org/drawingml/2006/main">
            <a:off x="6619875" y="1695450"/>
            <a:ext cx="468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65BD"/>
                </a:solidFill>
                <a:latin typeface="Arial"/>
                <a:ea typeface="Arial"/>
                <a:cs typeface="Arial"/>
              </a:defRPr>
            </a:pPr>
            <a:r>
              <a:rPr sz="825" b="1">
                <a:solidFill>
                  <a:srgbClr val="0065BD"/>
                </a:solidFill>
                <a:latin typeface="Arial"/>
                <a:ea typeface="Arial"/>
                <a:cs typeface="Arial"/>
              </a:rPr>
              <a:t>SHARED IMPROVEMENT</a:t>
            </a:r>
          </a:p>
        </p:txBody>
      </p:sp>
      <p:sp>
        <p:nvSpPr>
          <p:cNvPr id="15" name="">
            <a:extLst xmlns:a="http://schemas.openxmlformats.org/drawingml/2006/main">
              <a:ext uri="{FF2B5EF4-FFF2-40B4-BE49-F238E27FC236}">
                <a16:creationId xmlns:a16="http://schemas.microsoft.com/office/drawing/2014/main" id="{CA40B041-42AA-4FCE-829E-9A9609B009B9}"/>
              </a:ext>
            </a:extLst>
          </p:cNvPr>
          <p:cNvSpPr>
            <a:spLocks xmlns:a="http://schemas.openxmlformats.org/drawingml/2006/main" noGrp="1"/>
          </p:cNvSpPr>
          <p:nvPr/>
        </p:nvSpPr>
        <p:spPr>
          <a:xfrm xmlns:a="http://schemas.openxmlformats.org/drawingml/2006/main">
            <a:off x="6619875" y="1990725"/>
            <a:ext cx="468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0"/>
                </a:solidFill>
                <a:latin typeface="Arial"/>
                <a:ea typeface="Arial"/>
                <a:cs typeface="Arial"/>
              </a:defRPr>
            </a:pPr>
            <a:r>
              <a:rPr sz="2100" b="1">
                <a:solidFill>
                  <a:srgbClr val="111820"/>
                </a:solidFill>
                <a:latin typeface="Arial"/>
                <a:ea typeface="Arial"/>
                <a:cs typeface="Arial"/>
              </a:rPr>
              <a:t>Team-modeling collaboration</a:t>
            </a:r>
          </a:p>
        </p:txBody>
      </p:sp>
      <p:sp>
        <p:nvSpPr>
          <p:cNvPr id="16" name="">
            <a:extLst xmlns:a="http://schemas.openxmlformats.org/drawingml/2006/main">
              <a:ext uri="{FF2B5EF4-FFF2-40B4-BE49-F238E27FC236}">
                <a16:creationId xmlns:a16="http://schemas.microsoft.com/office/drawing/2014/main" id="{29F4A867-A01D-4A43-927D-6754FCED6EAC}"/>
              </a:ext>
            </a:extLst>
          </p:cNvPr>
          <p:cNvSpPr>
            <a:spLocks xmlns:a="http://schemas.openxmlformats.org/drawingml/2006/main" noGrp="1"/>
          </p:cNvSpPr>
          <p:nvPr/>
        </p:nvSpPr>
        <p:spPr>
          <a:xfrm xmlns:a="http://schemas.openxmlformats.org/drawingml/2006/main">
            <a:off x="6619875" y="2524125"/>
            <a:ext cx="4686300" cy="2543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6616B"/>
                </a:solidFill>
                <a:latin typeface="Arial"/>
                <a:ea typeface="Arial"/>
                <a:cs typeface="Arial"/>
              </a:defRPr>
            </a:pPr>
            <a:r>
              <a:rPr sz="1500" b="0">
                <a:solidFill>
                  <a:srgbClr val="56616B"/>
                </a:solidFill>
                <a:latin typeface="Arial"/>
                <a:ea typeface="Arial"/>
                <a:cs typeface="Arial"/>
              </a:rPr>
              <a:t>Artemis reuses the library-level awareness UI for cursors, selections, drags, and viewport following while keeping session transport and persistence in Artemis.</a:t>
            </a:r>
          </a:p>
        </p:txBody>
      </p:sp>
      <p:sp>
        <p:nvSpPr>
          <p:cNvPr id="17" name="">
            <a:extLst xmlns:a="http://schemas.openxmlformats.org/drawingml/2006/main">
              <a:ext uri="{FF2B5EF4-FFF2-40B4-BE49-F238E27FC236}">
                <a16:creationId xmlns:a16="http://schemas.microsoft.com/office/drawing/2014/main" id="{1B2793F8-402C-4F6F-A875-300518BDD14B}"/>
              </a:ext>
            </a:extLst>
          </p:cNvPr>
          <p:cNvSpPr>
            <a:spLocks xmlns:a="http://schemas.openxmlformats.org/drawingml/2006/main" noGrp="1"/>
          </p:cNvSpPr>
          <p:nvPr/>
        </p:nvSpPr>
        <p:spPr>
          <a:xfrm xmlns:a="http://schemas.openxmlformats.org/drawingml/2006/main">
            <a:off x="1657350" y="5695950"/>
            <a:ext cx="887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03359"/>
                </a:solidFill>
                <a:latin typeface="Arial"/>
                <a:ea typeface="Arial"/>
                <a:cs typeface="Arial"/>
              </a:defRPr>
            </a:pPr>
            <a:r>
              <a:rPr sz="1575" b="1">
                <a:solidFill>
                  <a:srgbClr val="003359"/>
                </a:solidFill>
                <a:latin typeface="Arial"/>
                <a:ea typeface="Arial"/>
                <a:cs typeface="Arial"/>
              </a:rPr>
              <a:t>These are compatibility fixes inside Artemis - not a second editor.</a:t>
            </a:r>
          </a:p>
        </p:txBody>
      </p:sp>
    </p:spTree>
    <p:extLst>
      <p:ext uri="{BB962C8B-B14F-4D97-AF65-F5344CB8AC3E}">
        <p14:creationId xmlns:p14="http://schemas.microsoft.com/office/powerpoint/2010/main" val="12566666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 label">
            <a:extLst xmlns:a="http://schemas.openxmlformats.org/drawingml/2006/main">
              <a:ext uri="{FF2B5EF4-FFF2-40B4-BE49-F238E27FC236}">
                <a16:creationId xmlns:a16="http://schemas.microsoft.com/office/drawing/2014/main" id="{C960C8B0-2B49-4760-B711-7A16A47B99C8}"/>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3 | INTEGRATIONS</a:t>
            </a:r>
          </a:p>
        </p:txBody>
      </p:sp>
      <p:sp>
        <p:nvSpPr>
          <p:cNvPr id="2" name="Slide title">
            <a:extLst xmlns:a="http://schemas.openxmlformats.org/drawingml/2006/main">
              <a:ext uri="{FF2B5EF4-FFF2-40B4-BE49-F238E27FC236}">
                <a16:creationId xmlns:a16="http://schemas.microsoft.com/office/drawing/2014/main" id="{D33D0944-01B1-4DC6-B027-91CE5A3E2BEC}"/>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VS Code reuses the editor; Athena reuses the model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f16b83da7ed4024"/>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D614B5-98ED-4549-AF0B-463F079D7620}"/>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2EC84E39-6148-47C6-8AC4-F5EFDB7EE78D}"/>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71CB4102-393E-4400-A423-3A2247FFE298}"/>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E18664CB-B922-40C9-A135-E3C1A2B0A4E3}"/>
              </a:ext>
            </a:extLst>
          </p:cNvPr>
          <p:cNvSpPr>
            <a:spLocks xmlns:a="http://schemas.openxmlformats.org/drawingml/2006/main" noGrp="1"/>
          </p:cNvSpPr>
          <p:nvPr/>
        </p:nvSpPr>
        <p:spPr>
          <a:xfrm xmlns:a="http://schemas.openxmlformats.org/drawingml/2006/main">
            <a:off x="609600" y="1428750"/>
            <a:ext cx="6858000" cy="4286250"/>
          </a:xfrm>
          <a:prstGeom xmlns:a="http://schemas.openxmlformats.org/drawingml/2006/main" prst="roundRect">
            <a:avLst>
              <a:gd name="adj" fmla="val 2667"/>
            </a:avLst>
          </a:prstGeom>
          <a:solidFill xmlns:a="http://schemas.openxmlformats.org/drawingml/2006/main">
            <a:srgbClr val="EAF4FB"/>
          </a:solidFill>
          <a:ln xmlns:a="http://schemas.openxmlformats.org/drawingml/2006/main" w="11430">
            <a:solidFill>
              <a:srgbClr val="98C6EA"/>
            </a:solidFill>
            <a:prstDash val="solid"/>
          </a:ln>
        </p:spPr>
      </p:sp>
      <p:sp>
        <p:nvSpPr>
          <p:cNvPr id="8" name="">
            <a:extLst xmlns:a="http://schemas.openxmlformats.org/drawingml/2006/main">
              <a:ext uri="{FF2B5EF4-FFF2-40B4-BE49-F238E27FC236}">
                <a16:creationId xmlns:a16="http://schemas.microsoft.com/office/drawing/2014/main" id="{DFA9144F-E294-45D8-88D6-002C3F04D630}"/>
              </a:ext>
            </a:extLst>
          </p:cNvPr>
          <p:cNvSpPr>
            <a:spLocks xmlns:a="http://schemas.openxmlformats.org/drawingml/2006/main" noGrp="1"/>
          </p:cNvSpPr>
          <p:nvPr/>
        </p:nvSpPr>
        <p:spPr>
          <a:xfrm xmlns:a="http://schemas.openxmlformats.org/drawingml/2006/main">
            <a:off x="7848600" y="1428750"/>
            <a:ext cx="3733800" cy="4286250"/>
          </a:xfrm>
          <a:prstGeom xmlns:a="http://schemas.openxmlformats.org/drawingml/2006/main" prst="roundRect">
            <a:avLst>
              <a:gd name="adj" fmla="val 3061"/>
            </a:avLst>
          </a:prstGeom>
          <a:solidFill xmlns:a="http://schemas.openxmlformats.org/drawingml/2006/main">
            <a:srgbClr val="F7F9FB"/>
          </a:solidFill>
          <a:ln xmlns:a="http://schemas.openxmlformats.org/drawingml/2006/main" w="11430">
            <a:solidFill>
              <a:srgbClr val="DDE3E8"/>
            </a:solidFill>
            <a:prstDash val="solid"/>
          </a:ln>
        </p:spPr>
      </p:sp>
      <p:sp>
        <p:nvSpPr>
          <p:cNvPr id="9" name="">
            <a:extLst xmlns:a="http://schemas.openxmlformats.org/drawingml/2006/main">
              <a:ext uri="{FF2B5EF4-FFF2-40B4-BE49-F238E27FC236}">
                <a16:creationId xmlns:a16="http://schemas.microsoft.com/office/drawing/2014/main" id="{0C902011-5D3E-4258-97D6-F7794D399695}"/>
              </a:ext>
            </a:extLst>
          </p:cNvPr>
          <p:cNvSpPr>
            <a:spLocks xmlns:a="http://schemas.openxmlformats.org/drawingml/2006/main" noGrp="1"/>
          </p:cNvSpPr>
          <p:nvPr/>
        </p:nvSpPr>
        <p:spPr>
          <a:xfrm xmlns:a="http://schemas.openxmlformats.org/drawingml/2006/main">
            <a:off x="990600" y="17907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03359"/>
                </a:solidFill>
                <a:latin typeface="Arial"/>
                <a:ea typeface="Arial"/>
                <a:cs typeface="Arial"/>
              </a:defRPr>
            </a:pPr>
            <a:r>
              <a:rPr sz="2550" b="1">
                <a:solidFill>
                  <a:srgbClr val="003359"/>
                </a:solidFill>
                <a:latin typeface="Arial"/>
                <a:ea typeface="Arial"/>
                <a:cs typeface="Arial"/>
              </a:rPr>
              <a:t>VS Code</a:t>
            </a:r>
          </a:p>
        </p:txBody>
      </p:sp>
      <p:sp>
        <p:nvSpPr>
          <p:cNvPr id="10" name="">
            <a:extLst xmlns:a="http://schemas.openxmlformats.org/drawingml/2006/main">
              <a:ext uri="{FF2B5EF4-FFF2-40B4-BE49-F238E27FC236}">
                <a16:creationId xmlns:a16="http://schemas.microsoft.com/office/drawing/2014/main" id="{7DC4BDCE-DAB1-48A7-98E2-0D9652B34AAE}"/>
              </a:ext>
            </a:extLst>
          </p:cNvPr>
          <p:cNvSpPr>
            <a:spLocks xmlns:a="http://schemas.openxmlformats.org/drawingml/2006/main" noGrp="1"/>
          </p:cNvSpPr>
          <p:nvPr/>
        </p:nvSpPr>
        <p:spPr>
          <a:xfrm xmlns:a="http://schemas.openxmlformats.org/drawingml/2006/main">
            <a:off x="1009650" y="22955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SECONDARY INTEGRATION</a:t>
            </a:r>
          </a:p>
        </p:txBody>
      </p:sp>
      <p:sp>
        <p:nvSpPr>
          <p:cNvPr id="11" name="">
            <a:extLst xmlns:a="http://schemas.openxmlformats.org/drawingml/2006/main">
              <a:ext uri="{FF2B5EF4-FFF2-40B4-BE49-F238E27FC236}">
                <a16:creationId xmlns:a16="http://schemas.microsoft.com/office/drawing/2014/main" id="{933BC08F-A5B5-4DD0-867A-A6A3FBEEECB5}"/>
              </a:ext>
            </a:extLst>
          </p:cNvPr>
          <p:cNvSpPr>
            <a:spLocks xmlns:a="http://schemas.openxmlformats.org/drawingml/2006/main" noGrp="1"/>
          </p:cNvSpPr>
          <p:nvPr/>
        </p:nvSpPr>
        <p:spPr>
          <a:xfrm xmlns:a="http://schemas.openxmlformats.org/drawingml/2006/main">
            <a:off x="990600" y="2838450"/>
            <a:ext cx="24765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11430">
            <a:solidFill>
              <a:srgbClr val="0065BD"/>
            </a:solidFill>
            <a:prstDash val="solid"/>
          </a:ln>
        </p:spPr>
      </p:sp>
      <p:sp>
        <p:nvSpPr>
          <p:cNvPr id="12" name="">
            <a:extLst xmlns:a="http://schemas.openxmlformats.org/drawingml/2006/main">
              <a:ext uri="{FF2B5EF4-FFF2-40B4-BE49-F238E27FC236}">
                <a16:creationId xmlns:a16="http://schemas.microsoft.com/office/drawing/2014/main" id="{7EE292BA-F260-48C7-8D6D-BB644D350622}"/>
              </a:ext>
            </a:extLst>
          </p:cNvPr>
          <p:cNvSpPr>
            <a:spLocks xmlns:a="http://schemas.openxmlformats.org/drawingml/2006/main" noGrp="1"/>
          </p:cNvSpPr>
          <p:nvPr/>
        </p:nvSpPr>
        <p:spPr>
          <a:xfrm xmlns:a="http://schemas.openxmlformats.org/drawingml/2006/main">
            <a:off x="1104900" y="2933700"/>
            <a:ext cx="224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065BD"/>
                </a:solidFill>
                <a:latin typeface="Arial"/>
                <a:ea typeface="Arial"/>
                <a:cs typeface="Arial"/>
              </a:defRPr>
            </a:pPr>
            <a:r>
              <a:rPr sz="1050" b="1">
                <a:solidFill>
                  <a:srgbClr val="0065BD"/>
                </a:solidFill>
                <a:latin typeface="Arial"/>
                <a:ea typeface="Arial"/>
                <a:cs typeface="Arial"/>
              </a:rPr>
              <a:t>.apollon workspace files</a:t>
            </a:r>
          </a:p>
        </p:txBody>
      </p:sp>
      <p:sp>
        <p:nvSpPr>
          <p:cNvPr id="13" name="">
            <a:extLst xmlns:a="http://schemas.openxmlformats.org/drawingml/2006/main">
              <a:ext uri="{FF2B5EF4-FFF2-40B4-BE49-F238E27FC236}">
                <a16:creationId xmlns:a16="http://schemas.microsoft.com/office/drawing/2014/main" id="{100F581C-0C0A-4B7E-9BDD-6494F5CBE1CE}"/>
              </a:ext>
            </a:extLst>
          </p:cNvPr>
          <p:cNvSpPr>
            <a:spLocks xmlns:a="http://schemas.openxmlformats.org/drawingml/2006/main" noGrp="1"/>
          </p:cNvSpPr>
          <p:nvPr/>
        </p:nvSpPr>
        <p:spPr>
          <a:xfrm xmlns:a="http://schemas.openxmlformats.org/drawingml/2006/main">
            <a:off x="3676650" y="2838450"/>
            <a:ext cx="29337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11430">
            <a:solidFill>
              <a:srgbClr val="0065BD"/>
            </a:solidFill>
            <a:prstDash val="solid"/>
          </a:ln>
        </p:spPr>
      </p:sp>
      <p:sp>
        <p:nvSpPr>
          <p:cNvPr id="14" name="">
            <a:extLst xmlns:a="http://schemas.openxmlformats.org/drawingml/2006/main">
              <a:ext uri="{FF2B5EF4-FFF2-40B4-BE49-F238E27FC236}">
                <a16:creationId xmlns:a16="http://schemas.microsoft.com/office/drawing/2014/main" id="{A9E31A52-4879-469B-9753-A9BC7B37955A}"/>
              </a:ext>
            </a:extLst>
          </p:cNvPr>
          <p:cNvSpPr>
            <a:spLocks xmlns:a="http://schemas.openxmlformats.org/drawingml/2006/main" noGrp="1"/>
          </p:cNvSpPr>
          <p:nvPr/>
        </p:nvSpPr>
        <p:spPr>
          <a:xfrm xmlns:a="http://schemas.openxmlformats.org/drawingml/2006/main">
            <a:off x="3790950" y="2933700"/>
            <a:ext cx="2705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065BD"/>
                </a:solidFill>
                <a:latin typeface="Arial"/>
                <a:ea typeface="Arial"/>
                <a:cs typeface="Arial"/>
              </a:defRPr>
            </a:pPr>
            <a:r>
              <a:rPr sz="1050" b="1">
                <a:solidFill>
                  <a:srgbClr val="0065BD"/>
                </a:solidFill>
                <a:latin typeface="Arial"/>
                <a:ea typeface="Arial"/>
                <a:cs typeface="Arial"/>
              </a:rPr>
              <a:t>Maintained editor + renderer</a:t>
            </a:r>
          </a:p>
        </p:txBody>
      </p:sp>
      <p:sp>
        <p:nvSpPr>
          <p:cNvPr id="15" name="">
            <a:extLst xmlns:a="http://schemas.openxmlformats.org/drawingml/2006/main">
              <a:ext uri="{FF2B5EF4-FFF2-40B4-BE49-F238E27FC236}">
                <a16:creationId xmlns:a16="http://schemas.microsoft.com/office/drawing/2014/main" id="{9E741424-84DC-4FB2-BC6D-471142683831}"/>
              </a:ext>
            </a:extLst>
          </p:cNvPr>
          <p:cNvSpPr>
            <a:spLocks xmlns:a="http://schemas.openxmlformats.org/drawingml/2006/main" noGrp="1"/>
          </p:cNvSpPr>
          <p:nvPr/>
        </p:nvSpPr>
        <p:spPr>
          <a:xfrm xmlns:a="http://schemas.openxmlformats.org/drawingml/2006/main">
            <a:off x="1009650" y="361950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The extension moved into the Apollon monorepo and release path, so workspace diagrams use the maintained rendering behavior next to the code they describe.</a:t>
            </a:r>
          </a:p>
        </p:txBody>
      </p:sp>
      <p:sp>
        <p:nvSpPr>
          <p:cNvPr id="16" name="">
            <a:extLst xmlns:a="http://schemas.openxmlformats.org/drawingml/2006/main">
              <a:ext uri="{FF2B5EF4-FFF2-40B4-BE49-F238E27FC236}">
                <a16:creationId xmlns:a16="http://schemas.microsoft.com/office/drawing/2014/main" id="{B563A403-7AA8-48EE-80BB-5F21E985521F}"/>
              </a:ext>
            </a:extLst>
          </p:cNvPr>
          <p:cNvSpPr>
            <a:spLocks xmlns:a="http://schemas.openxmlformats.org/drawingml/2006/main" noGrp="1"/>
          </p:cNvSpPr>
          <p:nvPr/>
        </p:nvSpPr>
        <p:spPr>
          <a:xfrm xmlns:a="http://schemas.openxmlformats.org/drawingml/2006/main">
            <a:off x="8210550" y="1790700"/>
            <a:ext cx="3009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03359"/>
                </a:solidFill>
                <a:latin typeface="Arial"/>
                <a:ea typeface="Arial"/>
                <a:cs typeface="Arial"/>
              </a:defRPr>
            </a:pPr>
            <a:r>
              <a:rPr sz="2325" b="1">
                <a:solidFill>
                  <a:srgbClr val="003359"/>
                </a:solidFill>
                <a:latin typeface="Arial"/>
                <a:ea typeface="Arial"/>
                <a:cs typeface="Arial"/>
              </a:rPr>
              <a:t>Athena</a:t>
            </a:r>
          </a:p>
        </p:txBody>
      </p:sp>
      <p:sp>
        <p:nvSpPr>
          <p:cNvPr id="17" name="">
            <a:extLst xmlns:a="http://schemas.openxmlformats.org/drawingml/2006/main">
              <a:ext uri="{FF2B5EF4-FFF2-40B4-BE49-F238E27FC236}">
                <a16:creationId xmlns:a16="http://schemas.microsoft.com/office/drawing/2014/main" id="{4640A2C6-400D-4E0F-A258-AD4F021F69D4}"/>
              </a:ext>
            </a:extLst>
          </p:cNvPr>
          <p:cNvSpPr>
            <a:spLocks xmlns:a="http://schemas.openxmlformats.org/drawingml/2006/main" noGrp="1"/>
          </p:cNvSpPr>
          <p:nvPr/>
        </p:nvSpPr>
        <p:spPr>
          <a:xfrm xmlns:a="http://schemas.openxmlformats.org/drawingml/2006/main">
            <a:off x="8229600" y="2295525"/>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37222"/>
                </a:solidFill>
                <a:latin typeface="Arial"/>
                <a:ea typeface="Arial"/>
                <a:cs typeface="Arial"/>
              </a:defRPr>
            </a:pPr>
            <a:r>
              <a:rPr sz="900" b="1">
                <a:solidFill>
                  <a:srgbClr val="E37222"/>
                </a:solidFill>
                <a:latin typeface="Arial"/>
                <a:ea typeface="Arial"/>
                <a:cs typeface="Arial"/>
              </a:rPr>
              <a:t>AI-FEEDBACK INTEGRATION</a:t>
            </a:r>
          </a:p>
        </p:txBody>
      </p:sp>
      <p:sp>
        <p:nvSpPr>
          <p:cNvPr id="18" name="">
            <a:extLst xmlns:a="http://schemas.openxmlformats.org/drawingml/2006/main">
              <a:ext uri="{FF2B5EF4-FFF2-40B4-BE49-F238E27FC236}">
                <a16:creationId xmlns:a16="http://schemas.microsoft.com/office/drawing/2014/main" id="{B3D743B5-E5B2-4515-BCF2-59A9D8AE49D9}"/>
              </a:ext>
            </a:extLst>
          </p:cNvPr>
          <p:cNvSpPr>
            <a:spLocks xmlns:a="http://schemas.openxmlformats.org/drawingml/2006/main" noGrp="1"/>
          </p:cNvSpPr>
          <p:nvPr/>
        </p:nvSpPr>
        <p:spPr>
          <a:xfrm xmlns:a="http://schemas.openxmlformats.org/drawingml/2006/main">
            <a:off x="8210550" y="2838450"/>
            <a:ext cx="30099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11430">
            <a:solidFill>
              <a:srgbClr val="E37222"/>
            </a:solidFill>
            <a:prstDash val="solid"/>
          </a:ln>
        </p:spPr>
      </p:sp>
      <p:sp>
        <p:nvSpPr>
          <p:cNvPr id="19" name="">
            <a:extLst xmlns:a="http://schemas.openxmlformats.org/drawingml/2006/main">
              <a:ext uri="{FF2B5EF4-FFF2-40B4-BE49-F238E27FC236}">
                <a16:creationId xmlns:a16="http://schemas.microsoft.com/office/drawing/2014/main" id="{EAA33990-874C-4FA0-8033-CAB6EAC7801D}"/>
              </a:ext>
            </a:extLst>
          </p:cNvPr>
          <p:cNvSpPr>
            <a:spLocks xmlns:a="http://schemas.openxmlformats.org/drawingml/2006/main" noGrp="1"/>
          </p:cNvSpPr>
          <p:nvPr/>
        </p:nvSpPr>
        <p:spPr>
          <a:xfrm xmlns:a="http://schemas.openxmlformats.org/drawingml/2006/main">
            <a:off x="8324850" y="29337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E37222"/>
                </a:solidFill>
                <a:latin typeface="Arial"/>
                <a:ea typeface="Arial"/>
                <a:cs typeface="Arial"/>
              </a:defRPr>
            </a:pPr>
            <a:r>
              <a:rPr sz="1050" b="1">
                <a:solidFill>
                  <a:srgbClr val="E37222"/>
                </a:solidFill>
                <a:latin typeface="Arial"/>
                <a:ea typeface="Arial"/>
                <a:cs typeface="Arial"/>
              </a:rPr>
              <a:t>Version-aware parser</a:t>
            </a:r>
          </a:p>
        </p:txBody>
      </p:sp>
      <p:sp>
        <p:nvSpPr>
          <p:cNvPr id="20" name="">
            <a:extLst xmlns:a="http://schemas.openxmlformats.org/drawingml/2006/main">
              <a:ext uri="{FF2B5EF4-FFF2-40B4-BE49-F238E27FC236}">
                <a16:creationId xmlns:a16="http://schemas.microsoft.com/office/drawing/2014/main" id="{A65DC592-3ED7-40AF-87AE-A4752156647A}"/>
              </a:ext>
            </a:extLst>
          </p:cNvPr>
          <p:cNvSpPr>
            <a:spLocks xmlns:a="http://schemas.openxmlformats.org/drawingml/2006/main" noGrp="1"/>
          </p:cNvSpPr>
          <p:nvPr/>
        </p:nvSpPr>
        <p:spPr>
          <a:xfrm xmlns:a="http://schemas.openxmlformats.org/drawingml/2006/main">
            <a:off x="8229600" y="3619500"/>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Earlier and current Apollon models remain readable so Athena can keep generating AI feedback suggestions through the Artemis workflow.</a:t>
            </a:r>
          </a:p>
        </p:txBody>
      </p:sp>
      <p:sp>
        <p:nvSpPr>
          <p:cNvPr id="21" name="">
            <a:extLst xmlns:a="http://schemas.openxmlformats.org/drawingml/2006/main">
              <a:ext uri="{FF2B5EF4-FFF2-40B4-BE49-F238E27FC236}">
                <a16:creationId xmlns:a16="http://schemas.microsoft.com/office/drawing/2014/main" id="{85B28DF5-83D6-47AD-BB1D-48049144E9C9}"/>
              </a:ext>
            </a:extLst>
          </p:cNvPr>
          <p:cNvSpPr>
            <a:spLocks xmlns:a="http://schemas.openxmlformats.org/drawingml/2006/main" noGrp="1"/>
          </p:cNvSpPr>
          <p:nvPr/>
        </p:nvSpPr>
        <p:spPr>
          <a:xfrm xmlns:a="http://schemas.openxmlformats.org/drawingml/2006/main">
            <a:off x="3143250" y="60007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03359"/>
                </a:solidFill>
                <a:latin typeface="Arial"/>
                <a:ea typeface="Arial"/>
                <a:cs typeface="Arial"/>
              </a:defRPr>
            </a:pPr>
            <a:r>
              <a:rPr sz="1425" b="1">
                <a:solidFill>
                  <a:srgbClr val="003359"/>
                </a:solidFill>
                <a:latin typeface="Arial"/>
                <a:ea typeface="Arial"/>
                <a:cs typeface="Arial"/>
              </a:rPr>
              <a:t>One model foundation; different host responsibilities.</a:t>
            </a:r>
          </a:p>
        </p:txBody>
      </p:sp>
    </p:spTree>
    <p:extLst>
      <p:ext uri="{BB962C8B-B14F-4D97-AF65-F5344CB8AC3E}">
        <p14:creationId xmlns:p14="http://schemas.microsoft.com/office/powerpoint/2010/main" val="404992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label">
            <a:extLst xmlns:a="http://schemas.openxmlformats.org/drawingml/2006/main">
              <a:ext uri="{FF2B5EF4-FFF2-40B4-BE49-F238E27FC236}">
                <a16:creationId xmlns:a16="http://schemas.microsoft.com/office/drawing/2014/main" id="{77B0747D-259F-4BB8-8C50-7BF3C3A5CE22}"/>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OBJECTIVE 4 | MOBILE</a:t>
            </a:r>
          </a:p>
        </p:txBody>
      </p:sp>
      <p:sp>
        <p:nvSpPr>
          <p:cNvPr id="2" name="Slide title">
            <a:extLst xmlns:a="http://schemas.openxmlformats.org/drawingml/2006/main">
              <a:ext uri="{FF2B5EF4-FFF2-40B4-BE49-F238E27FC236}">
                <a16:creationId xmlns:a16="http://schemas.microsoft.com/office/drawing/2014/main" id="{4397957C-F61A-419E-89B1-01CE473933EB}"/>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The same diagram also works on a landscape tablet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46e24526c764524"/>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4C0790-38D8-4B54-8397-6448C3E80FC9}"/>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5CAB4A73-0424-4F9F-ACE7-CD493840686F}"/>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6292C079-EFE8-4556-B9E7-F78802F3715F}"/>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15</a:t>
            </a:r>
          </a:p>
        </p:txBody>
      </p:sp>
      <p:sp>
        <p:nvSpPr>
          <p:cNvPr id="7" name="Landscape tablet frame">
            <a:extLst xmlns:a="http://schemas.openxmlformats.org/drawingml/2006/main">
              <a:ext uri="{FF2B5EF4-FFF2-40B4-BE49-F238E27FC236}">
                <a16:creationId xmlns:a16="http://schemas.microsoft.com/office/drawing/2014/main" id="{17979696-8DBC-4464-A261-182B4C73F833}"/>
              </a:ext>
            </a:extLst>
          </p:cNvPr>
          <p:cNvSpPr>
            <a:spLocks xmlns:a="http://schemas.openxmlformats.org/drawingml/2006/main" noGrp="1"/>
          </p:cNvSpPr>
          <p:nvPr/>
        </p:nvSpPr>
        <p:spPr>
          <a:xfrm xmlns:a="http://schemas.openxmlformats.org/drawingml/2006/main">
            <a:off x="514350" y="1352550"/>
            <a:ext cx="7429500" cy="4991100"/>
          </a:xfrm>
          <a:prstGeom xmlns:a="http://schemas.openxmlformats.org/drawingml/2006/main" prst="roundRect">
            <a:avLst>
              <a:gd name="adj" fmla="val 3053"/>
            </a:avLst>
          </a:prstGeom>
          <a:solidFill xmlns:a="http://schemas.openxmlformats.org/drawingml/2006/main">
            <a:srgbClr val="111820"/>
          </a:solidFill>
          <a:ln xmlns:a="http://schemas.openxmlformats.org/drawingml/2006/main" w="11430">
            <a:solidFill>
              <a:srgbClr val="111820"/>
            </a:solidFill>
            <a:prstDash val="solid"/>
          </a:ln>
        </p:spPr>
      </p:sp>
      <p:sp>
        <p:nvSpPr>
          <p:cNvPr id="8" name="Landscape tablet screen">
            <a:extLst xmlns:a="http://schemas.openxmlformats.org/drawingml/2006/main">
              <a:ext uri="{FF2B5EF4-FFF2-40B4-BE49-F238E27FC236}">
                <a16:creationId xmlns:a16="http://schemas.microsoft.com/office/drawing/2014/main" id="{69DB1EBC-A672-4761-9DDB-5BB91E6662A6}"/>
              </a:ext>
            </a:extLst>
          </p:cNvPr>
          <p:cNvSpPr>
            <a:spLocks xmlns:a="http://schemas.openxmlformats.org/drawingml/2006/main" noGrp="1"/>
          </p:cNvSpPr>
          <p:nvPr/>
        </p:nvSpPr>
        <p:spPr>
          <a:xfrm xmlns:a="http://schemas.openxmlformats.org/drawingml/2006/main">
            <a:off x="647700" y="1485900"/>
            <a:ext cx="7162800" cy="4724400"/>
          </a:xfrm>
          <a:prstGeom xmlns:a="http://schemas.openxmlformats.org/drawingml/2006/main" prst="roundRect">
            <a:avLst>
              <a:gd name="adj" fmla="val 2419"/>
            </a:avLst>
          </a:prstGeom>
          <a:solidFill xmlns:a="http://schemas.openxmlformats.org/drawingml/2006/main">
            <a:srgbClr val="FFFFFF"/>
          </a:solidFill>
          <a:ln xmlns:a="http://schemas.openxmlformats.org/drawingml/2006/main" w="11430">
            <a:solidFill>
              <a:srgbClr val="FFFFFF"/>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65636577146401d"/>
          <a:stretch xmlns:a="http://schemas.openxmlformats.org/drawingml/2006/main"/>
        </p:blipFill>
        <p:spPr>
          <a:xfrm xmlns:a="http://schemas.openxmlformats.org/drawingml/2006/main">
            <a:off x="829837" y="1485900"/>
            <a:ext cx="6798527" cy="472440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7C66AC4E-EDDF-4584-A729-D0C58C0F0E62}"/>
              </a:ext>
            </a:extLst>
          </p:cNvPr>
          <p:cNvSpPr>
            <a:spLocks xmlns:a="http://schemas.openxmlformats.org/drawingml/2006/main" noGrp="1"/>
          </p:cNvSpPr>
          <p:nvPr/>
        </p:nvSpPr>
        <p:spPr>
          <a:xfrm xmlns:a="http://schemas.openxmlformats.org/drawingml/2006/main">
            <a:off x="8134350" y="15621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CURRENT HOME | LANDSCAPE</a:t>
            </a:r>
          </a:p>
        </p:txBody>
      </p:sp>
      <p:sp>
        <p:nvSpPr>
          <p:cNvPr id="11" name="">
            <a:extLst xmlns:a="http://schemas.openxmlformats.org/drawingml/2006/main">
              <a:ext uri="{FF2B5EF4-FFF2-40B4-BE49-F238E27FC236}">
                <a16:creationId xmlns:a16="http://schemas.microsoft.com/office/drawing/2014/main" id="{A6EE9160-0860-4769-AC16-B0310C41E2D2}"/>
              </a:ext>
            </a:extLst>
          </p:cNvPr>
          <p:cNvSpPr>
            <a:spLocks xmlns:a="http://schemas.openxmlformats.org/drawingml/2006/main" noGrp="1"/>
          </p:cNvSpPr>
          <p:nvPr/>
        </p:nvSpPr>
        <p:spPr>
          <a:xfrm xmlns:a="http://schemas.openxmlformats.org/drawingml/2006/main">
            <a:off x="8134350" y="1924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03359"/>
                </a:solidFill>
                <a:latin typeface="Arial"/>
                <a:ea typeface="Arial"/>
                <a:cs typeface="Arial"/>
              </a:defRPr>
            </a:pPr>
            <a:r>
              <a:rPr sz="2100" b="1">
                <a:solidFill>
                  <a:srgbClr val="003359"/>
                </a:solidFill>
                <a:latin typeface="Arial"/>
                <a:ea typeface="Arial"/>
                <a:cs typeface="Arial"/>
              </a:rPr>
              <a:t>Mobile / iOS support</a:t>
            </a:r>
          </a:p>
        </p:txBody>
      </p:sp>
      <p:sp>
        <p:nvSpPr>
          <p:cNvPr id="12" name="">
            <a:extLst xmlns:a="http://schemas.openxmlformats.org/drawingml/2006/main">
              <a:ext uri="{FF2B5EF4-FFF2-40B4-BE49-F238E27FC236}">
                <a16:creationId xmlns:a16="http://schemas.microsoft.com/office/drawing/2014/main" id="{981AC48A-140E-4C9B-AFAE-C9A8B5693AD6}"/>
              </a:ext>
            </a:extLst>
          </p:cNvPr>
          <p:cNvSpPr>
            <a:spLocks xmlns:a="http://schemas.openxmlformats.org/drawingml/2006/main" noGrp="1"/>
          </p:cNvSpPr>
          <p:nvPr/>
        </p:nvSpPr>
        <p:spPr>
          <a:xfrm xmlns:a="http://schemas.openxmlformats.org/drawingml/2006/main">
            <a:off x="8134350" y="2514600"/>
            <a:ext cx="312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Capacitor connects the standalone workflow to native file handling.</a:t>
            </a:r>
          </a:p>
        </p:txBody>
      </p:sp>
      <p:sp>
        <p:nvSpPr>
          <p:cNvPr id="13" name="">
            <a:extLst xmlns:a="http://schemas.openxmlformats.org/drawingml/2006/main">
              <a:ext uri="{FF2B5EF4-FFF2-40B4-BE49-F238E27FC236}">
                <a16:creationId xmlns:a16="http://schemas.microsoft.com/office/drawing/2014/main" id="{02891C7F-FF18-4D78-B5CB-0D72196D6348}"/>
              </a:ext>
            </a:extLst>
          </p:cNvPr>
          <p:cNvSpPr>
            <a:spLocks xmlns:a="http://schemas.openxmlformats.org/drawingml/2006/main" noGrp="1"/>
          </p:cNvSpPr>
          <p:nvPr/>
        </p:nvSpPr>
        <p:spPr>
          <a:xfrm xmlns:a="http://schemas.openxmlformats.org/drawingml/2006/main">
            <a:off x="8134350" y="3371850"/>
            <a:ext cx="914400" cy="361950"/>
          </a:xfrm>
          <a:prstGeom xmlns:a="http://schemas.openxmlformats.org/drawingml/2006/main" prst="roundRect">
            <a:avLst>
              <a:gd name="adj" fmla="val 31579"/>
            </a:avLst>
          </a:prstGeom>
          <a:solidFill xmlns:a="http://schemas.openxmlformats.org/drawingml/2006/main">
            <a:srgbClr val="EAF4FB"/>
          </a:solidFill>
          <a:ln xmlns:a="http://schemas.openxmlformats.org/drawingml/2006/main" w="11430">
            <a:solidFill>
              <a:srgbClr val="0065BD"/>
            </a:solidFill>
            <a:prstDash val="solid"/>
          </a:ln>
        </p:spPr>
      </p:sp>
      <p:sp>
        <p:nvSpPr>
          <p:cNvPr id="14" name="">
            <a:extLst xmlns:a="http://schemas.openxmlformats.org/drawingml/2006/main">
              <a:ext uri="{FF2B5EF4-FFF2-40B4-BE49-F238E27FC236}">
                <a16:creationId xmlns:a16="http://schemas.microsoft.com/office/drawing/2014/main" id="{F900D58E-F926-4CF9-94C9-FA0AE02892CA}"/>
              </a:ext>
            </a:extLst>
          </p:cNvPr>
          <p:cNvSpPr>
            <a:spLocks xmlns:a="http://schemas.openxmlformats.org/drawingml/2006/main" noGrp="1"/>
          </p:cNvSpPr>
          <p:nvPr/>
        </p:nvSpPr>
        <p:spPr>
          <a:xfrm xmlns:a="http://schemas.openxmlformats.org/drawingml/2006/main">
            <a:off x="8248650" y="34671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065BD"/>
                </a:solidFill>
                <a:latin typeface="Arial"/>
                <a:ea typeface="Arial"/>
                <a:cs typeface="Arial"/>
              </a:defRPr>
            </a:pPr>
            <a:r>
              <a:rPr sz="1050" b="1">
                <a:solidFill>
                  <a:srgbClr val="0065BD"/>
                </a:solidFill>
                <a:latin typeface="Arial"/>
                <a:ea typeface="Arial"/>
                <a:cs typeface="Arial"/>
              </a:rPr>
              <a:t>PNG</a:t>
            </a:r>
          </a:p>
        </p:txBody>
      </p:sp>
      <p:sp>
        <p:nvSpPr>
          <p:cNvPr id="15" name="">
            <a:extLst xmlns:a="http://schemas.openxmlformats.org/drawingml/2006/main">
              <a:ext uri="{FF2B5EF4-FFF2-40B4-BE49-F238E27FC236}">
                <a16:creationId xmlns:a16="http://schemas.microsoft.com/office/drawing/2014/main" id="{6A48F724-FB1A-4C2A-AEC2-F647CA02D03A}"/>
              </a:ext>
            </a:extLst>
          </p:cNvPr>
          <p:cNvSpPr>
            <a:spLocks xmlns:a="http://schemas.openxmlformats.org/drawingml/2006/main" noGrp="1"/>
          </p:cNvSpPr>
          <p:nvPr/>
        </p:nvSpPr>
        <p:spPr>
          <a:xfrm xmlns:a="http://schemas.openxmlformats.org/drawingml/2006/main">
            <a:off x="9182100" y="3371850"/>
            <a:ext cx="914400" cy="361950"/>
          </a:xfrm>
          <a:prstGeom xmlns:a="http://schemas.openxmlformats.org/drawingml/2006/main" prst="roundRect">
            <a:avLst>
              <a:gd name="adj" fmla="val 31579"/>
            </a:avLst>
          </a:prstGeom>
          <a:solidFill xmlns:a="http://schemas.openxmlformats.org/drawingml/2006/main">
            <a:srgbClr val="FFF1E7"/>
          </a:solidFill>
          <a:ln xmlns:a="http://schemas.openxmlformats.org/drawingml/2006/main" w="11430">
            <a:solidFill>
              <a:srgbClr val="E37222"/>
            </a:solidFill>
            <a:prstDash val="solid"/>
          </a:ln>
        </p:spPr>
      </p:sp>
      <p:sp>
        <p:nvSpPr>
          <p:cNvPr id="16" name="">
            <a:extLst xmlns:a="http://schemas.openxmlformats.org/drawingml/2006/main">
              <a:ext uri="{FF2B5EF4-FFF2-40B4-BE49-F238E27FC236}">
                <a16:creationId xmlns:a16="http://schemas.microsoft.com/office/drawing/2014/main" id="{30B9609B-43CE-457C-A4D3-46462B5EB770}"/>
              </a:ext>
            </a:extLst>
          </p:cNvPr>
          <p:cNvSpPr>
            <a:spLocks xmlns:a="http://schemas.openxmlformats.org/drawingml/2006/main" noGrp="1"/>
          </p:cNvSpPr>
          <p:nvPr/>
        </p:nvSpPr>
        <p:spPr>
          <a:xfrm xmlns:a="http://schemas.openxmlformats.org/drawingml/2006/main">
            <a:off x="9296400" y="34671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E37222"/>
                </a:solidFill>
                <a:latin typeface="Arial"/>
                <a:ea typeface="Arial"/>
                <a:cs typeface="Arial"/>
              </a:defRPr>
            </a:pPr>
            <a:r>
              <a:rPr sz="1050" b="1">
                <a:solidFill>
                  <a:srgbClr val="E37222"/>
                </a:solidFill>
                <a:latin typeface="Arial"/>
                <a:ea typeface="Arial"/>
                <a:cs typeface="Arial"/>
              </a:rPr>
              <a:t>PDF</a:t>
            </a:r>
          </a:p>
        </p:txBody>
      </p:sp>
      <p:sp>
        <p:nvSpPr>
          <p:cNvPr id="17" name="">
            <a:extLst xmlns:a="http://schemas.openxmlformats.org/drawingml/2006/main">
              <a:ext uri="{FF2B5EF4-FFF2-40B4-BE49-F238E27FC236}">
                <a16:creationId xmlns:a16="http://schemas.microsoft.com/office/drawing/2014/main" id="{7DF0F54B-70B3-4656-8EC3-5623E4C978C8}"/>
              </a:ext>
            </a:extLst>
          </p:cNvPr>
          <p:cNvSpPr>
            <a:spLocks xmlns:a="http://schemas.openxmlformats.org/drawingml/2006/main" noGrp="1"/>
          </p:cNvSpPr>
          <p:nvPr/>
        </p:nvSpPr>
        <p:spPr>
          <a:xfrm xmlns:a="http://schemas.openxmlformats.org/drawingml/2006/main">
            <a:off x="10229850" y="3371850"/>
            <a:ext cx="1028700" cy="361950"/>
          </a:xfrm>
          <a:prstGeom xmlns:a="http://schemas.openxmlformats.org/drawingml/2006/main" prst="roundRect">
            <a:avLst>
              <a:gd name="adj" fmla="val 31579"/>
            </a:avLst>
          </a:prstGeom>
          <a:solidFill xmlns:a="http://schemas.openxmlformats.org/drawingml/2006/main">
            <a:srgbClr val="F1F5DA"/>
          </a:solidFill>
          <a:ln xmlns:a="http://schemas.openxmlformats.org/drawingml/2006/main" w="11430">
            <a:solidFill>
              <a:srgbClr val="A2AD00"/>
            </a:solidFill>
            <a:prstDash val="solid"/>
          </a:ln>
        </p:spPr>
      </p:sp>
      <p:sp>
        <p:nvSpPr>
          <p:cNvPr id="18" name="">
            <a:extLst xmlns:a="http://schemas.openxmlformats.org/drawingml/2006/main">
              <a:ext uri="{FF2B5EF4-FFF2-40B4-BE49-F238E27FC236}">
                <a16:creationId xmlns:a16="http://schemas.microsoft.com/office/drawing/2014/main" id="{491645D2-6E5E-4BE5-A765-00DA65ABB053}"/>
              </a:ext>
            </a:extLst>
          </p:cNvPr>
          <p:cNvSpPr>
            <a:spLocks xmlns:a="http://schemas.openxmlformats.org/drawingml/2006/main" noGrp="1"/>
          </p:cNvSpPr>
          <p:nvPr/>
        </p:nvSpPr>
        <p:spPr>
          <a:xfrm xmlns:a="http://schemas.openxmlformats.org/drawingml/2006/main">
            <a:off x="10344150" y="34671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A2AD00"/>
                </a:solidFill>
                <a:latin typeface="Arial"/>
                <a:ea typeface="Arial"/>
                <a:cs typeface="Arial"/>
              </a:defRPr>
            </a:pPr>
            <a:r>
              <a:rPr sz="1050" b="1">
                <a:solidFill>
                  <a:srgbClr val="A2AD00"/>
                </a:solidFill>
                <a:latin typeface="Arial"/>
                <a:ea typeface="Arial"/>
                <a:cs typeface="Arial"/>
              </a:rPr>
              <a:t>JSON</a:t>
            </a:r>
          </a:p>
        </p:txBody>
      </p:sp>
      <p:sp>
        <p:nvSpPr>
          <p:cNvPr id="19" name="">
            <a:extLst xmlns:a="http://schemas.openxmlformats.org/drawingml/2006/main">
              <a:ext uri="{FF2B5EF4-FFF2-40B4-BE49-F238E27FC236}">
                <a16:creationId xmlns:a16="http://schemas.microsoft.com/office/drawing/2014/main" id="{24CD2766-0AC7-4C1A-A422-1F267F5CA4FE}"/>
              </a:ext>
            </a:extLst>
          </p:cNvPr>
          <p:cNvSpPr>
            <a:spLocks xmlns:a="http://schemas.openxmlformats.org/drawingml/2006/main" noGrp="1"/>
          </p:cNvSpPr>
          <p:nvPr/>
        </p:nvSpPr>
        <p:spPr>
          <a:xfrm xmlns:a="http://schemas.openxmlformats.org/drawingml/2006/main">
            <a:off x="8458200" y="3943350"/>
            <a:ext cx="1066800" cy="361950"/>
          </a:xfrm>
          <a:prstGeom xmlns:a="http://schemas.openxmlformats.org/drawingml/2006/main" prst="roundRect">
            <a:avLst>
              <a:gd name="adj" fmla="val 31579"/>
            </a:avLst>
          </a:prstGeom>
          <a:solidFill xmlns:a="http://schemas.openxmlformats.org/drawingml/2006/main">
            <a:srgbClr val="EAF4FB"/>
          </a:solidFill>
          <a:ln xmlns:a="http://schemas.openxmlformats.org/drawingml/2006/main" w="11430">
            <a:solidFill>
              <a:srgbClr val="64A0C8"/>
            </a:solidFill>
            <a:prstDash val="solid"/>
          </a:ln>
        </p:spPr>
      </p:sp>
      <p:sp>
        <p:nvSpPr>
          <p:cNvPr id="20" name="">
            <a:extLst xmlns:a="http://schemas.openxmlformats.org/drawingml/2006/main">
              <a:ext uri="{FF2B5EF4-FFF2-40B4-BE49-F238E27FC236}">
                <a16:creationId xmlns:a16="http://schemas.microsoft.com/office/drawing/2014/main" id="{843A57BF-B1A4-475C-8A26-319404FB6B48}"/>
              </a:ext>
            </a:extLst>
          </p:cNvPr>
          <p:cNvSpPr>
            <a:spLocks xmlns:a="http://schemas.openxmlformats.org/drawingml/2006/main" noGrp="1"/>
          </p:cNvSpPr>
          <p:nvPr/>
        </p:nvSpPr>
        <p:spPr>
          <a:xfrm xmlns:a="http://schemas.openxmlformats.org/drawingml/2006/main">
            <a:off x="8572500" y="4038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64A0C8"/>
                </a:solidFill>
                <a:latin typeface="Arial"/>
                <a:ea typeface="Arial"/>
                <a:cs typeface="Arial"/>
              </a:defRPr>
            </a:pPr>
            <a:r>
              <a:rPr sz="1050" b="1">
                <a:solidFill>
                  <a:srgbClr val="64A0C8"/>
                </a:solidFill>
                <a:latin typeface="Arial"/>
                <a:ea typeface="Arial"/>
                <a:cs typeface="Arial"/>
              </a:rPr>
              <a:t>SVG</a:t>
            </a:r>
          </a:p>
        </p:txBody>
      </p:sp>
      <p:sp>
        <p:nvSpPr>
          <p:cNvPr id="21" name="">
            <a:extLst xmlns:a="http://schemas.openxmlformats.org/drawingml/2006/main">
              <a:ext uri="{FF2B5EF4-FFF2-40B4-BE49-F238E27FC236}">
                <a16:creationId xmlns:a16="http://schemas.microsoft.com/office/drawing/2014/main" id="{19D0BC29-3A98-46AE-B495-53EDF3A243B0}"/>
              </a:ext>
            </a:extLst>
          </p:cNvPr>
          <p:cNvSpPr>
            <a:spLocks xmlns:a="http://schemas.openxmlformats.org/drawingml/2006/main" noGrp="1"/>
          </p:cNvSpPr>
          <p:nvPr/>
        </p:nvSpPr>
        <p:spPr>
          <a:xfrm xmlns:a="http://schemas.openxmlformats.org/drawingml/2006/main">
            <a:off x="9696450" y="3943350"/>
            <a:ext cx="1219200" cy="361950"/>
          </a:xfrm>
          <a:prstGeom xmlns:a="http://schemas.openxmlformats.org/drawingml/2006/main" prst="roundRect">
            <a:avLst>
              <a:gd name="adj" fmla="val 31579"/>
            </a:avLst>
          </a:prstGeom>
          <a:solidFill xmlns:a="http://schemas.openxmlformats.org/drawingml/2006/main">
            <a:srgbClr val="EAF4FB"/>
          </a:solidFill>
          <a:ln xmlns:a="http://schemas.openxmlformats.org/drawingml/2006/main" w="11430">
            <a:solidFill>
              <a:srgbClr val="0065BD"/>
            </a:solidFill>
            <a:prstDash val="solid"/>
          </a:ln>
        </p:spPr>
      </p:sp>
      <p:sp>
        <p:nvSpPr>
          <p:cNvPr id="22" name="">
            <a:extLst xmlns:a="http://schemas.openxmlformats.org/drawingml/2006/main">
              <a:ext uri="{FF2B5EF4-FFF2-40B4-BE49-F238E27FC236}">
                <a16:creationId xmlns:a16="http://schemas.microsoft.com/office/drawing/2014/main" id="{BC439B5C-2F9A-43E3-A31B-40AC6D92F5E7}"/>
              </a:ext>
            </a:extLst>
          </p:cNvPr>
          <p:cNvSpPr>
            <a:spLocks xmlns:a="http://schemas.openxmlformats.org/drawingml/2006/main" noGrp="1"/>
          </p:cNvSpPr>
          <p:nvPr/>
        </p:nvSpPr>
        <p:spPr>
          <a:xfrm xmlns:a="http://schemas.openxmlformats.org/drawingml/2006/main">
            <a:off x="9810750" y="40386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065BD"/>
                </a:solidFill>
                <a:latin typeface="Arial"/>
                <a:ea typeface="Arial"/>
                <a:cs typeface="Arial"/>
              </a:defRPr>
            </a:pPr>
            <a:r>
              <a:rPr sz="1050" b="1">
                <a:solidFill>
                  <a:srgbClr val="0065BD"/>
                </a:solidFill>
                <a:latin typeface="Arial"/>
                <a:ea typeface="Arial"/>
                <a:cs typeface="Arial"/>
              </a:rPr>
              <a:t>PPTX</a:t>
            </a:r>
          </a:p>
        </p:txBody>
      </p:sp>
      <p:sp>
        <p:nvSpPr>
          <p:cNvPr id="23" name="">
            <a:extLst xmlns:a="http://schemas.openxmlformats.org/drawingml/2006/main">
              <a:ext uri="{FF2B5EF4-FFF2-40B4-BE49-F238E27FC236}">
                <a16:creationId xmlns:a16="http://schemas.microsoft.com/office/drawing/2014/main" id="{CF22F91F-0E79-4BC2-A9AA-A4C932BA3E83}"/>
              </a:ext>
            </a:extLst>
          </p:cNvPr>
          <p:cNvSpPr>
            <a:spLocks xmlns:a="http://schemas.openxmlformats.org/drawingml/2006/main" noGrp="1"/>
          </p:cNvSpPr>
          <p:nvPr/>
        </p:nvSpPr>
        <p:spPr>
          <a:xfrm xmlns:a="http://schemas.openxmlformats.org/drawingml/2006/main">
            <a:off x="8134350" y="4686300"/>
            <a:ext cx="312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03359"/>
                </a:solidFill>
                <a:latin typeface="Arial"/>
                <a:ea typeface="Arial"/>
                <a:cs typeface="Arial"/>
              </a:defRPr>
            </a:pPr>
            <a:r>
              <a:rPr sz="1425" b="1">
                <a:solidFill>
                  <a:srgbClr val="003359"/>
                </a:solidFill>
                <a:latin typeface="Arial"/>
                <a:ea typeface="Arial"/>
                <a:cs typeface="Arial"/>
              </a:rPr>
              <a:t>PPTX keeps diagram elements editable for presentation animation.</a:t>
            </a:r>
          </a:p>
        </p:txBody>
      </p:sp>
    </p:spTree>
    <p:extLst>
      <p:ext uri="{BB962C8B-B14F-4D97-AF65-F5344CB8AC3E}">
        <p14:creationId xmlns:p14="http://schemas.microsoft.com/office/powerpoint/2010/main" val="4550061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label">
            <a:extLst xmlns:a="http://schemas.openxmlformats.org/drawingml/2006/main">
              <a:ext uri="{FF2B5EF4-FFF2-40B4-BE49-F238E27FC236}">
                <a16:creationId xmlns:a16="http://schemas.microsoft.com/office/drawing/2014/main" id="{C17AC5C1-645F-4F6B-8564-004C7B90F00A}"/>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EVALUATION</a:t>
            </a:r>
          </a:p>
        </p:txBody>
      </p:sp>
      <p:sp>
        <p:nvSpPr>
          <p:cNvPr id="2" name="Slide title">
            <a:extLst xmlns:a="http://schemas.openxmlformats.org/drawingml/2006/main">
              <a:ext uri="{FF2B5EF4-FFF2-40B4-BE49-F238E27FC236}">
                <a16:creationId xmlns:a16="http://schemas.microsoft.com/office/drawing/2014/main" id="{D9731B9F-299F-4210-92F5-59436B406E3A}"/>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Feedback supports the direction - not a measured usability gain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dcf9b7549ec456c"/>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AFF013-D51A-4D47-B398-2F4EC5F4B584}"/>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4CDE2D59-A0D4-436B-B21A-A41E7EB519F2}"/>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074FC139-41E8-4CA8-B9A7-A23FD5DC7A2F}"/>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9B3A6E16-2349-43E8-B7EF-D33A9C64157E}"/>
              </a:ext>
            </a:extLst>
          </p:cNvPr>
          <p:cNvSpPr>
            <a:spLocks xmlns:a="http://schemas.openxmlformats.org/drawingml/2006/main" noGrp="1"/>
          </p:cNvSpPr>
          <p:nvPr/>
        </p:nvSpPr>
        <p:spPr>
          <a:xfrm xmlns:a="http://schemas.openxmlformats.org/drawingml/2006/main">
            <a:off x="628650" y="1485900"/>
            <a:ext cx="5219700" cy="3962400"/>
          </a:xfrm>
          <a:prstGeom xmlns:a="http://schemas.openxmlformats.org/drawingml/2006/main" prst="roundRect">
            <a:avLst>
              <a:gd name="adj" fmla="val 2885"/>
            </a:avLst>
          </a:prstGeom>
          <a:solidFill xmlns:a="http://schemas.openxmlformats.org/drawingml/2006/main">
            <a:srgbClr val="F1F5DA"/>
          </a:solidFill>
          <a:ln xmlns:a="http://schemas.openxmlformats.org/drawingml/2006/main" w="11430">
            <a:solidFill>
              <a:srgbClr val="A2AD00"/>
            </a:solidFill>
            <a:prstDash val="solid"/>
          </a:ln>
        </p:spPr>
      </p:sp>
      <p:sp>
        <p:nvSpPr>
          <p:cNvPr id="8" name="">
            <a:extLst xmlns:a="http://schemas.openxmlformats.org/drawingml/2006/main">
              <a:ext uri="{FF2B5EF4-FFF2-40B4-BE49-F238E27FC236}">
                <a16:creationId xmlns:a16="http://schemas.microsoft.com/office/drawing/2014/main" id="{250DE5D5-CDA2-4283-91FF-5867E44627CF}"/>
              </a:ext>
            </a:extLst>
          </p:cNvPr>
          <p:cNvSpPr>
            <a:spLocks xmlns:a="http://schemas.openxmlformats.org/drawingml/2006/main" noGrp="1"/>
          </p:cNvSpPr>
          <p:nvPr/>
        </p:nvSpPr>
        <p:spPr>
          <a:xfrm xmlns:a="http://schemas.openxmlformats.org/drawingml/2006/main">
            <a:off x="6343650" y="1485900"/>
            <a:ext cx="5219700" cy="3962400"/>
          </a:xfrm>
          <a:prstGeom xmlns:a="http://schemas.openxmlformats.org/drawingml/2006/main" prst="roundRect">
            <a:avLst>
              <a:gd name="adj" fmla="val 2885"/>
            </a:avLst>
          </a:prstGeom>
          <a:solidFill xmlns:a="http://schemas.openxmlformats.org/drawingml/2006/main">
            <a:srgbClr val="FFF1E7"/>
          </a:solidFill>
          <a:ln xmlns:a="http://schemas.openxmlformats.org/drawingml/2006/main" w="11430">
            <a:solidFill>
              <a:srgbClr val="E37222"/>
            </a:solidFill>
            <a:prstDash val="solid"/>
          </a:ln>
        </p:spPr>
      </p:sp>
      <p:sp>
        <p:nvSpPr>
          <p:cNvPr id="9" name="">
            <a:extLst xmlns:a="http://schemas.openxmlformats.org/drawingml/2006/main">
              <a:ext uri="{FF2B5EF4-FFF2-40B4-BE49-F238E27FC236}">
                <a16:creationId xmlns:a16="http://schemas.microsoft.com/office/drawing/2014/main" id="{CFC76BD2-E04E-4C59-9E5D-6AC408125140}"/>
              </a:ext>
            </a:extLst>
          </p:cNvPr>
          <p:cNvSpPr>
            <a:spLocks xmlns:a="http://schemas.openxmlformats.org/drawingml/2006/main" noGrp="1"/>
          </p:cNvSpPr>
          <p:nvPr/>
        </p:nvSpPr>
        <p:spPr>
          <a:xfrm xmlns:a="http://schemas.openxmlformats.org/drawingml/2006/main">
            <a:off x="971550" y="18097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03359"/>
                </a:solidFill>
                <a:latin typeface="Arial"/>
                <a:ea typeface="Arial"/>
                <a:cs typeface="Arial"/>
              </a:defRPr>
            </a:pPr>
            <a:r>
              <a:rPr sz="2100" b="1">
                <a:solidFill>
                  <a:srgbClr val="003359"/>
                </a:solidFill>
                <a:latin typeface="Arial"/>
                <a:ea typeface="Arial"/>
                <a:cs typeface="Arial"/>
              </a:rPr>
              <a:t>What users valued</a:t>
            </a:r>
          </a:p>
        </p:txBody>
      </p:sp>
      <p:sp>
        <p:nvSpPr>
          <p:cNvPr id="10" name="">
            <a:extLst xmlns:a="http://schemas.openxmlformats.org/drawingml/2006/main">
              <a:ext uri="{FF2B5EF4-FFF2-40B4-BE49-F238E27FC236}">
                <a16:creationId xmlns:a16="http://schemas.microsoft.com/office/drawing/2014/main" id="{CF2A02B6-81C1-425A-B41C-B05F07265E30}"/>
              </a:ext>
            </a:extLst>
          </p:cNvPr>
          <p:cNvSpPr>
            <a:spLocks xmlns:a="http://schemas.openxmlformats.org/drawingml/2006/main" noGrp="1"/>
          </p:cNvSpPr>
          <p:nvPr/>
        </p:nvSpPr>
        <p:spPr>
          <a:xfrm xmlns:a="http://schemas.openxmlformats.org/drawingml/2006/main">
            <a:off x="990600" y="2419350"/>
            <a:ext cx="42862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Collaboration awareness</a:t>
            </a:r>
          </a:p>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Line jumps and edge readability</a:t>
            </a:r>
          </a:p>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Export behavior</a:t>
            </a:r>
          </a:p>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Standalone navigation and diagram management</a:t>
            </a:r>
          </a:p>
        </p:txBody>
      </p:sp>
      <p:sp>
        <p:nvSpPr>
          <p:cNvPr id="11" name="">
            <a:extLst xmlns:a="http://schemas.openxmlformats.org/drawingml/2006/main">
              <a:ext uri="{FF2B5EF4-FFF2-40B4-BE49-F238E27FC236}">
                <a16:creationId xmlns:a16="http://schemas.microsoft.com/office/drawing/2014/main" id="{3FC37B2E-8072-499F-B0F7-40BD571D9C8C}"/>
              </a:ext>
            </a:extLst>
          </p:cNvPr>
          <p:cNvSpPr>
            <a:spLocks xmlns:a="http://schemas.openxmlformats.org/drawingml/2006/main" noGrp="1"/>
          </p:cNvSpPr>
          <p:nvPr/>
        </p:nvSpPr>
        <p:spPr>
          <a:xfrm xmlns:a="http://schemas.openxmlformats.org/drawingml/2006/main">
            <a:off x="6686550" y="18097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03359"/>
                </a:solidFill>
                <a:latin typeface="Arial"/>
                <a:ea typeface="Arial"/>
                <a:cs typeface="Arial"/>
              </a:defRPr>
            </a:pPr>
            <a:r>
              <a:rPr sz="2100" b="1">
                <a:solidFill>
                  <a:srgbClr val="003359"/>
                </a:solidFill>
                <a:latin typeface="Arial"/>
                <a:ea typeface="Arial"/>
                <a:cs typeface="Arial"/>
              </a:rPr>
              <a:t>What still interrupted the flow</a:t>
            </a:r>
          </a:p>
        </p:txBody>
      </p:sp>
      <p:sp>
        <p:nvSpPr>
          <p:cNvPr id="12" name="">
            <a:extLst xmlns:a="http://schemas.openxmlformats.org/drawingml/2006/main">
              <a:ext uri="{FF2B5EF4-FFF2-40B4-BE49-F238E27FC236}">
                <a16:creationId xmlns:a16="http://schemas.microsoft.com/office/drawing/2014/main" id="{6B995B18-E302-4BE8-8499-47D0FFA08CD0}"/>
              </a:ext>
            </a:extLst>
          </p:cNvPr>
          <p:cNvSpPr>
            <a:spLocks xmlns:a="http://schemas.openxmlformats.org/drawingml/2006/main" noGrp="1"/>
          </p:cNvSpPr>
          <p:nvPr/>
        </p:nvSpPr>
        <p:spPr>
          <a:xfrm xmlns:a="http://schemas.openxmlformats.org/drawingml/2006/main">
            <a:off x="6705600" y="2419350"/>
            <a:ext cx="42862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Precise layout control</a:t>
            </a:r>
          </a:p>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Shortcuts and discoverability</a:t>
            </a:r>
          </a:p>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Selection and styling flexibility</a:t>
            </a:r>
          </a:p>
          <a:p xmlns:a="http://schemas.openxmlformats.org/drawingml/2006/main">
            <a:pPr algn="l">
              <a:defRPr sz="1575" b="0">
                <a:solidFill>
                  <a:srgbClr val="56616B"/>
                </a:solidFill>
                <a:latin typeface="Arial"/>
                <a:ea typeface="Arial"/>
                <a:cs typeface="Arial"/>
              </a:defRPr>
            </a:pPr>
            <a:r>
              <a:rPr sz="1575" b="0">
                <a:solidFill>
                  <a:srgbClr val="56616B"/>
                </a:solidFill>
                <a:latin typeface="Arial"/>
                <a:ea typeface="Arial"/>
                <a:cs typeface="Arial"/>
              </a:rPr>
              <a:t>Sharing semantics and notation coverage</a:t>
            </a:r>
          </a:p>
        </p:txBody>
      </p:sp>
      <p:sp>
        <p:nvSpPr>
          <p:cNvPr id="13" name="">
            <a:extLst xmlns:a="http://schemas.openxmlformats.org/drawingml/2006/main">
              <a:ext uri="{FF2B5EF4-FFF2-40B4-BE49-F238E27FC236}">
                <a16:creationId xmlns:a16="http://schemas.microsoft.com/office/drawing/2014/main" id="{78D1D918-8CB3-4E9E-8579-DECDCD851887}"/>
              </a:ext>
            </a:extLst>
          </p:cNvPr>
          <p:cNvSpPr>
            <a:spLocks xmlns:a="http://schemas.openxmlformats.org/drawingml/2006/main" noGrp="1"/>
          </p:cNvSpPr>
          <p:nvPr/>
        </p:nvSpPr>
        <p:spPr>
          <a:xfrm xmlns:a="http://schemas.openxmlformats.org/drawingml/2006/main">
            <a:off x="1447800" y="5772150"/>
            <a:ext cx="9296400" cy="457200"/>
          </a:xfrm>
          <a:prstGeom xmlns:a="http://schemas.openxmlformats.org/drawingml/2006/main" prst="roundRect">
            <a:avLst>
              <a:gd name="adj" fmla="val 25000"/>
            </a:avLst>
          </a:prstGeom>
          <a:solidFill xmlns:a="http://schemas.openxmlformats.org/drawingml/2006/main">
            <a:srgbClr val="FBECEC"/>
          </a:solidFill>
          <a:ln xmlns:a="http://schemas.openxmlformats.org/drawingml/2006/main" w="11430">
            <a:solidFill>
              <a:srgbClr val="C84A4A"/>
            </a:solidFill>
            <a:prstDash val="solid"/>
          </a:ln>
        </p:spPr>
      </p:sp>
      <p:sp>
        <p:nvSpPr>
          <p:cNvPr id="14" name="">
            <a:extLst xmlns:a="http://schemas.openxmlformats.org/drawingml/2006/main">
              <a:ext uri="{FF2B5EF4-FFF2-40B4-BE49-F238E27FC236}">
                <a16:creationId xmlns:a16="http://schemas.microsoft.com/office/drawing/2014/main" id="{08A2FD4A-AAB2-4BD4-99A1-AA94ABEFC316}"/>
              </a:ext>
            </a:extLst>
          </p:cNvPr>
          <p:cNvSpPr>
            <a:spLocks xmlns:a="http://schemas.openxmlformats.org/drawingml/2006/main" noGrp="1"/>
          </p:cNvSpPr>
          <p:nvPr/>
        </p:nvSpPr>
        <p:spPr>
          <a:xfrm xmlns:a="http://schemas.openxmlformats.org/drawingml/2006/main">
            <a:off x="1714500" y="5876925"/>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C84A4A"/>
                </a:solidFill>
                <a:latin typeface="Arial"/>
                <a:ea typeface="Arial"/>
                <a:cs typeface="Arial"/>
              </a:defRPr>
            </a:pPr>
            <a:r>
              <a:rPr sz="1275" b="1">
                <a:solidFill>
                  <a:srgbClr val="C84A4A"/>
                </a:solidFill>
                <a:latin typeface="Arial"/>
                <a:ea typeface="Arial"/>
                <a:cs typeface="Arial"/>
              </a:rPr>
              <a:t>Qualitative and formative: no controlled comparison of task time, errors, or satisfaction.</a:t>
            </a:r>
          </a:p>
        </p:txBody>
      </p:sp>
    </p:spTree>
    <p:extLst>
      <p:ext uri="{BB962C8B-B14F-4D97-AF65-F5344CB8AC3E}">
        <p14:creationId xmlns:p14="http://schemas.microsoft.com/office/powerpoint/2010/main" val="10690307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 label">
            <a:extLst xmlns:a="http://schemas.openxmlformats.org/drawingml/2006/main">
              <a:ext uri="{FF2B5EF4-FFF2-40B4-BE49-F238E27FC236}">
                <a16:creationId xmlns:a16="http://schemas.microsoft.com/office/drawing/2014/main" id="{D289FC80-49D7-4E16-AAE2-54E88EC7F5CB}"/>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STATUS</a:t>
            </a:r>
          </a:p>
        </p:txBody>
      </p:sp>
      <p:sp>
        <p:nvSpPr>
          <p:cNvPr id="2" name="Slide title">
            <a:extLst xmlns:a="http://schemas.openxmlformats.org/drawingml/2006/main">
              <a:ext uri="{FF2B5EF4-FFF2-40B4-BE49-F238E27FC236}">
                <a16:creationId xmlns:a16="http://schemas.microsoft.com/office/drawing/2014/main" id="{EBBEC34E-FDCA-4875-8FFC-169384247562}"/>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All four objectives are realized within the thesis scope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aae4416c16740b9"/>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B22495-B3E5-4332-986B-D8F9D6D1DEC0}"/>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7378F75F-CA15-4B01-9761-916271BC2DA3}"/>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487FB704-8D0D-4053-90F1-F34D8C3DC180}"/>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17</a:t>
            </a:r>
          </a:p>
        </p:txBody>
      </p:sp>
      <p:sp>
        <p:nvSpPr>
          <p:cNvPr id="7" name="">
            <a:extLst xmlns:a="http://schemas.openxmlformats.org/drawingml/2006/main">
              <a:ext uri="{FF2B5EF4-FFF2-40B4-BE49-F238E27FC236}">
                <a16:creationId xmlns:a16="http://schemas.microsoft.com/office/drawing/2014/main" id="{D52C5057-2951-4B4F-B00B-11884D52400A}"/>
              </a:ext>
            </a:extLst>
          </p:cNvPr>
          <p:cNvSpPr>
            <a:spLocks xmlns:a="http://schemas.openxmlformats.org/drawingml/2006/main" noGrp="1"/>
          </p:cNvSpPr>
          <p:nvPr/>
        </p:nvSpPr>
        <p:spPr>
          <a:xfrm xmlns:a="http://schemas.openxmlformats.org/drawingml/2006/main">
            <a:off x="666750" y="1409700"/>
            <a:ext cx="742950" cy="704850"/>
          </a:xfrm>
          <a:prstGeom xmlns:a="http://schemas.openxmlformats.org/drawingml/2006/main" prst="roundRect">
            <a:avLst>
              <a:gd name="adj" fmla="val 16216"/>
            </a:avLst>
          </a:prstGeom>
          <a:solidFill xmlns:a="http://schemas.openxmlformats.org/drawingml/2006/main">
            <a:srgbClr val="F1F5DA"/>
          </a:solidFill>
          <a:ln xmlns:a="http://schemas.openxmlformats.org/drawingml/2006/main" w="11430">
            <a:solidFill>
              <a:srgbClr val="A2AD00"/>
            </a:solidFill>
            <a:prstDash val="solid"/>
          </a:ln>
        </p:spPr>
      </p:sp>
      <p:sp>
        <p:nvSpPr>
          <p:cNvPr id="8" name="">
            <a:extLst xmlns:a="http://schemas.openxmlformats.org/drawingml/2006/main">
              <a:ext uri="{FF2B5EF4-FFF2-40B4-BE49-F238E27FC236}">
                <a16:creationId xmlns:a16="http://schemas.microsoft.com/office/drawing/2014/main" id="{24ED7B87-D26D-45D1-9513-6D6CF4580474}"/>
              </a:ext>
            </a:extLst>
          </p:cNvPr>
          <p:cNvSpPr>
            <a:spLocks xmlns:a="http://schemas.openxmlformats.org/drawingml/2006/main" noGrp="1"/>
          </p:cNvSpPr>
          <p:nvPr/>
        </p:nvSpPr>
        <p:spPr>
          <a:xfrm xmlns:a="http://schemas.openxmlformats.org/drawingml/2006/main">
            <a:off x="742950" y="16192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3359"/>
                </a:solidFill>
                <a:latin typeface="Arial"/>
                <a:ea typeface="Arial"/>
                <a:cs typeface="Arial"/>
              </a:defRPr>
            </a:pPr>
            <a:r>
              <a:rPr sz="975" b="1">
                <a:solidFill>
                  <a:srgbClr val="003359"/>
                </a:solidFill>
                <a:latin typeface="Arial"/>
                <a:ea typeface="Arial"/>
                <a:cs typeface="Arial"/>
              </a:rPr>
              <a:t>DONE</a:t>
            </a:r>
          </a:p>
        </p:txBody>
      </p:sp>
      <p:sp>
        <p:nvSpPr>
          <p:cNvPr id="9" name="">
            <a:extLst xmlns:a="http://schemas.openxmlformats.org/drawingml/2006/main">
              <a:ext uri="{FF2B5EF4-FFF2-40B4-BE49-F238E27FC236}">
                <a16:creationId xmlns:a16="http://schemas.microsoft.com/office/drawing/2014/main" id="{39FBDAF6-BC30-46D4-8E7E-0C123F80B2A9}"/>
              </a:ext>
            </a:extLst>
          </p:cNvPr>
          <p:cNvSpPr>
            <a:spLocks xmlns:a="http://schemas.openxmlformats.org/drawingml/2006/main" noGrp="1"/>
          </p:cNvSpPr>
          <p:nvPr/>
        </p:nvSpPr>
        <p:spPr>
          <a:xfrm xmlns:a="http://schemas.openxmlformats.org/drawingml/2006/main">
            <a:off x="1695450" y="14192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820"/>
                </a:solidFill>
                <a:latin typeface="Arial"/>
                <a:ea typeface="Arial"/>
                <a:cs typeface="Arial"/>
              </a:defRPr>
            </a:pPr>
            <a:r>
              <a:rPr sz="1650" b="1">
                <a:solidFill>
                  <a:srgbClr val="111820"/>
                </a:solidFill>
                <a:latin typeface="Arial"/>
                <a:ea typeface="Arial"/>
                <a:cs typeface="Arial"/>
              </a:rPr>
              <a:t>Improve modeling and application usability</a:t>
            </a:r>
          </a:p>
        </p:txBody>
      </p:sp>
      <p:sp>
        <p:nvSpPr>
          <p:cNvPr id="10" name="">
            <a:extLst xmlns:a="http://schemas.openxmlformats.org/drawingml/2006/main">
              <a:ext uri="{FF2B5EF4-FFF2-40B4-BE49-F238E27FC236}">
                <a16:creationId xmlns:a16="http://schemas.microsoft.com/office/drawing/2014/main" id="{0333EC82-735E-413F-9DE3-7C8E472F223E}"/>
              </a:ext>
            </a:extLst>
          </p:cNvPr>
          <p:cNvSpPr>
            <a:spLocks xmlns:a="http://schemas.openxmlformats.org/drawingml/2006/main" noGrp="1"/>
          </p:cNvSpPr>
          <p:nvPr/>
        </p:nvSpPr>
        <p:spPr>
          <a:xfrm xmlns:a="http://schemas.openxmlformats.org/drawingml/2006/main">
            <a:off x="1695450" y="18002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Direct editing, navigation, standalone management, and mobile use</a:t>
            </a:r>
          </a:p>
        </p:txBody>
      </p:sp>
      <p:sp>
        <p:nvSpPr>
          <p:cNvPr id="11" name="">
            <a:extLst xmlns:a="http://schemas.openxmlformats.org/drawingml/2006/main">
              <a:ext uri="{FF2B5EF4-FFF2-40B4-BE49-F238E27FC236}">
                <a16:creationId xmlns:a16="http://schemas.microsoft.com/office/drawing/2014/main" id="{8173942D-FFD1-44ED-B180-B0D19E9C49FB}"/>
              </a:ext>
            </a:extLst>
          </p:cNvPr>
          <p:cNvSpPr>
            <a:spLocks xmlns:a="http://schemas.openxmlformats.org/drawingml/2006/main" noGrp="1"/>
          </p:cNvSpPr>
          <p:nvPr/>
        </p:nvSpPr>
        <p:spPr>
          <a:xfrm xmlns:a="http://schemas.openxmlformats.org/drawingml/2006/main">
            <a:off x="10839450" y="1581150"/>
            <a:ext cx="361950" cy="36195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0895EB2-1819-408F-A892-54030073587A}"/>
              </a:ext>
            </a:extLst>
          </p:cNvPr>
          <p:cNvSpPr>
            <a:spLocks xmlns:a="http://schemas.openxmlformats.org/drawingml/2006/main" noGrp="1"/>
          </p:cNvSpPr>
          <p:nvPr/>
        </p:nvSpPr>
        <p:spPr>
          <a:xfrm xmlns:a="http://schemas.openxmlformats.org/drawingml/2006/main">
            <a:off x="10896600" y="167640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OK</a:t>
            </a:r>
          </a:p>
        </p:txBody>
      </p:sp>
      <p:sp>
        <p:nvSpPr>
          <p:cNvPr id="13" name="">
            <a:extLst xmlns:a="http://schemas.openxmlformats.org/drawingml/2006/main">
              <a:ext uri="{FF2B5EF4-FFF2-40B4-BE49-F238E27FC236}">
                <a16:creationId xmlns:a16="http://schemas.microsoft.com/office/drawing/2014/main" id="{5DF4733D-311A-4F6A-A576-2AE767124F51}"/>
              </a:ext>
            </a:extLst>
          </p:cNvPr>
          <p:cNvSpPr>
            <a:spLocks xmlns:a="http://schemas.openxmlformats.org/drawingml/2006/main" noGrp="1"/>
          </p:cNvSpPr>
          <p:nvPr/>
        </p:nvSpPr>
        <p:spPr>
          <a:xfrm xmlns:a="http://schemas.openxmlformats.org/drawingml/2006/main">
            <a:off x="666750" y="2438400"/>
            <a:ext cx="742950" cy="704850"/>
          </a:xfrm>
          <a:prstGeom xmlns:a="http://schemas.openxmlformats.org/drawingml/2006/main" prst="roundRect">
            <a:avLst>
              <a:gd name="adj" fmla="val 16216"/>
            </a:avLst>
          </a:prstGeom>
          <a:solidFill xmlns:a="http://schemas.openxmlformats.org/drawingml/2006/main">
            <a:srgbClr val="F1F5DA"/>
          </a:solidFill>
          <a:ln xmlns:a="http://schemas.openxmlformats.org/drawingml/2006/main" w="11430">
            <a:solidFill>
              <a:srgbClr val="A2AD00"/>
            </a:solidFill>
            <a:prstDash val="solid"/>
          </a:ln>
        </p:spPr>
      </p:sp>
      <p:sp>
        <p:nvSpPr>
          <p:cNvPr id="14" name="">
            <a:extLst xmlns:a="http://schemas.openxmlformats.org/drawingml/2006/main">
              <a:ext uri="{FF2B5EF4-FFF2-40B4-BE49-F238E27FC236}">
                <a16:creationId xmlns:a16="http://schemas.microsoft.com/office/drawing/2014/main" id="{27F6EED9-01EB-4463-A5F1-E650A334D787}"/>
              </a:ext>
            </a:extLst>
          </p:cNvPr>
          <p:cNvSpPr>
            <a:spLocks xmlns:a="http://schemas.openxmlformats.org/drawingml/2006/main" noGrp="1"/>
          </p:cNvSpPr>
          <p:nvPr/>
        </p:nvSpPr>
        <p:spPr>
          <a:xfrm xmlns:a="http://schemas.openxmlformats.org/drawingml/2006/main">
            <a:off x="742950" y="26479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3359"/>
                </a:solidFill>
                <a:latin typeface="Arial"/>
                <a:ea typeface="Arial"/>
                <a:cs typeface="Arial"/>
              </a:defRPr>
            </a:pPr>
            <a:r>
              <a:rPr sz="975" b="1">
                <a:solidFill>
                  <a:srgbClr val="003359"/>
                </a:solidFill>
                <a:latin typeface="Arial"/>
                <a:ea typeface="Arial"/>
                <a:cs typeface="Arial"/>
              </a:rPr>
              <a:t>DONE</a:t>
            </a:r>
          </a:p>
        </p:txBody>
      </p:sp>
      <p:sp>
        <p:nvSpPr>
          <p:cNvPr id="15" name="">
            <a:extLst xmlns:a="http://schemas.openxmlformats.org/drawingml/2006/main">
              <a:ext uri="{FF2B5EF4-FFF2-40B4-BE49-F238E27FC236}">
                <a16:creationId xmlns:a16="http://schemas.microsoft.com/office/drawing/2014/main" id="{D37E43AB-EBF6-4B6E-96D4-2F32A724CB66}"/>
              </a:ext>
            </a:extLst>
          </p:cNvPr>
          <p:cNvSpPr>
            <a:spLocks xmlns:a="http://schemas.openxmlformats.org/drawingml/2006/main" noGrp="1"/>
          </p:cNvSpPr>
          <p:nvPr/>
        </p:nvSpPr>
        <p:spPr>
          <a:xfrm xmlns:a="http://schemas.openxmlformats.org/drawingml/2006/main">
            <a:off x="1695450" y="24479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820"/>
                </a:solidFill>
                <a:latin typeface="Arial"/>
                <a:ea typeface="Arial"/>
                <a:cs typeface="Arial"/>
              </a:defRPr>
            </a:pPr>
            <a:r>
              <a:rPr sz="1650" b="1">
                <a:solidFill>
                  <a:srgbClr val="111820"/>
                </a:solidFill>
                <a:latin typeface="Arial"/>
                <a:ea typeface="Arial"/>
                <a:cs typeface="Arial"/>
              </a:rPr>
              <a:t>Support collaborative modeling</a:t>
            </a:r>
          </a:p>
        </p:txBody>
      </p:sp>
      <p:sp>
        <p:nvSpPr>
          <p:cNvPr id="16" name="">
            <a:extLst xmlns:a="http://schemas.openxmlformats.org/drawingml/2006/main">
              <a:ext uri="{FF2B5EF4-FFF2-40B4-BE49-F238E27FC236}">
                <a16:creationId xmlns:a16="http://schemas.microsoft.com/office/drawing/2014/main" id="{57E4EBC4-97EE-4BAF-BB9C-9CF09ADB848B}"/>
              </a:ext>
            </a:extLst>
          </p:cNvPr>
          <p:cNvSpPr>
            <a:spLocks xmlns:a="http://schemas.openxmlformats.org/drawingml/2006/main" noGrp="1"/>
          </p:cNvSpPr>
          <p:nvPr/>
        </p:nvSpPr>
        <p:spPr>
          <a:xfrm xmlns:a="http://schemas.openxmlformats.org/drawingml/2006/main">
            <a:off x="1695450" y="28289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Named cursors, selections, drag highlights, viewport following, and reuse</a:t>
            </a:r>
          </a:p>
        </p:txBody>
      </p:sp>
      <p:sp>
        <p:nvSpPr>
          <p:cNvPr id="17" name="">
            <a:extLst xmlns:a="http://schemas.openxmlformats.org/drawingml/2006/main">
              <a:ext uri="{FF2B5EF4-FFF2-40B4-BE49-F238E27FC236}">
                <a16:creationId xmlns:a16="http://schemas.microsoft.com/office/drawing/2014/main" id="{1C15360D-2D75-4717-AE2E-70F5FF814771}"/>
              </a:ext>
            </a:extLst>
          </p:cNvPr>
          <p:cNvSpPr>
            <a:spLocks xmlns:a="http://schemas.openxmlformats.org/drawingml/2006/main" noGrp="1"/>
          </p:cNvSpPr>
          <p:nvPr/>
        </p:nvSpPr>
        <p:spPr>
          <a:xfrm xmlns:a="http://schemas.openxmlformats.org/drawingml/2006/main">
            <a:off x="10839450" y="2609850"/>
            <a:ext cx="361950" cy="36195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F374163-329B-4E27-A4DE-E23951166CFD}"/>
              </a:ext>
            </a:extLst>
          </p:cNvPr>
          <p:cNvSpPr>
            <a:spLocks xmlns:a="http://schemas.openxmlformats.org/drawingml/2006/main" noGrp="1"/>
          </p:cNvSpPr>
          <p:nvPr/>
        </p:nvSpPr>
        <p:spPr>
          <a:xfrm xmlns:a="http://schemas.openxmlformats.org/drawingml/2006/main">
            <a:off x="10896600" y="270510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OK</a:t>
            </a:r>
          </a:p>
        </p:txBody>
      </p:sp>
      <p:sp>
        <p:nvSpPr>
          <p:cNvPr id="19" name="">
            <a:extLst xmlns:a="http://schemas.openxmlformats.org/drawingml/2006/main">
              <a:ext uri="{FF2B5EF4-FFF2-40B4-BE49-F238E27FC236}">
                <a16:creationId xmlns:a16="http://schemas.microsoft.com/office/drawing/2014/main" id="{FAC673AD-BA82-470D-B2E0-EF04E7B01C73}"/>
              </a:ext>
            </a:extLst>
          </p:cNvPr>
          <p:cNvSpPr>
            <a:spLocks xmlns:a="http://schemas.openxmlformats.org/drawingml/2006/main" noGrp="1"/>
          </p:cNvSpPr>
          <p:nvPr/>
        </p:nvSpPr>
        <p:spPr>
          <a:xfrm xmlns:a="http://schemas.openxmlformats.org/drawingml/2006/main">
            <a:off x="666750" y="3467100"/>
            <a:ext cx="742950" cy="704850"/>
          </a:xfrm>
          <a:prstGeom xmlns:a="http://schemas.openxmlformats.org/drawingml/2006/main" prst="roundRect">
            <a:avLst>
              <a:gd name="adj" fmla="val 16216"/>
            </a:avLst>
          </a:prstGeom>
          <a:solidFill xmlns:a="http://schemas.openxmlformats.org/drawingml/2006/main">
            <a:srgbClr val="F1F5DA"/>
          </a:solidFill>
          <a:ln xmlns:a="http://schemas.openxmlformats.org/drawingml/2006/main" w="11430">
            <a:solidFill>
              <a:srgbClr val="A2AD00"/>
            </a:solidFill>
            <a:prstDash val="solid"/>
          </a:ln>
        </p:spPr>
      </p:sp>
      <p:sp>
        <p:nvSpPr>
          <p:cNvPr id="20" name="">
            <a:extLst xmlns:a="http://schemas.openxmlformats.org/drawingml/2006/main">
              <a:ext uri="{FF2B5EF4-FFF2-40B4-BE49-F238E27FC236}">
                <a16:creationId xmlns:a16="http://schemas.microsoft.com/office/drawing/2014/main" id="{C2B74B75-1583-4F2A-A448-F055DC61EC37}"/>
              </a:ext>
            </a:extLst>
          </p:cNvPr>
          <p:cNvSpPr>
            <a:spLocks xmlns:a="http://schemas.openxmlformats.org/drawingml/2006/main" noGrp="1"/>
          </p:cNvSpPr>
          <p:nvPr/>
        </p:nvSpPr>
        <p:spPr>
          <a:xfrm xmlns:a="http://schemas.openxmlformats.org/drawingml/2006/main">
            <a:off x="742950" y="36766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3359"/>
                </a:solidFill>
                <a:latin typeface="Arial"/>
                <a:ea typeface="Arial"/>
                <a:cs typeface="Arial"/>
              </a:defRPr>
            </a:pPr>
            <a:r>
              <a:rPr sz="975" b="1">
                <a:solidFill>
                  <a:srgbClr val="003359"/>
                </a:solidFill>
                <a:latin typeface="Arial"/>
                <a:ea typeface="Arial"/>
                <a:cs typeface="Arial"/>
              </a:rPr>
              <a:t>DONE</a:t>
            </a:r>
          </a:p>
        </p:txBody>
      </p:sp>
      <p:sp>
        <p:nvSpPr>
          <p:cNvPr id="21" name="">
            <a:extLst xmlns:a="http://schemas.openxmlformats.org/drawingml/2006/main">
              <a:ext uri="{FF2B5EF4-FFF2-40B4-BE49-F238E27FC236}">
                <a16:creationId xmlns:a16="http://schemas.microsoft.com/office/drawing/2014/main" id="{EA5DDD1B-9ED1-4646-9661-4E936674CFAD}"/>
              </a:ext>
            </a:extLst>
          </p:cNvPr>
          <p:cNvSpPr>
            <a:spLocks xmlns:a="http://schemas.openxmlformats.org/drawingml/2006/main" noGrp="1"/>
          </p:cNvSpPr>
          <p:nvPr/>
        </p:nvSpPr>
        <p:spPr>
          <a:xfrm xmlns:a="http://schemas.openxmlformats.org/drawingml/2006/main">
            <a:off x="1695450" y="34766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820"/>
                </a:solidFill>
                <a:latin typeface="Arial"/>
                <a:ea typeface="Arial"/>
                <a:cs typeface="Arial"/>
              </a:defRPr>
            </a:pPr>
            <a:r>
              <a:rPr sz="1425" b="1">
                <a:solidFill>
                  <a:srgbClr val="111820"/>
                </a:solidFill>
                <a:latin typeface="Arial"/>
                <a:ea typeface="Arial"/>
                <a:cs typeface="Arial"/>
              </a:rPr>
              <a:t>Migrate Artemis to maintained Apollon without breaking teaching workflows</a:t>
            </a:r>
          </a:p>
        </p:txBody>
      </p:sp>
      <p:sp>
        <p:nvSpPr>
          <p:cNvPr id="22" name="">
            <a:extLst xmlns:a="http://schemas.openxmlformats.org/drawingml/2006/main">
              <a:ext uri="{FF2B5EF4-FFF2-40B4-BE49-F238E27FC236}">
                <a16:creationId xmlns:a16="http://schemas.microsoft.com/office/drawing/2014/main" id="{5BCC5F62-2E1B-40B8-840E-BFF3306E87DC}"/>
              </a:ext>
            </a:extLst>
          </p:cNvPr>
          <p:cNvSpPr>
            <a:spLocks xmlns:a="http://schemas.openxmlformats.org/drawingml/2006/main" noGrp="1"/>
          </p:cNvSpPr>
          <p:nvPr/>
        </p:nvSpPr>
        <p:spPr>
          <a:xfrm xmlns:a="http://schemas.openxmlformats.org/drawingml/2006/main">
            <a:off x="1695450" y="38576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Modeling, quiz generation, assessment, and team modeling preserved</a:t>
            </a:r>
          </a:p>
        </p:txBody>
      </p:sp>
      <p:sp>
        <p:nvSpPr>
          <p:cNvPr id="23" name="">
            <a:extLst xmlns:a="http://schemas.openxmlformats.org/drawingml/2006/main">
              <a:ext uri="{FF2B5EF4-FFF2-40B4-BE49-F238E27FC236}">
                <a16:creationId xmlns:a16="http://schemas.microsoft.com/office/drawing/2014/main" id="{75EC3DB8-0F62-46B7-8BA6-61AD5A28F9BE}"/>
              </a:ext>
            </a:extLst>
          </p:cNvPr>
          <p:cNvSpPr>
            <a:spLocks xmlns:a="http://schemas.openxmlformats.org/drawingml/2006/main" noGrp="1"/>
          </p:cNvSpPr>
          <p:nvPr/>
        </p:nvSpPr>
        <p:spPr>
          <a:xfrm xmlns:a="http://schemas.openxmlformats.org/drawingml/2006/main">
            <a:off x="10839450" y="3638550"/>
            <a:ext cx="361950" cy="36195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8B8DA50-1664-4E97-993C-01328A2FDC6C}"/>
              </a:ext>
            </a:extLst>
          </p:cNvPr>
          <p:cNvSpPr>
            <a:spLocks xmlns:a="http://schemas.openxmlformats.org/drawingml/2006/main" noGrp="1"/>
          </p:cNvSpPr>
          <p:nvPr/>
        </p:nvSpPr>
        <p:spPr>
          <a:xfrm xmlns:a="http://schemas.openxmlformats.org/drawingml/2006/main">
            <a:off x="10896600" y="373380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OK</a:t>
            </a:r>
          </a:p>
        </p:txBody>
      </p:sp>
      <p:sp>
        <p:nvSpPr>
          <p:cNvPr id="25" name="">
            <a:extLst xmlns:a="http://schemas.openxmlformats.org/drawingml/2006/main">
              <a:ext uri="{FF2B5EF4-FFF2-40B4-BE49-F238E27FC236}">
                <a16:creationId xmlns:a16="http://schemas.microsoft.com/office/drawing/2014/main" id="{63B2A5C3-A014-435A-9DA6-3B40D6540AB4}"/>
              </a:ext>
            </a:extLst>
          </p:cNvPr>
          <p:cNvSpPr>
            <a:spLocks xmlns:a="http://schemas.openxmlformats.org/drawingml/2006/main" noGrp="1"/>
          </p:cNvSpPr>
          <p:nvPr/>
        </p:nvSpPr>
        <p:spPr>
          <a:xfrm xmlns:a="http://schemas.openxmlformats.org/drawingml/2006/main">
            <a:off x="666750" y="4495800"/>
            <a:ext cx="742950" cy="704850"/>
          </a:xfrm>
          <a:prstGeom xmlns:a="http://schemas.openxmlformats.org/drawingml/2006/main" prst="roundRect">
            <a:avLst>
              <a:gd name="adj" fmla="val 16216"/>
            </a:avLst>
          </a:prstGeom>
          <a:solidFill xmlns:a="http://schemas.openxmlformats.org/drawingml/2006/main">
            <a:srgbClr val="F1F5DA"/>
          </a:solidFill>
          <a:ln xmlns:a="http://schemas.openxmlformats.org/drawingml/2006/main" w="11430">
            <a:solidFill>
              <a:srgbClr val="A2AD00"/>
            </a:solidFill>
            <a:prstDash val="solid"/>
          </a:ln>
        </p:spPr>
      </p:sp>
      <p:sp>
        <p:nvSpPr>
          <p:cNvPr id="26" name="">
            <a:extLst xmlns:a="http://schemas.openxmlformats.org/drawingml/2006/main">
              <a:ext uri="{FF2B5EF4-FFF2-40B4-BE49-F238E27FC236}">
                <a16:creationId xmlns:a16="http://schemas.microsoft.com/office/drawing/2014/main" id="{DB19614A-B45B-4A7A-B7ED-8CF0D6DB12B9}"/>
              </a:ext>
            </a:extLst>
          </p:cNvPr>
          <p:cNvSpPr>
            <a:spLocks xmlns:a="http://schemas.openxmlformats.org/drawingml/2006/main" noGrp="1"/>
          </p:cNvSpPr>
          <p:nvPr/>
        </p:nvSpPr>
        <p:spPr>
          <a:xfrm xmlns:a="http://schemas.openxmlformats.org/drawingml/2006/main">
            <a:off x="742950" y="47053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3359"/>
                </a:solidFill>
                <a:latin typeface="Arial"/>
                <a:ea typeface="Arial"/>
                <a:cs typeface="Arial"/>
              </a:defRPr>
            </a:pPr>
            <a:r>
              <a:rPr sz="975" b="1">
                <a:solidFill>
                  <a:srgbClr val="003359"/>
                </a:solidFill>
                <a:latin typeface="Arial"/>
                <a:ea typeface="Arial"/>
                <a:cs typeface="Arial"/>
              </a:rPr>
              <a:t>DONE</a:t>
            </a:r>
          </a:p>
        </p:txBody>
      </p:sp>
      <p:sp>
        <p:nvSpPr>
          <p:cNvPr id="27" name="">
            <a:extLst xmlns:a="http://schemas.openxmlformats.org/drawingml/2006/main">
              <a:ext uri="{FF2B5EF4-FFF2-40B4-BE49-F238E27FC236}">
                <a16:creationId xmlns:a16="http://schemas.microsoft.com/office/drawing/2014/main" id="{1BB72552-2B15-46BA-B0E4-E1F508380AF9}"/>
              </a:ext>
            </a:extLst>
          </p:cNvPr>
          <p:cNvSpPr>
            <a:spLocks xmlns:a="http://schemas.openxmlformats.org/drawingml/2006/main" noGrp="1"/>
          </p:cNvSpPr>
          <p:nvPr/>
        </p:nvSpPr>
        <p:spPr>
          <a:xfrm xmlns:a="http://schemas.openxmlformats.org/drawingml/2006/main">
            <a:off x="1695450" y="45053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820"/>
                </a:solidFill>
                <a:latin typeface="Arial"/>
                <a:ea typeface="Arial"/>
                <a:cs typeface="Arial"/>
              </a:defRPr>
            </a:pPr>
            <a:r>
              <a:rPr sz="1650" b="1">
                <a:solidFill>
                  <a:srgbClr val="111820"/>
                </a:solidFill>
                <a:latin typeface="Arial"/>
                <a:ea typeface="Arial"/>
                <a:cs typeface="Arial"/>
              </a:rPr>
              <a:t>Improve diagram portability across web, mobile, and integrations</a:t>
            </a:r>
          </a:p>
        </p:txBody>
      </p:sp>
      <p:sp>
        <p:nvSpPr>
          <p:cNvPr id="28" name="">
            <a:extLst xmlns:a="http://schemas.openxmlformats.org/drawingml/2006/main">
              <a:ext uri="{FF2B5EF4-FFF2-40B4-BE49-F238E27FC236}">
                <a16:creationId xmlns:a16="http://schemas.microsoft.com/office/drawing/2014/main" id="{95B1ECB7-DD63-4990-9009-FB247D278016}"/>
              </a:ext>
            </a:extLst>
          </p:cNvPr>
          <p:cNvSpPr>
            <a:spLocks xmlns:a="http://schemas.openxmlformats.org/drawingml/2006/main" noGrp="1"/>
          </p:cNvSpPr>
          <p:nvPr/>
        </p:nvSpPr>
        <p:spPr>
          <a:xfrm xmlns:a="http://schemas.openxmlformats.org/drawingml/2006/main">
            <a:off x="1695450" y="48863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JSON round-trip plus dependable SVG, PNG, PDF, and editable PPTX</a:t>
            </a:r>
          </a:p>
        </p:txBody>
      </p:sp>
      <p:sp>
        <p:nvSpPr>
          <p:cNvPr id="29" name="">
            <a:extLst xmlns:a="http://schemas.openxmlformats.org/drawingml/2006/main">
              <a:ext uri="{FF2B5EF4-FFF2-40B4-BE49-F238E27FC236}">
                <a16:creationId xmlns:a16="http://schemas.microsoft.com/office/drawing/2014/main" id="{B9451DAD-2A87-44DB-A2B2-58571003F760}"/>
              </a:ext>
            </a:extLst>
          </p:cNvPr>
          <p:cNvSpPr>
            <a:spLocks xmlns:a="http://schemas.openxmlformats.org/drawingml/2006/main" noGrp="1"/>
          </p:cNvSpPr>
          <p:nvPr/>
        </p:nvSpPr>
        <p:spPr>
          <a:xfrm xmlns:a="http://schemas.openxmlformats.org/drawingml/2006/main">
            <a:off x="10839450" y="4667250"/>
            <a:ext cx="361950" cy="36195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FE6E388-BB8F-438E-B27A-CE9DCA590BCF}"/>
              </a:ext>
            </a:extLst>
          </p:cNvPr>
          <p:cNvSpPr>
            <a:spLocks xmlns:a="http://schemas.openxmlformats.org/drawingml/2006/main" noGrp="1"/>
          </p:cNvSpPr>
          <p:nvPr/>
        </p:nvSpPr>
        <p:spPr>
          <a:xfrm xmlns:a="http://schemas.openxmlformats.org/drawingml/2006/main">
            <a:off x="10896600" y="476250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OK</a:t>
            </a:r>
          </a:p>
        </p:txBody>
      </p:sp>
      <p:sp>
        <p:nvSpPr>
          <p:cNvPr id="31" name="">
            <a:extLst xmlns:a="http://schemas.openxmlformats.org/drawingml/2006/main">
              <a:ext uri="{FF2B5EF4-FFF2-40B4-BE49-F238E27FC236}">
                <a16:creationId xmlns:a16="http://schemas.microsoft.com/office/drawing/2014/main" id="{32B8697E-28D2-44EE-9DA4-DF0633C14BF2}"/>
              </a:ext>
            </a:extLst>
          </p:cNvPr>
          <p:cNvSpPr>
            <a:spLocks xmlns:a="http://schemas.openxmlformats.org/drawingml/2006/main" noGrp="1"/>
          </p:cNvSpPr>
          <p:nvPr/>
        </p:nvSpPr>
        <p:spPr>
          <a:xfrm xmlns:a="http://schemas.openxmlformats.org/drawingml/2006/main">
            <a:off x="1524000" y="5753100"/>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E37222"/>
                </a:solidFill>
                <a:latin typeface="Arial"/>
                <a:ea typeface="Arial"/>
                <a:cs typeface="Arial"/>
              </a:defRPr>
            </a:pPr>
            <a:r>
              <a:rPr sz="1500" b="1">
                <a:solidFill>
                  <a:srgbClr val="E37222"/>
                </a:solidFill>
                <a:latin typeface="Arial"/>
                <a:ea typeface="Arial"/>
                <a:cs typeface="Arial"/>
              </a:rPr>
              <a:t>Realized does not mean finished: the evaluation defines the next product-level work.</a:t>
            </a:r>
          </a:p>
        </p:txBody>
      </p:sp>
    </p:spTree>
    <p:extLst>
      <p:ext uri="{BB962C8B-B14F-4D97-AF65-F5344CB8AC3E}">
        <p14:creationId xmlns:p14="http://schemas.microsoft.com/office/powerpoint/2010/main" val="11858320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 label">
            <a:extLst xmlns:a="http://schemas.openxmlformats.org/drawingml/2006/main">
              <a:ext uri="{FF2B5EF4-FFF2-40B4-BE49-F238E27FC236}">
                <a16:creationId xmlns:a16="http://schemas.microsoft.com/office/drawing/2014/main" id="{882452A4-5A4C-4DBF-B3B3-98903CFE87ED}"/>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PRESENTATION WORKFLOW</a:t>
            </a:r>
          </a:p>
        </p:txBody>
      </p:sp>
      <p:sp>
        <p:nvSpPr>
          <p:cNvPr id="2" name="Slide title">
            <a:extLst xmlns:a="http://schemas.openxmlformats.org/drawingml/2006/main">
              <a:ext uri="{FF2B5EF4-FFF2-40B4-BE49-F238E27FC236}">
                <a16:creationId xmlns:a16="http://schemas.microsoft.com/office/drawing/2014/main" id="{ADBA68D7-0D38-473B-A9B1-094A68F38D25}"/>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Apollon makes presentation diagrams reusable, not disposable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9e31fc4f5ef4d69"/>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F8AF34-A40A-4B9F-AA2E-E3C4B8ABB449}"/>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54EC8C85-F23C-4DEA-B8E5-9FBCAA68404F}"/>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07045F73-A84A-49A5-81C7-4B7A4CD9DF6D}"/>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2F20026C-F303-4BD4-9891-6A405746E6B0}"/>
              </a:ext>
            </a:extLst>
          </p:cNvPr>
          <p:cNvSpPr>
            <a:spLocks xmlns:a="http://schemas.openxmlformats.org/drawingml/2006/main" noGrp="1"/>
          </p:cNvSpPr>
          <p:nvPr/>
        </p:nvSpPr>
        <p:spPr>
          <a:xfrm xmlns:a="http://schemas.openxmlformats.org/drawingml/2006/main">
            <a:off x="609600" y="1428750"/>
            <a:ext cx="4095750" cy="4095750"/>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11430">
            <a:solidFill>
              <a:srgbClr val="DDE3E8"/>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26892877dba400d"/>
          <a:stretch xmlns:a="http://schemas.openxmlformats.org/drawingml/2006/main"/>
        </p:blipFill>
        <p:spPr>
          <a:xfrm xmlns:a="http://schemas.openxmlformats.org/drawingml/2006/main">
            <a:off x="781050" y="1601169"/>
            <a:ext cx="3752850" cy="2607913"/>
          </a:xfrm>
          <a:prstGeom xmlns:a="http://schemas.openxmlformats.org/drawingml/2006/main" prst="roundRect">
            <a:avLst/>
          </a:prstGeom>
        </p:spPr>
      </p:pic>
      <p:sp>
        <p:nvSpPr>
          <p:cNvPr id="9" name="">
            <a:extLst xmlns:a="http://schemas.openxmlformats.org/drawingml/2006/main">
              <a:ext uri="{FF2B5EF4-FFF2-40B4-BE49-F238E27FC236}">
                <a16:creationId xmlns:a16="http://schemas.microsoft.com/office/drawing/2014/main" id="{37AEC66E-8C10-46FE-BF7A-A443A2C426C7}"/>
              </a:ext>
            </a:extLst>
          </p:cNvPr>
          <p:cNvSpPr>
            <a:spLocks xmlns:a="http://schemas.openxmlformats.org/drawingml/2006/main" noGrp="1"/>
          </p:cNvSpPr>
          <p:nvPr/>
        </p:nvSpPr>
        <p:spPr>
          <a:xfrm xmlns:a="http://schemas.openxmlformats.org/drawingml/2006/main">
            <a:off x="914400" y="4457700"/>
            <a:ext cx="348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03359"/>
                </a:solidFill>
                <a:latin typeface="Arial"/>
                <a:ea typeface="Arial"/>
                <a:cs typeface="Arial"/>
              </a:defRPr>
            </a:pPr>
            <a:r>
              <a:rPr sz="1650" b="1">
                <a:solidFill>
                  <a:srgbClr val="003359"/>
                </a:solidFill>
                <a:latin typeface="Arial"/>
                <a:ea typeface="Arial"/>
                <a:cs typeface="Arial"/>
              </a:rPr>
              <a:t>All formal models in this deck</a:t>
            </a:r>
          </a:p>
        </p:txBody>
      </p:sp>
      <p:sp>
        <p:nvSpPr>
          <p:cNvPr id="10" name="">
            <a:extLst xmlns:a="http://schemas.openxmlformats.org/drawingml/2006/main">
              <a:ext uri="{FF2B5EF4-FFF2-40B4-BE49-F238E27FC236}">
                <a16:creationId xmlns:a16="http://schemas.microsoft.com/office/drawing/2014/main" id="{C9B9F251-38F4-44E7-ADD6-13561020D3AB}"/>
              </a:ext>
            </a:extLst>
          </p:cNvPr>
          <p:cNvSpPr>
            <a:spLocks xmlns:a="http://schemas.openxmlformats.org/drawingml/2006/main" noGrp="1"/>
          </p:cNvSpPr>
          <p:nvPr/>
        </p:nvSpPr>
        <p:spPr>
          <a:xfrm xmlns:a="http://schemas.openxmlformats.org/drawingml/2006/main">
            <a:off x="914400" y="4857750"/>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56616B"/>
                </a:solidFill>
                <a:latin typeface="Arial"/>
                <a:ea typeface="Arial"/>
                <a:cs typeface="Arial"/>
              </a:defRPr>
            </a:pPr>
            <a:r>
              <a:rPr sz="1275" b="0">
                <a:solidFill>
                  <a:srgbClr val="56616B"/>
                </a:solidFill>
                <a:latin typeface="Arial"/>
                <a:ea typeface="Arial"/>
                <a:cs typeface="Arial"/>
              </a:rPr>
              <a:t>have an Apollon JSON source and were validated in the hosted editor.</a:t>
            </a:r>
          </a:p>
        </p:txBody>
      </p:sp>
      <p:sp>
        <p:nvSpPr>
          <p:cNvPr id="11" name="">
            <a:extLst xmlns:a="http://schemas.openxmlformats.org/drawingml/2006/main">
              <a:ext uri="{FF2B5EF4-FFF2-40B4-BE49-F238E27FC236}">
                <a16:creationId xmlns:a16="http://schemas.microsoft.com/office/drawing/2014/main" id="{7CD7E341-4ECC-4023-9E09-E5B19DF1FDB9}"/>
              </a:ext>
            </a:extLst>
          </p:cNvPr>
          <p:cNvSpPr>
            <a:spLocks xmlns:a="http://schemas.openxmlformats.org/drawingml/2006/main" noGrp="1"/>
          </p:cNvSpPr>
          <p:nvPr/>
        </p:nvSpPr>
        <p:spPr>
          <a:xfrm xmlns:a="http://schemas.openxmlformats.org/drawingml/2006/main">
            <a:off x="6877050" y="30480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98C6EA"/>
                </a:solidFill>
                <a:latin typeface="Arial"/>
                <a:ea typeface="Arial"/>
                <a:cs typeface="Arial"/>
              </a:defRPr>
            </a:pPr>
            <a:r>
              <a:rPr sz="2100" b="1">
                <a:solidFill>
                  <a:srgbClr val="98C6EA"/>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D97FA380-5D97-4276-8CF8-3AECB4B78F63}"/>
              </a:ext>
            </a:extLst>
          </p:cNvPr>
          <p:cNvSpPr>
            <a:spLocks xmlns:a="http://schemas.openxmlformats.org/drawingml/2006/main" noGrp="1"/>
          </p:cNvSpPr>
          <p:nvPr/>
        </p:nvSpPr>
        <p:spPr>
          <a:xfrm xmlns:a="http://schemas.openxmlformats.org/drawingml/2006/main">
            <a:off x="5219700" y="2076450"/>
            <a:ext cx="1790700" cy="2647950"/>
          </a:xfrm>
          <a:prstGeom xmlns:a="http://schemas.openxmlformats.org/drawingml/2006/main" prst="roundRect">
            <a:avLst>
              <a:gd name="adj" fmla="val 6383"/>
            </a:avLst>
          </a:prstGeom>
          <a:solidFill xmlns:a="http://schemas.openxmlformats.org/drawingml/2006/main">
            <a:srgbClr val="EAF4FB"/>
          </a:solidFill>
          <a:ln xmlns:a="http://schemas.openxmlformats.org/drawingml/2006/main" w="11430">
            <a:solidFill>
              <a:srgbClr val="0065BD"/>
            </a:solidFill>
            <a:prstDash val="solid"/>
          </a:ln>
        </p:spPr>
      </p:sp>
      <p:sp>
        <p:nvSpPr>
          <p:cNvPr id="13" name="">
            <a:extLst xmlns:a="http://schemas.openxmlformats.org/drawingml/2006/main">
              <a:ext uri="{FF2B5EF4-FFF2-40B4-BE49-F238E27FC236}">
                <a16:creationId xmlns:a16="http://schemas.microsoft.com/office/drawing/2014/main" id="{1CFE0BC2-491F-4487-A322-B957E7488C25}"/>
              </a:ext>
            </a:extLst>
          </p:cNvPr>
          <p:cNvSpPr>
            <a:spLocks xmlns:a="http://schemas.openxmlformats.org/drawingml/2006/main" noGrp="1"/>
          </p:cNvSpPr>
          <p:nvPr/>
        </p:nvSpPr>
        <p:spPr>
          <a:xfrm xmlns:a="http://schemas.openxmlformats.org/drawingml/2006/main">
            <a:off x="5791200" y="2324100"/>
            <a:ext cx="647700" cy="6477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C929EA-DBDB-4A81-BB09-033E76D1E0A5}"/>
              </a:ext>
            </a:extLst>
          </p:cNvPr>
          <p:cNvSpPr>
            <a:spLocks xmlns:a="http://schemas.openxmlformats.org/drawingml/2006/main" noGrp="1"/>
          </p:cNvSpPr>
          <p:nvPr/>
        </p:nvSpPr>
        <p:spPr>
          <a:xfrm xmlns:a="http://schemas.openxmlformats.org/drawingml/2006/main">
            <a:off x="5962650" y="25050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C7DC4346-9832-4B0E-8295-E59D5980F2FF}"/>
              </a:ext>
            </a:extLst>
          </p:cNvPr>
          <p:cNvSpPr>
            <a:spLocks xmlns:a="http://schemas.openxmlformats.org/drawingml/2006/main" noGrp="1"/>
          </p:cNvSpPr>
          <p:nvPr/>
        </p:nvSpPr>
        <p:spPr>
          <a:xfrm xmlns:a="http://schemas.openxmlformats.org/drawingml/2006/main">
            <a:off x="5391150" y="3181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03359"/>
                </a:solidFill>
                <a:latin typeface="Arial"/>
                <a:ea typeface="Arial"/>
                <a:cs typeface="Arial"/>
              </a:defRPr>
            </a:pPr>
            <a:r>
              <a:rPr sz="1575" b="1">
                <a:solidFill>
                  <a:srgbClr val="003359"/>
                </a:solidFill>
                <a:latin typeface="Arial"/>
                <a:ea typeface="Arial"/>
                <a:cs typeface="Arial"/>
              </a:rPr>
              <a:t>Import JSON</a:t>
            </a:r>
          </a:p>
        </p:txBody>
      </p:sp>
      <p:sp>
        <p:nvSpPr>
          <p:cNvPr id="16" name="">
            <a:extLst xmlns:a="http://schemas.openxmlformats.org/drawingml/2006/main">
              <a:ext uri="{FF2B5EF4-FFF2-40B4-BE49-F238E27FC236}">
                <a16:creationId xmlns:a16="http://schemas.microsoft.com/office/drawing/2014/main" id="{88A55CE2-F684-4A07-8615-7FEA06FFB6AD}"/>
              </a:ext>
            </a:extLst>
          </p:cNvPr>
          <p:cNvSpPr>
            <a:spLocks xmlns:a="http://schemas.openxmlformats.org/drawingml/2006/main" noGrp="1"/>
          </p:cNvSpPr>
          <p:nvPr/>
        </p:nvSpPr>
        <p:spPr>
          <a:xfrm xmlns:a="http://schemas.openxmlformats.org/drawingml/2006/main">
            <a:off x="5391150" y="367665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6616B"/>
                </a:solidFill>
                <a:latin typeface="Arial"/>
                <a:ea typeface="Arial"/>
                <a:cs typeface="Arial"/>
              </a:defRPr>
            </a:pPr>
            <a:r>
              <a:rPr sz="1200" b="0">
                <a:solidFill>
                  <a:srgbClr val="56616B"/>
                </a:solidFill>
                <a:latin typeface="Arial"/>
                <a:ea typeface="Arial"/>
                <a:cs typeface="Arial"/>
              </a:rPr>
              <a:t>Open the saved model in the web app</a:t>
            </a:r>
          </a:p>
        </p:txBody>
      </p:sp>
      <p:sp>
        <p:nvSpPr>
          <p:cNvPr id="17" name="">
            <a:extLst xmlns:a="http://schemas.openxmlformats.org/drawingml/2006/main">
              <a:ext uri="{FF2B5EF4-FFF2-40B4-BE49-F238E27FC236}">
                <a16:creationId xmlns:a16="http://schemas.microsoft.com/office/drawing/2014/main" id="{69F82F2A-26D9-4D76-9A3C-662B15F279A0}"/>
              </a:ext>
            </a:extLst>
          </p:cNvPr>
          <p:cNvSpPr>
            <a:spLocks xmlns:a="http://schemas.openxmlformats.org/drawingml/2006/main" noGrp="1"/>
          </p:cNvSpPr>
          <p:nvPr/>
        </p:nvSpPr>
        <p:spPr>
          <a:xfrm xmlns:a="http://schemas.openxmlformats.org/drawingml/2006/main">
            <a:off x="9010650" y="30480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98C6EA"/>
                </a:solidFill>
                <a:latin typeface="Arial"/>
                <a:ea typeface="Arial"/>
                <a:cs typeface="Arial"/>
              </a:defRPr>
            </a:pPr>
            <a:r>
              <a:rPr sz="2100" b="1">
                <a:solidFill>
                  <a:srgbClr val="98C6EA"/>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27FBE4A6-F1CA-46D3-811D-64D817A4E484}"/>
              </a:ext>
            </a:extLst>
          </p:cNvPr>
          <p:cNvSpPr>
            <a:spLocks xmlns:a="http://schemas.openxmlformats.org/drawingml/2006/main" noGrp="1"/>
          </p:cNvSpPr>
          <p:nvPr/>
        </p:nvSpPr>
        <p:spPr>
          <a:xfrm xmlns:a="http://schemas.openxmlformats.org/drawingml/2006/main">
            <a:off x="7353300" y="2076450"/>
            <a:ext cx="1790700" cy="2647950"/>
          </a:xfrm>
          <a:prstGeom xmlns:a="http://schemas.openxmlformats.org/drawingml/2006/main" prst="roundRect">
            <a:avLst>
              <a:gd name="adj" fmla="val 6383"/>
            </a:avLst>
          </a:prstGeom>
          <a:solidFill xmlns:a="http://schemas.openxmlformats.org/drawingml/2006/main">
            <a:srgbClr val="FFF1E7"/>
          </a:solidFill>
          <a:ln xmlns:a="http://schemas.openxmlformats.org/drawingml/2006/main" w="11430">
            <a:solidFill>
              <a:srgbClr val="E37222"/>
            </a:solidFill>
            <a:prstDash val="solid"/>
          </a:ln>
        </p:spPr>
      </p:sp>
      <p:sp>
        <p:nvSpPr>
          <p:cNvPr id="19" name="">
            <a:extLst xmlns:a="http://schemas.openxmlformats.org/drawingml/2006/main">
              <a:ext uri="{FF2B5EF4-FFF2-40B4-BE49-F238E27FC236}">
                <a16:creationId xmlns:a16="http://schemas.microsoft.com/office/drawing/2014/main" id="{3B072B55-F522-4EE9-8E16-50942BE64E6E}"/>
              </a:ext>
            </a:extLst>
          </p:cNvPr>
          <p:cNvSpPr>
            <a:spLocks xmlns:a="http://schemas.openxmlformats.org/drawingml/2006/main" noGrp="1"/>
          </p:cNvSpPr>
          <p:nvPr/>
        </p:nvSpPr>
        <p:spPr>
          <a:xfrm xmlns:a="http://schemas.openxmlformats.org/drawingml/2006/main">
            <a:off x="7924800" y="2324100"/>
            <a:ext cx="647700" cy="647700"/>
          </a:xfrm>
          <a:prstGeom xmlns:a="http://schemas.openxmlformats.org/drawingml/2006/main" prst="ellipse">
            <a:avLst/>
          </a:prstGeom>
          <a:solidFill xmlns:a="http://schemas.openxmlformats.org/drawingml/2006/main">
            <a:srgbClr val="E3722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5D4A7A-C4BC-4653-92EB-0153EEE3D4C7}"/>
              </a:ext>
            </a:extLst>
          </p:cNvPr>
          <p:cNvSpPr>
            <a:spLocks xmlns:a="http://schemas.openxmlformats.org/drawingml/2006/main" noGrp="1"/>
          </p:cNvSpPr>
          <p:nvPr/>
        </p:nvSpPr>
        <p:spPr>
          <a:xfrm xmlns:a="http://schemas.openxmlformats.org/drawingml/2006/main">
            <a:off x="8096250" y="25050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688B43EC-DA5D-40C2-B5F2-108717AC25DC}"/>
              </a:ext>
            </a:extLst>
          </p:cNvPr>
          <p:cNvSpPr>
            <a:spLocks xmlns:a="http://schemas.openxmlformats.org/drawingml/2006/main" noGrp="1"/>
          </p:cNvSpPr>
          <p:nvPr/>
        </p:nvSpPr>
        <p:spPr>
          <a:xfrm xmlns:a="http://schemas.openxmlformats.org/drawingml/2006/main">
            <a:off x="7524750" y="3181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03359"/>
                </a:solidFill>
                <a:latin typeface="Arial"/>
                <a:ea typeface="Arial"/>
                <a:cs typeface="Arial"/>
              </a:defRPr>
            </a:pPr>
            <a:r>
              <a:rPr sz="1575" b="1">
                <a:solidFill>
                  <a:srgbClr val="003359"/>
                </a:solidFill>
                <a:latin typeface="Arial"/>
                <a:ea typeface="Arial"/>
                <a:cs typeface="Arial"/>
              </a:rPr>
              <a:t>Export PPTX</a:t>
            </a:r>
          </a:p>
        </p:txBody>
      </p:sp>
      <p:sp>
        <p:nvSpPr>
          <p:cNvPr id="22" name="">
            <a:extLst xmlns:a="http://schemas.openxmlformats.org/drawingml/2006/main">
              <a:ext uri="{FF2B5EF4-FFF2-40B4-BE49-F238E27FC236}">
                <a16:creationId xmlns:a16="http://schemas.microsoft.com/office/drawing/2014/main" id="{2E7E1293-C6EA-47D3-97A7-DEC9521CB183}"/>
              </a:ext>
            </a:extLst>
          </p:cNvPr>
          <p:cNvSpPr>
            <a:spLocks xmlns:a="http://schemas.openxmlformats.org/drawingml/2006/main" noGrp="1"/>
          </p:cNvSpPr>
          <p:nvPr/>
        </p:nvSpPr>
        <p:spPr>
          <a:xfrm xmlns:a="http://schemas.openxmlformats.org/drawingml/2006/main">
            <a:off x="7524750" y="367665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6616B"/>
                </a:solidFill>
                <a:latin typeface="Arial"/>
                <a:ea typeface="Arial"/>
                <a:cs typeface="Arial"/>
              </a:defRPr>
            </a:pPr>
            <a:r>
              <a:rPr sz="1200" b="0">
                <a:solidFill>
                  <a:srgbClr val="56616B"/>
                </a:solidFill>
                <a:latin typeface="Arial"/>
                <a:ea typeface="Arial"/>
                <a:cs typeface="Arial"/>
              </a:rPr>
              <a:t>Keep elements editable for animation</a:t>
            </a:r>
          </a:p>
        </p:txBody>
      </p:sp>
      <p:sp>
        <p:nvSpPr>
          <p:cNvPr id="23" name="">
            <a:extLst xmlns:a="http://schemas.openxmlformats.org/drawingml/2006/main">
              <a:ext uri="{FF2B5EF4-FFF2-40B4-BE49-F238E27FC236}">
                <a16:creationId xmlns:a16="http://schemas.microsoft.com/office/drawing/2014/main" id="{8281EA69-16CC-440E-99AC-E44B54C33858}"/>
              </a:ext>
            </a:extLst>
          </p:cNvPr>
          <p:cNvSpPr>
            <a:spLocks xmlns:a="http://schemas.openxmlformats.org/drawingml/2006/main" noGrp="1"/>
          </p:cNvSpPr>
          <p:nvPr/>
        </p:nvSpPr>
        <p:spPr>
          <a:xfrm xmlns:a="http://schemas.openxmlformats.org/drawingml/2006/main">
            <a:off x="9486900" y="2076450"/>
            <a:ext cx="1790700" cy="2647950"/>
          </a:xfrm>
          <a:prstGeom xmlns:a="http://schemas.openxmlformats.org/drawingml/2006/main" prst="roundRect">
            <a:avLst>
              <a:gd name="adj" fmla="val 6383"/>
            </a:avLst>
          </a:prstGeom>
          <a:solidFill xmlns:a="http://schemas.openxmlformats.org/drawingml/2006/main">
            <a:srgbClr val="F1F5DA"/>
          </a:solidFill>
          <a:ln xmlns:a="http://schemas.openxmlformats.org/drawingml/2006/main" w="11430">
            <a:solidFill>
              <a:srgbClr val="A2AD00"/>
            </a:solidFill>
            <a:prstDash val="solid"/>
          </a:ln>
        </p:spPr>
      </p:sp>
      <p:sp>
        <p:nvSpPr>
          <p:cNvPr id="24" name="">
            <a:extLst xmlns:a="http://schemas.openxmlformats.org/drawingml/2006/main">
              <a:ext uri="{FF2B5EF4-FFF2-40B4-BE49-F238E27FC236}">
                <a16:creationId xmlns:a16="http://schemas.microsoft.com/office/drawing/2014/main" id="{22DDD89A-6782-4476-B518-49A3008739AE}"/>
              </a:ext>
            </a:extLst>
          </p:cNvPr>
          <p:cNvSpPr>
            <a:spLocks xmlns:a="http://schemas.openxmlformats.org/drawingml/2006/main" noGrp="1"/>
          </p:cNvSpPr>
          <p:nvPr/>
        </p:nvSpPr>
        <p:spPr>
          <a:xfrm xmlns:a="http://schemas.openxmlformats.org/drawingml/2006/main">
            <a:off x="10058400" y="2324100"/>
            <a:ext cx="647700" cy="64770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9E3060-5D82-47D4-BF9F-42B98C2E9D86}"/>
              </a:ext>
            </a:extLst>
          </p:cNvPr>
          <p:cNvSpPr>
            <a:spLocks xmlns:a="http://schemas.openxmlformats.org/drawingml/2006/main" noGrp="1"/>
          </p:cNvSpPr>
          <p:nvPr/>
        </p:nvSpPr>
        <p:spPr>
          <a:xfrm xmlns:a="http://schemas.openxmlformats.org/drawingml/2006/main">
            <a:off x="10229850" y="25050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2CFEC90E-951C-421A-B302-5BB6A010C053}"/>
              </a:ext>
            </a:extLst>
          </p:cNvPr>
          <p:cNvSpPr>
            <a:spLocks xmlns:a="http://schemas.openxmlformats.org/drawingml/2006/main" noGrp="1"/>
          </p:cNvSpPr>
          <p:nvPr/>
        </p:nvSpPr>
        <p:spPr>
          <a:xfrm xmlns:a="http://schemas.openxmlformats.org/drawingml/2006/main">
            <a:off x="9658350" y="31813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03359"/>
                </a:solidFill>
                <a:latin typeface="Arial"/>
                <a:ea typeface="Arial"/>
                <a:cs typeface="Arial"/>
              </a:defRPr>
            </a:pPr>
            <a:r>
              <a:rPr sz="1575" b="1">
                <a:solidFill>
                  <a:srgbClr val="003359"/>
                </a:solidFill>
                <a:latin typeface="Arial"/>
                <a:ea typeface="Arial"/>
                <a:cs typeface="Arial"/>
              </a:rPr>
              <a:t>Retain JSON</a:t>
            </a:r>
          </a:p>
        </p:txBody>
      </p:sp>
      <p:sp>
        <p:nvSpPr>
          <p:cNvPr id="27" name="">
            <a:extLst xmlns:a="http://schemas.openxmlformats.org/drawingml/2006/main">
              <a:ext uri="{FF2B5EF4-FFF2-40B4-BE49-F238E27FC236}">
                <a16:creationId xmlns:a16="http://schemas.microsoft.com/office/drawing/2014/main" id="{CBE1484A-CD35-4967-BC89-1CB0968E508A}"/>
              </a:ext>
            </a:extLst>
          </p:cNvPr>
          <p:cNvSpPr>
            <a:spLocks xmlns:a="http://schemas.openxmlformats.org/drawingml/2006/main" noGrp="1"/>
          </p:cNvSpPr>
          <p:nvPr/>
        </p:nvSpPr>
        <p:spPr>
          <a:xfrm xmlns:a="http://schemas.openxmlformats.org/drawingml/2006/main">
            <a:off x="9658350" y="367665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6616B"/>
                </a:solidFill>
                <a:latin typeface="Arial"/>
                <a:ea typeface="Arial"/>
                <a:cs typeface="Arial"/>
              </a:defRPr>
            </a:pPr>
            <a:r>
              <a:rPr sz="1200" b="0">
                <a:solidFill>
                  <a:srgbClr val="56616B"/>
                </a:solidFill>
                <a:latin typeface="Arial"/>
                <a:ea typeface="Arial"/>
                <a:cs typeface="Arial"/>
              </a:rPr>
              <a:t>Re-import and continue modeling later</a:t>
            </a:r>
          </a:p>
        </p:txBody>
      </p:sp>
      <p:sp>
        <p:nvSpPr>
          <p:cNvPr id="28" name="">
            <a:extLst xmlns:a="http://schemas.openxmlformats.org/drawingml/2006/main">
              <a:ext uri="{FF2B5EF4-FFF2-40B4-BE49-F238E27FC236}">
                <a16:creationId xmlns:a16="http://schemas.microsoft.com/office/drawing/2014/main" id="{1366E636-4098-478B-8A74-17FC5B6AF31A}"/>
              </a:ext>
            </a:extLst>
          </p:cNvPr>
          <p:cNvSpPr>
            <a:spLocks xmlns:a="http://schemas.openxmlformats.org/drawingml/2006/main" noGrp="1"/>
          </p:cNvSpPr>
          <p:nvPr/>
        </p:nvSpPr>
        <p:spPr>
          <a:xfrm xmlns:a="http://schemas.openxmlformats.org/drawingml/2006/main">
            <a:off x="5219700" y="5219700"/>
            <a:ext cx="605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003359"/>
                </a:solidFill>
                <a:latin typeface="Arial"/>
                <a:ea typeface="Arial"/>
                <a:cs typeface="Arial"/>
              </a:defRPr>
            </a:pPr>
            <a:r>
              <a:rPr sz="1350" b="1">
                <a:solidFill>
                  <a:srgbClr val="003359"/>
                </a:solidFill>
                <a:latin typeface="Arial"/>
                <a:ea typeface="Arial"/>
                <a:cs typeface="Arial"/>
              </a:rPr>
              <a:t>Editable PPTX keeps diagram coordinates stable for the required dataflow animation.</a:t>
            </a:r>
          </a:p>
        </p:txBody>
      </p:sp>
    </p:spTree>
    <p:extLst>
      <p:ext uri="{BB962C8B-B14F-4D97-AF65-F5344CB8AC3E}">
        <p14:creationId xmlns:p14="http://schemas.microsoft.com/office/powerpoint/2010/main" val="2661869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50C37546-D186-4FC1-BE1C-5FA555CCD3FE}"/>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FUTURE WORK</a:t>
            </a:r>
          </a:p>
        </p:txBody>
      </p:sp>
      <p:sp>
        <p:nvSpPr>
          <p:cNvPr id="2" name="Slide title">
            <a:extLst xmlns:a="http://schemas.openxmlformats.org/drawingml/2006/main">
              <a:ext uri="{FF2B5EF4-FFF2-40B4-BE49-F238E27FC236}">
                <a16:creationId xmlns:a16="http://schemas.microsoft.com/office/drawing/2014/main" id="{DFAC50A6-9C5D-40D1-BE24-1A1348CD5A91}"/>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The next gains are product-level</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65782434ca84caa"/>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8EDA97-5A8E-4669-B920-7D74B0C50FB2}"/>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71F413B1-8272-4DEF-B837-58AFC1ADBFEB}"/>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773F7865-A21B-4DE9-AEA2-CABBC7F19BA5}"/>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2C5DEB2D-1178-4E44-89C9-DB60A7AACD01}"/>
              </a:ext>
            </a:extLst>
          </p:cNvPr>
          <p:cNvSpPr>
            <a:spLocks xmlns:a="http://schemas.openxmlformats.org/drawingml/2006/main" noGrp="1"/>
          </p:cNvSpPr>
          <p:nvPr/>
        </p:nvSpPr>
        <p:spPr>
          <a:xfrm xmlns:a="http://schemas.openxmlformats.org/drawingml/2006/main">
            <a:off x="666750" y="1562100"/>
            <a:ext cx="3333750" cy="3429000"/>
          </a:xfrm>
          <a:prstGeom xmlns:a="http://schemas.openxmlformats.org/drawingml/2006/main" prst="roundRect">
            <a:avLst>
              <a:gd name="adj" fmla="val 3429"/>
            </a:avLst>
          </a:prstGeom>
          <a:solidFill xmlns:a="http://schemas.openxmlformats.org/drawingml/2006/main">
            <a:srgbClr val="EAF4FB"/>
          </a:solidFill>
          <a:ln xmlns:a="http://schemas.openxmlformats.org/drawingml/2006/main" w="11430">
            <a:solidFill>
              <a:srgbClr val="DDE3E8"/>
            </a:solidFill>
            <a:prstDash val="solid"/>
          </a:ln>
        </p:spPr>
      </p:sp>
      <p:sp>
        <p:nvSpPr>
          <p:cNvPr id="8" name="">
            <a:extLst xmlns:a="http://schemas.openxmlformats.org/drawingml/2006/main">
              <a:ext uri="{FF2B5EF4-FFF2-40B4-BE49-F238E27FC236}">
                <a16:creationId xmlns:a16="http://schemas.microsoft.com/office/drawing/2014/main" id="{7AC05DDF-C85D-4C68-BCA5-EF94934FB29B}"/>
              </a:ext>
            </a:extLst>
          </p:cNvPr>
          <p:cNvSpPr>
            <a:spLocks xmlns:a="http://schemas.openxmlformats.org/drawingml/2006/main" noGrp="1"/>
          </p:cNvSpPr>
          <p:nvPr/>
        </p:nvSpPr>
        <p:spPr>
          <a:xfrm xmlns:a="http://schemas.openxmlformats.org/drawingml/2006/main">
            <a:off x="666750" y="1562100"/>
            <a:ext cx="66675" cy="3429000"/>
          </a:xfrm>
          <a:prstGeom xmlns:a="http://schemas.openxmlformats.org/drawingml/2006/main" prst="rect">
            <a:avLst/>
          </a:prstGeom>
          <a:solidFill xmlns:a="http://schemas.openxmlformats.org/drawingml/2006/main">
            <a:srgbClr val="0065B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5D4671E-7BC7-4B82-8B60-FB33045C469E}"/>
              </a:ext>
            </a:extLst>
          </p:cNvPr>
          <p:cNvSpPr>
            <a:spLocks xmlns:a="http://schemas.openxmlformats.org/drawingml/2006/main" noGrp="1"/>
          </p:cNvSpPr>
          <p:nvPr/>
        </p:nvSpPr>
        <p:spPr>
          <a:xfrm xmlns:a="http://schemas.openxmlformats.org/drawingml/2006/main">
            <a:off x="904875" y="1733550"/>
            <a:ext cx="2876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65BD"/>
                </a:solidFill>
                <a:latin typeface="Arial"/>
                <a:ea typeface="Arial"/>
                <a:cs typeface="Arial"/>
              </a:defRPr>
            </a:pPr>
            <a:r>
              <a:rPr sz="825" b="1">
                <a:solidFill>
                  <a:srgbClr val="0065BD"/>
                </a:solidFill>
                <a:latin typeface="Arial"/>
                <a:ea typeface="Arial"/>
                <a:cs typeface="Arial"/>
              </a:rPr>
              <a:t>EVIDENCE</a:t>
            </a:r>
          </a:p>
        </p:txBody>
      </p:sp>
      <p:sp>
        <p:nvSpPr>
          <p:cNvPr id="10" name="">
            <a:extLst xmlns:a="http://schemas.openxmlformats.org/drawingml/2006/main">
              <a:ext uri="{FF2B5EF4-FFF2-40B4-BE49-F238E27FC236}">
                <a16:creationId xmlns:a16="http://schemas.microsoft.com/office/drawing/2014/main" id="{7203F231-0F44-4705-86BC-76C17531ABF0}"/>
              </a:ext>
            </a:extLst>
          </p:cNvPr>
          <p:cNvSpPr>
            <a:spLocks xmlns:a="http://schemas.openxmlformats.org/drawingml/2006/main" noGrp="1"/>
          </p:cNvSpPr>
          <p:nvPr/>
        </p:nvSpPr>
        <p:spPr>
          <a:xfrm xmlns:a="http://schemas.openxmlformats.org/drawingml/2006/main">
            <a:off x="904875" y="20288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11820"/>
                </a:solidFill>
                <a:latin typeface="Arial"/>
                <a:ea typeface="Arial"/>
                <a:cs typeface="Arial"/>
              </a:defRPr>
            </a:pPr>
            <a:r>
              <a:rPr sz="1875" b="1">
                <a:solidFill>
                  <a:srgbClr val="111820"/>
                </a:solidFill>
                <a:latin typeface="Arial"/>
                <a:ea typeface="Arial"/>
                <a:cs typeface="Arial"/>
              </a:rPr>
              <a:t>Measure usability</a:t>
            </a:r>
          </a:p>
        </p:txBody>
      </p:sp>
      <p:sp>
        <p:nvSpPr>
          <p:cNvPr id="11" name="">
            <a:extLst xmlns:a="http://schemas.openxmlformats.org/drawingml/2006/main">
              <a:ext uri="{FF2B5EF4-FFF2-40B4-BE49-F238E27FC236}">
                <a16:creationId xmlns:a16="http://schemas.microsoft.com/office/drawing/2014/main" id="{4168BBD9-E66C-4AE6-A915-49F831DF7804}"/>
              </a:ext>
            </a:extLst>
          </p:cNvPr>
          <p:cNvSpPr>
            <a:spLocks xmlns:a="http://schemas.openxmlformats.org/drawingml/2006/main" noGrp="1"/>
          </p:cNvSpPr>
          <p:nvPr/>
        </p:nvSpPr>
        <p:spPr>
          <a:xfrm xmlns:a="http://schemas.openxmlformats.org/drawingml/2006/main">
            <a:off x="904875" y="2581275"/>
            <a:ext cx="28765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Evaluate edge, layout, and collaboration refinements systematically across diagram types, sizes, and user groups.</a:t>
            </a:r>
          </a:p>
        </p:txBody>
      </p:sp>
      <p:sp>
        <p:nvSpPr>
          <p:cNvPr id="12" name="">
            <a:extLst xmlns:a="http://schemas.openxmlformats.org/drawingml/2006/main">
              <a:ext uri="{FF2B5EF4-FFF2-40B4-BE49-F238E27FC236}">
                <a16:creationId xmlns:a16="http://schemas.microsoft.com/office/drawing/2014/main" id="{3A640F09-C627-41A9-B921-4677F1A967FB}"/>
              </a:ext>
            </a:extLst>
          </p:cNvPr>
          <p:cNvSpPr>
            <a:spLocks xmlns:a="http://schemas.openxmlformats.org/drawingml/2006/main" noGrp="1"/>
          </p:cNvSpPr>
          <p:nvPr/>
        </p:nvSpPr>
        <p:spPr>
          <a:xfrm xmlns:a="http://schemas.openxmlformats.org/drawingml/2006/main">
            <a:off x="4429125" y="1562100"/>
            <a:ext cx="3333750" cy="3429000"/>
          </a:xfrm>
          <a:prstGeom xmlns:a="http://schemas.openxmlformats.org/drawingml/2006/main" prst="roundRect">
            <a:avLst>
              <a:gd name="adj" fmla="val 3429"/>
            </a:avLst>
          </a:prstGeom>
          <a:solidFill xmlns:a="http://schemas.openxmlformats.org/drawingml/2006/main">
            <a:srgbClr val="FFF1E7"/>
          </a:solidFill>
          <a:ln xmlns:a="http://schemas.openxmlformats.org/drawingml/2006/main" w="11430">
            <a:solidFill>
              <a:srgbClr val="DDE3E8"/>
            </a:solidFill>
            <a:prstDash val="solid"/>
          </a:ln>
        </p:spPr>
      </p:sp>
      <p:sp>
        <p:nvSpPr>
          <p:cNvPr id="13" name="">
            <a:extLst xmlns:a="http://schemas.openxmlformats.org/drawingml/2006/main">
              <a:ext uri="{FF2B5EF4-FFF2-40B4-BE49-F238E27FC236}">
                <a16:creationId xmlns:a16="http://schemas.microsoft.com/office/drawing/2014/main" id="{4A9FB282-EAE1-4197-9464-BC44A0C5351F}"/>
              </a:ext>
            </a:extLst>
          </p:cNvPr>
          <p:cNvSpPr>
            <a:spLocks xmlns:a="http://schemas.openxmlformats.org/drawingml/2006/main" noGrp="1"/>
          </p:cNvSpPr>
          <p:nvPr/>
        </p:nvSpPr>
        <p:spPr>
          <a:xfrm xmlns:a="http://schemas.openxmlformats.org/drawingml/2006/main">
            <a:off x="4429125" y="1562100"/>
            <a:ext cx="66675" cy="3429000"/>
          </a:xfrm>
          <a:prstGeom xmlns:a="http://schemas.openxmlformats.org/drawingml/2006/main" prst="rect">
            <a:avLst/>
          </a:prstGeom>
          <a:solidFill xmlns:a="http://schemas.openxmlformats.org/drawingml/2006/main">
            <a:srgbClr val="E372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D2424E-D1C0-410C-9F8A-B6A31F5286B4}"/>
              </a:ext>
            </a:extLst>
          </p:cNvPr>
          <p:cNvSpPr>
            <a:spLocks xmlns:a="http://schemas.openxmlformats.org/drawingml/2006/main" noGrp="1"/>
          </p:cNvSpPr>
          <p:nvPr/>
        </p:nvSpPr>
        <p:spPr>
          <a:xfrm xmlns:a="http://schemas.openxmlformats.org/drawingml/2006/main">
            <a:off x="4667250" y="1733550"/>
            <a:ext cx="2876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E37222"/>
                </a:solidFill>
                <a:latin typeface="Arial"/>
                <a:ea typeface="Arial"/>
                <a:cs typeface="Arial"/>
              </a:defRPr>
            </a:pPr>
            <a:r>
              <a:rPr sz="825" b="1">
                <a:solidFill>
                  <a:srgbClr val="E37222"/>
                </a:solidFill>
                <a:latin typeface="Arial"/>
                <a:ea typeface="Arial"/>
                <a:cs typeface="Arial"/>
              </a:rPr>
              <a:t>COLLABORATION</a:t>
            </a:r>
          </a:p>
        </p:txBody>
      </p:sp>
      <p:sp>
        <p:nvSpPr>
          <p:cNvPr id="15" name="">
            <a:extLst xmlns:a="http://schemas.openxmlformats.org/drawingml/2006/main">
              <a:ext uri="{FF2B5EF4-FFF2-40B4-BE49-F238E27FC236}">
                <a16:creationId xmlns:a16="http://schemas.microsoft.com/office/drawing/2014/main" id="{5E66E607-4D9A-4A9F-BA4F-5A81E8DA7E17}"/>
              </a:ext>
            </a:extLst>
          </p:cNvPr>
          <p:cNvSpPr>
            <a:spLocks xmlns:a="http://schemas.openxmlformats.org/drawingml/2006/main" noGrp="1"/>
          </p:cNvSpPr>
          <p:nvPr/>
        </p:nvSpPr>
        <p:spPr>
          <a:xfrm xmlns:a="http://schemas.openxmlformats.org/drawingml/2006/main">
            <a:off x="4667250" y="202882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11820"/>
                </a:solidFill>
                <a:latin typeface="Arial"/>
                <a:ea typeface="Arial"/>
                <a:cs typeface="Arial"/>
              </a:defRPr>
            </a:pPr>
            <a:r>
              <a:rPr sz="1875" b="1">
                <a:solidFill>
                  <a:srgbClr val="111820"/>
                </a:solidFill>
                <a:latin typeface="Arial"/>
                <a:ea typeface="Arial"/>
                <a:cs typeface="Arial"/>
              </a:rPr>
              <a:t>Strengthen ownership and review</a:t>
            </a:r>
          </a:p>
        </p:txBody>
      </p:sp>
      <p:sp>
        <p:nvSpPr>
          <p:cNvPr id="16" name="">
            <a:extLst xmlns:a="http://schemas.openxmlformats.org/drawingml/2006/main">
              <a:ext uri="{FF2B5EF4-FFF2-40B4-BE49-F238E27FC236}">
                <a16:creationId xmlns:a16="http://schemas.microsoft.com/office/drawing/2014/main" id="{7CF5F036-2855-42BA-AD8F-1F3B9165E187}"/>
              </a:ext>
            </a:extLst>
          </p:cNvPr>
          <p:cNvSpPr>
            <a:spLocks xmlns:a="http://schemas.openxmlformats.org/drawingml/2006/main" noGrp="1"/>
          </p:cNvSpPr>
          <p:nvPr/>
        </p:nvSpPr>
        <p:spPr>
          <a:xfrm xmlns:a="http://schemas.openxmlformats.org/drawingml/2006/main">
            <a:off x="4667250" y="2809875"/>
            <a:ext cx="2876550" cy="2009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Add optional login, persistent shared diagrams, clearer sharing modes, local files, and review comments for supervision and assessment.</a:t>
            </a:r>
          </a:p>
        </p:txBody>
      </p:sp>
      <p:sp>
        <p:nvSpPr>
          <p:cNvPr id="17" name="">
            <a:extLst xmlns:a="http://schemas.openxmlformats.org/drawingml/2006/main">
              <a:ext uri="{FF2B5EF4-FFF2-40B4-BE49-F238E27FC236}">
                <a16:creationId xmlns:a16="http://schemas.microsoft.com/office/drawing/2014/main" id="{59505D4D-DA23-4AE6-AC10-C109444CDDE6}"/>
              </a:ext>
            </a:extLst>
          </p:cNvPr>
          <p:cNvSpPr>
            <a:spLocks xmlns:a="http://schemas.openxmlformats.org/drawingml/2006/main" noGrp="1"/>
          </p:cNvSpPr>
          <p:nvPr/>
        </p:nvSpPr>
        <p:spPr>
          <a:xfrm xmlns:a="http://schemas.openxmlformats.org/drawingml/2006/main">
            <a:off x="8191500" y="1562100"/>
            <a:ext cx="3333750" cy="3429000"/>
          </a:xfrm>
          <a:prstGeom xmlns:a="http://schemas.openxmlformats.org/drawingml/2006/main" prst="roundRect">
            <a:avLst>
              <a:gd name="adj" fmla="val 3429"/>
            </a:avLst>
          </a:prstGeom>
          <a:solidFill xmlns:a="http://schemas.openxmlformats.org/drawingml/2006/main">
            <a:srgbClr val="F1F5DA"/>
          </a:solidFill>
          <a:ln xmlns:a="http://schemas.openxmlformats.org/drawingml/2006/main" w="11430">
            <a:solidFill>
              <a:srgbClr val="DDE3E8"/>
            </a:solidFill>
            <a:prstDash val="solid"/>
          </a:ln>
        </p:spPr>
      </p:sp>
      <p:sp>
        <p:nvSpPr>
          <p:cNvPr id="18" name="">
            <a:extLst xmlns:a="http://schemas.openxmlformats.org/drawingml/2006/main">
              <a:ext uri="{FF2B5EF4-FFF2-40B4-BE49-F238E27FC236}">
                <a16:creationId xmlns:a16="http://schemas.microsoft.com/office/drawing/2014/main" id="{C73A5AE2-2744-4C95-9F7A-116155F45721}"/>
              </a:ext>
            </a:extLst>
          </p:cNvPr>
          <p:cNvSpPr>
            <a:spLocks xmlns:a="http://schemas.openxmlformats.org/drawingml/2006/main" noGrp="1"/>
          </p:cNvSpPr>
          <p:nvPr/>
        </p:nvSpPr>
        <p:spPr>
          <a:xfrm xmlns:a="http://schemas.openxmlformats.org/drawingml/2006/main">
            <a:off x="8191500" y="1562100"/>
            <a:ext cx="66675" cy="3429000"/>
          </a:xfrm>
          <a:prstGeom xmlns:a="http://schemas.openxmlformats.org/drawingml/2006/main" prst="rect">
            <a:avLst/>
          </a:prstGeom>
          <a:solidFill xmlns:a="http://schemas.openxmlformats.org/drawingml/2006/main">
            <a:srgbClr val="A2AD0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6BCF9F-CA21-4552-A715-2C020A21296F}"/>
              </a:ext>
            </a:extLst>
          </p:cNvPr>
          <p:cNvSpPr>
            <a:spLocks xmlns:a="http://schemas.openxmlformats.org/drawingml/2006/main" noGrp="1"/>
          </p:cNvSpPr>
          <p:nvPr/>
        </p:nvSpPr>
        <p:spPr>
          <a:xfrm xmlns:a="http://schemas.openxmlformats.org/drawingml/2006/main">
            <a:off x="8429625" y="1733550"/>
            <a:ext cx="2876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2AD00"/>
                </a:solidFill>
                <a:latin typeface="Arial"/>
                <a:ea typeface="Arial"/>
                <a:cs typeface="Arial"/>
              </a:defRPr>
            </a:pPr>
            <a:r>
              <a:rPr sz="825" b="1">
                <a:solidFill>
                  <a:srgbClr val="A2AD00"/>
                </a:solidFill>
                <a:latin typeface="Arial"/>
                <a:ea typeface="Arial"/>
                <a:cs typeface="Arial"/>
              </a:rPr>
              <a:t>TEACHING</a:t>
            </a:r>
          </a:p>
        </p:txBody>
      </p:sp>
      <p:sp>
        <p:nvSpPr>
          <p:cNvPr id="20" name="">
            <a:extLst xmlns:a="http://schemas.openxmlformats.org/drawingml/2006/main">
              <a:ext uri="{FF2B5EF4-FFF2-40B4-BE49-F238E27FC236}">
                <a16:creationId xmlns:a16="http://schemas.microsoft.com/office/drawing/2014/main" id="{52217B10-753A-47C6-B4BF-D9DADE87661B}"/>
              </a:ext>
            </a:extLst>
          </p:cNvPr>
          <p:cNvSpPr>
            <a:spLocks xmlns:a="http://schemas.openxmlformats.org/drawingml/2006/main" noGrp="1"/>
          </p:cNvSpPr>
          <p:nvPr/>
        </p:nvSpPr>
        <p:spPr>
          <a:xfrm xmlns:a="http://schemas.openxmlformats.org/drawingml/2006/main">
            <a:off x="8429625" y="20288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11820"/>
                </a:solidFill>
                <a:latin typeface="Arial"/>
                <a:ea typeface="Arial"/>
                <a:cs typeface="Arial"/>
              </a:defRPr>
            </a:pPr>
            <a:r>
              <a:rPr sz="1875" b="1">
                <a:solidFill>
                  <a:srgbClr val="111820"/>
                </a:solidFill>
                <a:latin typeface="Arial"/>
                <a:ea typeface="Arial"/>
                <a:cs typeface="Arial"/>
              </a:rPr>
              <a:t>Deepen Artemis support</a:t>
            </a:r>
          </a:p>
        </p:txBody>
      </p:sp>
      <p:sp>
        <p:nvSpPr>
          <p:cNvPr id="21" name="">
            <a:extLst xmlns:a="http://schemas.openxmlformats.org/drawingml/2006/main">
              <a:ext uri="{FF2B5EF4-FFF2-40B4-BE49-F238E27FC236}">
                <a16:creationId xmlns:a16="http://schemas.microsoft.com/office/drawing/2014/main" id="{6E7775FB-543C-4878-B2C1-C63156DE91C6}"/>
              </a:ext>
            </a:extLst>
          </p:cNvPr>
          <p:cNvSpPr>
            <a:spLocks xmlns:a="http://schemas.openxmlformats.org/drawingml/2006/main" noGrp="1"/>
          </p:cNvSpPr>
          <p:nvPr/>
        </p:nvSpPr>
        <p:spPr>
          <a:xfrm xmlns:a="http://schemas.openxmlformats.org/drawingml/2006/main">
            <a:off x="8429625" y="2581275"/>
            <a:ext cx="28765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Extend assessment collaboration, PlantUML interoperability, notation coverage, tutorials, and export hardening without cluttering the core workflow.</a:t>
            </a:r>
          </a:p>
        </p:txBody>
      </p:sp>
      <p:sp>
        <p:nvSpPr>
          <p:cNvPr id="22" name="">
            <a:extLst xmlns:a="http://schemas.openxmlformats.org/drawingml/2006/main">
              <a:ext uri="{FF2B5EF4-FFF2-40B4-BE49-F238E27FC236}">
                <a16:creationId xmlns:a16="http://schemas.microsoft.com/office/drawing/2014/main" id="{991DA854-C3A5-4F9F-8D83-45F5C65469A7}"/>
              </a:ext>
            </a:extLst>
          </p:cNvPr>
          <p:cNvSpPr>
            <a:spLocks xmlns:a="http://schemas.openxmlformats.org/drawingml/2006/main" noGrp="1"/>
          </p:cNvSpPr>
          <p:nvPr/>
        </p:nvSpPr>
        <p:spPr>
          <a:xfrm xmlns:a="http://schemas.openxmlformats.org/drawingml/2006/main">
            <a:off x="1619250" y="5391150"/>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03359"/>
                </a:solidFill>
                <a:latin typeface="Arial"/>
                <a:ea typeface="Arial"/>
                <a:cs typeface="Arial"/>
              </a:defRPr>
            </a:pPr>
            <a:r>
              <a:rPr sz="1650" b="1">
                <a:solidFill>
                  <a:srgbClr val="003359"/>
                </a:solidFill>
                <a:latin typeface="Arial"/>
                <a:ea typeface="Arial"/>
                <a:cs typeface="Arial"/>
              </a:rPr>
              <a:t>Keep advanced capabilities discoverable while preserving a simple student workflow.</a:t>
            </a:r>
          </a:p>
        </p:txBody>
      </p:sp>
    </p:spTree>
    <p:extLst>
      <p:ext uri="{BB962C8B-B14F-4D97-AF65-F5344CB8AC3E}">
        <p14:creationId xmlns:p14="http://schemas.microsoft.com/office/powerpoint/2010/main" val="1230370303"/>
      </p:ext>
    </p:extLst>
  </p:cSld>
</p:sld>
</file>

<file path=ppt/slides/slide20.xml><?xml version="1.0" encoding="utf-8"?>
<p:sld xmlns:p="http://schemas.openxmlformats.org/presentationml/2006/main">
  <p:cSld>
    <p:bg>
      <p:bgPr>
        <a:solidFill xmlns:a="http://schemas.openxmlformats.org/drawingml/2006/main">
          <a:srgbClr val="0A355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756AB6-5759-4D78-9282-416C2BD08B8C}"/>
              </a:ext>
            </a:extLst>
          </p:cNvPr>
          <p:cNvSpPr>
            <a:spLocks xmlns:a="http://schemas.openxmlformats.org/drawingml/2006/main" noGrp="1"/>
          </p:cNvSpPr>
          <p:nvPr/>
        </p:nvSpPr>
        <p:spPr>
          <a:xfrm xmlns:a="http://schemas.openxmlformats.org/drawingml/2006/main">
            <a:off x="495300" y="2857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98C6EA"/>
                </a:solidFill>
                <a:latin typeface="Arial"/>
                <a:ea typeface="Arial"/>
                <a:cs typeface="Arial"/>
              </a:defRPr>
            </a:pPr>
            <a:r>
              <a:rPr sz="900" b="1">
                <a:solidFill>
                  <a:srgbClr val="98C6EA"/>
                </a:solidFill>
                <a:latin typeface="Arial"/>
                <a:ea typeface="Arial"/>
                <a:cs typeface="Arial"/>
              </a:rPr>
              <a:t>MASTER'S THESIS | APOLLON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07258ea5e5e4c48"/>
          <a:stretch xmlns:a="http://schemas.openxmlformats.org/drawingml/2006/main"/>
        </p:blipFill>
        <p:spPr>
          <a:xfrm xmlns:a="http://schemas.openxmlformats.org/drawingml/2006/main">
            <a:off x="10993315" y="266700"/>
            <a:ext cx="759069" cy="400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5AB505-9C7E-4089-99EC-42C68A90F6D8}"/>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8C6EA"/>
                </a:solidFill>
                <a:latin typeface="Arial"/>
                <a:ea typeface="Arial"/>
                <a:cs typeface="Arial"/>
              </a:defRPr>
            </a:pPr>
            <a:r>
              <a:rPr sz="825" b="0">
                <a:solidFill>
                  <a:srgbClr val="98C6EA"/>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8E5D59B6-BD3C-4046-ABA4-D71AA1039BC5}"/>
              </a:ext>
            </a:extLst>
          </p:cNvPr>
          <p:cNvSpPr>
            <a:spLocks xmlns:a="http://schemas.openxmlformats.org/drawingml/2006/main" noGrp="1"/>
          </p:cNvSpPr>
          <p:nvPr/>
        </p:nvSpPr>
        <p:spPr>
          <a:xfrm xmlns:a="http://schemas.openxmlformats.org/drawingml/2006/main">
            <a:off x="876300" y="1581150"/>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One maintained Apollon makes</a:t>
            </a:r>
          </a:p>
        </p:txBody>
      </p:sp>
      <p:sp>
        <p:nvSpPr>
          <p:cNvPr id="5" name="">
            <a:extLst xmlns:a="http://schemas.openxmlformats.org/drawingml/2006/main">
              <a:ext uri="{FF2B5EF4-FFF2-40B4-BE49-F238E27FC236}">
                <a16:creationId xmlns:a16="http://schemas.microsoft.com/office/drawing/2014/main" id="{54438473-A226-41C7-967F-E7D775CE2E6D}"/>
              </a:ext>
            </a:extLst>
          </p:cNvPr>
          <p:cNvSpPr>
            <a:spLocks xmlns:a="http://schemas.openxmlformats.org/drawingml/2006/main" noGrp="1"/>
          </p:cNvSpPr>
          <p:nvPr/>
        </p:nvSpPr>
        <p:spPr>
          <a:xfrm xmlns:a="http://schemas.openxmlformats.org/drawingml/2006/main">
            <a:off x="876300" y="2152650"/>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collaboration visible</a:t>
            </a:r>
          </a:p>
        </p:txBody>
      </p:sp>
      <p:sp>
        <p:nvSpPr>
          <p:cNvPr id="6" name="">
            <a:extLst xmlns:a="http://schemas.openxmlformats.org/drawingml/2006/main">
              <a:ext uri="{FF2B5EF4-FFF2-40B4-BE49-F238E27FC236}">
                <a16:creationId xmlns:a16="http://schemas.microsoft.com/office/drawing/2014/main" id="{1790E05B-44EA-4F16-B8A5-EE1FAB1C537D}"/>
              </a:ext>
            </a:extLst>
          </p:cNvPr>
          <p:cNvSpPr>
            <a:spLocks xmlns:a="http://schemas.openxmlformats.org/drawingml/2006/main" noGrp="1"/>
          </p:cNvSpPr>
          <p:nvPr/>
        </p:nvSpPr>
        <p:spPr>
          <a:xfrm xmlns:a="http://schemas.openxmlformats.org/drawingml/2006/main">
            <a:off x="876300" y="27241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Arial"/>
                <a:ea typeface="Arial"/>
                <a:cs typeface="Arial"/>
              </a:defRPr>
            </a:pPr>
            <a:r>
              <a:rPr sz="2925" b="1">
                <a:solidFill>
                  <a:srgbClr val="FFFFFF"/>
                </a:solidFill>
                <a:latin typeface="Arial"/>
                <a:ea typeface="Arial"/>
                <a:cs typeface="Arial"/>
              </a:rPr>
              <a:t>and keeps Artemis teaching workflows intact</a:t>
            </a:r>
          </a:p>
        </p:txBody>
      </p:sp>
      <p:sp>
        <p:nvSpPr>
          <p:cNvPr id="7" name="">
            <a:extLst xmlns:a="http://schemas.openxmlformats.org/drawingml/2006/main">
              <a:ext uri="{FF2B5EF4-FFF2-40B4-BE49-F238E27FC236}">
                <a16:creationId xmlns:a16="http://schemas.microsoft.com/office/drawing/2014/main" id="{994E9C67-831F-4549-99C8-F3429C1D96CE}"/>
              </a:ext>
            </a:extLst>
          </p:cNvPr>
          <p:cNvSpPr>
            <a:spLocks xmlns:a="http://schemas.openxmlformats.org/drawingml/2006/main" noGrp="1"/>
          </p:cNvSpPr>
          <p:nvPr/>
        </p:nvSpPr>
        <p:spPr>
          <a:xfrm xmlns:a="http://schemas.openxmlformats.org/drawingml/2006/main">
            <a:off x="914400" y="3638550"/>
            <a:ext cx="914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98C6EA"/>
                </a:solidFill>
                <a:latin typeface="Arial"/>
                <a:ea typeface="Arial"/>
                <a:cs typeface="Arial"/>
              </a:defRPr>
            </a:pPr>
            <a:r>
              <a:rPr sz="1650" b="0">
                <a:solidFill>
                  <a:srgbClr val="98C6EA"/>
                </a:solidFill>
                <a:latin typeface="Arial"/>
                <a:ea typeface="Arial"/>
                <a:cs typeface="Arial"/>
              </a:rPr>
              <a:t>Mobile and VS Code reuse the same foundation; Athena keeps model-compatible AI feedback.</a:t>
            </a:r>
          </a:p>
        </p:txBody>
      </p:sp>
      <p:sp>
        <p:nvSpPr>
          <p:cNvPr id="8" name="">
            <a:extLst xmlns:a="http://schemas.openxmlformats.org/drawingml/2006/main">
              <a:ext uri="{FF2B5EF4-FFF2-40B4-BE49-F238E27FC236}">
                <a16:creationId xmlns:a16="http://schemas.microsoft.com/office/drawing/2014/main" id="{B7AD7B9E-C650-467B-BA6A-1A94E26C1736}"/>
              </a:ext>
            </a:extLst>
          </p:cNvPr>
          <p:cNvSpPr>
            <a:spLocks xmlns:a="http://schemas.openxmlformats.org/drawingml/2006/main" noGrp="1"/>
          </p:cNvSpPr>
          <p:nvPr/>
        </p:nvSpPr>
        <p:spPr>
          <a:xfrm xmlns:a="http://schemas.openxmlformats.org/drawingml/2006/main">
            <a:off x="914400" y="4457700"/>
            <a:ext cx="2095500" cy="9525"/>
          </a:xfrm>
          <a:prstGeom xmlns:a="http://schemas.openxmlformats.org/drawingml/2006/main" prst="line">
            <a:avLst/>
          </a:prstGeom>
          <a:noFill xmlns:a="http://schemas.openxmlformats.org/drawingml/2006/main"/>
          <a:ln xmlns:a="http://schemas.openxmlformats.org/drawingml/2006/main" w="47625">
            <a:solidFill>
              <a:srgbClr val="98C6EA"/>
            </a:solidFill>
            <a:prstDash val="solid"/>
          </a:ln>
        </p:spPr>
      </p:sp>
      <p:sp>
        <p:nvSpPr>
          <p:cNvPr id="9" name="">
            <a:extLst xmlns:a="http://schemas.openxmlformats.org/drawingml/2006/main">
              <a:ext uri="{FF2B5EF4-FFF2-40B4-BE49-F238E27FC236}">
                <a16:creationId xmlns:a16="http://schemas.microsoft.com/office/drawing/2014/main" id="{948FABBB-3312-48A7-90E0-B6067C2EDD31}"/>
              </a:ext>
            </a:extLst>
          </p:cNvPr>
          <p:cNvSpPr>
            <a:spLocks xmlns:a="http://schemas.openxmlformats.org/drawingml/2006/main" noGrp="1"/>
          </p:cNvSpPr>
          <p:nvPr/>
        </p:nvSpPr>
        <p:spPr>
          <a:xfrm xmlns:a="http://schemas.openxmlformats.org/drawingml/2006/main">
            <a:off x="914400" y="493395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Questions are welcome</a:t>
            </a:r>
          </a:p>
        </p:txBody>
      </p:sp>
    </p:spTree>
    <p:extLst>
      <p:ext uri="{BB962C8B-B14F-4D97-AF65-F5344CB8AC3E}">
        <p14:creationId xmlns:p14="http://schemas.microsoft.com/office/powerpoint/2010/main" val="1041696496"/>
      </p:ext>
    </p:extLst>
  </p:cSld>
</p:sld>
</file>

<file path=ppt/slides/slide21.xml><?xml version="1.0" encoding="utf-8"?>
<p:sld xmlns:p="http://schemas.openxmlformats.org/presentationml/2006/main">
  <p:cSld>
    <p:bg>
      <p:bgPr>
        <a:solidFill xmlns:a="http://schemas.openxmlformats.org/drawingml/2006/main">
          <a:srgbClr val="0A355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83AADC-EDB3-420E-8044-512B7AD6BC10}"/>
              </a:ext>
            </a:extLst>
          </p:cNvPr>
          <p:cNvSpPr>
            <a:spLocks xmlns:a="http://schemas.openxmlformats.org/drawingml/2006/main" noGrp="1"/>
          </p:cNvSpPr>
          <p:nvPr/>
        </p:nvSpPr>
        <p:spPr>
          <a:xfrm xmlns:a="http://schemas.openxmlformats.org/drawingml/2006/main">
            <a:off x="495300" y="2857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98C6EA"/>
                </a:solidFill>
                <a:latin typeface="Arial"/>
                <a:ea typeface="Arial"/>
                <a:cs typeface="Arial"/>
              </a:defRPr>
            </a:pPr>
            <a:r>
              <a:rPr sz="900" b="1">
                <a:solidFill>
                  <a:srgbClr val="98C6EA"/>
                </a:solidFill>
                <a:latin typeface="Arial"/>
                <a:ea typeface="Arial"/>
                <a:cs typeface="Arial"/>
              </a:rPr>
              <a:t>ADDITIONAL MATERIAL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f1e0647cf14b09"/>
          <a:stretch xmlns:a="http://schemas.openxmlformats.org/drawingml/2006/main"/>
        </p:blipFill>
        <p:spPr>
          <a:xfrm xmlns:a="http://schemas.openxmlformats.org/drawingml/2006/main">
            <a:off x="10993315" y="266700"/>
            <a:ext cx="759069" cy="400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D2D6BE-4D57-4A09-8103-241B56A373EB}"/>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8C6EA"/>
                </a:solidFill>
                <a:latin typeface="Arial"/>
                <a:ea typeface="Arial"/>
                <a:cs typeface="Arial"/>
              </a:defRPr>
            </a:pPr>
            <a:r>
              <a:rPr sz="825" b="0">
                <a:solidFill>
                  <a:srgbClr val="98C6EA"/>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D740317C-B6A4-412B-B5FB-F8CE993EE4D0}"/>
              </a:ext>
            </a:extLst>
          </p:cNvPr>
          <p:cNvSpPr>
            <a:spLocks xmlns:a="http://schemas.openxmlformats.org/drawingml/2006/main" noGrp="1"/>
          </p:cNvSpPr>
          <p:nvPr/>
        </p:nvSpPr>
        <p:spPr>
          <a:xfrm xmlns:a="http://schemas.openxmlformats.org/drawingml/2006/main">
            <a:off x="685800" y="2381250"/>
            <a:ext cx="723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Appendix</a:t>
            </a:r>
          </a:p>
        </p:txBody>
      </p:sp>
      <p:sp>
        <p:nvSpPr>
          <p:cNvPr id="5" name="">
            <a:extLst xmlns:a="http://schemas.openxmlformats.org/drawingml/2006/main">
              <a:ext uri="{FF2B5EF4-FFF2-40B4-BE49-F238E27FC236}">
                <a16:creationId xmlns:a16="http://schemas.microsoft.com/office/drawing/2014/main" id="{9EBD05D2-420C-4869-AF6D-F1DFAD364640}"/>
              </a:ext>
            </a:extLst>
          </p:cNvPr>
          <p:cNvSpPr>
            <a:spLocks xmlns:a="http://schemas.openxmlformats.org/drawingml/2006/main" noGrp="1"/>
          </p:cNvSpPr>
          <p:nvPr/>
        </p:nvSpPr>
        <p:spPr>
          <a:xfrm xmlns:a="http://schemas.openxmlformats.org/drawingml/2006/main">
            <a:off x="723900" y="34099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98C6EA"/>
                </a:solidFill>
                <a:latin typeface="Arial"/>
                <a:ea typeface="Arial"/>
                <a:cs typeface="Arial"/>
              </a:defRPr>
            </a:pPr>
            <a:r>
              <a:rPr sz="1800" b="0">
                <a:solidFill>
                  <a:srgbClr val="98C6EA"/>
                </a:solidFill>
                <a:latin typeface="Arial"/>
                <a:ea typeface="Arial"/>
                <a:cs typeface="Arial"/>
              </a:rPr>
              <a:t>Traceability | formal models | deployment | timeline | contributions | sources</a:t>
            </a:r>
          </a:p>
        </p:txBody>
      </p:sp>
    </p:spTree>
    <p:extLst>
      <p:ext uri="{BB962C8B-B14F-4D97-AF65-F5344CB8AC3E}">
        <p14:creationId xmlns:p14="http://schemas.microsoft.com/office/powerpoint/2010/main" val="830673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ection label">
            <a:extLst xmlns:a="http://schemas.openxmlformats.org/drawingml/2006/main">
              <a:ext uri="{FF2B5EF4-FFF2-40B4-BE49-F238E27FC236}">
                <a16:creationId xmlns:a16="http://schemas.microsoft.com/office/drawing/2014/main" id="{2B99507E-13C5-4FAB-8A13-56238C7D7271}"/>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TRACEABILITY</a:t>
            </a:r>
          </a:p>
        </p:txBody>
      </p:sp>
      <p:sp>
        <p:nvSpPr>
          <p:cNvPr id="2" name="Slide title">
            <a:extLst xmlns:a="http://schemas.openxmlformats.org/drawingml/2006/main">
              <a:ext uri="{FF2B5EF4-FFF2-40B4-BE49-F238E27FC236}">
                <a16:creationId xmlns:a16="http://schemas.microsoft.com/office/drawing/2014/main" id="{A25E7BF2-0113-4747-B98F-4A43406490E9}"/>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The objectives map to concrete workflows and systems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3abbc76e3f4403d"/>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95F85E7-B08F-4834-BB28-5E78DDD07812}"/>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3848D90F-8431-4B2B-94A5-B17BD620235F}"/>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64FA2BFD-0B5C-4C62-8433-5A504B9456B4}"/>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22</a:t>
            </a:r>
          </a:p>
        </p:txBody>
      </p:sp>
      <p:sp>
        <p:nvSpPr>
          <p:cNvPr id="7" name="">
            <a:extLst xmlns:a="http://schemas.openxmlformats.org/drawingml/2006/main">
              <a:ext uri="{FF2B5EF4-FFF2-40B4-BE49-F238E27FC236}">
                <a16:creationId xmlns:a16="http://schemas.microsoft.com/office/drawing/2014/main" id="{4586478D-BD93-4753-A403-CCA64398737C}"/>
              </a:ext>
            </a:extLst>
          </p:cNvPr>
          <p:cNvSpPr>
            <a:spLocks xmlns:a="http://schemas.openxmlformats.org/drawingml/2006/main" noGrp="1"/>
          </p:cNvSpPr>
          <p:nvPr/>
        </p:nvSpPr>
        <p:spPr>
          <a:xfrm xmlns:a="http://schemas.openxmlformats.org/drawingml/2006/main">
            <a:off x="704850" y="14097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Objective</a:t>
            </a:r>
          </a:p>
        </p:txBody>
      </p:sp>
      <p:sp>
        <p:nvSpPr>
          <p:cNvPr id="8" name="">
            <a:extLst xmlns:a="http://schemas.openxmlformats.org/drawingml/2006/main">
              <a:ext uri="{FF2B5EF4-FFF2-40B4-BE49-F238E27FC236}">
                <a16:creationId xmlns:a16="http://schemas.microsoft.com/office/drawing/2014/main" id="{BBCEDF67-68A2-456C-9785-048B9D2935E4}"/>
              </a:ext>
            </a:extLst>
          </p:cNvPr>
          <p:cNvSpPr>
            <a:spLocks xmlns:a="http://schemas.openxmlformats.org/drawingml/2006/main" noGrp="1"/>
          </p:cNvSpPr>
          <p:nvPr/>
        </p:nvSpPr>
        <p:spPr>
          <a:xfrm xmlns:a="http://schemas.openxmlformats.org/drawingml/2006/main">
            <a:off x="2095500" y="1409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Focus</a:t>
            </a:r>
          </a:p>
        </p:txBody>
      </p:sp>
      <p:sp>
        <p:nvSpPr>
          <p:cNvPr id="9" name="">
            <a:extLst xmlns:a="http://schemas.openxmlformats.org/drawingml/2006/main">
              <a:ext uri="{FF2B5EF4-FFF2-40B4-BE49-F238E27FC236}">
                <a16:creationId xmlns:a16="http://schemas.microsoft.com/office/drawing/2014/main" id="{EF2C6B31-C4E7-4173-A014-7F3EB6D33C31}"/>
              </a:ext>
            </a:extLst>
          </p:cNvPr>
          <p:cNvSpPr>
            <a:spLocks xmlns:a="http://schemas.openxmlformats.org/drawingml/2006/main" noGrp="1"/>
          </p:cNvSpPr>
          <p:nvPr/>
        </p:nvSpPr>
        <p:spPr>
          <a:xfrm xmlns:a="http://schemas.openxmlformats.org/drawingml/2006/main">
            <a:off x="4686300" y="1409700"/>
            <a:ext cx="440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Realized behavior</a:t>
            </a:r>
          </a:p>
        </p:txBody>
      </p:sp>
      <p:sp>
        <p:nvSpPr>
          <p:cNvPr id="10" name="">
            <a:extLst xmlns:a="http://schemas.openxmlformats.org/drawingml/2006/main">
              <a:ext uri="{FF2B5EF4-FFF2-40B4-BE49-F238E27FC236}">
                <a16:creationId xmlns:a16="http://schemas.microsoft.com/office/drawing/2014/main" id="{A42E3E13-1165-4EBE-AACF-3D43A49BAB91}"/>
              </a:ext>
            </a:extLst>
          </p:cNvPr>
          <p:cNvSpPr>
            <a:spLocks xmlns:a="http://schemas.openxmlformats.org/drawingml/2006/main" noGrp="1"/>
          </p:cNvSpPr>
          <p:nvPr/>
        </p:nvSpPr>
        <p:spPr>
          <a:xfrm xmlns:a="http://schemas.openxmlformats.org/drawingml/2006/main">
            <a:off x="9277350" y="1409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Primary systems</a:t>
            </a:r>
          </a:p>
        </p:txBody>
      </p:sp>
      <p:sp>
        <p:nvSpPr>
          <p:cNvPr id="11" name="">
            <a:extLst xmlns:a="http://schemas.openxmlformats.org/drawingml/2006/main">
              <a:ext uri="{FF2B5EF4-FFF2-40B4-BE49-F238E27FC236}">
                <a16:creationId xmlns:a16="http://schemas.microsoft.com/office/drawing/2014/main" id="{AD1F0FD7-75E8-4F83-AEFD-5DF29403147D}"/>
              </a:ext>
            </a:extLst>
          </p:cNvPr>
          <p:cNvSpPr>
            <a:spLocks xmlns:a="http://schemas.openxmlformats.org/drawingml/2006/main" noGrp="1"/>
          </p:cNvSpPr>
          <p:nvPr/>
        </p:nvSpPr>
        <p:spPr>
          <a:xfrm xmlns:a="http://schemas.openxmlformats.org/drawingml/2006/main">
            <a:off x="666750" y="1790700"/>
            <a:ext cx="704850" cy="685800"/>
          </a:xfrm>
          <a:prstGeom xmlns:a="http://schemas.openxmlformats.org/drawingml/2006/main" prst="roundRect">
            <a:avLst>
              <a:gd name="adj" fmla="val 16667"/>
            </a:avLst>
          </a:prstGeom>
          <a:solidFill xmlns:a="http://schemas.openxmlformats.org/drawingml/2006/main">
            <a:srgbClr val="0065B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702665C-0A63-4AE6-8499-115650551E50}"/>
              </a:ext>
            </a:extLst>
          </p:cNvPr>
          <p:cNvSpPr>
            <a:spLocks xmlns:a="http://schemas.openxmlformats.org/drawingml/2006/main" noGrp="1"/>
          </p:cNvSpPr>
          <p:nvPr/>
        </p:nvSpPr>
        <p:spPr>
          <a:xfrm xmlns:a="http://schemas.openxmlformats.org/drawingml/2006/main">
            <a:off x="800100" y="19812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O1</a:t>
            </a:r>
          </a:p>
        </p:txBody>
      </p:sp>
      <p:sp>
        <p:nvSpPr>
          <p:cNvPr id="13" name="">
            <a:extLst xmlns:a="http://schemas.openxmlformats.org/drawingml/2006/main">
              <a:ext uri="{FF2B5EF4-FFF2-40B4-BE49-F238E27FC236}">
                <a16:creationId xmlns:a16="http://schemas.microsoft.com/office/drawing/2014/main" id="{DE8BA525-D09B-4E11-94CB-46D02888536E}"/>
              </a:ext>
            </a:extLst>
          </p:cNvPr>
          <p:cNvSpPr>
            <a:spLocks xmlns:a="http://schemas.openxmlformats.org/drawingml/2006/main" noGrp="1"/>
          </p:cNvSpPr>
          <p:nvPr/>
        </p:nvSpPr>
        <p:spPr>
          <a:xfrm xmlns:a="http://schemas.openxmlformats.org/drawingml/2006/main">
            <a:off x="2095500" y="18573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3359"/>
                </a:solidFill>
                <a:latin typeface="Arial"/>
                <a:ea typeface="Arial"/>
                <a:cs typeface="Arial"/>
              </a:defRPr>
            </a:pPr>
            <a:r>
              <a:rPr sz="1500" b="1">
                <a:solidFill>
                  <a:srgbClr val="003359"/>
                </a:solidFill>
                <a:latin typeface="Arial"/>
                <a:ea typeface="Arial"/>
                <a:cs typeface="Arial"/>
              </a:rPr>
              <a:t>Usability</a:t>
            </a:r>
          </a:p>
        </p:txBody>
      </p:sp>
      <p:sp>
        <p:nvSpPr>
          <p:cNvPr id="14" name="">
            <a:extLst xmlns:a="http://schemas.openxmlformats.org/drawingml/2006/main">
              <a:ext uri="{FF2B5EF4-FFF2-40B4-BE49-F238E27FC236}">
                <a16:creationId xmlns:a16="http://schemas.microsoft.com/office/drawing/2014/main" id="{A064CEA7-A3CA-4678-A6E4-62FEA75F0D7B}"/>
              </a:ext>
            </a:extLst>
          </p:cNvPr>
          <p:cNvSpPr>
            <a:spLocks xmlns:a="http://schemas.openxmlformats.org/drawingml/2006/main" noGrp="1"/>
          </p:cNvSpPr>
          <p:nvPr/>
        </p:nvSpPr>
        <p:spPr>
          <a:xfrm xmlns:a="http://schemas.openxmlformats.org/drawingml/2006/main">
            <a:off x="4686300" y="1828800"/>
            <a:ext cx="4362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Edges | alignment | controls | standalone home | mobile use</a:t>
            </a:r>
          </a:p>
        </p:txBody>
      </p:sp>
      <p:sp>
        <p:nvSpPr>
          <p:cNvPr id="15" name="">
            <a:extLst xmlns:a="http://schemas.openxmlformats.org/drawingml/2006/main">
              <a:ext uri="{FF2B5EF4-FFF2-40B4-BE49-F238E27FC236}">
                <a16:creationId xmlns:a16="http://schemas.microsoft.com/office/drawing/2014/main" id="{14DB6B5E-769B-44E8-BD79-AE807D018CE6}"/>
              </a:ext>
            </a:extLst>
          </p:cNvPr>
          <p:cNvSpPr>
            <a:spLocks xmlns:a="http://schemas.openxmlformats.org/drawingml/2006/main" noGrp="1"/>
          </p:cNvSpPr>
          <p:nvPr/>
        </p:nvSpPr>
        <p:spPr>
          <a:xfrm xmlns:a="http://schemas.openxmlformats.org/drawingml/2006/main">
            <a:off x="9277350" y="18288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Library | standalone | mobile</a:t>
            </a:r>
          </a:p>
        </p:txBody>
      </p:sp>
      <p:sp>
        <p:nvSpPr>
          <p:cNvPr id="16" name="">
            <a:extLst xmlns:a="http://schemas.openxmlformats.org/drawingml/2006/main">
              <a:ext uri="{FF2B5EF4-FFF2-40B4-BE49-F238E27FC236}">
                <a16:creationId xmlns:a16="http://schemas.microsoft.com/office/drawing/2014/main" id="{5954A950-3C1B-4038-87C0-14A68232F991}"/>
              </a:ext>
            </a:extLst>
          </p:cNvPr>
          <p:cNvSpPr>
            <a:spLocks xmlns:a="http://schemas.openxmlformats.org/drawingml/2006/main" noGrp="1"/>
          </p:cNvSpPr>
          <p:nvPr/>
        </p:nvSpPr>
        <p:spPr>
          <a:xfrm xmlns:a="http://schemas.openxmlformats.org/drawingml/2006/main">
            <a:off x="2095500" y="2571750"/>
            <a:ext cx="93726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17" name="">
            <a:extLst xmlns:a="http://schemas.openxmlformats.org/drawingml/2006/main">
              <a:ext uri="{FF2B5EF4-FFF2-40B4-BE49-F238E27FC236}">
                <a16:creationId xmlns:a16="http://schemas.microsoft.com/office/drawing/2014/main" id="{F6448F51-C62B-40AF-9D6F-DAC84B58E1AF}"/>
              </a:ext>
            </a:extLst>
          </p:cNvPr>
          <p:cNvSpPr>
            <a:spLocks xmlns:a="http://schemas.openxmlformats.org/drawingml/2006/main" noGrp="1"/>
          </p:cNvSpPr>
          <p:nvPr/>
        </p:nvSpPr>
        <p:spPr>
          <a:xfrm xmlns:a="http://schemas.openxmlformats.org/drawingml/2006/main">
            <a:off x="666750" y="2781300"/>
            <a:ext cx="704850" cy="685800"/>
          </a:xfrm>
          <a:prstGeom xmlns:a="http://schemas.openxmlformats.org/drawingml/2006/main" prst="roundRect">
            <a:avLst>
              <a:gd name="adj" fmla="val 16667"/>
            </a:avLst>
          </a:prstGeom>
          <a:solidFill xmlns:a="http://schemas.openxmlformats.org/drawingml/2006/main">
            <a:srgbClr val="64A0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C104EF3-C57D-4A0E-B0E5-A3DF5C12F0DF}"/>
              </a:ext>
            </a:extLst>
          </p:cNvPr>
          <p:cNvSpPr>
            <a:spLocks xmlns:a="http://schemas.openxmlformats.org/drawingml/2006/main" noGrp="1"/>
          </p:cNvSpPr>
          <p:nvPr/>
        </p:nvSpPr>
        <p:spPr>
          <a:xfrm xmlns:a="http://schemas.openxmlformats.org/drawingml/2006/main">
            <a:off x="800100" y="29718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O2</a:t>
            </a:r>
          </a:p>
        </p:txBody>
      </p:sp>
      <p:sp>
        <p:nvSpPr>
          <p:cNvPr id="19" name="">
            <a:extLst xmlns:a="http://schemas.openxmlformats.org/drawingml/2006/main">
              <a:ext uri="{FF2B5EF4-FFF2-40B4-BE49-F238E27FC236}">
                <a16:creationId xmlns:a16="http://schemas.microsoft.com/office/drawing/2014/main" id="{451A539B-4B96-44F5-B33E-713A45B9539C}"/>
              </a:ext>
            </a:extLst>
          </p:cNvPr>
          <p:cNvSpPr>
            <a:spLocks xmlns:a="http://schemas.openxmlformats.org/drawingml/2006/main" noGrp="1"/>
          </p:cNvSpPr>
          <p:nvPr/>
        </p:nvSpPr>
        <p:spPr>
          <a:xfrm xmlns:a="http://schemas.openxmlformats.org/drawingml/2006/main">
            <a:off x="2095500" y="28479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3359"/>
                </a:solidFill>
                <a:latin typeface="Arial"/>
                <a:ea typeface="Arial"/>
                <a:cs typeface="Arial"/>
              </a:defRPr>
            </a:pPr>
            <a:r>
              <a:rPr sz="1500" b="1">
                <a:solidFill>
                  <a:srgbClr val="003359"/>
                </a:solidFill>
                <a:latin typeface="Arial"/>
                <a:ea typeface="Arial"/>
                <a:cs typeface="Arial"/>
              </a:rPr>
              <a:t>Collaboration</a:t>
            </a:r>
          </a:p>
        </p:txBody>
      </p:sp>
      <p:sp>
        <p:nvSpPr>
          <p:cNvPr id="20" name="">
            <a:extLst xmlns:a="http://schemas.openxmlformats.org/drawingml/2006/main">
              <a:ext uri="{FF2B5EF4-FFF2-40B4-BE49-F238E27FC236}">
                <a16:creationId xmlns:a16="http://schemas.microsoft.com/office/drawing/2014/main" id="{45A09AF4-2D80-4E0F-B723-61FBC38EAFEB}"/>
              </a:ext>
            </a:extLst>
          </p:cNvPr>
          <p:cNvSpPr>
            <a:spLocks xmlns:a="http://schemas.openxmlformats.org/drawingml/2006/main" noGrp="1"/>
          </p:cNvSpPr>
          <p:nvPr/>
        </p:nvSpPr>
        <p:spPr>
          <a:xfrm xmlns:a="http://schemas.openxmlformats.org/drawingml/2006/main">
            <a:off x="4686300" y="2819400"/>
            <a:ext cx="4362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Cursors | selections | drag highlights | viewport follow</a:t>
            </a:r>
          </a:p>
        </p:txBody>
      </p:sp>
      <p:sp>
        <p:nvSpPr>
          <p:cNvPr id="21" name="">
            <a:extLst xmlns:a="http://schemas.openxmlformats.org/drawingml/2006/main">
              <a:ext uri="{FF2B5EF4-FFF2-40B4-BE49-F238E27FC236}">
                <a16:creationId xmlns:a16="http://schemas.microsoft.com/office/drawing/2014/main" id="{E724F9A9-82AD-42E1-9E11-1A1424F88079}"/>
              </a:ext>
            </a:extLst>
          </p:cNvPr>
          <p:cNvSpPr>
            <a:spLocks xmlns:a="http://schemas.openxmlformats.org/drawingml/2006/main" noGrp="1"/>
          </p:cNvSpPr>
          <p:nvPr/>
        </p:nvSpPr>
        <p:spPr>
          <a:xfrm xmlns:a="http://schemas.openxmlformats.org/drawingml/2006/main">
            <a:off x="9277350" y="28194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Library | standalone | Artemis</a:t>
            </a:r>
          </a:p>
        </p:txBody>
      </p:sp>
      <p:sp>
        <p:nvSpPr>
          <p:cNvPr id="22" name="">
            <a:extLst xmlns:a="http://schemas.openxmlformats.org/drawingml/2006/main">
              <a:ext uri="{FF2B5EF4-FFF2-40B4-BE49-F238E27FC236}">
                <a16:creationId xmlns:a16="http://schemas.microsoft.com/office/drawing/2014/main" id="{D0628768-13D1-4C40-B2E4-86C0F02CE8A1}"/>
              </a:ext>
            </a:extLst>
          </p:cNvPr>
          <p:cNvSpPr>
            <a:spLocks xmlns:a="http://schemas.openxmlformats.org/drawingml/2006/main" noGrp="1"/>
          </p:cNvSpPr>
          <p:nvPr/>
        </p:nvSpPr>
        <p:spPr>
          <a:xfrm xmlns:a="http://schemas.openxmlformats.org/drawingml/2006/main">
            <a:off x="2095500" y="3562350"/>
            <a:ext cx="93726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23" name="">
            <a:extLst xmlns:a="http://schemas.openxmlformats.org/drawingml/2006/main">
              <a:ext uri="{FF2B5EF4-FFF2-40B4-BE49-F238E27FC236}">
                <a16:creationId xmlns:a16="http://schemas.microsoft.com/office/drawing/2014/main" id="{AA1F6E38-980A-4BD2-BBF2-47B05C855218}"/>
              </a:ext>
            </a:extLst>
          </p:cNvPr>
          <p:cNvSpPr>
            <a:spLocks xmlns:a="http://schemas.openxmlformats.org/drawingml/2006/main" noGrp="1"/>
          </p:cNvSpPr>
          <p:nvPr/>
        </p:nvSpPr>
        <p:spPr>
          <a:xfrm xmlns:a="http://schemas.openxmlformats.org/drawingml/2006/main">
            <a:off x="666750" y="3771900"/>
            <a:ext cx="704850" cy="685800"/>
          </a:xfrm>
          <a:prstGeom xmlns:a="http://schemas.openxmlformats.org/drawingml/2006/main" prst="roundRect">
            <a:avLst>
              <a:gd name="adj" fmla="val 16667"/>
            </a:avLst>
          </a:prstGeom>
          <a:solidFill xmlns:a="http://schemas.openxmlformats.org/drawingml/2006/main">
            <a:srgbClr val="A2AD0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955B7B-2533-494D-9744-347E371FF8D6}"/>
              </a:ext>
            </a:extLst>
          </p:cNvPr>
          <p:cNvSpPr>
            <a:spLocks xmlns:a="http://schemas.openxmlformats.org/drawingml/2006/main" noGrp="1"/>
          </p:cNvSpPr>
          <p:nvPr/>
        </p:nvSpPr>
        <p:spPr>
          <a:xfrm xmlns:a="http://schemas.openxmlformats.org/drawingml/2006/main">
            <a:off x="800100" y="39624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O3</a:t>
            </a:r>
          </a:p>
        </p:txBody>
      </p:sp>
      <p:sp>
        <p:nvSpPr>
          <p:cNvPr id="25" name="">
            <a:extLst xmlns:a="http://schemas.openxmlformats.org/drawingml/2006/main">
              <a:ext uri="{FF2B5EF4-FFF2-40B4-BE49-F238E27FC236}">
                <a16:creationId xmlns:a16="http://schemas.microsoft.com/office/drawing/2014/main" id="{D8ACB3DE-61ED-4AEE-963D-7301723121A1}"/>
              </a:ext>
            </a:extLst>
          </p:cNvPr>
          <p:cNvSpPr>
            <a:spLocks xmlns:a="http://schemas.openxmlformats.org/drawingml/2006/main" noGrp="1"/>
          </p:cNvSpPr>
          <p:nvPr/>
        </p:nvSpPr>
        <p:spPr>
          <a:xfrm xmlns:a="http://schemas.openxmlformats.org/drawingml/2006/main">
            <a:off x="2095500" y="38385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3359"/>
                </a:solidFill>
                <a:latin typeface="Arial"/>
                <a:ea typeface="Arial"/>
                <a:cs typeface="Arial"/>
              </a:defRPr>
            </a:pPr>
            <a:r>
              <a:rPr sz="1500" b="1">
                <a:solidFill>
                  <a:srgbClr val="003359"/>
                </a:solidFill>
                <a:latin typeface="Arial"/>
                <a:ea typeface="Arial"/>
                <a:cs typeface="Arial"/>
              </a:rPr>
              <a:t>Artemis migration</a:t>
            </a:r>
          </a:p>
        </p:txBody>
      </p:sp>
      <p:sp>
        <p:nvSpPr>
          <p:cNvPr id="26" name="">
            <a:extLst xmlns:a="http://schemas.openxmlformats.org/drawingml/2006/main">
              <a:ext uri="{FF2B5EF4-FFF2-40B4-BE49-F238E27FC236}">
                <a16:creationId xmlns:a16="http://schemas.microsoft.com/office/drawing/2014/main" id="{9A07B30A-6F2A-4BF3-8225-CC9D270A5727}"/>
              </a:ext>
            </a:extLst>
          </p:cNvPr>
          <p:cNvSpPr>
            <a:spLocks xmlns:a="http://schemas.openxmlformats.org/drawingml/2006/main" noGrp="1"/>
          </p:cNvSpPr>
          <p:nvPr/>
        </p:nvSpPr>
        <p:spPr>
          <a:xfrm xmlns:a="http://schemas.openxmlformats.org/drawingml/2006/main">
            <a:off x="4686300" y="3810000"/>
            <a:ext cx="4362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Modeling | quiz | assessment | team modeling</a:t>
            </a:r>
          </a:p>
        </p:txBody>
      </p:sp>
      <p:sp>
        <p:nvSpPr>
          <p:cNvPr id="27" name="">
            <a:extLst xmlns:a="http://schemas.openxmlformats.org/drawingml/2006/main">
              <a:ext uri="{FF2B5EF4-FFF2-40B4-BE49-F238E27FC236}">
                <a16:creationId xmlns:a16="http://schemas.microsoft.com/office/drawing/2014/main" id="{CC103105-88A5-4B53-B91D-0F339644E92F}"/>
              </a:ext>
            </a:extLst>
          </p:cNvPr>
          <p:cNvSpPr>
            <a:spLocks xmlns:a="http://schemas.openxmlformats.org/drawingml/2006/main" noGrp="1"/>
          </p:cNvSpPr>
          <p:nvPr/>
        </p:nvSpPr>
        <p:spPr>
          <a:xfrm xmlns:a="http://schemas.openxmlformats.org/drawingml/2006/main">
            <a:off x="9277350" y="3810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Artemis | Apollon library</a:t>
            </a:r>
          </a:p>
        </p:txBody>
      </p:sp>
      <p:sp>
        <p:nvSpPr>
          <p:cNvPr id="28" name="">
            <a:extLst xmlns:a="http://schemas.openxmlformats.org/drawingml/2006/main">
              <a:ext uri="{FF2B5EF4-FFF2-40B4-BE49-F238E27FC236}">
                <a16:creationId xmlns:a16="http://schemas.microsoft.com/office/drawing/2014/main" id="{C17A3EDC-6FC8-4060-B39C-E8FC2016D85E}"/>
              </a:ext>
            </a:extLst>
          </p:cNvPr>
          <p:cNvSpPr>
            <a:spLocks xmlns:a="http://schemas.openxmlformats.org/drawingml/2006/main" noGrp="1"/>
          </p:cNvSpPr>
          <p:nvPr/>
        </p:nvSpPr>
        <p:spPr>
          <a:xfrm xmlns:a="http://schemas.openxmlformats.org/drawingml/2006/main">
            <a:off x="2095500" y="4552950"/>
            <a:ext cx="93726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29" name="">
            <a:extLst xmlns:a="http://schemas.openxmlformats.org/drawingml/2006/main">
              <a:ext uri="{FF2B5EF4-FFF2-40B4-BE49-F238E27FC236}">
                <a16:creationId xmlns:a16="http://schemas.microsoft.com/office/drawing/2014/main" id="{F4EAAE80-50A8-4652-92B5-7F7787160C48}"/>
              </a:ext>
            </a:extLst>
          </p:cNvPr>
          <p:cNvSpPr>
            <a:spLocks xmlns:a="http://schemas.openxmlformats.org/drawingml/2006/main" noGrp="1"/>
          </p:cNvSpPr>
          <p:nvPr/>
        </p:nvSpPr>
        <p:spPr>
          <a:xfrm xmlns:a="http://schemas.openxmlformats.org/drawingml/2006/main">
            <a:off x="666750" y="4762500"/>
            <a:ext cx="704850" cy="685800"/>
          </a:xfrm>
          <a:prstGeom xmlns:a="http://schemas.openxmlformats.org/drawingml/2006/main" prst="roundRect">
            <a:avLst>
              <a:gd name="adj" fmla="val 16667"/>
            </a:avLst>
          </a:prstGeom>
          <a:solidFill xmlns:a="http://schemas.openxmlformats.org/drawingml/2006/main">
            <a:srgbClr val="E3722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E684CD4-8CB0-457B-8F0B-1EEE85829F1E}"/>
              </a:ext>
            </a:extLst>
          </p:cNvPr>
          <p:cNvSpPr>
            <a:spLocks xmlns:a="http://schemas.openxmlformats.org/drawingml/2006/main" noGrp="1"/>
          </p:cNvSpPr>
          <p:nvPr/>
        </p:nvSpPr>
        <p:spPr>
          <a:xfrm xmlns:a="http://schemas.openxmlformats.org/drawingml/2006/main">
            <a:off x="800100" y="49530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O4</a:t>
            </a:r>
          </a:p>
        </p:txBody>
      </p:sp>
      <p:sp>
        <p:nvSpPr>
          <p:cNvPr id="31" name="">
            <a:extLst xmlns:a="http://schemas.openxmlformats.org/drawingml/2006/main">
              <a:ext uri="{FF2B5EF4-FFF2-40B4-BE49-F238E27FC236}">
                <a16:creationId xmlns:a16="http://schemas.microsoft.com/office/drawing/2014/main" id="{E86F18C6-04A8-42CD-8392-3C8C8B3FEAA3}"/>
              </a:ext>
            </a:extLst>
          </p:cNvPr>
          <p:cNvSpPr>
            <a:spLocks xmlns:a="http://schemas.openxmlformats.org/drawingml/2006/main" noGrp="1"/>
          </p:cNvSpPr>
          <p:nvPr/>
        </p:nvSpPr>
        <p:spPr>
          <a:xfrm xmlns:a="http://schemas.openxmlformats.org/drawingml/2006/main">
            <a:off x="2095500" y="48291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3359"/>
                </a:solidFill>
                <a:latin typeface="Arial"/>
                <a:ea typeface="Arial"/>
                <a:cs typeface="Arial"/>
              </a:defRPr>
            </a:pPr>
            <a:r>
              <a:rPr sz="1500" b="1">
                <a:solidFill>
                  <a:srgbClr val="003359"/>
                </a:solidFill>
                <a:latin typeface="Arial"/>
                <a:ea typeface="Arial"/>
                <a:cs typeface="Arial"/>
              </a:rPr>
              <a:t>Portability</a:t>
            </a:r>
          </a:p>
        </p:txBody>
      </p:sp>
      <p:sp>
        <p:nvSpPr>
          <p:cNvPr id="32" name="">
            <a:extLst xmlns:a="http://schemas.openxmlformats.org/drawingml/2006/main">
              <a:ext uri="{FF2B5EF4-FFF2-40B4-BE49-F238E27FC236}">
                <a16:creationId xmlns:a16="http://schemas.microsoft.com/office/drawing/2014/main" id="{A54EE148-3523-4BBB-AD63-371156B89AFA}"/>
              </a:ext>
            </a:extLst>
          </p:cNvPr>
          <p:cNvSpPr>
            <a:spLocks xmlns:a="http://schemas.openxmlformats.org/drawingml/2006/main" noGrp="1"/>
          </p:cNvSpPr>
          <p:nvPr/>
        </p:nvSpPr>
        <p:spPr>
          <a:xfrm xmlns:a="http://schemas.openxmlformats.org/drawingml/2006/main">
            <a:off x="4686300" y="4800600"/>
            <a:ext cx="4362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JSON round-trip | SVG | PNG | PDF | editable PPTX</a:t>
            </a:r>
          </a:p>
        </p:txBody>
      </p:sp>
      <p:sp>
        <p:nvSpPr>
          <p:cNvPr id="33" name="">
            <a:extLst xmlns:a="http://schemas.openxmlformats.org/drawingml/2006/main">
              <a:ext uri="{FF2B5EF4-FFF2-40B4-BE49-F238E27FC236}">
                <a16:creationId xmlns:a16="http://schemas.microsoft.com/office/drawing/2014/main" id="{A73DCB7C-1F3C-480E-A71B-67AD667008B6}"/>
              </a:ext>
            </a:extLst>
          </p:cNvPr>
          <p:cNvSpPr>
            <a:spLocks xmlns:a="http://schemas.openxmlformats.org/drawingml/2006/main" noGrp="1"/>
          </p:cNvSpPr>
          <p:nvPr/>
        </p:nvSpPr>
        <p:spPr>
          <a:xfrm xmlns:a="http://schemas.openxmlformats.org/drawingml/2006/main">
            <a:off x="9277350" y="48006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Web | mobile | VS Code | Athena</a:t>
            </a:r>
          </a:p>
        </p:txBody>
      </p:sp>
      <p:sp>
        <p:nvSpPr>
          <p:cNvPr id="34" name="">
            <a:extLst xmlns:a="http://schemas.openxmlformats.org/drawingml/2006/main">
              <a:ext uri="{FF2B5EF4-FFF2-40B4-BE49-F238E27FC236}">
                <a16:creationId xmlns:a16="http://schemas.microsoft.com/office/drawing/2014/main" id="{A0999598-0DFF-4911-907E-984B8F9DE283}"/>
              </a:ext>
            </a:extLst>
          </p:cNvPr>
          <p:cNvSpPr>
            <a:spLocks xmlns:a="http://schemas.openxmlformats.org/drawingml/2006/main" noGrp="1"/>
          </p:cNvSpPr>
          <p:nvPr/>
        </p:nvSpPr>
        <p:spPr>
          <a:xfrm xmlns:a="http://schemas.openxmlformats.org/drawingml/2006/main">
            <a:off x="2095500" y="5543550"/>
            <a:ext cx="93726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Tree>
    <p:extLst>
      <p:ext uri="{BB962C8B-B14F-4D97-AF65-F5344CB8AC3E}">
        <p14:creationId xmlns:p14="http://schemas.microsoft.com/office/powerpoint/2010/main" val="125076963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189D6EBC-0B6B-42F3-A6A0-C2A6FBCB2CD3}"/>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ANALYSIS OBJECT MODEL</a:t>
            </a:r>
          </a:p>
        </p:txBody>
      </p:sp>
      <p:sp>
        <p:nvSpPr>
          <p:cNvPr id="2" name="Slide title">
            <a:extLst xmlns:a="http://schemas.openxmlformats.org/drawingml/2006/main">
              <a:ext uri="{FF2B5EF4-FFF2-40B4-BE49-F238E27FC236}">
                <a16:creationId xmlns:a16="http://schemas.microsoft.com/office/drawing/2014/main" id="{9593DBF9-999C-4D0F-ABF4-5A894466D665}"/>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Diagram data and session awareness stay separate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224118ff974318"/>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92F25B-E63A-4881-9996-9D8BF5DE5D44}"/>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5F8463E3-7D8C-459D-96E3-67E71B134E4F}"/>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2140B143-83DF-4587-9DF4-39D60D9BE4FB}"/>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23</a:t>
            </a:r>
          </a:p>
        </p:txBody>
      </p:sp>
      <p:sp>
        <p:nvSpPr>
          <p:cNvPr id="7" name="Diagram stage">
            <a:extLst xmlns:a="http://schemas.openxmlformats.org/drawingml/2006/main">
              <a:ext uri="{FF2B5EF4-FFF2-40B4-BE49-F238E27FC236}">
                <a16:creationId xmlns:a16="http://schemas.microsoft.com/office/drawing/2014/main" id="{1A155252-83CA-42A1-A040-A281A13D4E29}"/>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58086ecf77942c8"/>
          <a:stretch xmlns:a="http://schemas.openxmlformats.org/drawingml/2006/main"/>
        </p:blipFill>
        <p:spPr>
          <a:xfrm xmlns:a="http://schemas.openxmlformats.org/drawingml/2006/main">
            <a:off x="2283366" y="1390650"/>
            <a:ext cx="7625267" cy="4610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45F1EF5-F593-4C85-B16E-DA1C892AAE8C}"/>
              </a:ext>
            </a:extLst>
          </p:cNvPr>
          <p:cNvSpPr>
            <a:spLocks xmlns:a="http://schemas.openxmlformats.org/drawingml/2006/main" noGrp="1"/>
          </p:cNvSpPr>
          <p:nvPr/>
        </p:nvSpPr>
        <p:spPr>
          <a:xfrm xmlns:a="http://schemas.openxmlformats.org/drawingml/2006/main">
            <a:off x="3810000" y="61436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56616B"/>
                </a:solidFill>
                <a:latin typeface="Arial"/>
                <a:ea typeface="Arial"/>
                <a:cs typeface="Arial"/>
              </a:defRPr>
            </a:pPr>
            <a:r>
              <a:rPr sz="1050" b="0">
                <a:solidFill>
                  <a:srgbClr val="56616B"/>
                </a:solidFill>
                <a:latin typeface="Arial"/>
                <a:ea typeface="Arial"/>
                <a:cs typeface="Arial"/>
              </a:rPr>
              <a:t>Apollon JSON: figures/requirements-analysis-object-model.json</a:t>
            </a:r>
          </a:p>
        </p:txBody>
      </p:sp>
    </p:spTree>
    <p:extLst>
      <p:ext uri="{BB962C8B-B14F-4D97-AF65-F5344CB8AC3E}">
        <p14:creationId xmlns:p14="http://schemas.microsoft.com/office/powerpoint/2010/main" val="54180962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3BEF799D-F435-4539-B47E-653B51ACE8E2}"/>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COMPONENT MODEL</a:t>
            </a:r>
          </a:p>
        </p:txBody>
      </p:sp>
      <p:sp>
        <p:nvSpPr>
          <p:cNvPr id="2" name="Slide title">
            <a:extLst xmlns:a="http://schemas.openxmlformats.org/drawingml/2006/main">
              <a:ext uri="{FF2B5EF4-FFF2-40B4-BE49-F238E27FC236}">
                <a16:creationId xmlns:a16="http://schemas.microsoft.com/office/drawing/2014/main" id="{152C8A15-986A-4CFD-B5F6-C7CAC2C2223B}"/>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Standalone hosts the editor, collaboration, and persistence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5c3dfbaf474407f"/>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2B5394-7D9E-4E36-AA57-7FD051530F37}"/>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9968C3EE-DCA7-418D-9407-C78304FDB872}"/>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0C834D62-70CD-499C-B605-C6C5A3D8367C}"/>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24</a:t>
            </a:r>
          </a:p>
        </p:txBody>
      </p:sp>
      <p:sp>
        <p:nvSpPr>
          <p:cNvPr id="7" name="Diagram stage">
            <a:extLst xmlns:a="http://schemas.openxmlformats.org/drawingml/2006/main">
              <a:ext uri="{FF2B5EF4-FFF2-40B4-BE49-F238E27FC236}">
                <a16:creationId xmlns:a16="http://schemas.microsoft.com/office/drawing/2014/main" id="{3D181D66-67BD-4916-BF36-6F41674AB46F}"/>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e541bd33daa47c4"/>
          <a:stretch xmlns:a="http://schemas.openxmlformats.org/drawingml/2006/main"/>
        </p:blipFill>
        <p:spPr>
          <a:xfrm xmlns:a="http://schemas.openxmlformats.org/drawingml/2006/main">
            <a:off x="1908552" y="1390650"/>
            <a:ext cx="8374897" cy="4610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64B4256-E886-4593-A1EC-2FE42599748C}"/>
              </a:ext>
            </a:extLst>
          </p:cNvPr>
          <p:cNvSpPr>
            <a:spLocks xmlns:a="http://schemas.openxmlformats.org/drawingml/2006/main" noGrp="1"/>
          </p:cNvSpPr>
          <p:nvPr/>
        </p:nvSpPr>
        <p:spPr>
          <a:xfrm xmlns:a="http://schemas.openxmlformats.org/drawingml/2006/main">
            <a:off x="2571750" y="614362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03359"/>
                </a:solidFill>
                <a:latin typeface="Arial"/>
                <a:ea typeface="Arial"/>
                <a:cs typeface="Arial"/>
              </a:defRPr>
            </a:pPr>
            <a:r>
              <a:rPr sz="1050" b="1">
                <a:solidFill>
                  <a:srgbClr val="003359"/>
                </a:solidFill>
                <a:latin typeface="Arial"/>
                <a:ea typeface="Arial"/>
                <a:cs typeface="Arial"/>
              </a:rPr>
              <a:t>Component responsibilities only - execution nodes are shown separately on the deployment slide.</a:t>
            </a:r>
          </a:p>
        </p:txBody>
      </p:sp>
    </p:spTree>
    <p:extLst>
      <p:ext uri="{BB962C8B-B14F-4D97-AF65-F5344CB8AC3E}">
        <p14:creationId xmlns:p14="http://schemas.microsoft.com/office/powerpoint/2010/main" val="8914487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label">
            <a:extLst xmlns:a="http://schemas.openxmlformats.org/drawingml/2006/main">
              <a:ext uri="{FF2B5EF4-FFF2-40B4-BE49-F238E27FC236}">
                <a16:creationId xmlns:a16="http://schemas.microsoft.com/office/drawing/2014/main" id="{8DD6FBC6-EB66-4CA6-B750-7611CB1DAA92}"/>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DEPLOYMENT MODEL</a:t>
            </a:r>
          </a:p>
        </p:txBody>
      </p:sp>
      <p:sp>
        <p:nvSpPr>
          <p:cNvPr id="2" name="Slide title">
            <a:extLst xmlns:a="http://schemas.openxmlformats.org/drawingml/2006/main">
              <a:ext uri="{FF2B5EF4-FFF2-40B4-BE49-F238E27FC236}">
                <a16:creationId xmlns:a16="http://schemas.microsoft.com/office/drawing/2014/main" id="{E37FCC4C-BD4A-4025-874F-0FC0EEF09CD5}"/>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Each host owns the data it persists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37255cdb2a24fad"/>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FC34CB-3256-4698-9A99-7F6E6F4A7BDE}"/>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0E9B9512-C818-420B-805A-CDDDBB98DBDF}"/>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05D02019-CC47-43D7-BFE4-1A2B66209D1F}"/>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25</a:t>
            </a:r>
          </a:p>
        </p:txBody>
      </p:sp>
      <p:sp>
        <p:nvSpPr>
          <p:cNvPr id="7" name="Diagram stage">
            <a:extLst xmlns:a="http://schemas.openxmlformats.org/drawingml/2006/main">
              <a:ext uri="{FF2B5EF4-FFF2-40B4-BE49-F238E27FC236}">
                <a16:creationId xmlns:a16="http://schemas.microsoft.com/office/drawing/2014/main" id="{FF739A08-959A-4450-8EA5-944CF2D951AB}"/>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8c0a481f3ab40cc"/>
          <a:stretch xmlns:a="http://schemas.openxmlformats.org/drawingml/2006/main"/>
        </p:blipFill>
        <p:spPr>
          <a:xfrm xmlns:a="http://schemas.openxmlformats.org/drawingml/2006/main">
            <a:off x="3223091" y="1390650"/>
            <a:ext cx="5745817" cy="4610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4AE6984-C1CF-473E-99B1-2B47FBC881B9}"/>
              </a:ext>
            </a:extLst>
          </p:cNvPr>
          <p:cNvSpPr>
            <a:spLocks xmlns:a="http://schemas.openxmlformats.org/drawingml/2006/main" noGrp="1"/>
          </p:cNvSpPr>
          <p:nvPr/>
        </p:nvSpPr>
        <p:spPr>
          <a:xfrm xmlns:a="http://schemas.openxmlformats.org/drawingml/2006/main">
            <a:off x="3143250" y="6143625"/>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03359"/>
                </a:solidFill>
                <a:latin typeface="Arial"/>
                <a:ea typeface="Arial"/>
                <a:cs typeface="Arial"/>
              </a:defRPr>
            </a:pPr>
            <a:r>
              <a:rPr sz="1050" b="1">
                <a:solidFill>
                  <a:srgbClr val="003359"/>
                </a:solidFill>
                <a:latin typeface="Arial"/>
                <a:ea typeface="Arial"/>
                <a:cs typeface="Arial"/>
              </a:rPr>
              <a:t>Browser and mobile | Standalone server | Artemis | VS Code workspace</a:t>
            </a:r>
          </a:p>
        </p:txBody>
      </p:sp>
    </p:spTree>
    <p:extLst>
      <p:ext uri="{BB962C8B-B14F-4D97-AF65-F5344CB8AC3E}">
        <p14:creationId xmlns:p14="http://schemas.microsoft.com/office/powerpoint/2010/main" val="164743422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label">
            <a:extLst xmlns:a="http://schemas.openxmlformats.org/drawingml/2006/main">
              <a:ext uri="{FF2B5EF4-FFF2-40B4-BE49-F238E27FC236}">
                <a16:creationId xmlns:a16="http://schemas.microsoft.com/office/drawing/2014/main" id="{C1B410B4-ABD0-4FEC-BE48-C2899E9E686F}"/>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ACTIVITY MODEL</a:t>
            </a:r>
          </a:p>
        </p:txBody>
      </p:sp>
      <p:sp>
        <p:nvSpPr>
          <p:cNvPr id="2" name="Slide title">
            <a:extLst xmlns:a="http://schemas.openxmlformats.org/drawingml/2006/main">
              <a:ext uri="{FF2B5EF4-FFF2-40B4-BE49-F238E27FC236}">
                <a16:creationId xmlns:a16="http://schemas.microsoft.com/office/drawing/2014/main" id="{BD4816AE-9F92-4A71-9E53-2FB9F33E37D5}"/>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11820"/>
                </a:solidFill>
                <a:latin typeface="Arial"/>
                <a:ea typeface="Arial"/>
                <a:cs typeface="Arial"/>
              </a:defRPr>
            </a:pPr>
            <a:r>
              <a:rPr sz="2325" b="1">
                <a:solidFill>
                  <a:srgbClr val="111820"/>
                </a:solidFill>
                <a:latin typeface="Arial"/>
                <a:ea typeface="Arial"/>
                <a:cs typeface="Arial"/>
              </a:rPr>
              <a:t>Direct manipulation keeps correction inside the modeling flow</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30fd32fa0b6444f"/>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6BB1B7-84E3-4A13-8124-C31345FFD701}"/>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B1BA3379-EB7F-49BB-AD9B-9ACCEDF08089}"/>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2D373E72-C196-4780-A4ED-1581845C4567}"/>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26</a:t>
            </a:r>
          </a:p>
        </p:txBody>
      </p:sp>
      <p:sp>
        <p:nvSpPr>
          <p:cNvPr id="7" name="Diagram stage">
            <a:extLst xmlns:a="http://schemas.openxmlformats.org/drawingml/2006/main">
              <a:ext uri="{FF2B5EF4-FFF2-40B4-BE49-F238E27FC236}">
                <a16:creationId xmlns:a16="http://schemas.microsoft.com/office/drawing/2014/main" id="{62BA73F8-4151-4A16-813C-DCC0FAD097A9}"/>
              </a:ext>
            </a:extLst>
          </p:cNvPr>
          <p:cNvSpPr>
            <a:spLocks xmlns:a="http://schemas.openxmlformats.org/drawingml/2006/main" noGrp="1"/>
          </p:cNvSpPr>
          <p:nvPr/>
        </p:nvSpPr>
        <p:spPr>
          <a:xfrm xmlns:a="http://schemas.openxmlformats.org/drawingml/2006/main">
            <a:off x="609600" y="1314450"/>
            <a:ext cx="109728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11430">
            <a:solidFill>
              <a:srgbClr val="DDE3E8"/>
            </a:solidFill>
            <a:prstDash val="solid"/>
          </a:ln>
        </p:spPr>
      </p:sp>
      <p:sp>
        <p:nvSpPr>
          <p:cNvPr id="8" name="">
            <a:extLst xmlns:a="http://schemas.openxmlformats.org/drawingml/2006/main">
              <a:ext uri="{FF2B5EF4-FFF2-40B4-BE49-F238E27FC236}">
                <a16:creationId xmlns:a16="http://schemas.microsoft.com/office/drawing/2014/main" id="{1340595A-DB57-4278-A53C-323BCAC88A61}"/>
              </a:ext>
            </a:extLst>
          </p:cNvPr>
          <p:cNvSpPr>
            <a:spLocks xmlns:a="http://schemas.openxmlformats.org/drawingml/2006/main" noGrp="1"/>
          </p:cNvSpPr>
          <p:nvPr/>
        </p:nvSpPr>
        <p:spPr>
          <a:xfrm xmlns:a="http://schemas.openxmlformats.org/drawingml/2006/main">
            <a:off x="1409700" y="14478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065BD"/>
                </a:solidFill>
                <a:latin typeface="Arial"/>
                <a:ea typeface="Arial"/>
                <a:cs typeface="Arial"/>
              </a:defRPr>
            </a:pPr>
            <a:r>
              <a:rPr sz="1125" b="1">
                <a:solidFill>
                  <a:srgbClr val="0065BD"/>
                </a:solidFill>
                <a:latin typeface="Arial"/>
                <a:ea typeface="Arial"/>
                <a:cs typeface="Arial"/>
              </a:rPr>
              <a:t>1  MODEL AND CORRECT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2b1b3e3c38545fc"/>
          <a:stretch xmlns:a="http://schemas.openxmlformats.org/drawingml/2006/main"/>
        </p:blipFill>
        <p:spPr>
          <a:xfrm xmlns:a="http://schemas.openxmlformats.org/drawingml/2006/main">
            <a:off x="1633553" y="1733550"/>
            <a:ext cx="2695543" cy="4171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19F2F13-9B79-4838-B272-EDA4E88EE9D7}"/>
              </a:ext>
            </a:extLst>
          </p:cNvPr>
          <p:cNvSpPr>
            <a:spLocks xmlns:a="http://schemas.openxmlformats.org/drawingml/2006/main" noGrp="1"/>
          </p:cNvSpPr>
          <p:nvPr/>
        </p:nvSpPr>
        <p:spPr>
          <a:xfrm xmlns:a="http://schemas.openxmlformats.org/drawingml/2006/main">
            <a:off x="5410200" y="320040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8A949E"/>
                </a:solidFill>
                <a:latin typeface="Arial"/>
                <a:ea typeface="Arial"/>
                <a:cs typeface="Arial"/>
              </a:defRPr>
            </a:pPr>
            <a:r>
              <a:rPr sz="975" b="1">
                <a:solidFill>
                  <a:srgbClr val="8A949E"/>
                </a:solidFill>
                <a:latin typeface="Arial"/>
                <a:ea typeface="Arial"/>
                <a:cs typeface="Arial"/>
              </a:rPr>
              <a:t>CONTINUES</a:t>
            </a:r>
          </a:p>
        </p:txBody>
      </p:sp>
      <p:sp>
        <p:nvSpPr>
          <p:cNvPr id="11" name="">
            <a:extLst xmlns:a="http://schemas.openxmlformats.org/drawingml/2006/main">
              <a:ext uri="{FF2B5EF4-FFF2-40B4-BE49-F238E27FC236}">
                <a16:creationId xmlns:a16="http://schemas.microsoft.com/office/drawing/2014/main" id="{AA0D0F86-F8CE-463A-B63A-EED4FF1F039D}"/>
              </a:ext>
            </a:extLst>
          </p:cNvPr>
          <p:cNvSpPr>
            <a:spLocks xmlns:a="http://schemas.openxmlformats.org/drawingml/2006/main" noGrp="1"/>
          </p:cNvSpPr>
          <p:nvPr/>
        </p:nvSpPr>
        <p:spPr>
          <a:xfrm xmlns:a="http://schemas.openxmlformats.org/drawingml/2006/main">
            <a:off x="5562600" y="3429000"/>
            <a:ext cx="1066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850" b="1">
                <a:solidFill>
                  <a:srgbClr val="64A0C8"/>
                </a:solidFill>
                <a:latin typeface="Arial"/>
                <a:ea typeface="Arial"/>
                <a:cs typeface="Arial"/>
              </a:defRPr>
            </a:pPr>
            <a:r>
              <a:rPr sz="2850" b="1">
                <a:solidFill>
                  <a:srgbClr val="64A0C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E25CA1A-50DD-44CD-AB3A-A9C03770183E}"/>
              </a:ext>
            </a:extLst>
          </p:cNvPr>
          <p:cNvSpPr>
            <a:spLocks xmlns:a="http://schemas.openxmlformats.org/drawingml/2006/main" noGrp="1"/>
          </p:cNvSpPr>
          <p:nvPr/>
        </p:nvSpPr>
        <p:spPr>
          <a:xfrm xmlns:a="http://schemas.openxmlformats.org/drawingml/2006/main">
            <a:off x="7467600" y="14478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E37222"/>
                </a:solidFill>
                <a:latin typeface="Arial"/>
                <a:ea typeface="Arial"/>
                <a:cs typeface="Arial"/>
              </a:defRPr>
            </a:pPr>
            <a:r>
              <a:rPr sz="1125" b="1">
                <a:solidFill>
                  <a:srgbClr val="E37222"/>
                </a:solidFill>
                <a:latin typeface="Arial"/>
                <a:ea typeface="Arial"/>
                <a:cs typeface="Arial"/>
              </a:rPr>
              <a:t>2  SAVE OR EXPORT</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d54bdd554234f9a"/>
          <a:stretch xmlns:a="http://schemas.openxmlformats.org/drawingml/2006/main"/>
        </p:blipFill>
        <p:spPr>
          <a:xfrm xmlns:a="http://schemas.openxmlformats.org/drawingml/2006/main">
            <a:off x="7467600" y="1754656"/>
            <a:ext cx="3143250" cy="4129739"/>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D03CA33-1B3A-4DDE-87F3-D92351AE0558}"/>
              </a:ext>
            </a:extLst>
          </p:cNvPr>
          <p:cNvSpPr>
            <a:spLocks xmlns:a="http://schemas.openxmlformats.org/drawingml/2006/main" noGrp="1"/>
          </p:cNvSpPr>
          <p:nvPr/>
        </p:nvSpPr>
        <p:spPr>
          <a:xfrm xmlns:a="http://schemas.openxmlformats.org/drawingml/2006/main">
            <a:off x="3524250" y="61150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56616B"/>
                </a:solidFill>
                <a:latin typeface="Arial"/>
                <a:ea typeface="Arial"/>
                <a:cs typeface="Arial"/>
              </a:defRPr>
            </a:pPr>
            <a:r>
              <a:rPr sz="1050" b="0">
                <a:solidFill>
                  <a:srgbClr val="56616B"/>
                </a:solidFill>
                <a:latin typeface="Arial"/>
                <a:ea typeface="Arial"/>
                <a:cs typeface="Arial"/>
              </a:rPr>
              <a:t>One Apollon activity model, enlarged in two sequential views</a:t>
            </a:r>
          </a:p>
        </p:txBody>
      </p:sp>
    </p:spTree>
    <p:extLst>
      <p:ext uri="{BB962C8B-B14F-4D97-AF65-F5344CB8AC3E}">
        <p14:creationId xmlns:p14="http://schemas.microsoft.com/office/powerpoint/2010/main" val="10888253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ection label">
            <a:extLst xmlns:a="http://schemas.openxmlformats.org/drawingml/2006/main">
              <a:ext uri="{FF2B5EF4-FFF2-40B4-BE49-F238E27FC236}">
                <a16:creationId xmlns:a16="http://schemas.microsoft.com/office/drawing/2014/main" id="{2BD66EC5-025A-4834-9F5B-36834A2E6371}"/>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IMPLEMENTATION</a:t>
            </a:r>
          </a:p>
        </p:txBody>
      </p:sp>
      <p:sp>
        <p:nvSpPr>
          <p:cNvPr id="2" name="Slide title">
            <a:extLst xmlns:a="http://schemas.openxmlformats.org/drawingml/2006/main">
              <a:ext uri="{FF2B5EF4-FFF2-40B4-BE49-F238E27FC236}">
                <a16:creationId xmlns:a16="http://schemas.microsoft.com/office/drawing/2014/main" id="{20D45BA5-665D-4CBB-A0D4-A273D8615FAD}"/>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Integration feedback shaped the next iteration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ff9ab1c941947b6"/>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13D0AE-9E1B-41D6-989F-472020585FB0}"/>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05B75046-A44C-4F29-A534-53F08F6B079C}"/>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77F6FF93-3A72-4C1A-A05E-8FF0A14149FD}"/>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27</a:t>
            </a:r>
          </a:p>
        </p:txBody>
      </p:sp>
      <p:sp>
        <p:nvSpPr>
          <p:cNvPr id="7" name="">
            <a:extLst xmlns:a="http://schemas.openxmlformats.org/drawingml/2006/main">
              <a:ext uri="{FF2B5EF4-FFF2-40B4-BE49-F238E27FC236}">
                <a16:creationId xmlns:a16="http://schemas.microsoft.com/office/drawing/2014/main" id="{7C1707DA-087E-414C-A9FD-93B5773D0443}"/>
              </a:ext>
            </a:extLst>
          </p:cNvPr>
          <p:cNvSpPr>
            <a:spLocks xmlns:a="http://schemas.openxmlformats.org/drawingml/2006/main" noGrp="1"/>
          </p:cNvSpPr>
          <p:nvPr/>
        </p:nvSpPr>
        <p:spPr>
          <a:xfrm xmlns:a="http://schemas.openxmlformats.org/drawingml/2006/main">
            <a:off x="1504950" y="1657350"/>
            <a:ext cx="0" cy="3943350"/>
          </a:xfrm>
          <a:prstGeom xmlns:a="http://schemas.openxmlformats.org/drawingml/2006/main" prst="line">
            <a:avLst/>
          </a:prstGeom>
          <a:noFill xmlns:a="http://schemas.openxmlformats.org/drawingml/2006/main"/>
          <a:ln xmlns:a="http://schemas.openxmlformats.org/drawingml/2006/main" w="38100">
            <a:solidFill>
              <a:srgbClr val="DDE3E8"/>
            </a:solidFill>
            <a:prstDash val="solid"/>
          </a:ln>
        </p:spPr>
      </p:sp>
      <p:sp>
        <p:nvSpPr>
          <p:cNvPr id="8" name="">
            <a:extLst xmlns:a="http://schemas.openxmlformats.org/drawingml/2006/main">
              <a:ext uri="{FF2B5EF4-FFF2-40B4-BE49-F238E27FC236}">
                <a16:creationId xmlns:a16="http://schemas.microsoft.com/office/drawing/2014/main" id="{B9370755-F5A3-4134-A909-611F54C6C060}"/>
              </a:ext>
            </a:extLst>
          </p:cNvPr>
          <p:cNvSpPr>
            <a:spLocks xmlns:a="http://schemas.openxmlformats.org/drawingml/2006/main" noGrp="1"/>
          </p:cNvSpPr>
          <p:nvPr/>
        </p:nvSpPr>
        <p:spPr>
          <a:xfrm xmlns:a="http://schemas.openxmlformats.org/drawingml/2006/main">
            <a:off x="1257300" y="1543050"/>
            <a:ext cx="495300" cy="4953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BC89356-8FD4-4621-A9CC-3C66796569A6}"/>
              </a:ext>
            </a:extLst>
          </p:cNvPr>
          <p:cNvSpPr>
            <a:spLocks xmlns:a="http://schemas.openxmlformats.org/drawingml/2006/main" noGrp="1"/>
          </p:cNvSpPr>
          <p:nvPr/>
        </p:nvSpPr>
        <p:spPr>
          <a:xfrm xmlns:a="http://schemas.openxmlformats.org/drawingml/2006/main">
            <a:off x="723900" y="1657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0065BD"/>
                </a:solidFill>
                <a:latin typeface="Arial"/>
                <a:ea typeface="Arial"/>
                <a:cs typeface="Arial"/>
              </a:defRPr>
            </a:pPr>
            <a:r>
              <a:rPr sz="1050" b="1">
                <a:solidFill>
                  <a:srgbClr val="0065BD"/>
                </a:solidFill>
                <a:latin typeface="Arial"/>
                <a:ea typeface="Arial"/>
                <a:cs typeface="Arial"/>
              </a:rPr>
              <a:t>FEB</a:t>
            </a:r>
          </a:p>
        </p:txBody>
      </p:sp>
      <p:sp>
        <p:nvSpPr>
          <p:cNvPr id="10" name="">
            <a:extLst xmlns:a="http://schemas.openxmlformats.org/drawingml/2006/main">
              <a:ext uri="{FF2B5EF4-FFF2-40B4-BE49-F238E27FC236}">
                <a16:creationId xmlns:a16="http://schemas.microsoft.com/office/drawing/2014/main" id="{995F0001-E599-4F0F-8C76-83FD4583B4FE}"/>
              </a:ext>
            </a:extLst>
          </p:cNvPr>
          <p:cNvSpPr>
            <a:spLocks xmlns:a="http://schemas.openxmlformats.org/drawingml/2006/main" noGrp="1"/>
          </p:cNvSpPr>
          <p:nvPr/>
        </p:nvSpPr>
        <p:spPr>
          <a:xfrm xmlns:a="http://schemas.openxmlformats.org/drawingml/2006/main">
            <a:off x="2114550" y="159067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820"/>
                </a:solidFill>
                <a:latin typeface="Arial"/>
                <a:ea typeface="Arial"/>
                <a:cs typeface="Arial"/>
              </a:defRPr>
            </a:pPr>
            <a:r>
              <a:rPr sz="1575" b="0">
                <a:solidFill>
                  <a:srgbClr val="111820"/>
                </a:solidFill>
                <a:latin typeface="Arial"/>
                <a:ea typeface="Arial"/>
                <a:cs typeface="Arial"/>
              </a:rPr>
              <a:t>Mobile export | VS Code migration | server-side PDF begins</a:t>
            </a:r>
          </a:p>
        </p:txBody>
      </p:sp>
      <p:sp>
        <p:nvSpPr>
          <p:cNvPr id="11" name="">
            <a:extLst xmlns:a="http://schemas.openxmlformats.org/drawingml/2006/main">
              <a:ext uri="{FF2B5EF4-FFF2-40B4-BE49-F238E27FC236}">
                <a16:creationId xmlns:a16="http://schemas.microsoft.com/office/drawing/2014/main" id="{FE20B34E-10EE-4461-B67A-91C014BE9169}"/>
              </a:ext>
            </a:extLst>
          </p:cNvPr>
          <p:cNvSpPr>
            <a:spLocks xmlns:a="http://schemas.openxmlformats.org/drawingml/2006/main" noGrp="1"/>
          </p:cNvSpPr>
          <p:nvPr/>
        </p:nvSpPr>
        <p:spPr>
          <a:xfrm xmlns:a="http://schemas.openxmlformats.org/drawingml/2006/main">
            <a:off x="2114550" y="2171700"/>
            <a:ext cx="87630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12" name="">
            <a:extLst xmlns:a="http://schemas.openxmlformats.org/drawingml/2006/main">
              <a:ext uri="{FF2B5EF4-FFF2-40B4-BE49-F238E27FC236}">
                <a16:creationId xmlns:a16="http://schemas.microsoft.com/office/drawing/2014/main" id="{B9DE70E7-86C8-4433-AA92-E0D081428565}"/>
              </a:ext>
            </a:extLst>
          </p:cNvPr>
          <p:cNvSpPr>
            <a:spLocks xmlns:a="http://schemas.openxmlformats.org/drawingml/2006/main" noGrp="1"/>
          </p:cNvSpPr>
          <p:nvPr/>
        </p:nvSpPr>
        <p:spPr>
          <a:xfrm xmlns:a="http://schemas.openxmlformats.org/drawingml/2006/main">
            <a:off x="1257300" y="2457450"/>
            <a:ext cx="495300" cy="495300"/>
          </a:xfrm>
          <a:prstGeom xmlns:a="http://schemas.openxmlformats.org/drawingml/2006/main" prst="ellipse">
            <a:avLst/>
          </a:prstGeom>
          <a:solidFill xmlns:a="http://schemas.openxmlformats.org/drawingml/2006/main">
            <a:srgbClr val="64A0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74A066-E9FC-491D-90EB-C6FB7E34C50F}"/>
              </a:ext>
            </a:extLst>
          </p:cNvPr>
          <p:cNvSpPr>
            <a:spLocks xmlns:a="http://schemas.openxmlformats.org/drawingml/2006/main" noGrp="1"/>
          </p:cNvSpPr>
          <p:nvPr/>
        </p:nvSpPr>
        <p:spPr>
          <a:xfrm xmlns:a="http://schemas.openxmlformats.org/drawingml/2006/main">
            <a:off x="723900" y="2571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64A0C8"/>
                </a:solidFill>
                <a:latin typeface="Arial"/>
                <a:ea typeface="Arial"/>
                <a:cs typeface="Arial"/>
              </a:defRPr>
            </a:pPr>
            <a:r>
              <a:rPr sz="1050" b="1">
                <a:solidFill>
                  <a:srgbClr val="64A0C8"/>
                </a:solidFill>
                <a:latin typeface="Arial"/>
                <a:ea typeface="Arial"/>
                <a:cs typeface="Arial"/>
              </a:rPr>
              <a:t>MAR</a:t>
            </a:r>
          </a:p>
        </p:txBody>
      </p:sp>
      <p:sp>
        <p:nvSpPr>
          <p:cNvPr id="14" name="">
            <a:extLst xmlns:a="http://schemas.openxmlformats.org/drawingml/2006/main">
              <a:ext uri="{FF2B5EF4-FFF2-40B4-BE49-F238E27FC236}">
                <a16:creationId xmlns:a16="http://schemas.microsoft.com/office/drawing/2014/main" id="{47A2D4A3-CF1C-4920-BBE2-E0E4F5EEBEDE}"/>
              </a:ext>
            </a:extLst>
          </p:cNvPr>
          <p:cNvSpPr>
            <a:spLocks xmlns:a="http://schemas.openxmlformats.org/drawingml/2006/main" noGrp="1"/>
          </p:cNvSpPr>
          <p:nvPr/>
        </p:nvSpPr>
        <p:spPr>
          <a:xfrm xmlns:a="http://schemas.openxmlformats.org/drawingml/2006/main">
            <a:off x="2114550" y="250507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820"/>
                </a:solidFill>
                <a:latin typeface="Arial"/>
                <a:ea typeface="Arial"/>
                <a:cs typeface="Arial"/>
              </a:defRPr>
            </a:pPr>
            <a:r>
              <a:rPr sz="1575" b="0">
                <a:solidFill>
                  <a:srgbClr val="111820"/>
                </a:solidFill>
                <a:latin typeface="Arial"/>
                <a:ea typeface="Arial"/>
                <a:cs typeface="Arial"/>
              </a:rPr>
              <a:t>Editing and alignment | SVG compatibility | rendering</a:t>
            </a:r>
          </a:p>
        </p:txBody>
      </p:sp>
      <p:sp>
        <p:nvSpPr>
          <p:cNvPr id="15" name="">
            <a:extLst xmlns:a="http://schemas.openxmlformats.org/drawingml/2006/main">
              <a:ext uri="{FF2B5EF4-FFF2-40B4-BE49-F238E27FC236}">
                <a16:creationId xmlns:a16="http://schemas.microsoft.com/office/drawing/2014/main" id="{9EE1C869-9FFE-4DC9-BDCD-AFD4891BC30A}"/>
              </a:ext>
            </a:extLst>
          </p:cNvPr>
          <p:cNvSpPr>
            <a:spLocks xmlns:a="http://schemas.openxmlformats.org/drawingml/2006/main" noGrp="1"/>
          </p:cNvSpPr>
          <p:nvPr/>
        </p:nvSpPr>
        <p:spPr>
          <a:xfrm xmlns:a="http://schemas.openxmlformats.org/drawingml/2006/main">
            <a:off x="2114550" y="3086100"/>
            <a:ext cx="87630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16" name="">
            <a:extLst xmlns:a="http://schemas.openxmlformats.org/drawingml/2006/main">
              <a:ext uri="{FF2B5EF4-FFF2-40B4-BE49-F238E27FC236}">
                <a16:creationId xmlns:a16="http://schemas.microsoft.com/office/drawing/2014/main" id="{61FAFDB7-EC71-4CFE-B887-4615E5E9ADCE}"/>
              </a:ext>
            </a:extLst>
          </p:cNvPr>
          <p:cNvSpPr>
            <a:spLocks xmlns:a="http://schemas.openxmlformats.org/drawingml/2006/main" noGrp="1"/>
          </p:cNvSpPr>
          <p:nvPr/>
        </p:nvSpPr>
        <p:spPr>
          <a:xfrm xmlns:a="http://schemas.openxmlformats.org/drawingml/2006/main">
            <a:off x="1257300" y="3371850"/>
            <a:ext cx="495300" cy="495300"/>
          </a:xfrm>
          <a:prstGeom xmlns:a="http://schemas.openxmlformats.org/drawingml/2006/main" prst="ellipse">
            <a:avLst/>
          </a:prstGeom>
          <a:solidFill xmlns:a="http://schemas.openxmlformats.org/drawingml/2006/main">
            <a:srgbClr val="E3722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1088D61-72AB-4C0C-BA9F-96568615B527}"/>
              </a:ext>
            </a:extLst>
          </p:cNvPr>
          <p:cNvSpPr>
            <a:spLocks xmlns:a="http://schemas.openxmlformats.org/drawingml/2006/main" noGrp="1"/>
          </p:cNvSpPr>
          <p:nvPr/>
        </p:nvSpPr>
        <p:spPr>
          <a:xfrm xmlns:a="http://schemas.openxmlformats.org/drawingml/2006/main">
            <a:off x="723900" y="34861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E37222"/>
                </a:solidFill>
                <a:latin typeface="Arial"/>
                <a:ea typeface="Arial"/>
                <a:cs typeface="Arial"/>
              </a:defRPr>
            </a:pPr>
            <a:r>
              <a:rPr sz="1050" b="1">
                <a:solidFill>
                  <a:srgbClr val="E37222"/>
                </a:solidFill>
                <a:latin typeface="Arial"/>
                <a:ea typeface="Arial"/>
                <a:cs typeface="Arial"/>
              </a:rPr>
              <a:t>APR</a:t>
            </a:r>
          </a:p>
        </p:txBody>
      </p:sp>
      <p:sp>
        <p:nvSpPr>
          <p:cNvPr id="18" name="">
            <a:extLst xmlns:a="http://schemas.openxmlformats.org/drawingml/2006/main">
              <a:ext uri="{FF2B5EF4-FFF2-40B4-BE49-F238E27FC236}">
                <a16:creationId xmlns:a16="http://schemas.microsoft.com/office/drawing/2014/main" id="{51E269E4-AF75-4551-8482-4965397DE740}"/>
              </a:ext>
            </a:extLst>
          </p:cNvPr>
          <p:cNvSpPr>
            <a:spLocks xmlns:a="http://schemas.openxmlformats.org/drawingml/2006/main" noGrp="1"/>
          </p:cNvSpPr>
          <p:nvPr/>
        </p:nvSpPr>
        <p:spPr>
          <a:xfrm xmlns:a="http://schemas.openxmlformats.org/drawingml/2006/main">
            <a:off x="2114550" y="341947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820"/>
                </a:solidFill>
                <a:latin typeface="Arial"/>
                <a:ea typeface="Arial"/>
                <a:cs typeface="Arial"/>
              </a:defRPr>
            </a:pPr>
            <a:r>
              <a:rPr sz="1575" b="1">
                <a:solidFill>
                  <a:srgbClr val="111820"/>
                </a:solidFill>
                <a:latin typeface="Arial"/>
                <a:ea typeface="Arial"/>
                <a:cs typeface="Arial"/>
              </a:rPr>
              <a:t>Artemis migration | Athena compatibility | quiz generation</a:t>
            </a:r>
          </a:p>
        </p:txBody>
      </p:sp>
      <p:sp>
        <p:nvSpPr>
          <p:cNvPr id="19" name="">
            <a:extLst xmlns:a="http://schemas.openxmlformats.org/drawingml/2006/main">
              <a:ext uri="{FF2B5EF4-FFF2-40B4-BE49-F238E27FC236}">
                <a16:creationId xmlns:a16="http://schemas.microsoft.com/office/drawing/2014/main" id="{48127176-2F1F-4908-89B0-964E2126E83B}"/>
              </a:ext>
            </a:extLst>
          </p:cNvPr>
          <p:cNvSpPr>
            <a:spLocks xmlns:a="http://schemas.openxmlformats.org/drawingml/2006/main" noGrp="1"/>
          </p:cNvSpPr>
          <p:nvPr/>
        </p:nvSpPr>
        <p:spPr>
          <a:xfrm xmlns:a="http://schemas.openxmlformats.org/drawingml/2006/main">
            <a:off x="2114550" y="4000500"/>
            <a:ext cx="87630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20" name="">
            <a:extLst xmlns:a="http://schemas.openxmlformats.org/drawingml/2006/main">
              <a:ext uri="{FF2B5EF4-FFF2-40B4-BE49-F238E27FC236}">
                <a16:creationId xmlns:a16="http://schemas.microsoft.com/office/drawing/2014/main" id="{23AA3C82-34F7-46BE-B9F1-C627CE962BB6}"/>
              </a:ext>
            </a:extLst>
          </p:cNvPr>
          <p:cNvSpPr>
            <a:spLocks xmlns:a="http://schemas.openxmlformats.org/drawingml/2006/main" noGrp="1"/>
          </p:cNvSpPr>
          <p:nvPr/>
        </p:nvSpPr>
        <p:spPr>
          <a:xfrm xmlns:a="http://schemas.openxmlformats.org/drawingml/2006/main">
            <a:off x="1257300" y="4286250"/>
            <a:ext cx="495300" cy="495300"/>
          </a:xfrm>
          <a:prstGeom xmlns:a="http://schemas.openxmlformats.org/drawingml/2006/main" prst="ellipse">
            <a:avLst/>
          </a:prstGeom>
          <a:solidFill xmlns:a="http://schemas.openxmlformats.org/drawingml/2006/main">
            <a:srgbClr val="A2AD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5771695-6E47-41ED-AA82-01FBA6FE40A6}"/>
              </a:ext>
            </a:extLst>
          </p:cNvPr>
          <p:cNvSpPr>
            <a:spLocks xmlns:a="http://schemas.openxmlformats.org/drawingml/2006/main" noGrp="1"/>
          </p:cNvSpPr>
          <p:nvPr/>
        </p:nvSpPr>
        <p:spPr>
          <a:xfrm xmlns:a="http://schemas.openxmlformats.org/drawingml/2006/main">
            <a:off x="723900" y="44005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A2AD00"/>
                </a:solidFill>
                <a:latin typeface="Arial"/>
                <a:ea typeface="Arial"/>
                <a:cs typeface="Arial"/>
              </a:defRPr>
            </a:pPr>
            <a:r>
              <a:rPr sz="1050" b="1">
                <a:solidFill>
                  <a:srgbClr val="A2AD00"/>
                </a:solidFill>
                <a:latin typeface="Arial"/>
                <a:ea typeface="Arial"/>
                <a:cs typeface="Arial"/>
              </a:rPr>
              <a:t>MAY</a:t>
            </a:r>
          </a:p>
        </p:txBody>
      </p:sp>
      <p:sp>
        <p:nvSpPr>
          <p:cNvPr id="22" name="">
            <a:extLst xmlns:a="http://schemas.openxmlformats.org/drawingml/2006/main">
              <a:ext uri="{FF2B5EF4-FFF2-40B4-BE49-F238E27FC236}">
                <a16:creationId xmlns:a16="http://schemas.microsoft.com/office/drawing/2014/main" id="{A778562C-C98D-4661-B8C2-368E1C02DBF4}"/>
              </a:ext>
            </a:extLst>
          </p:cNvPr>
          <p:cNvSpPr>
            <a:spLocks xmlns:a="http://schemas.openxmlformats.org/drawingml/2006/main" noGrp="1"/>
          </p:cNvSpPr>
          <p:nvPr/>
        </p:nvSpPr>
        <p:spPr>
          <a:xfrm xmlns:a="http://schemas.openxmlformats.org/drawingml/2006/main">
            <a:off x="2114550" y="433387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820"/>
                </a:solidFill>
                <a:latin typeface="Arial"/>
                <a:ea typeface="Arial"/>
                <a:cs typeface="Arial"/>
              </a:defRPr>
            </a:pPr>
            <a:r>
              <a:rPr sz="1575" b="1">
                <a:solidFill>
                  <a:srgbClr val="111820"/>
                </a:solidFill>
                <a:latin typeface="Arial"/>
                <a:ea typeface="Arial"/>
                <a:cs typeface="Arial"/>
              </a:rPr>
              <a:t>Nested quiz selections | assessment | mobile PPTX | collaboration</a:t>
            </a:r>
          </a:p>
        </p:txBody>
      </p:sp>
      <p:sp>
        <p:nvSpPr>
          <p:cNvPr id="23" name="">
            <a:extLst xmlns:a="http://schemas.openxmlformats.org/drawingml/2006/main">
              <a:ext uri="{FF2B5EF4-FFF2-40B4-BE49-F238E27FC236}">
                <a16:creationId xmlns:a16="http://schemas.microsoft.com/office/drawing/2014/main" id="{26C7321E-9CB9-446C-AF3C-F36FE8F6C20F}"/>
              </a:ext>
            </a:extLst>
          </p:cNvPr>
          <p:cNvSpPr>
            <a:spLocks xmlns:a="http://schemas.openxmlformats.org/drawingml/2006/main" noGrp="1"/>
          </p:cNvSpPr>
          <p:nvPr/>
        </p:nvSpPr>
        <p:spPr>
          <a:xfrm xmlns:a="http://schemas.openxmlformats.org/drawingml/2006/main">
            <a:off x="2114550" y="4914900"/>
            <a:ext cx="87630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24" name="">
            <a:extLst xmlns:a="http://schemas.openxmlformats.org/drawingml/2006/main">
              <a:ext uri="{FF2B5EF4-FFF2-40B4-BE49-F238E27FC236}">
                <a16:creationId xmlns:a16="http://schemas.microsoft.com/office/drawing/2014/main" id="{298A52C9-13DF-465D-9B97-6FDFA8208F76}"/>
              </a:ext>
            </a:extLst>
          </p:cNvPr>
          <p:cNvSpPr>
            <a:spLocks xmlns:a="http://schemas.openxmlformats.org/drawingml/2006/main" noGrp="1"/>
          </p:cNvSpPr>
          <p:nvPr/>
        </p:nvSpPr>
        <p:spPr>
          <a:xfrm xmlns:a="http://schemas.openxmlformats.org/drawingml/2006/main">
            <a:off x="1257300" y="5200650"/>
            <a:ext cx="495300" cy="495300"/>
          </a:xfrm>
          <a:prstGeom xmlns:a="http://schemas.openxmlformats.org/drawingml/2006/main" prst="ellipse">
            <a:avLst/>
          </a:prstGeom>
          <a:solidFill xmlns:a="http://schemas.openxmlformats.org/drawingml/2006/main">
            <a:srgbClr val="0065B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7C484E1-C345-439C-9B3E-2A6103265D30}"/>
              </a:ext>
            </a:extLst>
          </p:cNvPr>
          <p:cNvSpPr>
            <a:spLocks xmlns:a="http://schemas.openxmlformats.org/drawingml/2006/main" noGrp="1"/>
          </p:cNvSpPr>
          <p:nvPr/>
        </p:nvSpPr>
        <p:spPr>
          <a:xfrm xmlns:a="http://schemas.openxmlformats.org/drawingml/2006/main">
            <a:off x="723900" y="53149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0065BD"/>
                </a:solidFill>
                <a:latin typeface="Arial"/>
                <a:ea typeface="Arial"/>
                <a:cs typeface="Arial"/>
              </a:defRPr>
            </a:pPr>
            <a:r>
              <a:rPr sz="1050" b="1">
                <a:solidFill>
                  <a:srgbClr val="0065BD"/>
                </a:solidFill>
                <a:latin typeface="Arial"/>
                <a:ea typeface="Arial"/>
                <a:cs typeface="Arial"/>
              </a:rPr>
              <a:t>JUN</a:t>
            </a:r>
          </a:p>
        </p:txBody>
      </p:sp>
      <p:sp>
        <p:nvSpPr>
          <p:cNvPr id="26" name="">
            <a:extLst xmlns:a="http://schemas.openxmlformats.org/drawingml/2006/main">
              <a:ext uri="{FF2B5EF4-FFF2-40B4-BE49-F238E27FC236}">
                <a16:creationId xmlns:a16="http://schemas.microsoft.com/office/drawing/2014/main" id="{A73F81D8-0A00-46AC-AA56-EED56057AC9A}"/>
              </a:ext>
            </a:extLst>
          </p:cNvPr>
          <p:cNvSpPr>
            <a:spLocks xmlns:a="http://schemas.openxmlformats.org/drawingml/2006/main" noGrp="1"/>
          </p:cNvSpPr>
          <p:nvPr/>
        </p:nvSpPr>
        <p:spPr>
          <a:xfrm xmlns:a="http://schemas.openxmlformats.org/drawingml/2006/main">
            <a:off x="2114550" y="524827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820"/>
                </a:solidFill>
                <a:latin typeface="Arial"/>
                <a:ea typeface="Arial"/>
                <a:cs typeface="Arial"/>
              </a:defRPr>
            </a:pPr>
            <a:r>
              <a:rPr sz="1575" b="1">
                <a:solidFill>
                  <a:srgbClr val="111820"/>
                </a:solidFill>
                <a:latin typeface="Arial"/>
                <a:ea typeface="Arial"/>
                <a:cs typeface="Arial"/>
              </a:rPr>
              <a:t>Standalone home | Artemis team awareness | edge overhaul | UI modernization</a:t>
            </a:r>
          </a:p>
        </p:txBody>
      </p:sp>
      <p:sp>
        <p:nvSpPr>
          <p:cNvPr id="27" name="">
            <a:extLst xmlns:a="http://schemas.openxmlformats.org/drawingml/2006/main">
              <a:ext uri="{FF2B5EF4-FFF2-40B4-BE49-F238E27FC236}">
                <a16:creationId xmlns:a16="http://schemas.microsoft.com/office/drawing/2014/main" id="{D81FE93E-9A59-41CB-8753-27018A80A89E}"/>
              </a:ext>
            </a:extLst>
          </p:cNvPr>
          <p:cNvSpPr>
            <a:spLocks xmlns:a="http://schemas.openxmlformats.org/drawingml/2006/main" noGrp="1"/>
          </p:cNvSpPr>
          <p:nvPr/>
        </p:nvSpPr>
        <p:spPr>
          <a:xfrm xmlns:a="http://schemas.openxmlformats.org/drawingml/2006/main">
            <a:off x="2114550" y="57721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E37222"/>
                </a:solidFill>
                <a:latin typeface="Arial"/>
                <a:ea typeface="Arial"/>
                <a:cs typeface="Arial"/>
              </a:defRPr>
            </a:pPr>
            <a:r>
              <a:rPr sz="1275" b="1">
                <a:solidFill>
                  <a:srgbClr val="E37222"/>
                </a:solidFill>
                <a:latin typeface="Arial"/>
                <a:ea typeface="Arial"/>
                <a:cs typeface="Arial"/>
              </a:rPr>
              <a:t>Artemis integration exposed quiz and assessment gaps; team modeling then pulled awareness into the reusable library.</a:t>
            </a:r>
          </a:p>
        </p:txBody>
      </p:sp>
    </p:spTree>
    <p:extLst>
      <p:ext uri="{BB962C8B-B14F-4D97-AF65-F5344CB8AC3E}">
        <p14:creationId xmlns:p14="http://schemas.microsoft.com/office/powerpoint/2010/main" val="11159781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label">
            <a:extLst xmlns:a="http://schemas.openxmlformats.org/drawingml/2006/main">
              <a:ext uri="{FF2B5EF4-FFF2-40B4-BE49-F238E27FC236}">
                <a16:creationId xmlns:a16="http://schemas.microsoft.com/office/drawing/2014/main" id="{89F6AF9E-3BD3-4FA4-9C7E-85127763A6B1}"/>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CONTRIBUTIONS</a:t>
            </a:r>
          </a:p>
        </p:txBody>
      </p:sp>
      <p:sp>
        <p:nvSpPr>
          <p:cNvPr id="2" name="Slide title">
            <a:extLst xmlns:a="http://schemas.openxmlformats.org/drawingml/2006/main">
              <a:ext uri="{FF2B5EF4-FFF2-40B4-BE49-F238E27FC236}">
                <a16:creationId xmlns:a16="http://schemas.microsoft.com/office/drawing/2014/main" id="{551940C9-7EDE-4113-8FB4-C8077989743E}"/>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Contribution ownership is documented for handoffs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ec1c566b2a4498a"/>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8EB36E-7FD0-47AC-96B8-034CE8D65FC6}"/>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6BF6E1BF-3426-43A1-BD7D-F1D04502A2AA}"/>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670DC000-6E5C-4CB4-948D-91DDB3205E68}"/>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28</a:t>
            </a:r>
          </a:p>
        </p:txBody>
      </p:sp>
      <p:sp>
        <p:nvSpPr>
          <p:cNvPr id="7" name="">
            <a:extLst xmlns:a="http://schemas.openxmlformats.org/drawingml/2006/main">
              <a:ext uri="{FF2B5EF4-FFF2-40B4-BE49-F238E27FC236}">
                <a16:creationId xmlns:a16="http://schemas.microsoft.com/office/drawing/2014/main" id="{3C078DAA-8F25-4DDA-8271-BBCEDB0870B5}"/>
              </a:ext>
            </a:extLst>
          </p:cNvPr>
          <p:cNvSpPr>
            <a:spLocks xmlns:a="http://schemas.openxmlformats.org/drawingml/2006/main" noGrp="1"/>
          </p:cNvSpPr>
          <p:nvPr/>
        </p:nvSpPr>
        <p:spPr>
          <a:xfrm xmlns:a="http://schemas.openxmlformats.org/drawingml/2006/main">
            <a:off x="628650" y="1485900"/>
            <a:ext cx="5219700" cy="4171950"/>
          </a:xfrm>
          <a:prstGeom xmlns:a="http://schemas.openxmlformats.org/drawingml/2006/main" prst="roundRect">
            <a:avLst>
              <a:gd name="adj" fmla="val 2740"/>
            </a:avLst>
          </a:prstGeom>
          <a:solidFill xmlns:a="http://schemas.openxmlformats.org/drawingml/2006/main">
            <a:srgbClr val="EAF4FB"/>
          </a:solidFill>
          <a:ln xmlns:a="http://schemas.openxmlformats.org/drawingml/2006/main" w="11430">
            <a:solidFill>
              <a:srgbClr val="98C6EA"/>
            </a:solidFill>
            <a:prstDash val="solid"/>
          </a:ln>
        </p:spPr>
      </p:sp>
      <p:sp>
        <p:nvSpPr>
          <p:cNvPr id="8" name="">
            <a:extLst xmlns:a="http://schemas.openxmlformats.org/drawingml/2006/main">
              <a:ext uri="{FF2B5EF4-FFF2-40B4-BE49-F238E27FC236}">
                <a16:creationId xmlns:a16="http://schemas.microsoft.com/office/drawing/2014/main" id="{42AD2207-9D0B-40F5-8300-6247686EF25A}"/>
              </a:ext>
            </a:extLst>
          </p:cNvPr>
          <p:cNvSpPr>
            <a:spLocks xmlns:a="http://schemas.openxmlformats.org/drawingml/2006/main" noGrp="1"/>
          </p:cNvSpPr>
          <p:nvPr/>
        </p:nvSpPr>
        <p:spPr>
          <a:xfrm xmlns:a="http://schemas.openxmlformats.org/drawingml/2006/main">
            <a:off x="6343650" y="1485900"/>
            <a:ext cx="5219700" cy="4171950"/>
          </a:xfrm>
          <a:prstGeom xmlns:a="http://schemas.openxmlformats.org/drawingml/2006/main" prst="roundRect">
            <a:avLst>
              <a:gd name="adj" fmla="val 2740"/>
            </a:avLst>
          </a:prstGeom>
          <a:solidFill xmlns:a="http://schemas.openxmlformats.org/drawingml/2006/main">
            <a:srgbClr val="F7F9FB"/>
          </a:solidFill>
          <a:ln xmlns:a="http://schemas.openxmlformats.org/drawingml/2006/main" w="11430">
            <a:solidFill>
              <a:srgbClr val="DDE3E8"/>
            </a:solidFill>
            <a:prstDash val="solid"/>
          </a:ln>
        </p:spPr>
      </p:sp>
      <p:sp>
        <p:nvSpPr>
          <p:cNvPr id="9" name="">
            <a:extLst xmlns:a="http://schemas.openxmlformats.org/drawingml/2006/main">
              <a:ext uri="{FF2B5EF4-FFF2-40B4-BE49-F238E27FC236}">
                <a16:creationId xmlns:a16="http://schemas.microsoft.com/office/drawing/2014/main" id="{61B77E96-95C1-4C2E-ADB3-3C77F3152681}"/>
              </a:ext>
            </a:extLst>
          </p:cNvPr>
          <p:cNvSpPr>
            <a:spLocks xmlns:a="http://schemas.openxmlformats.org/drawingml/2006/main" noGrp="1"/>
          </p:cNvSpPr>
          <p:nvPr/>
        </p:nvSpPr>
        <p:spPr>
          <a:xfrm xmlns:a="http://schemas.openxmlformats.org/drawingml/2006/main">
            <a:off x="971550" y="18097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03359"/>
                </a:solidFill>
                <a:latin typeface="Arial"/>
                <a:ea typeface="Arial"/>
                <a:cs typeface="Arial"/>
              </a:defRPr>
            </a:pPr>
            <a:r>
              <a:rPr sz="2025" b="1">
                <a:solidFill>
                  <a:srgbClr val="003359"/>
                </a:solidFill>
                <a:latin typeface="Arial"/>
                <a:ea typeface="Arial"/>
                <a:cs typeface="Arial"/>
              </a:rPr>
              <a:t>Fady - documented inventory</a:t>
            </a:r>
          </a:p>
        </p:txBody>
      </p:sp>
      <p:sp>
        <p:nvSpPr>
          <p:cNvPr id="10" name="">
            <a:extLst xmlns:a="http://schemas.openxmlformats.org/drawingml/2006/main">
              <a:ext uri="{FF2B5EF4-FFF2-40B4-BE49-F238E27FC236}">
                <a16:creationId xmlns:a16="http://schemas.microsoft.com/office/drawing/2014/main" id="{18B63308-8054-4508-BF75-B484B4FA0EAA}"/>
              </a:ext>
            </a:extLst>
          </p:cNvPr>
          <p:cNvSpPr>
            <a:spLocks xmlns:a="http://schemas.openxmlformats.org/drawingml/2006/main" noGrp="1"/>
          </p:cNvSpPr>
          <p:nvPr/>
        </p:nvSpPr>
        <p:spPr>
          <a:xfrm xmlns:a="http://schemas.openxmlformats.org/drawingml/2006/main">
            <a:off x="990600" y="2438400"/>
            <a:ext cx="4305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Edge interaction and usability</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Standalone dashboard, routing, and UI modernization</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Server PDF and SVG/export correctness</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Artemis quiz generation and nested selections</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Assessment fixes and migration contributions</a:t>
            </a:r>
          </a:p>
        </p:txBody>
      </p:sp>
      <p:sp>
        <p:nvSpPr>
          <p:cNvPr id="11" name="">
            <a:extLst xmlns:a="http://schemas.openxmlformats.org/drawingml/2006/main">
              <a:ext uri="{FF2B5EF4-FFF2-40B4-BE49-F238E27FC236}">
                <a16:creationId xmlns:a16="http://schemas.microsoft.com/office/drawing/2014/main" id="{E2840A15-99F5-47F7-9081-C0BA756C8BD3}"/>
              </a:ext>
            </a:extLst>
          </p:cNvPr>
          <p:cNvSpPr>
            <a:spLocks xmlns:a="http://schemas.openxmlformats.org/drawingml/2006/main" noGrp="1"/>
          </p:cNvSpPr>
          <p:nvPr/>
        </p:nvSpPr>
        <p:spPr>
          <a:xfrm xmlns:a="http://schemas.openxmlformats.org/drawingml/2006/main">
            <a:off x="6686550" y="18097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03359"/>
                </a:solidFill>
                <a:latin typeface="Arial"/>
                <a:ea typeface="Arial"/>
                <a:cs typeface="Arial"/>
              </a:defRPr>
            </a:pPr>
            <a:r>
              <a:rPr sz="2025" b="1">
                <a:solidFill>
                  <a:srgbClr val="003359"/>
                </a:solidFill>
                <a:latin typeface="Arial"/>
                <a:ea typeface="Arial"/>
                <a:cs typeface="Arial"/>
              </a:rPr>
              <a:t>Ravi - remaining thesis work</a:t>
            </a:r>
          </a:p>
        </p:txBody>
      </p:sp>
      <p:sp>
        <p:nvSpPr>
          <p:cNvPr id="12" name="">
            <a:extLst xmlns:a="http://schemas.openxmlformats.org/drawingml/2006/main">
              <a:ext uri="{FF2B5EF4-FFF2-40B4-BE49-F238E27FC236}">
                <a16:creationId xmlns:a16="http://schemas.microsoft.com/office/drawing/2014/main" id="{090BBBC3-8594-4958-A7C2-48733CEA9BE1}"/>
              </a:ext>
            </a:extLst>
          </p:cNvPr>
          <p:cNvSpPr>
            <a:spLocks xmlns:a="http://schemas.openxmlformats.org/drawingml/2006/main" noGrp="1"/>
          </p:cNvSpPr>
          <p:nvPr/>
        </p:nvSpPr>
        <p:spPr>
          <a:xfrm xmlns:a="http://schemas.openxmlformats.org/drawingml/2006/main">
            <a:off x="6705600" y="2438400"/>
            <a:ext cx="4305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Mobile/iOS support</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Collaboration awareness and library reuse</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Athena model compatibility</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VS Code extension migration</a:t>
            </a:r>
          </a:p>
          <a:p xmlns:a="http://schemas.openxmlformats.org/drawingml/2006/main">
            <a:pPr algn="l">
              <a:defRPr sz="1425" b="0">
                <a:solidFill>
                  <a:srgbClr val="56616B"/>
                </a:solidFill>
                <a:latin typeface="Arial"/>
                <a:ea typeface="Arial"/>
                <a:cs typeface="Arial"/>
              </a:defRPr>
            </a:pPr>
            <a:r>
              <a:rPr sz="1425" b="0">
                <a:solidFill>
                  <a:srgbClr val="56616B"/>
                </a:solidFill>
                <a:latin typeface="Arial"/>
                <a:ea typeface="Arial"/>
                <a:cs typeface="Arial"/>
              </a:rPr>
              <a:t>Remaining joint ecosystem integration described by the thesis</a:t>
            </a:r>
          </a:p>
        </p:txBody>
      </p:sp>
      <p:sp>
        <p:nvSpPr>
          <p:cNvPr id="13" name="">
            <a:extLst xmlns:a="http://schemas.openxmlformats.org/drawingml/2006/main">
              <a:ext uri="{FF2B5EF4-FFF2-40B4-BE49-F238E27FC236}">
                <a16:creationId xmlns:a16="http://schemas.microsoft.com/office/drawing/2014/main" id="{7BAC44F7-8F0A-4D62-AE27-567C26A6C1B9}"/>
              </a:ext>
            </a:extLst>
          </p:cNvPr>
          <p:cNvSpPr>
            <a:spLocks xmlns:a="http://schemas.openxmlformats.org/drawingml/2006/main" noGrp="1"/>
          </p:cNvSpPr>
          <p:nvPr/>
        </p:nvSpPr>
        <p:spPr>
          <a:xfrm xmlns:a="http://schemas.openxmlformats.org/drawingml/2006/main">
            <a:off x="1466850" y="5943600"/>
            <a:ext cx="925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E37222"/>
                </a:solidFill>
                <a:latin typeface="Arial"/>
                <a:ea typeface="Arial"/>
                <a:cs typeface="Arial"/>
              </a:defRPr>
            </a:pPr>
            <a:r>
              <a:rPr sz="1350" b="1">
                <a:solidFill>
                  <a:srgbClr val="E37222"/>
                </a:solidFill>
                <a:latin typeface="Arial"/>
                <a:ea typeface="Arial"/>
                <a:cs typeface="Arial"/>
              </a:rPr>
              <a:t>The main story is joint; this appendix supports detailed implementation questions and speaker handoffs.</a:t>
            </a:r>
          </a:p>
        </p:txBody>
      </p:sp>
    </p:spTree>
    <p:extLst>
      <p:ext uri="{BB962C8B-B14F-4D97-AF65-F5344CB8AC3E}">
        <p14:creationId xmlns:p14="http://schemas.microsoft.com/office/powerpoint/2010/main" val="18012331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Section label">
            <a:extLst xmlns:a="http://schemas.openxmlformats.org/drawingml/2006/main">
              <a:ext uri="{FF2B5EF4-FFF2-40B4-BE49-F238E27FC236}">
                <a16:creationId xmlns:a16="http://schemas.microsoft.com/office/drawing/2014/main" id="{192F279F-A2FA-4B9E-BCE8-76C4AD471766}"/>
              </a:ext>
            </a:extLst>
          </p:cNvPr>
          <p:cNvSpPr>
            <a:spLocks xmlns:a="http://schemas.openxmlformats.org/drawingml/2006/main" noGrp="1"/>
          </p:cNvSpPr>
          <p:nvPr/>
        </p:nvSpPr>
        <p:spPr>
          <a:xfrm xmlns:a="http://schemas.openxmlformats.org/drawingml/2006/main">
            <a:off x="495300" y="21907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065BD"/>
                </a:solidFill>
                <a:latin typeface="Arial"/>
                <a:ea typeface="Arial"/>
                <a:cs typeface="Arial"/>
              </a:defRPr>
            </a:pPr>
            <a:r>
              <a:rPr sz="900" b="1">
                <a:solidFill>
                  <a:srgbClr val="0065BD"/>
                </a:solidFill>
                <a:latin typeface="Arial"/>
                <a:ea typeface="Arial"/>
                <a:cs typeface="Arial"/>
              </a:rPr>
              <a:t>APPENDIX | DIAGRAM SOURCES</a:t>
            </a:r>
          </a:p>
        </p:txBody>
      </p:sp>
      <p:sp>
        <p:nvSpPr>
          <p:cNvPr id="2" name="Slide title">
            <a:extLst xmlns:a="http://schemas.openxmlformats.org/drawingml/2006/main">
              <a:ext uri="{FF2B5EF4-FFF2-40B4-BE49-F238E27FC236}">
                <a16:creationId xmlns:a16="http://schemas.microsoft.com/office/drawing/2014/main" id="{A250A487-F25D-45F6-B062-625B3194801C}"/>
              </a:ext>
            </a:extLst>
          </p:cNvPr>
          <p:cNvSpPr>
            <a:spLocks xmlns:a="http://schemas.openxmlformats.org/drawingml/2006/main" noGrp="1"/>
          </p:cNvSpPr>
          <p:nvPr/>
        </p:nvSpPr>
        <p:spPr>
          <a:xfrm xmlns:a="http://schemas.openxmlformats.org/drawingml/2006/main">
            <a:off x="495300" y="4572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11820"/>
                </a:solidFill>
                <a:latin typeface="Arial"/>
                <a:ea typeface="Arial"/>
                <a:cs typeface="Arial"/>
              </a:defRPr>
            </a:pPr>
            <a:r>
              <a:rPr sz="2625" b="1">
                <a:solidFill>
                  <a:srgbClr val="111820"/>
                </a:solidFill>
                <a:latin typeface="Arial"/>
                <a:ea typeface="Arial"/>
                <a:cs typeface="Arial"/>
              </a:rPr>
              <a:t>Every formal model has a saved Apollon source</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08ee5b352314c05"/>
          <a:stretch xmlns:a="http://schemas.openxmlformats.org/drawingml/2006/main"/>
        </p:blipFill>
        <p:spPr>
          <a:xfrm xmlns:a="http://schemas.openxmlformats.org/drawingml/2006/main">
            <a:off x="11106150" y="219847"/>
            <a:ext cx="647700" cy="341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B7BAEA6-2201-4E5F-B0C3-85FBC0D2C041}"/>
              </a:ext>
            </a:extLst>
          </p:cNvPr>
          <p:cNvSpPr>
            <a:spLocks xmlns:a="http://schemas.openxmlformats.org/drawingml/2006/main" noGrp="1"/>
          </p:cNvSpPr>
          <p:nvPr/>
        </p:nvSpPr>
        <p:spPr>
          <a:xfrm xmlns:a="http://schemas.openxmlformats.org/drawingml/2006/main">
            <a:off x="495300" y="1095375"/>
            <a:ext cx="11258550" cy="9525"/>
          </a:xfrm>
          <a:prstGeom xmlns:a="http://schemas.openxmlformats.org/drawingml/2006/main" prst="line">
            <a:avLst/>
          </a:prstGeom>
          <a:noFill xmlns:a="http://schemas.openxmlformats.org/drawingml/2006/main"/>
          <a:ln xmlns:a="http://schemas.openxmlformats.org/drawingml/2006/main" w="11430">
            <a:solidFill>
              <a:srgbClr val="DDE3E8"/>
            </a:solidFill>
            <a:prstDash val="solid"/>
          </a:ln>
        </p:spPr>
      </p:sp>
      <p:sp>
        <p:nvSpPr>
          <p:cNvPr id="5" name="Footer">
            <a:extLst xmlns:a="http://schemas.openxmlformats.org/drawingml/2006/main">
              <a:ext uri="{FF2B5EF4-FFF2-40B4-BE49-F238E27FC236}">
                <a16:creationId xmlns:a16="http://schemas.microsoft.com/office/drawing/2014/main" id="{A80AA908-4BEB-4D0C-8B2F-99F554247ADA}"/>
              </a:ext>
            </a:extLst>
          </p:cNvPr>
          <p:cNvSpPr>
            <a:spLocks xmlns:a="http://schemas.openxmlformats.org/drawingml/2006/main" noGrp="1"/>
          </p:cNvSpPr>
          <p:nvPr/>
        </p:nvSpPr>
        <p:spPr>
          <a:xfrm xmlns:a="http://schemas.openxmlformats.org/drawingml/2006/main">
            <a:off x="495300" y="6486525"/>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6" name="Slide number">
            <a:extLst xmlns:a="http://schemas.openxmlformats.org/drawingml/2006/main">
              <a:ext uri="{FF2B5EF4-FFF2-40B4-BE49-F238E27FC236}">
                <a16:creationId xmlns:a16="http://schemas.microsoft.com/office/drawing/2014/main" id="{D1990896-C55E-4935-9482-C824E0B11927}"/>
              </a:ext>
            </a:extLst>
          </p:cNvPr>
          <p:cNvSpPr>
            <a:spLocks xmlns:a="http://schemas.openxmlformats.org/drawingml/2006/main" noGrp="1"/>
          </p:cNvSpPr>
          <p:nvPr/>
        </p:nvSpPr>
        <p:spPr>
          <a:xfrm xmlns:a="http://schemas.openxmlformats.org/drawingml/2006/main">
            <a:off x="11334750" y="64865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8A949E"/>
                </a:solidFill>
                <a:latin typeface="Arial"/>
                <a:ea typeface="Arial"/>
                <a:cs typeface="Arial"/>
              </a:defRPr>
            </a:pPr>
            <a:r>
              <a:rPr sz="825" b="0">
                <a:solidFill>
                  <a:srgbClr val="8A949E"/>
                </a:solidFill>
                <a:latin typeface="Arial"/>
                <a:ea typeface="Arial"/>
                <a:cs typeface="Arial"/>
              </a:rPr>
              <a:t>29</a:t>
            </a:r>
          </a:p>
        </p:txBody>
      </p:sp>
      <p:sp>
        <p:nvSpPr>
          <p:cNvPr id="7" name="">
            <a:extLst xmlns:a="http://schemas.openxmlformats.org/drawingml/2006/main">
              <a:ext uri="{FF2B5EF4-FFF2-40B4-BE49-F238E27FC236}">
                <a16:creationId xmlns:a16="http://schemas.microsoft.com/office/drawing/2014/main" id="{268D3BD6-1E9C-4CEE-AF10-736305ED8B0D}"/>
              </a:ext>
            </a:extLst>
          </p:cNvPr>
          <p:cNvSpPr>
            <a:spLocks xmlns:a="http://schemas.openxmlformats.org/drawingml/2006/main" noGrp="1"/>
          </p:cNvSpPr>
          <p:nvPr/>
        </p:nvSpPr>
        <p:spPr>
          <a:xfrm xmlns:a="http://schemas.openxmlformats.org/drawingml/2006/main">
            <a:off x="742950" y="142875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Slide</a:t>
            </a:r>
          </a:p>
        </p:txBody>
      </p:sp>
      <p:sp>
        <p:nvSpPr>
          <p:cNvPr id="8" name="">
            <a:extLst xmlns:a="http://schemas.openxmlformats.org/drawingml/2006/main">
              <a:ext uri="{FF2B5EF4-FFF2-40B4-BE49-F238E27FC236}">
                <a16:creationId xmlns:a16="http://schemas.microsoft.com/office/drawing/2014/main" id="{6E5992CE-6F3F-49F9-BF3E-2B8A268F8F60}"/>
              </a:ext>
            </a:extLst>
          </p:cNvPr>
          <p:cNvSpPr>
            <a:spLocks xmlns:a="http://schemas.openxmlformats.org/drawingml/2006/main" noGrp="1"/>
          </p:cNvSpPr>
          <p:nvPr/>
        </p:nvSpPr>
        <p:spPr>
          <a:xfrm xmlns:a="http://schemas.openxmlformats.org/drawingml/2006/main">
            <a:off x="1866900" y="1428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Diagram type</a:t>
            </a:r>
          </a:p>
        </p:txBody>
      </p:sp>
      <p:sp>
        <p:nvSpPr>
          <p:cNvPr id="9" name="">
            <a:extLst xmlns:a="http://schemas.openxmlformats.org/drawingml/2006/main">
              <a:ext uri="{FF2B5EF4-FFF2-40B4-BE49-F238E27FC236}">
                <a16:creationId xmlns:a16="http://schemas.microsoft.com/office/drawing/2014/main" id="{BF146310-06A4-4A52-B937-BB14C0C34DC9}"/>
              </a:ext>
            </a:extLst>
          </p:cNvPr>
          <p:cNvSpPr>
            <a:spLocks xmlns:a="http://schemas.openxmlformats.org/drawingml/2006/main" noGrp="1"/>
          </p:cNvSpPr>
          <p:nvPr/>
        </p:nvSpPr>
        <p:spPr>
          <a:xfrm xmlns:a="http://schemas.openxmlformats.org/drawingml/2006/main">
            <a:off x="4171950" y="1428750"/>
            <a:ext cx="7124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6616B"/>
                </a:solidFill>
                <a:latin typeface="Arial"/>
                <a:ea typeface="Arial"/>
                <a:cs typeface="Arial"/>
              </a:defRPr>
            </a:pPr>
            <a:r>
              <a:rPr sz="1125" b="1">
                <a:solidFill>
                  <a:srgbClr val="56616B"/>
                </a:solidFill>
                <a:latin typeface="Arial"/>
                <a:ea typeface="Arial"/>
                <a:cs typeface="Arial"/>
              </a:rPr>
              <a:t>Apollon JSON source</a:t>
            </a:r>
          </a:p>
        </p:txBody>
      </p:sp>
      <p:sp>
        <p:nvSpPr>
          <p:cNvPr id="10" name="">
            <a:extLst xmlns:a="http://schemas.openxmlformats.org/drawingml/2006/main">
              <a:ext uri="{FF2B5EF4-FFF2-40B4-BE49-F238E27FC236}">
                <a16:creationId xmlns:a16="http://schemas.microsoft.com/office/drawing/2014/main" id="{C4C942DF-07F5-4D6F-943A-EDFA5F294373}"/>
              </a:ext>
            </a:extLst>
          </p:cNvPr>
          <p:cNvSpPr>
            <a:spLocks xmlns:a="http://schemas.openxmlformats.org/drawingml/2006/main" noGrp="1"/>
          </p:cNvSpPr>
          <p:nvPr/>
        </p:nvSpPr>
        <p:spPr>
          <a:xfrm xmlns:a="http://schemas.openxmlformats.org/drawingml/2006/main">
            <a:off x="685800" y="1809750"/>
            <a:ext cx="819150" cy="457200"/>
          </a:xfrm>
          <a:prstGeom xmlns:a="http://schemas.openxmlformats.org/drawingml/2006/main" prst="roundRect">
            <a:avLst>
              <a:gd name="adj" fmla="val 25000"/>
            </a:avLst>
          </a:prstGeom>
          <a:solidFill xmlns:a="http://schemas.openxmlformats.org/drawingml/2006/main">
            <a:srgbClr val="EAF4FB"/>
          </a:solidFill>
          <a:ln xmlns:a="http://schemas.openxmlformats.org/drawingml/2006/main" w="11430">
            <a:solidFill>
              <a:srgbClr val="0065BD"/>
            </a:solidFill>
            <a:prstDash val="solid"/>
          </a:ln>
        </p:spPr>
      </p:sp>
      <p:sp>
        <p:nvSpPr>
          <p:cNvPr id="11" name="">
            <a:extLst xmlns:a="http://schemas.openxmlformats.org/drawingml/2006/main">
              <a:ext uri="{FF2B5EF4-FFF2-40B4-BE49-F238E27FC236}">
                <a16:creationId xmlns:a16="http://schemas.microsoft.com/office/drawing/2014/main" id="{C836C028-C67A-4761-9C85-4B17F48BFD65}"/>
              </a:ext>
            </a:extLst>
          </p:cNvPr>
          <p:cNvSpPr>
            <a:spLocks xmlns:a="http://schemas.openxmlformats.org/drawingml/2006/main" noGrp="1"/>
          </p:cNvSpPr>
          <p:nvPr/>
        </p:nvSpPr>
        <p:spPr>
          <a:xfrm xmlns:a="http://schemas.openxmlformats.org/drawingml/2006/main">
            <a:off x="838200" y="19335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3359"/>
                </a:solidFill>
                <a:latin typeface="Arial"/>
                <a:ea typeface="Arial"/>
                <a:cs typeface="Arial"/>
              </a:defRPr>
            </a:pPr>
            <a:r>
              <a:rPr sz="1275" b="1">
                <a:solidFill>
                  <a:srgbClr val="003359"/>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E2A44DA9-F625-4EB8-9EB9-6C6EA56DA2E3}"/>
              </a:ext>
            </a:extLst>
          </p:cNvPr>
          <p:cNvSpPr>
            <a:spLocks xmlns:a="http://schemas.openxmlformats.org/drawingml/2006/main" noGrp="1"/>
          </p:cNvSpPr>
          <p:nvPr/>
        </p:nvSpPr>
        <p:spPr>
          <a:xfrm xmlns:a="http://schemas.openxmlformats.org/drawingml/2006/main">
            <a:off x="1866900" y="19240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3359"/>
                </a:solidFill>
                <a:latin typeface="Arial"/>
                <a:ea typeface="Arial"/>
                <a:cs typeface="Arial"/>
              </a:defRPr>
            </a:pPr>
            <a:r>
              <a:rPr sz="1350" b="1">
                <a:solidFill>
                  <a:srgbClr val="003359"/>
                </a:solidFill>
                <a:latin typeface="Arial"/>
                <a:ea typeface="Arial"/>
                <a:cs typeface="Arial"/>
              </a:rPr>
              <a:t>Component</a:t>
            </a:r>
          </a:p>
        </p:txBody>
      </p:sp>
      <p:sp>
        <p:nvSpPr>
          <p:cNvPr id="13" name="">
            <a:extLst xmlns:a="http://schemas.openxmlformats.org/drawingml/2006/main">
              <a:ext uri="{FF2B5EF4-FFF2-40B4-BE49-F238E27FC236}">
                <a16:creationId xmlns:a16="http://schemas.microsoft.com/office/drawing/2014/main" id="{8FCB5659-B90E-43BB-80C3-0E702D361616}"/>
              </a:ext>
            </a:extLst>
          </p:cNvPr>
          <p:cNvSpPr>
            <a:spLocks xmlns:a="http://schemas.openxmlformats.org/drawingml/2006/main" noGrp="1"/>
          </p:cNvSpPr>
          <p:nvPr/>
        </p:nvSpPr>
        <p:spPr>
          <a:xfrm xmlns:a="http://schemas.openxmlformats.org/drawingml/2006/main">
            <a:off x="4171950" y="1914525"/>
            <a:ext cx="7105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presentation-research/diagrams/apollon-products-and-integrations.json</a:t>
            </a:r>
          </a:p>
        </p:txBody>
      </p:sp>
      <p:sp>
        <p:nvSpPr>
          <p:cNvPr id="14" name="">
            <a:extLst xmlns:a="http://schemas.openxmlformats.org/drawingml/2006/main">
              <a:ext uri="{FF2B5EF4-FFF2-40B4-BE49-F238E27FC236}">
                <a16:creationId xmlns:a16="http://schemas.microsoft.com/office/drawing/2014/main" id="{4F04E0F5-E82C-4A21-847E-41FC94C76929}"/>
              </a:ext>
            </a:extLst>
          </p:cNvPr>
          <p:cNvSpPr>
            <a:spLocks xmlns:a="http://schemas.openxmlformats.org/drawingml/2006/main" noGrp="1"/>
          </p:cNvSpPr>
          <p:nvPr/>
        </p:nvSpPr>
        <p:spPr>
          <a:xfrm xmlns:a="http://schemas.openxmlformats.org/drawingml/2006/main">
            <a:off x="1866900" y="2362200"/>
            <a:ext cx="94107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15" name="">
            <a:extLst xmlns:a="http://schemas.openxmlformats.org/drawingml/2006/main">
              <a:ext uri="{FF2B5EF4-FFF2-40B4-BE49-F238E27FC236}">
                <a16:creationId xmlns:a16="http://schemas.microsoft.com/office/drawing/2014/main" id="{58AC0EC9-2D86-4DFB-AB55-28F2D02C2F48}"/>
              </a:ext>
            </a:extLst>
          </p:cNvPr>
          <p:cNvSpPr>
            <a:spLocks xmlns:a="http://schemas.openxmlformats.org/drawingml/2006/main" noGrp="1"/>
          </p:cNvSpPr>
          <p:nvPr/>
        </p:nvSpPr>
        <p:spPr>
          <a:xfrm xmlns:a="http://schemas.openxmlformats.org/drawingml/2006/main">
            <a:off x="685800" y="2476500"/>
            <a:ext cx="819150" cy="457200"/>
          </a:xfrm>
          <a:prstGeom xmlns:a="http://schemas.openxmlformats.org/drawingml/2006/main" prst="roundRect">
            <a:avLst>
              <a:gd name="adj" fmla="val 25000"/>
            </a:avLst>
          </a:prstGeom>
          <a:solidFill xmlns:a="http://schemas.openxmlformats.org/drawingml/2006/main">
            <a:srgbClr val="EAF4FB"/>
          </a:solidFill>
          <a:ln xmlns:a="http://schemas.openxmlformats.org/drawingml/2006/main" w="11430">
            <a:solidFill>
              <a:srgbClr val="0065BD"/>
            </a:solidFill>
            <a:prstDash val="solid"/>
          </a:ln>
        </p:spPr>
      </p:sp>
      <p:sp>
        <p:nvSpPr>
          <p:cNvPr id="16" name="">
            <a:extLst xmlns:a="http://schemas.openxmlformats.org/drawingml/2006/main">
              <a:ext uri="{FF2B5EF4-FFF2-40B4-BE49-F238E27FC236}">
                <a16:creationId xmlns:a16="http://schemas.microsoft.com/office/drawing/2014/main" id="{7761FBB5-17DA-43AA-A38D-47824C741CCF}"/>
              </a:ext>
            </a:extLst>
          </p:cNvPr>
          <p:cNvSpPr>
            <a:spLocks xmlns:a="http://schemas.openxmlformats.org/drawingml/2006/main" noGrp="1"/>
          </p:cNvSpPr>
          <p:nvPr/>
        </p:nvSpPr>
        <p:spPr>
          <a:xfrm xmlns:a="http://schemas.openxmlformats.org/drawingml/2006/main">
            <a:off x="838200" y="260032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3359"/>
                </a:solidFill>
                <a:latin typeface="Arial"/>
                <a:ea typeface="Arial"/>
                <a:cs typeface="Arial"/>
              </a:defRPr>
            </a:pPr>
            <a:r>
              <a:rPr sz="1275" b="1">
                <a:solidFill>
                  <a:srgbClr val="003359"/>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4902D32D-A4B7-4DFE-B3BF-CF1728D1CAD4}"/>
              </a:ext>
            </a:extLst>
          </p:cNvPr>
          <p:cNvSpPr>
            <a:spLocks xmlns:a="http://schemas.openxmlformats.org/drawingml/2006/main" noGrp="1"/>
          </p:cNvSpPr>
          <p:nvPr/>
        </p:nvSpPr>
        <p:spPr>
          <a:xfrm xmlns:a="http://schemas.openxmlformats.org/drawingml/2006/main">
            <a:off x="1866900" y="25908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3359"/>
                </a:solidFill>
                <a:latin typeface="Arial"/>
                <a:ea typeface="Arial"/>
                <a:cs typeface="Arial"/>
              </a:defRPr>
            </a:pPr>
            <a:r>
              <a:rPr sz="1350" b="1">
                <a:solidFill>
                  <a:srgbClr val="003359"/>
                </a:solidFill>
                <a:latin typeface="Arial"/>
                <a:ea typeface="Arial"/>
                <a:cs typeface="Arial"/>
              </a:rPr>
              <a:t>Use case</a:t>
            </a:r>
          </a:p>
        </p:txBody>
      </p:sp>
      <p:sp>
        <p:nvSpPr>
          <p:cNvPr id="18" name="">
            <a:extLst xmlns:a="http://schemas.openxmlformats.org/drawingml/2006/main">
              <a:ext uri="{FF2B5EF4-FFF2-40B4-BE49-F238E27FC236}">
                <a16:creationId xmlns:a16="http://schemas.microsoft.com/office/drawing/2014/main" id="{D5E41B09-4611-4909-ADD9-E7BDF9446AB6}"/>
              </a:ext>
            </a:extLst>
          </p:cNvPr>
          <p:cNvSpPr>
            <a:spLocks xmlns:a="http://schemas.openxmlformats.org/drawingml/2006/main" noGrp="1"/>
          </p:cNvSpPr>
          <p:nvPr/>
        </p:nvSpPr>
        <p:spPr>
          <a:xfrm xmlns:a="http://schemas.openxmlformats.org/drawingml/2006/main">
            <a:off x="4171950" y="2581275"/>
            <a:ext cx="7105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figures/requirements-use-case-model.json</a:t>
            </a:r>
          </a:p>
        </p:txBody>
      </p:sp>
      <p:sp>
        <p:nvSpPr>
          <p:cNvPr id="19" name="">
            <a:extLst xmlns:a="http://schemas.openxmlformats.org/drawingml/2006/main">
              <a:ext uri="{FF2B5EF4-FFF2-40B4-BE49-F238E27FC236}">
                <a16:creationId xmlns:a16="http://schemas.microsoft.com/office/drawing/2014/main" id="{C22175C2-F830-4686-AF17-DB662B127F8F}"/>
              </a:ext>
            </a:extLst>
          </p:cNvPr>
          <p:cNvSpPr>
            <a:spLocks xmlns:a="http://schemas.openxmlformats.org/drawingml/2006/main" noGrp="1"/>
          </p:cNvSpPr>
          <p:nvPr/>
        </p:nvSpPr>
        <p:spPr>
          <a:xfrm xmlns:a="http://schemas.openxmlformats.org/drawingml/2006/main">
            <a:off x="1866900" y="3028950"/>
            <a:ext cx="94107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20" name="">
            <a:extLst xmlns:a="http://schemas.openxmlformats.org/drawingml/2006/main">
              <a:ext uri="{FF2B5EF4-FFF2-40B4-BE49-F238E27FC236}">
                <a16:creationId xmlns:a16="http://schemas.microsoft.com/office/drawing/2014/main" id="{83C9D192-854B-4FE2-B43E-597544002F1F}"/>
              </a:ext>
            </a:extLst>
          </p:cNvPr>
          <p:cNvSpPr>
            <a:spLocks xmlns:a="http://schemas.openxmlformats.org/drawingml/2006/main" noGrp="1"/>
          </p:cNvSpPr>
          <p:nvPr/>
        </p:nvSpPr>
        <p:spPr>
          <a:xfrm xmlns:a="http://schemas.openxmlformats.org/drawingml/2006/main">
            <a:off x="685800" y="3143250"/>
            <a:ext cx="819150" cy="457200"/>
          </a:xfrm>
          <a:prstGeom xmlns:a="http://schemas.openxmlformats.org/drawingml/2006/main" prst="roundRect">
            <a:avLst>
              <a:gd name="adj" fmla="val 25000"/>
            </a:avLst>
          </a:prstGeom>
          <a:solidFill xmlns:a="http://schemas.openxmlformats.org/drawingml/2006/main">
            <a:srgbClr val="EAF4FB"/>
          </a:solidFill>
          <a:ln xmlns:a="http://schemas.openxmlformats.org/drawingml/2006/main" w="11430">
            <a:solidFill>
              <a:srgbClr val="0065BD"/>
            </a:solidFill>
            <a:prstDash val="solid"/>
          </a:ln>
        </p:spPr>
      </p:sp>
      <p:sp>
        <p:nvSpPr>
          <p:cNvPr id="21" name="">
            <a:extLst xmlns:a="http://schemas.openxmlformats.org/drawingml/2006/main">
              <a:ext uri="{FF2B5EF4-FFF2-40B4-BE49-F238E27FC236}">
                <a16:creationId xmlns:a16="http://schemas.microsoft.com/office/drawing/2014/main" id="{919F31DB-E50F-46E0-AF3F-E530BAAB1871}"/>
              </a:ext>
            </a:extLst>
          </p:cNvPr>
          <p:cNvSpPr>
            <a:spLocks xmlns:a="http://schemas.openxmlformats.org/drawingml/2006/main" noGrp="1"/>
          </p:cNvSpPr>
          <p:nvPr/>
        </p:nvSpPr>
        <p:spPr>
          <a:xfrm xmlns:a="http://schemas.openxmlformats.org/drawingml/2006/main">
            <a:off x="838200" y="3267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3359"/>
                </a:solidFill>
                <a:latin typeface="Arial"/>
                <a:ea typeface="Arial"/>
                <a:cs typeface="Arial"/>
              </a:defRPr>
            </a:pPr>
            <a:r>
              <a:rPr sz="1275" b="1">
                <a:solidFill>
                  <a:srgbClr val="003359"/>
                </a:solidFill>
                <a:latin typeface="Arial"/>
                <a:ea typeface="Arial"/>
                <a:cs typeface="Arial"/>
              </a:rPr>
              <a:t>8</a:t>
            </a:r>
          </a:p>
        </p:txBody>
      </p:sp>
      <p:sp>
        <p:nvSpPr>
          <p:cNvPr id="22" name="">
            <a:extLst xmlns:a="http://schemas.openxmlformats.org/drawingml/2006/main">
              <a:ext uri="{FF2B5EF4-FFF2-40B4-BE49-F238E27FC236}">
                <a16:creationId xmlns:a16="http://schemas.microsoft.com/office/drawing/2014/main" id="{C278089F-7B08-434E-9E84-B91A2DFDB869}"/>
              </a:ext>
            </a:extLst>
          </p:cNvPr>
          <p:cNvSpPr>
            <a:spLocks xmlns:a="http://schemas.openxmlformats.org/drawingml/2006/main" noGrp="1"/>
          </p:cNvSpPr>
          <p:nvPr/>
        </p:nvSpPr>
        <p:spPr>
          <a:xfrm xmlns:a="http://schemas.openxmlformats.org/drawingml/2006/main">
            <a:off x="1866900" y="32575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3359"/>
                </a:solidFill>
                <a:latin typeface="Arial"/>
                <a:ea typeface="Arial"/>
                <a:cs typeface="Arial"/>
              </a:defRPr>
            </a:pPr>
            <a:r>
              <a:rPr sz="1350" b="1">
                <a:solidFill>
                  <a:srgbClr val="003359"/>
                </a:solidFill>
                <a:latin typeface="Arial"/>
                <a:ea typeface="Arial"/>
                <a:cs typeface="Arial"/>
              </a:rPr>
              <a:t>Communication</a:t>
            </a:r>
          </a:p>
        </p:txBody>
      </p:sp>
      <p:sp>
        <p:nvSpPr>
          <p:cNvPr id="23" name="">
            <a:extLst xmlns:a="http://schemas.openxmlformats.org/drawingml/2006/main">
              <a:ext uri="{FF2B5EF4-FFF2-40B4-BE49-F238E27FC236}">
                <a16:creationId xmlns:a16="http://schemas.microsoft.com/office/drawing/2014/main" id="{382AD618-92E6-4620-B329-82C980B0A80A}"/>
              </a:ext>
            </a:extLst>
          </p:cNvPr>
          <p:cNvSpPr>
            <a:spLocks xmlns:a="http://schemas.openxmlformats.org/drawingml/2006/main" noGrp="1"/>
          </p:cNvSpPr>
          <p:nvPr/>
        </p:nvSpPr>
        <p:spPr>
          <a:xfrm xmlns:a="http://schemas.openxmlformats.org/drawingml/2006/main">
            <a:off x="4171950" y="3248025"/>
            <a:ext cx="7105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figures/standalone-collaboration-communication.json</a:t>
            </a:r>
          </a:p>
        </p:txBody>
      </p:sp>
      <p:sp>
        <p:nvSpPr>
          <p:cNvPr id="24" name="">
            <a:extLst xmlns:a="http://schemas.openxmlformats.org/drawingml/2006/main">
              <a:ext uri="{FF2B5EF4-FFF2-40B4-BE49-F238E27FC236}">
                <a16:creationId xmlns:a16="http://schemas.microsoft.com/office/drawing/2014/main" id="{7D6D0809-942F-4F86-B992-D88ECA25E438}"/>
              </a:ext>
            </a:extLst>
          </p:cNvPr>
          <p:cNvSpPr>
            <a:spLocks xmlns:a="http://schemas.openxmlformats.org/drawingml/2006/main" noGrp="1"/>
          </p:cNvSpPr>
          <p:nvPr/>
        </p:nvSpPr>
        <p:spPr>
          <a:xfrm xmlns:a="http://schemas.openxmlformats.org/drawingml/2006/main">
            <a:off x="1866900" y="3695700"/>
            <a:ext cx="94107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25" name="">
            <a:extLst xmlns:a="http://schemas.openxmlformats.org/drawingml/2006/main">
              <a:ext uri="{FF2B5EF4-FFF2-40B4-BE49-F238E27FC236}">
                <a16:creationId xmlns:a16="http://schemas.microsoft.com/office/drawing/2014/main" id="{0C700ACF-7E8E-47FC-B556-05C808F2ADCA}"/>
              </a:ext>
            </a:extLst>
          </p:cNvPr>
          <p:cNvSpPr>
            <a:spLocks xmlns:a="http://schemas.openxmlformats.org/drawingml/2006/main" noGrp="1"/>
          </p:cNvSpPr>
          <p:nvPr/>
        </p:nvSpPr>
        <p:spPr>
          <a:xfrm xmlns:a="http://schemas.openxmlformats.org/drawingml/2006/main">
            <a:off x="685800" y="3810000"/>
            <a:ext cx="819150" cy="457200"/>
          </a:xfrm>
          <a:prstGeom xmlns:a="http://schemas.openxmlformats.org/drawingml/2006/main" prst="roundRect">
            <a:avLst>
              <a:gd name="adj" fmla="val 25000"/>
            </a:avLst>
          </a:prstGeom>
          <a:solidFill xmlns:a="http://schemas.openxmlformats.org/drawingml/2006/main">
            <a:srgbClr val="EAF4FB"/>
          </a:solidFill>
          <a:ln xmlns:a="http://schemas.openxmlformats.org/drawingml/2006/main" w="11430">
            <a:solidFill>
              <a:srgbClr val="0065BD"/>
            </a:solidFill>
            <a:prstDash val="solid"/>
          </a:ln>
        </p:spPr>
      </p:sp>
      <p:sp>
        <p:nvSpPr>
          <p:cNvPr id="26" name="">
            <a:extLst xmlns:a="http://schemas.openxmlformats.org/drawingml/2006/main">
              <a:ext uri="{FF2B5EF4-FFF2-40B4-BE49-F238E27FC236}">
                <a16:creationId xmlns:a16="http://schemas.microsoft.com/office/drawing/2014/main" id="{71FEAF28-7A28-40A3-A586-59B6B7DBDDED}"/>
              </a:ext>
            </a:extLst>
          </p:cNvPr>
          <p:cNvSpPr>
            <a:spLocks xmlns:a="http://schemas.openxmlformats.org/drawingml/2006/main" noGrp="1"/>
          </p:cNvSpPr>
          <p:nvPr/>
        </p:nvSpPr>
        <p:spPr>
          <a:xfrm xmlns:a="http://schemas.openxmlformats.org/drawingml/2006/main">
            <a:off x="838200" y="393382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3359"/>
                </a:solidFill>
                <a:latin typeface="Arial"/>
                <a:ea typeface="Arial"/>
                <a:cs typeface="Arial"/>
              </a:defRPr>
            </a:pPr>
            <a:r>
              <a:rPr sz="1275" b="1">
                <a:solidFill>
                  <a:srgbClr val="003359"/>
                </a:solidFill>
                <a:latin typeface="Arial"/>
                <a:ea typeface="Arial"/>
                <a:cs typeface="Arial"/>
              </a:rPr>
              <a:t>10</a:t>
            </a:r>
          </a:p>
        </p:txBody>
      </p:sp>
      <p:sp>
        <p:nvSpPr>
          <p:cNvPr id="27" name="">
            <a:extLst xmlns:a="http://schemas.openxmlformats.org/drawingml/2006/main">
              <a:ext uri="{FF2B5EF4-FFF2-40B4-BE49-F238E27FC236}">
                <a16:creationId xmlns:a16="http://schemas.microsoft.com/office/drawing/2014/main" id="{1E68750F-FD96-497B-A4BB-5CB277F0C4C7}"/>
              </a:ext>
            </a:extLst>
          </p:cNvPr>
          <p:cNvSpPr>
            <a:spLocks xmlns:a="http://schemas.openxmlformats.org/drawingml/2006/main" noGrp="1"/>
          </p:cNvSpPr>
          <p:nvPr/>
        </p:nvSpPr>
        <p:spPr>
          <a:xfrm xmlns:a="http://schemas.openxmlformats.org/drawingml/2006/main">
            <a:off x="1866900" y="39243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3359"/>
                </a:solidFill>
                <a:latin typeface="Arial"/>
                <a:ea typeface="Arial"/>
                <a:cs typeface="Arial"/>
              </a:defRPr>
            </a:pPr>
            <a:r>
              <a:rPr sz="1350" b="1">
                <a:solidFill>
                  <a:srgbClr val="003359"/>
                </a:solidFill>
                <a:latin typeface="Arial"/>
                <a:ea typeface="Arial"/>
                <a:cs typeface="Arial"/>
              </a:rPr>
              <a:t>Component</a:t>
            </a:r>
          </a:p>
        </p:txBody>
      </p:sp>
      <p:sp>
        <p:nvSpPr>
          <p:cNvPr id="28" name="">
            <a:extLst xmlns:a="http://schemas.openxmlformats.org/drawingml/2006/main">
              <a:ext uri="{FF2B5EF4-FFF2-40B4-BE49-F238E27FC236}">
                <a16:creationId xmlns:a16="http://schemas.microsoft.com/office/drawing/2014/main" id="{CCA5E7A4-F8C1-4DA6-9DC1-43068962EFA3}"/>
              </a:ext>
            </a:extLst>
          </p:cNvPr>
          <p:cNvSpPr>
            <a:spLocks xmlns:a="http://schemas.openxmlformats.org/drawingml/2006/main" noGrp="1"/>
          </p:cNvSpPr>
          <p:nvPr/>
        </p:nvSpPr>
        <p:spPr>
          <a:xfrm xmlns:a="http://schemas.openxmlformats.org/drawingml/2006/main">
            <a:off x="4171950" y="3914775"/>
            <a:ext cx="7105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presentation-research/diagrams/artemis-apollon-integration-focus.json</a:t>
            </a:r>
          </a:p>
        </p:txBody>
      </p:sp>
      <p:sp>
        <p:nvSpPr>
          <p:cNvPr id="29" name="">
            <a:extLst xmlns:a="http://schemas.openxmlformats.org/drawingml/2006/main">
              <a:ext uri="{FF2B5EF4-FFF2-40B4-BE49-F238E27FC236}">
                <a16:creationId xmlns:a16="http://schemas.microsoft.com/office/drawing/2014/main" id="{309D7622-369A-4930-AE41-1F7D322848C1}"/>
              </a:ext>
            </a:extLst>
          </p:cNvPr>
          <p:cNvSpPr>
            <a:spLocks xmlns:a="http://schemas.openxmlformats.org/drawingml/2006/main" noGrp="1"/>
          </p:cNvSpPr>
          <p:nvPr/>
        </p:nvSpPr>
        <p:spPr>
          <a:xfrm xmlns:a="http://schemas.openxmlformats.org/drawingml/2006/main">
            <a:off x="1866900" y="4362450"/>
            <a:ext cx="94107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30" name="">
            <a:extLst xmlns:a="http://schemas.openxmlformats.org/drawingml/2006/main">
              <a:ext uri="{FF2B5EF4-FFF2-40B4-BE49-F238E27FC236}">
                <a16:creationId xmlns:a16="http://schemas.microsoft.com/office/drawing/2014/main" id="{5EDCB755-D2E0-442E-8AC2-A842C5A544F9}"/>
              </a:ext>
            </a:extLst>
          </p:cNvPr>
          <p:cNvSpPr>
            <a:spLocks xmlns:a="http://schemas.openxmlformats.org/drawingml/2006/main" noGrp="1"/>
          </p:cNvSpPr>
          <p:nvPr/>
        </p:nvSpPr>
        <p:spPr>
          <a:xfrm xmlns:a="http://schemas.openxmlformats.org/drawingml/2006/main">
            <a:off x="685800" y="4476750"/>
            <a:ext cx="819150" cy="457200"/>
          </a:xfrm>
          <a:prstGeom xmlns:a="http://schemas.openxmlformats.org/drawingml/2006/main" prst="roundRect">
            <a:avLst>
              <a:gd name="adj" fmla="val 25000"/>
            </a:avLst>
          </a:prstGeom>
          <a:solidFill xmlns:a="http://schemas.openxmlformats.org/drawingml/2006/main">
            <a:srgbClr val="EAF4FB"/>
          </a:solidFill>
          <a:ln xmlns:a="http://schemas.openxmlformats.org/drawingml/2006/main" w="11430">
            <a:solidFill>
              <a:srgbClr val="0065BD"/>
            </a:solidFill>
            <a:prstDash val="solid"/>
          </a:ln>
        </p:spPr>
      </p:sp>
      <p:sp>
        <p:nvSpPr>
          <p:cNvPr id="31" name="">
            <a:extLst xmlns:a="http://schemas.openxmlformats.org/drawingml/2006/main">
              <a:ext uri="{FF2B5EF4-FFF2-40B4-BE49-F238E27FC236}">
                <a16:creationId xmlns:a16="http://schemas.microsoft.com/office/drawing/2014/main" id="{FD01F86E-F539-4E81-92B9-7C579DF3A31D}"/>
              </a:ext>
            </a:extLst>
          </p:cNvPr>
          <p:cNvSpPr>
            <a:spLocks xmlns:a="http://schemas.openxmlformats.org/drawingml/2006/main" noGrp="1"/>
          </p:cNvSpPr>
          <p:nvPr/>
        </p:nvSpPr>
        <p:spPr>
          <a:xfrm xmlns:a="http://schemas.openxmlformats.org/drawingml/2006/main">
            <a:off x="838200" y="46005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3359"/>
                </a:solidFill>
                <a:latin typeface="Arial"/>
                <a:ea typeface="Arial"/>
                <a:cs typeface="Arial"/>
              </a:defRPr>
            </a:pPr>
            <a:r>
              <a:rPr sz="1275" b="1">
                <a:solidFill>
                  <a:srgbClr val="003359"/>
                </a:solidFill>
                <a:latin typeface="Arial"/>
                <a:ea typeface="Arial"/>
                <a:cs typeface="Arial"/>
              </a:rPr>
              <a:t>12</a:t>
            </a:r>
          </a:p>
        </p:txBody>
      </p:sp>
      <p:sp>
        <p:nvSpPr>
          <p:cNvPr id="32" name="">
            <a:extLst xmlns:a="http://schemas.openxmlformats.org/drawingml/2006/main">
              <a:ext uri="{FF2B5EF4-FFF2-40B4-BE49-F238E27FC236}">
                <a16:creationId xmlns:a16="http://schemas.microsoft.com/office/drawing/2014/main" id="{678154F5-5086-4307-9AAC-0ADB43EC7822}"/>
              </a:ext>
            </a:extLst>
          </p:cNvPr>
          <p:cNvSpPr>
            <a:spLocks xmlns:a="http://schemas.openxmlformats.org/drawingml/2006/main" noGrp="1"/>
          </p:cNvSpPr>
          <p:nvPr/>
        </p:nvSpPr>
        <p:spPr>
          <a:xfrm xmlns:a="http://schemas.openxmlformats.org/drawingml/2006/main">
            <a:off x="1866900" y="45910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3359"/>
                </a:solidFill>
                <a:latin typeface="Arial"/>
                <a:ea typeface="Arial"/>
                <a:cs typeface="Arial"/>
              </a:defRPr>
            </a:pPr>
            <a:r>
              <a:rPr sz="1350" b="1">
                <a:solidFill>
                  <a:srgbClr val="003359"/>
                </a:solidFill>
                <a:latin typeface="Arial"/>
                <a:ea typeface="Arial"/>
                <a:cs typeface="Arial"/>
              </a:rPr>
              <a:t>Activity</a:t>
            </a:r>
          </a:p>
        </p:txBody>
      </p:sp>
      <p:sp>
        <p:nvSpPr>
          <p:cNvPr id="33" name="">
            <a:extLst xmlns:a="http://schemas.openxmlformats.org/drawingml/2006/main">
              <a:ext uri="{FF2B5EF4-FFF2-40B4-BE49-F238E27FC236}">
                <a16:creationId xmlns:a16="http://schemas.microsoft.com/office/drawing/2014/main" id="{7D9C166C-BA30-4C99-9BED-5A0CDAE02067}"/>
              </a:ext>
            </a:extLst>
          </p:cNvPr>
          <p:cNvSpPr>
            <a:spLocks xmlns:a="http://schemas.openxmlformats.org/drawingml/2006/main" noGrp="1"/>
          </p:cNvSpPr>
          <p:nvPr/>
        </p:nvSpPr>
        <p:spPr>
          <a:xfrm xmlns:a="http://schemas.openxmlformats.org/drawingml/2006/main">
            <a:off x="4171950" y="4581525"/>
            <a:ext cx="7105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presentation-research/diagrams/artemis-quiz-generation-activity.json</a:t>
            </a:r>
          </a:p>
        </p:txBody>
      </p:sp>
      <p:sp>
        <p:nvSpPr>
          <p:cNvPr id="34" name="">
            <a:extLst xmlns:a="http://schemas.openxmlformats.org/drawingml/2006/main">
              <a:ext uri="{FF2B5EF4-FFF2-40B4-BE49-F238E27FC236}">
                <a16:creationId xmlns:a16="http://schemas.microsoft.com/office/drawing/2014/main" id="{42D67A38-0D6E-425E-96FB-39C31802C934}"/>
              </a:ext>
            </a:extLst>
          </p:cNvPr>
          <p:cNvSpPr>
            <a:spLocks xmlns:a="http://schemas.openxmlformats.org/drawingml/2006/main" noGrp="1"/>
          </p:cNvSpPr>
          <p:nvPr/>
        </p:nvSpPr>
        <p:spPr>
          <a:xfrm xmlns:a="http://schemas.openxmlformats.org/drawingml/2006/main">
            <a:off x="1866900" y="5029200"/>
            <a:ext cx="94107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35" name="">
            <a:extLst xmlns:a="http://schemas.openxmlformats.org/drawingml/2006/main">
              <a:ext uri="{FF2B5EF4-FFF2-40B4-BE49-F238E27FC236}">
                <a16:creationId xmlns:a16="http://schemas.microsoft.com/office/drawing/2014/main" id="{07A49000-7815-4286-BC35-A95DF8A3DCD0}"/>
              </a:ext>
            </a:extLst>
          </p:cNvPr>
          <p:cNvSpPr>
            <a:spLocks xmlns:a="http://schemas.openxmlformats.org/drawingml/2006/main" noGrp="1"/>
          </p:cNvSpPr>
          <p:nvPr/>
        </p:nvSpPr>
        <p:spPr>
          <a:xfrm xmlns:a="http://schemas.openxmlformats.org/drawingml/2006/main">
            <a:off x="685800" y="5143500"/>
            <a:ext cx="819150" cy="457200"/>
          </a:xfrm>
          <a:prstGeom xmlns:a="http://schemas.openxmlformats.org/drawingml/2006/main" prst="roundRect">
            <a:avLst>
              <a:gd name="adj" fmla="val 25000"/>
            </a:avLst>
          </a:prstGeom>
          <a:solidFill xmlns:a="http://schemas.openxmlformats.org/drawingml/2006/main">
            <a:srgbClr val="F7F9FB"/>
          </a:solidFill>
          <a:ln xmlns:a="http://schemas.openxmlformats.org/drawingml/2006/main" w="11430">
            <a:solidFill>
              <a:srgbClr val="DDE3E8"/>
            </a:solidFill>
            <a:prstDash val="solid"/>
          </a:ln>
        </p:spPr>
      </p:sp>
      <p:sp>
        <p:nvSpPr>
          <p:cNvPr id="36" name="">
            <a:extLst xmlns:a="http://schemas.openxmlformats.org/drawingml/2006/main">
              <a:ext uri="{FF2B5EF4-FFF2-40B4-BE49-F238E27FC236}">
                <a16:creationId xmlns:a16="http://schemas.microsoft.com/office/drawing/2014/main" id="{D3041C6E-2886-4239-97DB-3F5C0747BDB0}"/>
              </a:ext>
            </a:extLst>
          </p:cNvPr>
          <p:cNvSpPr>
            <a:spLocks xmlns:a="http://schemas.openxmlformats.org/drawingml/2006/main" noGrp="1"/>
          </p:cNvSpPr>
          <p:nvPr/>
        </p:nvSpPr>
        <p:spPr>
          <a:xfrm xmlns:a="http://schemas.openxmlformats.org/drawingml/2006/main">
            <a:off x="838200" y="526732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3359"/>
                </a:solidFill>
                <a:latin typeface="Arial"/>
                <a:ea typeface="Arial"/>
                <a:cs typeface="Arial"/>
              </a:defRPr>
            </a:pPr>
            <a:r>
              <a:rPr sz="1275" b="1">
                <a:solidFill>
                  <a:srgbClr val="003359"/>
                </a:solidFill>
                <a:latin typeface="Arial"/>
                <a:ea typeface="Arial"/>
                <a:cs typeface="Arial"/>
              </a:rPr>
              <a:t>23-26</a:t>
            </a:r>
          </a:p>
        </p:txBody>
      </p:sp>
      <p:sp>
        <p:nvSpPr>
          <p:cNvPr id="37" name="">
            <a:extLst xmlns:a="http://schemas.openxmlformats.org/drawingml/2006/main">
              <a:ext uri="{FF2B5EF4-FFF2-40B4-BE49-F238E27FC236}">
                <a16:creationId xmlns:a16="http://schemas.microsoft.com/office/drawing/2014/main" id="{3640A462-D97D-4EBC-A31E-3EC95CF3AA66}"/>
              </a:ext>
            </a:extLst>
          </p:cNvPr>
          <p:cNvSpPr>
            <a:spLocks xmlns:a="http://schemas.openxmlformats.org/drawingml/2006/main" noGrp="1"/>
          </p:cNvSpPr>
          <p:nvPr/>
        </p:nvSpPr>
        <p:spPr>
          <a:xfrm xmlns:a="http://schemas.openxmlformats.org/drawingml/2006/main">
            <a:off x="1866900" y="52578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3359"/>
                </a:solidFill>
                <a:latin typeface="Arial"/>
                <a:ea typeface="Arial"/>
                <a:cs typeface="Arial"/>
              </a:defRPr>
            </a:pPr>
            <a:r>
              <a:rPr sz="1350" b="1">
                <a:solidFill>
                  <a:srgbClr val="003359"/>
                </a:solidFill>
                <a:latin typeface="Arial"/>
                <a:ea typeface="Arial"/>
                <a:cs typeface="Arial"/>
              </a:rPr>
              <a:t>Appendix models</a:t>
            </a:r>
          </a:p>
        </p:txBody>
      </p:sp>
      <p:sp>
        <p:nvSpPr>
          <p:cNvPr id="38" name="">
            <a:extLst xmlns:a="http://schemas.openxmlformats.org/drawingml/2006/main">
              <a:ext uri="{FF2B5EF4-FFF2-40B4-BE49-F238E27FC236}">
                <a16:creationId xmlns:a16="http://schemas.microsoft.com/office/drawing/2014/main" id="{42EB076E-0226-4303-A7AB-1CBFB4F30291}"/>
              </a:ext>
            </a:extLst>
          </p:cNvPr>
          <p:cNvSpPr>
            <a:spLocks xmlns:a="http://schemas.openxmlformats.org/drawingml/2006/main" noGrp="1"/>
          </p:cNvSpPr>
          <p:nvPr/>
        </p:nvSpPr>
        <p:spPr>
          <a:xfrm xmlns:a="http://schemas.openxmlformats.org/drawingml/2006/main">
            <a:off x="4171950" y="5248275"/>
            <a:ext cx="7105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6616B"/>
                </a:solidFill>
                <a:latin typeface="Arial"/>
                <a:ea typeface="Arial"/>
                <a:cs typeface="Arial"/>
              </a:defRPr>
            </a:pPr>
            <a:r>
              <a:rPr sz="1200" b="0">
                <a:solidFill>
                  <a:srgbClr val="56616B"/>
                </a:solidFill>
                <a:latin typeface="Arial"/>
                <a:ea typeface="Arial"/>
                <a:cs typeface="Arial"/>
              </a:rPr>
              <a:t>figures/*.json (matching each rendered model)</a:t>
            </a:r>
          </a:p>
        </p:txBody>
      </p:sp>
      <p:sp>
        <p:nvSpPr>
          <p:cNvPr id="39" name="">
            <a:extLst xmlns:a="http://schemas.openxmlformats.org/drawingml/2006/main">
              <a:ext uri="{FF2B5EF4-FFF2-40B4-BE49-F238E27FC236}">
                <a16:creationId xmlns:a16="http://schemas.microsoft.com/office/drawing/2014/main" id="{5584E710-ABBB-4E84-B3F3-24A187772590}"/>
              </a:ext>
            </a:extLst>
          </p:cNvPr>
          <p:cNvSpPr>
            <a:spLocks xmlns:a="http://schemas.openxmlformats.org/drawingml/2006/main" noGrp="1"/>
          </p:cNvSpPr>
          <p:nvPr/>
        </p:nvSpPr>
        <p:spPr>
          <a:xfrm xmlns:a="http://schemas.openxmlformats.org/drawingml/2006/main">
            <a:off x="1866900" y="5695950"/>
            <a:ext cx="9410700" cy="9525"/>
          </a:xfrm>
          <a:prstGeom xmlns:a="http://schemas.openxmlformats.org/drawingml/2006/main" prst="line">
            <a:avLst/>
          </a:prstGeom>
          <a:noFill xmlns:a="http://schemas.openxmlformats.org/drawingml/2006/main"/>
          <a:ln xmlns:a="http://schemas.openxmlformats.org/drawingml/2006/main" w="9525">
            <a:solidFill>
              <a:srgbClr val="DDE3E8"/>
            </a:solidFill>
            <a:prstDash val="solid"/>
          </a:ln>
        </p:spPr>
      </p:sp>
      <p:sp>
        <p:nvSpPr>
          <p:cNvPr id="40" name="">
            <a:extLst xmlns:a="http://schemas.openxmlformats.org/drawingml/2006/main">
              <a:ext uri="{FF2B5EF4-FFF2-40B4-BE49-F238E27FC236}">
                <a16:creationId xmlns:a16="http://schemas.microsoft.com/office/drawing/2014/main" id="{032B4605-C8C0-4C1D-87CE-9F6BBC247402}"/>
              </a:ext>
            </a:extLst>
          </p:cNvPr>
          <p:cNvSpPr>
            <a:spLocks xmlns:a="http://schemas.openxmlformats.org/drawingml/2006/main" noGrp="1"/>
          </p:cNvSpPr>
          <p:nvPr/>
        </p:nvSpPr>
        <p:spPr>
          <a:xfrm xmlns:a="http://schemas.openxmlformats.org/drawingml/2006/main">
            <a:off x="1638300" y="5905500"/>
            <a:ext cx="8915400" cy="381000"/>
          </a:xfrm>
          <a:prstGeom xmlns:a="http://schemas.openxmlformats.org/drawingml/2006/main" prst="roundRect">
            <a:avLst>
              <a:gd name="adj" fmla="val 30000"/>
            </a:avLst>
          </a:prstGeom>
          <a:solidFill xmlns:a="http://schemas.openxmlformats.org/drawingml/2006/main">
            <a:srgbClr val="F1F5DA"/>
          </a:solidFill>
          <a:ln xmlns:a="http://schemas.openxmlformats.org/drawingml/2006/main" w="11430">
            <a:solidFill>
              <a:srgbClr val="A2AD00"/>
            </a:solidFill>
            <a:prstDash val="solid"/>
          </a:ln>
        </p:spPr>
      </p:sp>
      <p:sp>
        <p:nvSpPr>
          <p:cNvPr id="41" name="">
            <a:extLst xmlns:a="http://schemas.openxmlformats.org/drawingml/2006/main">
              <a:ext uri="{FF2B5EF4-FFF2-40B4-BE49-F238E27FC236}">
                <a16:creationId xmlns:a16="http://schemas.microsoft.com/office/drawing/2014/main" id="{083FB7E9-94D3-4F16-95DE-D342C692DB66}"/>
              </a:ext>
            </a:extLst>
          </p:cNvPr>
          <p:cNvSpPr>
            <a:spLocks xmlns:a="http://schemas.openxmlformats.org/drawingml/2006/main" noGrp="1"/>
          </p:cNvSpPr>
          <p:nvPr/>
        </p:nvSpPr>
        <p:spPr>
          <a:xfrm xmlns:a="http://schemas.openxmlformats.org/drawingml/2006/main">
            <a:off x="1885950" y="6000750"/>
            <a:ext cx="842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03359"/>
                </a:solidFill>
                <a:latin typeface="Arial"/>
                <a:ea typeface="Arial"/>
                <a:cs typeface="Arial"/>
              </a:defRPr>
            </a:pPr>
            <a:r>
              <a:rPr sz="1200" b="1">
                <a:solidFill>
                  <a:srgbClr val="003359"/>
                </a:solidFill>
                <a:latin typeface="Arial"/>
                <a:ea typeface="Arial"/>
                <a:cs typeface="Arial"/>
              </a:rPr>
              <a:t>Import JSON in the hosted app | Export editable PPTX | Keep JSON for the next revision</a:t>
            </a:r>
          </a:p>
        </p:txBody>
      </p:sp>
    </p:spTree>
    <p:extLst>
      <p:ext uri="{BB962C8B-B14F-4D97-AF65-F5344CB8AC3E}">
        <p14:creationId xmlns:p14="http://schemas.microsoft.com/office/powerpoint/2010/main" val="1221446081"/>
      </p:ext>
    </p:extLst>
  </p:cSld>
</p:sld>
</file>

<file path=ppt/theme/theme1.xml><?xml version="1.0" encoding="utf-8"?>
<a:theme xmlns:a="http://schemas.openxmlformats.org/drawingml/2006/main" name="ChatGPT">
  <a:themeElements>
    <a:clrScheme name="TUM">
      <a:dk1>
        <a:srgbClr val="000000"/>
      </a:dk1>
      <a:lt1>
        <a:srgbClr val="FFFFFF"/>
      </a:lt1>
      <a:dk2>
        <a:srgbClr val="003359"/>
      </a:dk2>
      <a:lt2>
        <a:srgbClr val="EAF4FB"/>
      </a:lt2>
      <a:accent1>
        <a:srgbClr val="0065BD"/>
      </a:accent1>
      <a:accent2>
        <a:srgbClr val="98C6EA"/>
      </a:accent2>
      <a:accent3>
        <a:srgbClr val="64A0C8"/>
      </a:accent3>
      <a:accent4>
        <a:srgbClr val="DAD7CB"/>
      </a:accent4>
      <a:accent5>
        <a:srgbClr val="A2AD00"/>
      </a:accent5>
      <a:accent6>
        <a:srgbClr val="E37222"/>
      </a:accent6>
      <a:hlink>
        <a:srgbClr val="0065BD"/>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T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2026-07-23T17:02:13.9330000Z</dcterms:created>
  <dcterms:modified xsi:type="dcterms:W3CDTF">2026-07-23T17:02:13.9330000Z</dcterms:modified>
</coreProperties>
</file>