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e497645584eec" /><Relationship Type="http://schemas.openxmlformats.org/officeDocument/2006/relationships/extended-properties" Target="/docProps/app.xml" Id="R1ab6fc98e81147d1" /><Relationship Type="http://schemas.openxmlformats.org/officeDocument/2006/relationships/officeDocument" Target="/ppt/presentation.xml" Id="Rf5a32f57bd0343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cded93a5a4c63"/>
  </p:sldMasterIdLst>
  <p:notesMasterIdLst>
    <p:notesMasterId xmlns:r="http://schemas.openxmlformats.org/officeDocument/2006/relationships" r:id="Rfcd211903af149b9"/>
  </p:notesMasterIdLst>
  <p:sldIdLst>
    <p:sldId xmlns:r="http://schemas.openxmlformats.org/officeDocument/2006/relationships" id="256" r:id="R11f10140129346da"/>
    <p:sldId xmlns:r="http://schemas.openxmlformats.org/officeDocument/2006/relationships" id="257" r:id="R68845a64e3c14b71"/>
    <p:sldId xmlns:r="http://schemas.openxmlformats.org/officeDocument/2006/relationships" id="258" r:id="R25593a8419de4a22"/>
    <p:sldId xmlns:r="http://schemas.openxmlformats.org/officeDocument/2006/relationships" id="259" r:id="R72fae07fd68b40c1"/>
    <p:sldId xmlns:r="http://schemas.openxmlformats.org/officeDocument/2006/relationships" id="260" r:id="R7bf5d40d53d747d7"/>
    <p:sldId xmlns:r="http://schemas.openxmlformats.org/officeDocument/2006/relationships" id="261" r:id="Rb0ff6e71755e4faa"/>
    <p:sldId xmlns:r="http://schemas.openxmlformats.org/officeDocument/2006/relationships" id="262" r:id="Ra544a1aa845542bd"/>
    <p:sldId xmlns:r="http://schemas.openxmlformats.org/officeDocument/2006/relationships" id="263" r:id="R2489609e395c4ef1"/>
    <p:sldId xmlns:r="http://schemas.openxmlformats.org/officeDocument/2006/relationships" id="264" r:id="Rcb84656d47ba4c5b"/>
    <p:sldId xmlns:r="http://schemas.openxmlformats.org/officeDocument/2006/relationships" id="265" r:id="R85a3fb5a692f420f"/>
    <p:sldId xmlns:r="http://schemas.openxmlformats.org/officeDocument/2006/relationships" id="266" r:id="R3ed87166346d4ee3"/>
    <p:sldId xmlns:r="http://schemas.openxmlformats.org/officeDocument/2006/relationships" id="267" r:id="R0a511b9219c242d8"/>
    <p:sldId xmlns:r="http://schemas.openxmlformats.org/officeDocument/2006/relationships" id="268" r:id="R19d97a9984344f6c"/>
    <p:sldId xmlns:r="http://schemas.openxmlformats.org/officeDocument/2006/relationships" id="269" r:id="Rf071308164a14ed2"/>
    <p:sldId xmlns:r="http://schemas.openxmlformats.org/officeDocument/2006/relationships" id="270" r:id="Rd50bea88584749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3c6003fb1b4cd0" /><Relationship Type="http://schemas.openxmlformats.org/officeDocument/2006/relationships/slideMaster" Target="/ppt/slideMasters/slideMaster1.xml" Id="Reebcded93a5a4c63" /><Relationship Type="http://schemas.openxmlformats.org/officeDocument/2006/relationships/notesMaster" Target="/ppt/notesMasters/notesMaster1.xml" Id="Rfcd211903af149b9" /><Relationship Type="http://schemas.openxmlformats.org/officeDocument/2006/relationships/presProps" Target="/ppt/presProps.xml" Id="Re96e1ec487834f34" /><Relationship Type="http://schemas.openxmlformats.org/officeDocument/2006/relationships/viewProps" Target="/ppt/viewProps.xml" Id="R985ac0b4dfcb415f" /><Relationship Type="http://schemas.openxmlformats.org/officeDocument/2006/relationships/tableStyles" Target="/ppt/tableStyles.xml" Id="R55e85e0680764b6f" /><Relationship Type="http://schemas.openxmlformats.org/officeDocument/2006/relationships/slide" Target="/ppt/slides/slide1.xml" Id="R11f10140129346da" /><Relationship Type="http://schemas.openxmlformats.org/officeDocument/2006/relationships/slide" Target="/ppt/slides/slide2.xml" Id="R68845a64e3c14b71" /><Relationship Type="http://schemas.openxmlformats.org/officeDocument/2006/relationships/slide" Target="/ppt/slides/slide3.xml" Id="R25593a8419de4a22" /><Relationship Type="http://schemas.openxmlformats.org/officeDocument/2006/relationships/slide" Target="/ppt/slides/slide4.xml" Id="R72fae07fd68b40c1" /><Relationship Type="http://schemas.openxmlformats.org/officeDocument/2006/relationships/slide" Target="/ppt/slides/slide5.xml" Id="R7bf5d40d53d747d7" /><Relationship Type="http://schemas.openxmlformats.org/officeDocument/2006/relationships/slide" Target="/ppt/slides/slide6.xml" Id="Rb0ff6e71755e4faa" /><Relationship Type="http://schemas.openxmlformats.org/officeDocument/2006/relationships/slide" Target="/ppt/slides/slide7.xml" Id="Ra544a1aa845542bd" /><Relationship Type="http://schemas.openxmlformats.org/officeDocument/2006/relationships/slide" Target="/ppt/slides/slide8.xml" Id="R2489609e395c4ef1" /><Relationship Type="http://schemas.openxmlformats.org/officeDocument/2006/relationships/slide" Target="/ppt/slides/slide9.xml" Id="Rcb84656d47ba4c5b" /><Relationship Type="http://schemas.openxmlformats.org/officeDocument/2006/relationships/slide" Target="/ppt/slides/slide10.xml" Id="R85a3fb5a692f420f" /><Relationship Type="http://schemas.openxmlformats.org/officeDocument/2006/relationships/slide" Target="/ppt/slides/slide11.xml" Id="R3ed87166346d4ee3" /><Relationship Type="http://schemas.openxmlformats.org/officeDocument/2006/relationships/slide" Target="/ppt/slides/slide12.xml" Id="R0a511b9219c242d8" /><Relationship Type="http://schemas.openxmlformats.org/officeDocument/2006/relationships/slide" Target="/ppt/slides/slide13.xml" Id="R19d97a9984344f6c" /><Relationship Type="http://schemas.openxmlformats.org/officeDocument/2006/relationships/slide" Target="/ppt/slides/slide14.xml" Id="Rf071308164a14ed2" /><Relationship Type="http://schemas.openxmlformats.org/officeDocument/2006/relationships/slide" Target="/ppt/slides/slide15.xml" Id="Rd50bea88584749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9b4967f7984c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TUM">
      <a:dk1>
        <a:srgbClr val="000000"/>
      </a:dk1>
      <a:lt1>
        <a:srgbClr val="FFFFFF"/>
      </a:lt1>
      <a:dk2>
        <a:srgbClr val="005293"/>
      </a:dk2>
      <a:lt2>
        <a:srgbClr val="EAF4FB"/>
      </a:lt2>
      <a:accent1>
        <a:srgbClr val="0065BD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65BD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74120df6b4780" /><Relationship Type="http://schemas.openxmlformats.org/officeDocument/2006/relationships/notesMaster" Target="/ppt/notesMasters/notesMaster1.xml" Id="R7bb7a9aeeb434a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2ae1aa0214488b" /><Relationship Type="http://schemas.openxmlformats.org/officeDocument/2006/relationships/notesMaster" Target="/ppt/notesMasters/notesMaster1.xml" Id="R025441c718b74c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db98cae8454070" /><Relationship Type="http://schemas.openxmlformats.org/officeDocument/2006/relationships/notesMaster" Target="/ppt/notesMasters/notesMaster1.xml" Id="Rdedbe5b0b4e44c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6d4444a2964377" /><Relationship Type="http://schemas.openxmlformats.org/officeDocument/2006/relationships/notesMaster" Target="/ppt/notesMasters/notesMaster1.xml" Id="R60c07b7fbcb44a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265f7adec4264" /><Relationship Type="http://schemas.openxmlformats.org/officeDocument/2006/relationships/notesMaster" Target="/ppt/notesMasters/notesMaster1.xml" Id="R669d01ff191944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1f6f81d23e4b00" /><Relationship Type="http://schemas.openxmlformats.org/officeDocument/2006/relationships/notesMaster" Target="/ppt/notesMasters/notesMaster1.xml" Id="R3edddd73a41545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2768a7918540ad" /><Relationship Type="http://schemas.openxmlformats.org/officeDocument/2006/relationships/notesMaster" Target="/ppt/notesMasters/notesMaster1.xml" Id="R5ebe1c82f2c445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b0c4169ded4eaa" /><Relationship Type="http://schemas.openxmlformats.org/officeDocument/2006/relationships/notesMaster" Target="/ppt/notesMasters/notesMaster1.xml" Id="R442b6d86fc7444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815eb89d3c4dc6" /><Relationship Type="http://schemas.openxmlformats.org/officeDocument/2006/relationships/notesMaster" Target="/ppt/notesMasters/notesMaster1.xml" Id="Re97a630642ac4c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6b6d1850ec4df9" /><Relationship Type="http://schemas.openxmlformats.org/officeDocument/2006/relationships/notesMaster" Target="/ppt/notesMasters/notesMaster1.xml" Id="R77ed69e75a6c4d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a823aaeaca4f69" /><Relationship Type="http://schemas.openxmlformats.org/officeDocument/2006/relationships/notesMaster" Target="/ppt/notesMasters/notesMaster1.xml" Id="R910e16cd74354a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2c0e98918b4ac3" /><Relationship Type="http://schemas.openxmlformats.org/officeDocument/2006/relationships/notesMaster" Target="/ppt/notesMasters/notesMaster1.xml" Id="R2d620da54b584f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aa4ef3252d484c" /><Relationship Type="http://schemas.openxmlformats.org/officeDocument/2006/relationships/notesMaster" Target="/ppt/notesMasters/notesMaster1.xml" Id="R5c2befe9308147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9895428c0e41b5" /><Relationship Type="http://schemas.openxmlformats.org/officeDocument/2006/relationships/notesMaster" Target="/ppt/notesMasters/notesMaster1.xml" Id="R3cd91d8f72e043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f2d2822c0c4860" /><Relationship Type="http://schemas.openxmlformats.org/officeDocument/2006/relationships/notesMaster" Target="/ppt/notesMasters/notesMaster1.xml" Id="Rca439a629ad848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Introduce the thesis as an ecosystem-wide usability and integration effort, not as one isolated feature. Source: metadata.typ and content/introduction.typ.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0:20–1:20. Explain that the problem is systemic: one editor is reused across many contexts, while legacy and maintained versions had to coexist. Avoid listing every bug. Source: content/introduction.typ,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1:20–2:00. State the architectural thesis: reusable editor behavior belongs in the Apollon library; host-specific workflows remain outside. Source: content/system_design.typ.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2:00–2:45. Read the four verb-led objectives. Say that the same wording will return on the status slide. Source: content/introduction.typ, Objectives.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2:45–3:45. Use the two visuals to explain direct-manipulation improvements. Mention alignment guides, keyboard deletion, reordering, scroll lock, and larger selectable areas only verbally. Source: content/summary.typ and figures/edge-*.png.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3:45–4:45. Emphasize that awareness is transient session state and remains separate from persisted diagram content. Source: content/summary.typ and collaboration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4:45–5:30. Bridge from editor interactions to complete application workflows: create/open, distinguish local/shared, return through history, and export on mobile. The live demo shows the current interface. Source: content/implementation.typ and content/summary.typ.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5:30–8:30 (3 minutes). Demo flow: import figures/requirements-editing-activity-model.json or create a small activity diagram; adjust one edge; open a shared/collaborative diagram to show awareness; export as 16:9 PPTX. Before presenting, record this exact flow as the backup screencast.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8:30–9:00. First build: client-side editor behavior is reusable. Point to the standalone application and Apollon library. Source: figures/apollon-standalone-decomposition.json exported through Apollon as native PPTX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9:00–9:30. Second build: collaboration transport is host-owned. The library presents awareness; the standalone server relays session events. The mask now reveals the server and WebSocket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9:30–10:00. Third build: current shared diagrams and complete versions persist; cursors, selections, and followed viewports do not. This preserves a clean diagram model and clear ownership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10:00–10:50. Explain that the maintained editor replaced legacy behavior without abandoning active educational workflows. Include the VS Code extension verbally. Source: content/summary.typ and figures/apollon-artemis-integration.*.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10:50–11:40. Be explicit about the evaluation limitation. The evidence is qualitative and formative. Then show that recurring feedback still supports the implemented direction. Source: content/evaluation.typ.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11:40–12:30. Return to the exact objective wording. All four were realized; this does not mean every usability problem is solved. Name the four future directions in one sentence. Source: content/summary.typ.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12:30–12:45. Resolve the opening: usability and integration are connected because the same editor foundation is reused across the ecosystem. Invite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3315146d84b8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a6aa5da3704619" /><Relationship Type="http://schemas.openxmlformats.org/officeDocument/2006/relationships/slideLayout" Target="/ppt/slideLayouts/slideLayout1.xml" Id="Rea397656e0e847f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397656e0e847f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143199fee4b10" /><Relationship Type="http://schemas.openxmlformats.org/officeDocument/2006/relationships/image" Target="/ppt/media/image.png" Id="R587f1515ac4a4512" /><Relationship Type="http://schemas.openxmlformats.org/officeDocument/2006/relationships/notesSlide" Target="/ppt/notesSlides/notesSlide1.xml" Id="R0c93a5c1511546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9d5ad43524dd5" /><Relationship Type="http://schemas.openxmlformats.org/officeDocument/2006/relationships/image" Target="/ppt/media/image2.png" Id="R8c753f1e8ec34086" /><Relationship Type="http://schemas.openxmlformats.org/officeDocument/2006/relationships/notesSlide" Target="/ppt/notesSlides/notesSlide2.xml" Id="Rf87046560ed5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342987bc0442b" /><Relationship Type="http://schemas.openxmlformats.org/officeDocument/2006/relationships/image" Target="/ppt/media/image3.png" Id="R5f0e9625d3ca4dd4" /><Relationship Type="http://schemas.openxmlformats.org/officeDocument/2006/relationships/image" Target="/ppt/media/image4.png" Id="Rf47913598fdb45e9" /><Relationship Type="http://schemas.openxmlformats.org/officeDocument/2006/relationships/notesSlide" Target="/ppt/notesSlides/notesSlide3.xml" Id="R687b739dab6240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c2812dc7f422a" /><Relationship Type="http://schemas.openxmlformats.org/officeDocument/2006/relationships/image" Target="/ppt/media/image5.png" Id="R1b027de7e1094b4c" /><Relationship Type="http://schemas.openxmlformats.org/officeDocument/2006/relationships/notesSlide" Target="/ppt/notesSlides/notesSlide4.xml" Id="R2f714c7b504549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5748e67d34c07" /><Relationship Type="http://schemas.openxmlformats.org/officeDocument/2006/relationships/image" Target="/ppt/media/image6.png" Id="Rbc3534d6cc414484" /><Relationship Type="http://schemas.openxmlformats.org/officeDocument/2006/relationships/image" Target="/ppt/media/image7.png" Id="R50c8936e7a4042bb" /><Relationship Type="http://schemas.openxmlformats.org/officeDocument/2006/relationships/image" Target="/ppt/media/image8.png" Id="Rf92bfc7366d3450a" /><Relationship Type="http://schemas.openxmlformats.org/officeDocument/2006/relationships/notesSlide" Target="/ppt/notesSlides/notesSlide5.xml" Id="R2753b50a4ca446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526acd391446d" /><Relationship Type="http://schemas.openxmlformats.org/officeDocument/2006/relationships/image" Target="/ppt/media/image9.png" Id="R68375f08c9234143" /><Relationship Type="http://schemas.openxmlformats.org/officeDocument/2006/relationships/image" Target="/ppt/media/image10.png" Id="Ra3ef694a0ea34f67" /><Relationship Type="http://schemas.openxmlformats.org/officeDocument/2006/relationships/image" Target="/ppt/media/image11.png" Id="R2d2eefd2045a43d5" /><Relationship Type="http://schemas.openxmlformats.org/officeDocument/2006/relationships/notesSlide" Target="/ppt/notesSlides/notesSlide6.xml" Id="R4e12dd5cd5c343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a02181ab84fbf" /><Relationship Type="http://schemas.openxmlformats.org/officeDocument/2006/relationships/image" Target="/ppt/media/image12.png" Id="Rea7525dedb8e4fe0" /><Relationship Type="http://schemas.openxmlformats.org/officeDocument/2006/relationships/notesSlide" Target="/ppt/notesSlides/notesSlide7.xml" Id="Rd9551f0c3fef47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a1196cec740e6" /><Relationship Type="http://schemas.openxmlformats.org/officeDocument/2006/relationships/image" Target="/ppt/media/image13.png" Id="Rf38031496a8d4d30" /><Relationship Type="http://schemas.openxmlformats.org/officeDocument/2006/relationships/notesSlide" Target="/ppt/notesSlides/notesSlide8.xml" Id="Re82dffc2e8db45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0d2949a814047" /><Relationship Type="http://schemas.openxmlformats.org/officeDocument/2006/relationships/image" Target="/ppt/media/image14.png" Id="R324b527512a842b5" /><Relationship Type="http://schemas.openxmlformats.org/officeDocument/2006/relationships/notesSlide" Target="/ppt/notesSlides/notesSlide9.xml" Id="R2219f143eea84d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3804c8434716" /><Relationship Type="http://schemas.openxmlformats.org/officeDocument/2006/relationships/image" Target="/ppt/media/image14.png" Id="R69cfc2ce441b4f3f" /><Relationship Type="http://schemas.openxmlformats.org/officeDocument/2006/relationships/notesSlide" Target="/ppt/notesSlides/notesSlide10.xml" Id="R6bea9fb1a80e42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04dcbd3a74965" /><Relationship Type="http://schemas.openxmlformats.org/officeDocument/2006/relationships/image" Target="/ppt/media/image14.png" Id="Rd0ddc2586270497c" /><Relationship Type="http://schemas.openxmlformats.org/officeDocument/2006/relationships/notesSlide" Target="/ppt/notesSlides/notesSlide11.xml" Id="R0e55a8e3acb64f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b7811875940a4" /><Relationship Type="http://schemas.openxmlformats.org/officeDocument/2006/relationships/image" Target="/ppt/media/image15.png" Id="Rd68de101f9f241b9" /><Relationship Type="http://schemas.openxmlformats.org/officeDocument/2006/relationships/image" Target="/ppt/media/image16.png" Id="R3c1c38b405544f3e" /><Relationship Type="http://schemas.openxmlformats.org/officeDocument/2006/relationships/notesSlide" Target="/ppt/notesSlides/notesSlide12.xml" Id="R7845535f525647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7f50204d94ae0" /><Relationship Type="http://schemas.openxmlformats.org/officeDocument/2006/relationships/image" Target="/ppt/media/image17.png" Id="R96311bf8e91842e0" /><Relationship Type="http://schemas.openxmlformats.org/officeDocument/2006/relationships/notesSlide" Target="/ppt/notesSlides/notesSlide13.xml" Id="Rf6b663fa0a9c42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5213cb39441c" /><Relationship Type="http://schemas.openxmlformats.org/officeDocument/2006/relationships/image" Target="/ppt/media/image18.png" Id="R172873cce69a4c66" /><Relationship Type="http://schemas.openxmlformats.org/officeDocument/2006/relationships/notesSlide" Target="/ppt/notesSlides/notesSlide14.xml" Id="Re20aa217f2134a6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06551a5ae4f72" /><Relationship Type="http://schemas.openxmlformats.org/officeDocument/2006/relationships/image" Target="/ppt/media/image19.png" Id="Reddbca34d327490e" /><Relationship Type="http://schemas.openxmlformats.org/officeDocument/2006/relationships/notesSlide" Target="/ppt/notesSlides/notesSlide15.xml" Id="R0103b73e2c3140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f1515ac4a4512"/>
          <a:stretch xmlns:a="http://schemas.openxmlformats.org/drawingml/2006/main"/>
        </p:blipFill>
        <p:spPr>
          <a:xfrm xmlns:a="http://schemas.openxmlformats.org/drawingml/2006/main">
            <a:off x="10956681" y="400050"/>
            <a:ext cx="813288" cy="428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0B947-96A1-4336-95A1-9035C55E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EC795-809C-4917-A434-DF90A685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8429E-8B79-4960-AB2D-E64C9F99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MASTER’S THESIS · INFORMATION SYSTEMS / INFORMATICS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228FB-CECA-4470-BB79-0934B38C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620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Enhance Usability of the Educational Modeling Software Apollon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473BD-CE9A-4BE1-9940-B624B4CA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 reusable foundation for individual modeling, collaboration, teaching, assessment, and export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11639-6069-4350-84F1-204DEB8E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07D66-B843-4274-AFC2-42C8B34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Fady Samaan · Ravi Tamang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12BF3-B44D-4496-B3F1-60C06B75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Supervisor: Felix Dietrich, M.Sc.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Examiner: Prof. Dr. Stephan Krusche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Garching · 08 July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26EE6-94B7-4651-9326-73DD9C2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84928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B7C0B58F-37BB-481C-83E9-F6405AD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CD18641B-8D1A-4D67-9374-2820E496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Apollon’s breadth exposed friction across the ecosystem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53f1e8ec34086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09A60F40-EC3E-461A-B830-908666A8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B010B-3DE5-45D0-BE7C-2402509E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67618-F136-4D32-903B-6B79E3DD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Editing friction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BE740-73B0-4D07-B2E9-AA1AEE9D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Edges, layout, navigation, and repeated actions diverted attention from modeling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3AC28-D51A-4677-A093-ECC13E37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5D014-2364-444A-A888-C1D2EEA1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37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72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D836D-0F71-4C77-88F5-BA28DC60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Limited awareness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C662F-5282-41CE-B261-65CA4CF8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Collaborators could edit together but could not easily see where others were working.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6F37C-3408-4915-9092-8F646521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24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0C745-4251-4929-A609-7FF62617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811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CBF8E-1F76-4E04-AB14-1C4654C1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Fragmented workflows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B069AC-987C-4A73-A026-49FF2A2C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Standalone, mobile, Artemis, Athena, and VS Code depended on different editor behavior and model versions.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77748-2C94-4C5B-87B9-E5B5761B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243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E343C-A23C-4350-AEF9-E57553FF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The same usability issue can surface in individual work, team modeling, assessment, and export.</a:t>
            </a:r>
          </a:p>
        </p:txBody>
      </p:sp>
      <p:sp>
        <p:nvSpPr>
          <p:cNvPr id="18" name="Footer rule">
            <a:extLst xmlns:a="http://schemas.openxmlformats.org/drawingml/2006/main">
              <a:ext uri="{FF2B5EF4-FFF2-40B4-BE49-F238E27FC236}">
                <a16:creationId xmlns:a16="http://schemas.microsoft.com/office/drawing/2014/main" id="{CFDDD357-A6A5-4D9A-BAC6-27F4536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9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4F17BB43-0EAC-44F0-BB0E-6DCC95B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20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40764103-D566-4472-A260-D10F2F4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0658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2A1E6A13-9E4C-4DFE-ABBA-5CE12312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4345B1A0-1C5F-42A7-902B-A1B77B0B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editor foundation affects every learning context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e9625d3ca4dd4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8738A1E6-5E6A-4D8A-BF80-565EC64C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913598fdb45e9"/>
          <a:stretch xmlns:a="http://schemas.openxmlformats.org/drawingml/2006/main"/>
        </p:blipFill>
        <p:spPr>
          <a:xfrm xmlns:a="http://schemas.openxmlformats.org/drawingml/2006/main">
            <a:off x="533400" y="1474036"/>
            <a:ext cx="7239000" cy="448142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C35B5-C09D-417E-B97C-A85C5583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Shared editor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16221-6AFF-4123-A481-874B3C8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Modeling · rendering · callbacks · collaboration awareness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56CA4-4F8C-46F0-A27A-B253E3EF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857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8C6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F615D-B6BB-4E2E-93EC-B63818B0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Host-owned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DB41F-4240-4585-9255-89817794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Persistence · authentication · courses · assessment · deployment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CD001-0FA6-41B6-A9D3-6EC3F770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38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Improve once—reuse consistently.</a:t>
            </a:r>
          </a:p>
        </p:txBody>
      </p:sp>
      <p:sp>
        <p:nvSpPr>
          <p:cNvPr id="12" name="Footer rule">
            <a:extLst xmlns:a="http://schemas.openxmlformats.org/drawingml/2006/main">
              <a:ext uri="{FF2B5EF4-FFF2-40B4-BE49-F238E27FC236}">
                <a16:creationId xmlns:a16="http://schemas.microsoft.com/office/drawing/2014/main" id="{943D8569-EA59-4CDC-B3FE-1EF9BF74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3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C1679874-FFC0-48DA-AFA5-25D9372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4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E7B1546A-581A-44BF-9F51-9CC832A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2152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D462B310-58EE-4F6B-B327-921717EE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9B9D176E-5267-4E85-81E8-56B1B603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Four objectives guided the thesis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27de7e1094b4c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F49D47F8-D534-4ACE-AF81-34A26C07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104DD-7C53-4543-9C05-33AC3ACB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2205E-F708-4F8A-8326-12E85235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76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Improve modeling and application usability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A791-5A62-4375-A861-9DFEB683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28800"/>
            <a:ext cx="979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Simplify diagram editing, navigation, mobile use, and export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5F9F6-1FC2-4E36-9789-BF098A29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0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5CBF6-6F3F-424D-8731-1EBECEC0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241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 collaborative 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1E25C-A1F7-44A1-A6CD-0644E29E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979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Make collaborator activity visible in standalone shared modeling and Artemis team modeling.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64D20-57D4-40B7-A24A-42DADDC4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AD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85CF0-9870-431C-9E3B-E0EE0F0E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Enhance Apollon for educational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B4364-ABEE-4177-AFE6-CA15BD2B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979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Preserve exercises, quizzes, assessment, feedback generation, and existing diagram formats.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1875B-3321-4A96-AC03-9582CB20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0DA0F-483D-4AA9-A57C-67EC78DD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96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Improve diagram portability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8ABE8-DE70-4D59-9169-7C1EAF56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979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Produce dependable visual representations and export artifacts across environments.</a:t>
            </a:r>
          </a:p>
        </p:txBody>
      </p:sp>
      <p:sp>
        <p:nvSpPr>
          <p:cNvPr id="17" name="Footer rule">
            <a:extLst xmlns:a="http://schemas.openxmlformats.org/drawingml/2006/main">
              <a:ext uri="{FF2B5EF4-FFF2-40B4-BE49-F238E27FC236}">
                <a16:creationId xmlns:a16="http://schemas.microsoft.com/office/drawing/2014/main" id="{5F33BE10-DA6C-4A69-8C2A-7306FAF5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8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19468A0D-9770-4506-9E12-B08084BB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9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F86A1AD8-1603-4704-BB94-B4E5E2E3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096737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34BFAAD2-3BFC-4C11-A1AE-A65FC70D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OBJECTIVE 1 · USABILITY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8E32B88C-B8BD-42DA-AE63-1797DCC5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Editing improvements reduce repeated diagram work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534d6cc414484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56D0A991-DB71-4804-B116-C6394F10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8936e7a4042bb"/>
          <a:stretch xmlns:a="http://schemas.openxmlformats.org/drawingml/2006/main"/>
        </p:blipFill>
        <p:spPr>
          <a:xfrm xmlns:a="http://schemas.openxmlformats.org/drawingml/2006/main">
            <a:off x="1217744" y="1524000"/>
            <a:ext cx="4003412" cy="31432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bfc7366d3450a"/>
          <a:stretch xmlns:a="http://schemas.openxmlformats.org/drawingml/2006/main"/>
        </p:blipFill>
        <p:spPr>
          <a:xfrm xmlns:a="http://schemas.openxmlformats.org/drawingml/2006/main">
            <a:off x="6305550" y="1645151"/>
            <a:ext cx="5334000" cy="29009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AB25F-FE32-46A2-A82B-A8F7C3B3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Bend precisely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360B7-2240-4BC6-920F-4DE981D5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Waypoint dragging · reconnection · dynamic handles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124F2-2D86-4861-980B-48258445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0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Read crossings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02D03-9A52-49E1-B567-EFC512D7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911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Line jumps · compact routing · manual label placement</a:t>
            </a:r>
          </a:p>
        </p:txBody>
      </p:sp>
      <p:sp>
        <p:nvSpPr>
          <p:cNvPr id="11" name="Footer rule">
            <a:extLst xmlns:a="http://schemas.openxmlformats.org/drawingml/2006/main">
              <a:ext uri="{FF2B5EF4-FFF2-40B4-BE49-F238E27FC236}">
                <a16:creationId xmlns:a16="http://schemas.microsoft.com/office/drawing/2014/main" id="{EE0F74C3-49B2-48B8-A80C-BD0A58C7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2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98AEA11B-559E-4429-9822-FCA3E80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3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CD968E26-6179-4E1E-81A8-0ACDF10E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78441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3658C25C-E90B-45BB-BCF5-BF917E30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OBJECTIVE 2 · COLLABORATION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C79A20F0-A441-4BF0-8AEB-92D2050A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Collaboration awareness makes shared modeling legible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75f08c9234143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14B702C3-0DDF-48CE-84B5-AB994117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f694a0ea34f67"/>
          <a:stretch xmlns:a="http://schemas.openxmlformats.org/drawingml/2006/main"/>
        </p:blipFill>
        <p:spPr>
          <a:xfrm xmlns:a="http://schemas.openxmlformats.org/drawingml/2006/main">
            <a:off x="992751" y="1485900"/>
            <a:ext cx="6129798" cy="3333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eefd2045a43d5"/>
          <a:stretch xmlns:a="http://schemas.openxmlformats.org/drawingml/2006/main"/>
        </p:blipFill>
        <p:spPr>
          <a:xfrm xmlns:a="http://schemas.openxmlformats.org/drawingml/2006/main">
            <a:off x="7924800" y="2147912"/>
            <a:ext cx="3714750" cy="20097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F2CAA-CAF6-4751-BA46-68ACB56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See who is active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D49CA-BBE6-406F-A45B-E3F3110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Named cursors and selected or dragged elements expose activity in the shared workspace.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B9A42-9849-49B5-A1BB-FD34415B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29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Follow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1C230-7AD6-4195-A713-2159251D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102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Viewport following helps participants coordinate without persisting awareness state in the diagram model.</a:t>
            </a:r>
          </a:p>
        </p:txBody>
      </p:sp>
      <p:sp>
        <p:nvSpPr>
          <p:cNvPr id="11" name="Footer rule">
            <a:extLst xmlns:a="http://schemas.openxmlformats.org/drawingml/2006/main">
              <a:ext uri="{FF2B5EF4-FFF2-40B4-BE49-F238E27FC236}">
                <a16:creationId xmlns:a16="http://schemas.microsoft.com/office/drawing/2014/main" id="{D3622CA1-A69E-49D6-8B7D-6A7D8B9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2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C950F01F-FEDD-42CC-B9ED-0AAA780C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3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41454FF2-7808-4B9B-989C-3A93B4BD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004307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2D9760DD-CDFC-4FA1-B5C5-DB1AFF43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OBJECTIVE 1 · USABILITY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376C864D-315B-4B79-B01F-EE630229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Standalone and mobile workflows became easier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525dedb8e4fe0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D792CAAF-26DE-4A51-9086-6EBA1A0F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C7EDE-9F59-4B03-8313-022631F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133A7-651D-4F2E-BDD4-DC1772ED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716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Find diagrams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5CE07-ED9C-481E-9EC7-04AB8CCA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19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Home page and URL-based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82901-B798-4261-9EB8-D9BE66AA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9944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B308E-8ABD-406F-BEDA-671C978A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BA4AC-B8B5-4D37-9610-7D3D8E1D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289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Return safely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78BDC-B360-4593-B19F-5797EDA5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765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Local/shared lists and version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C08CC-ADB8-4A6D-ABF5-24B5584F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9944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2D9C3-AFA8-434F-9C51-23A11D82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7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72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47759-99B9-4AB4-9642-40DF1DBA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86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Export anywhere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AD8CB-404C-48E1-B6AB-33349B6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338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Mobile/iOS file and sharing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677C4-7039-4DDC-BCE2-5F0917BA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9944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7" name="Footer rule">
            <a:extLst xmlns:a="http://schemas.openxmlformats.org/drawingml/2006/main">
              <a:ext uri="{FF2B5EF4-FFF2-40B4-BE49-F238E27FC236}">
                <a16:creationId xmlns:a16="http://schemas.microsoft.com/office/drawing/2014/main" id="{B4AEF247-D21B-4894-9DF9-4D6791B5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8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017604E3-D431-4938-AAD4-FD2C6C2B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9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5CD3638F-321E-4A00-929A-64738ED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1669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8FB8A69F-C341-4E79-887F-457DE8BD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73A18C6F-7720-48C3-89CA-ECCEE9E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From model creation to an editable presentation export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031496a8d4d30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E9AC6F82-11AF-41E3-A62C-DA2F6ACA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8E744-1B2C-452B-8E3C-F28A5BD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91593-2B95-4074-A403-5D14DE14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5A0B7-080E-41D7-9217-901B2140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Open the standalone home page and create or import a realistic UML model.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8768B-7360-464F-A006-8DBB6F61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19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8C6E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8C6E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7BE17-2A74-4697-A3D6-B996CBB3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C37B0-F521-484D-9770-4F11A9D1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 together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64D6C-A710-4F76-AD95-7375A2D8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Bend an edge, show line jumps, then reveal selection and viewport awareness.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D0F57-F0ED-4E25-912B-4EF293B6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8C6E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8C6E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53430-D742-4CD8-8B25-178AFA41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E6367-718C-467D-A97E-9CB1E7E3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FC021-A83C-407E-8F7A-21388E97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95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Export the diagram as PPTX and show that elements remain separately animatable.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09675-12A6-4442-8FBD-99A24E79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Demo target: a short modeling flow with realistic thesis diagrams</a:t>
            </a:r>
          </a:p>
        </p:txBody>
      </p:sp>
      <p:sp>
        <p:nvSpPr>
          <p:cNvPr id="17" name="Footer rule">
            <a:extLst xmlns:a="http://schemas.openxmlformats.org/drawingml/2006/main">
              <a:ext uri="{FF2B5EF4-FFF2-40B4-BE49-F238E27FC236}">
                <a16:creationId xmlns:a16="http://schemas.microsoft.com/office/drawing/2014/main" id="{B2B61C7D-236E-4AEC-A8BD-8BCF3008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8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94874563-5D50-4AAC-8EFF-D97A5312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9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703389F7-3269-4FAA-91C7-911A11AC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22036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119879D-D30A-4B40-A0A5-A09919EC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500" y="1938676"/>
            <a:ext cx="2259962" cy="2578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FA1103D0-5F84-4A28-9F66-BBEA12F5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708" y="197803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277CBC19-9131-4505-B564-BAFBF9D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02" y="2004095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A8F97CA2-8E1D-42D5-A83B-EAB4BBB1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272" y="2013921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6" name="Node · &quot;Standalone Web Application&quot;">
            <a:extLst xmlns:a="http://schemas.openxmlformats.org/drawingml/2006/main">
              <a:ext uri="{FF2B5EF4-FFF2-40B4-BE49-F238E27FC236}">
                <a16:creationId xmlns:a16="http://schemas.microsoft.com/office/drawing/2014/main" id="{34AAF4D1-660A-466C-8674-A447CDAC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504" y="2102628"/>
            <a:ext cx="1659955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Standalone Web Application</a:t>
            </a:r>
          </a:p>
        </p:txBody>
      </p:sp>
      <p:sp>
        <p:nvSpPr>
          <p:cNvPr id="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D3F5A118-8853-4DAE-A81E-9689B6C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2427275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86AF9501-EA30-4A29-8244-44EACB7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246663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45CD5F05-2C10-40B6-960B-7B7B2A81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249269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8FABBFB0-98CD-41E2-8E43-22087375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253509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11" name="Node · &quot;Diagram Overview&quot;">
            <a:extLst xmlns:a="http://schemas.openxmlformats.org/drawingml/2006/main">
              <a:ext uri="{FF2B5EF4-FFF2-40B4-BE49-F238E27FC236}">
                <a16:creationId xmlns:a16="http://schemas.microsoft.com/office/drawing/2014/main" id="{89CB9BEF-9413-4AAD-BB62-C77FDE0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019" y="2637372"/>
            <a:ext cx="109673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Overview</a:t>
            </a:r>
          </a:p>
        </p:txBody>
      </p:sp>
      <p:sp>
        <p:nvSpPr>
          <p:cNvPr id="1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1D2652E-6743-4825-8B25-B25A58EC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3051595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1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3530AB3F-4C7B-4F0F-85FB-D1560093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14AA87E5-BC9F-4347-86AB-F7487CA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5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032E9209-A00D-4619-A761-C2CA8216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16" name="Node · &quot;Apollon Diagram Editor&quot;">
            <a:extLst xmlns:a="http://schemas.openxmlformats.org/drawingml/2006/main">
              <a:ext uri="{FF2B5EF4-FFF2-40B4-BE49-F238E27FC236}">
                <a16:creationId xmlns:a16="http://schemas.microsoft.com/office/drawing/2014/main" id="{90A354EB-F7D1-43AD-920F-CF735A49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03" y="3261693"/>
            <a:ext cx="1355362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Diagram Editor</a:t>
            </a:r>
          </a:p>
        </p:txBody>
      </p:sp>
      <p:sp>
        <p:nvSpPr>
          <p:cNvPr id="1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2AA6A23-FB1D-4C55-9F57-9C2AAD8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3838782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1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AF01167C-33EF-4173-A1FD-CC81A27B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3878141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2FB700F9-1BA1-4458-8E52-BBF4915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390419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2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10A0D179-F847-4D40-A217-296E1AA3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3946599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21" name="Node · &quot;Version History&quot;">
            <a:extLst xmlns:a="http://schemas.openxmlformats.org/drawingml/2006/main">
              <a:ext uri="{FF2B5EF4-FFF2-40B4-BE49-F238E27FC236}">
                <a16:creationId xmlns:a16="http://schemas.microsoft.com/office/drawing/2014/main" id="{3B5C742F-4D3D-4577-85EB-11190185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855" y="4048879"/>
            <a:ext cx="929057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History</a:t>
            </a:r>
          </a:p>
        </p:txBody>
      </p:sp>
      <p:sp>
        <p:nvSpPr>
          <p:cNvPr id="2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B1D45257-6B9C-4F1E-BECD-C0173AA2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62" y="2671574"/>
            <a:ext cx="2041256" cy="1628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2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040AE326-055D-4067-8D44-AEE5F4FD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864" y="2710934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2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D497B389-8B18-4C15-AFE9-1D906D6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857" y="2736992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2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D2C424C9-A1ED-4D4F-A61D-3E52CF35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80" y="2746819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26" name="Node · &quot;Apollon Library (npm)&quot;">
            <a:extLst xmlns:a="http://schemas.openxmlformats.org/drawingml/2006/main">
              <a:ext uri="{FF2B5EF4-FFF2-40B4-BE49-F238E27FC236}">
                <a16:creationId xmlns:a16="http://schemas.microsoft.com/office/drawing/2014/main" id="{AA8D1AC5-9FA9-405A-8AA3-D0C66E6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826" y="2835526"/>
            <a:ext cx="1288326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Library (npm)</a:t>
            </a:r>
          </a:p>
        </p:txBody>
      </p:sp>
      <p:sp>
        <p:nvSpPr>
          <p:cNvPr id="2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6322F7D2-5EE4-4442-8B14-4FFF2E02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19" y="3051595"/>
            <a:ext cx="1603844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2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4FF4667D-BBF3-4A5B-B4DA-7AF67DD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609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2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76914AC3-2A54-47EC-AF7C-290D059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602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3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66FC70DF-3F97-4F4D-B32F-F3B7D739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31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31" name="Node · &quot;Diagram Editor&quot;">
            <a:extLst xmlns:a="http://schemas.openxmlformats.org/drawingml/2006/main">
              <a:ext uri="{FF2B5EF4-FFF2-40B4-BE49-F238E27FC236}">
                <a16:creationId xmlns:a16="http://schemas.microsoft.com/office/drawing/2014/main" id="{5D9CEAB1-5DDB-4A3A-B52F-9063A38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31" y="3261693"/>
            <a:ext cx="888220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Editor</a:t>
            </a:r>
          </a:p>
        </p:txBody>
      </p:sp>
      <p:sp>
        <p:nvSpPr>
          <p:cNvPr id="3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7473BFF-82B6-4B08-91D7-3030D64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581" y="1938676"/>
            <a:ext cx="2187059" cy="26058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3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DA7DFCC2-E1AB-4711-B181-908DA53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887" y="197803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3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D5B29E09-A8AB-43F8-8C8D-726F4B9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880" y="2004095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3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EBB9C116-35F1-42F8-B057-DED2AC3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901" y="2013921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36" name="Node · &quot;Standalone Server&quot;">
            <a:extLst xmlns:a="http://schemas.openxmlformats.org/drawingml/2006/main">
              <a:ext uri="{FF2B5EF4-FFF2-40B4-BE49-F238E27FC236}">
                <a16:creationId xmlns:a16="http://schemas.microsoft.com/office/drawing/2014/main" id="{989CEF5D-3B4F-4144-AB12-F7582EA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724" y="2102628"/>
            <a:ext cx="1100775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Standalone Server</a:t>
            </a:r>
          </a:p>
        </p:txBody>
      </p:sp>
      <p:sp>
        <p:nvSpPr>
          <p:cNvPr id="3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BCD9C0D0-9379-4E73-9CEA-38B5B78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640" y="2400131"/>
            <a:ext cx="1603844" cy="407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3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3A6C0EC-AE88-4BE6-B17C-C2492F51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2439490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3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764642DF-CF7E-41F7-8BB3-BD959A3F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246554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6B8F96E1-32DF-430B-87D7-80AB25B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652" y="2494376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41" name="Node · &quot;Diagram Service&quot;">
            <a:extLst xmlns:a="http://schemas.openxmlformats.org/drawingml/2006/main">
              <a:ext uri="{FF2B5EF4-FFF2-40B4-BE49-F238E27FC236}">
                <a16:creationId xmlns:a16="http://schemas.microsoft.com/office/drawing/2014/main" id="{DA6A3907-E5D2-4FA1-BF18-27CFAB6F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329" y="2596656"/>
            <a:ext cx="986466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Service</a:t>
            </a:r>
          </a:p>
        </p:txBody>
      </p:sp>
      <p:sp>
        <p:nvSpPr>
          <p:cNvPr id="4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1409D4B-B223-4F72-863F-26EB356E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640" y="3865926"/>
            <a:ext cx="1603844" cy="407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4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7B60512D-16BF-4720-B774-BE11FC7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390528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39139627-4A8C-4610-8A50-881F322F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3931344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5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25DE5873-F539-4E66-AB92-6A01C748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652" y="3960171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46" name="Node · &quot;Version Service&quot;">
            <a:extLst xmlns:a="http://schemas.openxmlformats.org/drawingml/2006/main">
              <a:ext uri="{FF2B5EF4-FFF2-40B4-BE49-F238E27FC236}">
                <a16:creationId xmlns:a16="http://schemas.microsoft.com/office/drawing/2014/main" id="{2A29A71C-5962-40A9-8EF5-533F60E9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978" y="4062451"/>
            <a:ext cx="947168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Service</a:t>
            </a:r>
          </a:p>
        </p:txBody>
      </p:sp>
      <p:sp>
        <p:nvSpPr>
          <p:cNvPr id="4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7E0B2D07-BB30-41B0-A5BC-2573784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307" y="4978845"/>
            <a:ext cx="1385138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4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A83AC662-0E80-473C-A0CF-1B77FFAD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91" y="501820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4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37C3FA96-38B2-4B54-8B69-DC2958B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684" y="504426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5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BDE18533-8A2B-4BCE-9E25-F709B04F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67" y="508666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51" name="Node · &quot;Redis Stack&quot;">
            <a:extLst xmlns:a="http://schemas.openxmlformats.org/drawingml/2006/main">
              <a:ext uri="{FF2B5EF4-FFF2-40B4-BE49-F238E27FC236}">
                <a16:creationId xmlns:a16="http://schemas.microsoft.com/office/drawing/2014/main" id="{0A74788E-670A-4128-AAB2-EB4DCDF2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334" y="5188942"/>
            <a:ext cx="71308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Redis Stack</a:t>
            </a:r>
          </a:p>
        </p:txBody>
      </p:sp>
      <p:sp>
        <p:nvSpPr>
          <p:cNvPr id="52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932CC26E-E055-427B-B444-6D6B7BD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585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5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FD819D4-61F7-487D-A9DF-0A89309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056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54" name="Node · &quot;Existing&quot;">
            <a:extLst xmlns:a="http://schemas.openxmlformats.org/drawingml/2006/main">
              <a:ext uri="{FF2B5EF4-FFF2-40B4-BE49-F238E27FC236}">
                <a16:creationId xmlns:a16="http://schemas.microsoft.com/office/drawing/2014/main" id="{E0269E5A-670A-4FF0-BA88-7E74663B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912" y="1429449"/>
            <a:ext cx="50275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Existing</a:t>
            </a:r>
          </a:p>
        </p:txBody>
      </p:sp>
      <p:sp>
        <p:nvSpPr>
          <p:cNvPr id="55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7EC472E9-6721-41BA-BE5C-9ED38E10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409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56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9FBEF53-9FF5-459F-9C44-B0F1DEE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880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57" name="Node · &quot;Modified&quot;">
            <a:extLst xmlns:a="http://schemas.openxmlformats.org/drawingml/2006/main">
              <a:ext uri="{FF2B5EF4-FFF2-40B4-BE49-F238E27FC236}">
                <a16:creationId xmlns:a16="http://schemas.microsoft.com/office/drawing/2014/main" id="{7A97BC3C-F368-4348-BB27-39AC7EB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106" y="1429449"/>
            <a:ext cx="554010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Modified</a:t>
            </a:r>
          </a:p>
        </p:txBody>
      </p:sp>
      <p:sp>
        <p:nvSpPr>
          <p:cNvPr id="58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5AC57B1E-4766-4280-ACF2-BADA737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233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D9E8FF"/>
          </a:solidFill>
          <a:ln xmlns:a="http://schemas.openxmlformats.org/drawingml/2006/main" w="15511">
            <a:solidFill>
              <a:srgbClr val="4A86D9"/>
            </a:solidFill>
            <a:prstDash val="solid"/>
          </a:ln>
        </p:spPr>
      </p:sp>
      <p:sp>
        <p:nvSpPr>
          <p:cNvPr id="59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58D79DF3-62B7-4186-A1C1-33A2773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7704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D9E8FF"/>
          </a:solidFill>
          <a:ln xmlns:a="http://schemas.openxmlformats.org/drawingml/2006/main" w="15511">
            <a:solidFill>
              <a:srgbClr val="4A86D9"/>
            </a:solidFill>
            <a:prstDash val="solid"/>
          </a:ln>
        </p:spPr>
      </p:sp>
      <p:sp>
        <p:nvSpPr>
          <p:cNvPr id="60" name="Node · &quot;Added&quot;">
            <a:extLst xmlns:a="http://schemas.openxmlformats.org/drawingml/2006/main">
              <a:ext uri="{FF2B5EF4-FFF2-40B4-BE49-F238E27FC236}">
                <a16:creationId xmlns:a16="http://schemas.microsoft.com/office/drawing/2014/main" id="{7748EDBB-CBEB-4E60-B471-8E1CE416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6368" y="1429449"/>
            <a:ext cx="42113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Added</a:t>
            </a:r>
          </a:p>
        </p:txBody>
      </p:sp>
      <p:sp>
        <p:nvSpPr>
          <p:cNvPr id="61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A3198180-FB95-4540-A656-B5987F37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19" y="3648772"/>
            <a:ext cx="1603844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62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1AA8FAA7-6525-4D85-9B51-3EE58E4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609" y="3688131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3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6ABB34D9-AB12-4A70-9C61-AE3CAC44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602" y="371418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4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C30718DF-58F1-4B12-B432-6D9F1814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31" y="3756589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65" name="Node · &quot;State Synchronization&quot;">
            <a:extLst xmlns:a="http://schemas.openxmlformats.org/drawingml/2006/main">
              <a:ext uri="{FF2B5EF4-FFF2-40B4-BE49-F238E27FC236}">
                <a16:creationId xmlns:a16="http://schemas.microsoft.com/office/drawing/2014/main" id="{8220C850-8F4F-490A-AFB3-4740536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36" y="3858869"/>
            <a:ext cx="1306608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State Synchronization</a:t>
            </a:r>
          </a:p>
        </p:txBody>
      </p:sp>
      <p:sp>
        <p:nvSpPr>
          <p:cNvPr id="66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ED1FE54-710D-488D-BF25-47880263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190" y="3051595"/>
            <a:ext cx="1640295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67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87A6D5DA-79B9-4C48-936D-F5E9D462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8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E8824884-87CE-4F2C-85F6-A4D049A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9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95E8CA77-8F94-4A55-B4F4-9EB5889D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426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70" name="Node · &quot;WebSocket Relay&quot;">
            <a:extLst xmlns:a="http://schemas.openxmlformats.org/drawingml/2006/main">
              <a:ext uri="{FF2B5EF4-FFF2-40B4-BE49-F238E27FC236}">
                <a16:creationId xmlns:a16="http://schemas.microsoft.com/office/drawing/2014/main" id="{F34CEEAD-CC88-41B9-A39B-DF6B7D2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075" y="3261693"/>
            <a:ext cx="1038523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WebSocket Relay</a:t>
            </a:r>
          </a:p>
        </p:txBody>
      </p:sp>
      <p:sp>
        <p:nvSpPr>
          <p:cNvPr id="71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D9859B82-C511-4C46-BE77-A797E7DB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2535853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2" name="Node · &quot;Diagram API&quot;">
            <a:extLst xmlns:a="http://schemas.openxmlformats.org/drawingml/2006/main">
              <a:ext uri="{FF2B5EF4-FFF2-40B4-BE49-F238E27FC236}">
                <a16:creationId xmlns:a16="http://schemas.microsoft.com/office/drawing/2014/main" id="{44373849-F7E6-4425-8057-8006DB79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086" y="2718806"/>
            <a:ext cx="747029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API</a:t>
            </a:r>
          </a:p>
        </p:txBody>
      </p:sp>
      <p:sp>
        <p:nvSpPr>
          <p:cNvPr id="73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B65A0C22-851A-4D0F-BDB7-EA7A976C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3323039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4" name="Node · &quot;Collaboration WebSocket&quot;">
            <a:extLst xmlns:a="http://schemas.openxmlformats.org/drawingml/2006/main">
              <a:ext uri="{FF2B5EF4-FFF2-40B4-BE49-F238E27FC236}">
                <a16:creationId xmlns:a16="http://schemas.microsoft.com/office/drawing/2014/main" id="{AE8E8EBB-F380-47C8-8D76-94DB3C8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9" y="3505992"/>
            <a:ext cx="149222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Collaboration WebSocket</a:t>
            </a:r>
          </a:p>
        </p:txBody>
      </p:sp>
      <p:sp>
        <p:nvSpPr>
          <p:cNvPr id="75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ED5A8620-3BE1-4D36-83C9-16FC52DD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3974504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6" name="Node · &quot;Version API&quot;">
            <a:extLst xmlns:a="http://schemas.openxmlformats.org/drawingml/2006/main">
              <a:ext uri="{FF2B5EF4-FFF2-40B4-BE49-F238E27FC236}">
                <a16:creationId xmlns:a16="http://schemas.microsoft.com/office/drawing/2014/main" id="{235886F1-254E-4750-B90C-9A35A008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36" y="4157457"/>
            <a:ext cx="70773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API</a:t>
            </a:r>
          </a:p>
        </p:txBody>
      </p:sp>
      <p:sp>
        <p:nvSpPr>
          <p:cNvPr id="77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AC7B44D4-FE21-4DFF-A548-1313D287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82" y="3187318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8" name="Node · &quot;Apollon Editor API&quot;">
            <a:extLst xmlns:a="http://schemas.openxmlformats.org/drawingml/2006/main">
              <a:ext uri="{FF2B5EF4-FFF2-40B4-BE49-F238E27FC236}">
                <a16:creationId xmlns:a16="http://schemas.microsoft.com/office/drawing/2014/main" id="{6C37D856-356C-48AF-949C-8B7744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018" y="3370270"/>
            <a:ext cx="1073437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Editor API</a:t>
            </a:r>
          </a:p>
        </p:txBody>
      </p:sp>
      <p:sp>
        <p:nvSpPr>
          <p:cNvPr id="79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16550A7-02EE-44D1-8EB0-873700F5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63" y="2611857"/>
            <a:ext cx="1355977" cy="10858"/>
          </a:xfrm>
          <a:custGeom xmlns:a="http://schemas.openxmlformats.org/drawingml/2006/main">
            <a:rect l="l" t="t" r="r" b="b"/>
            <a:pathLst>
              <a:path w="1442529" h="15511">
                <a:moveTo>
                  <a:pt x="1434773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0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82D243AC-C7EA-43B8-9947-A77B4B3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63" y="3399043"/>
            <a:ext cx="1326817" cy="10858"/>
          </a:xfrm>
          <a:custGeom xmlns:a="http://schemas.openxmlformats.org/drawingml/2006/main">
            <a:rect l="l" t="t" r="r" b="b"/>
            <a:pathLst>
              <a:path w="1411507" h="15511">
                <a:moveTo>
                  <a:pt x="1403751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1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7435FE8C-6D9F-4720-9B37-4CC4C407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150" y="3485905"/>
            <a:ext cx="14580" cy="162866"/>
          </a:xfrm>
          <a:custGeom xmlns:a="http://schemas.openxmlformats.org/drawingml/2006/main">
            <a:rect l="l" t="t" r="r" b="b"/>
            <a:pathLst>
              <a:path w="15511" h="232666">
                <a:moveTo>
                  <a:pt x="7756" y="7756"/>
                </a:moveTo>
                <a:lnTo>
                  <a:pt x="7756" y="224910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82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C11EC195-98E0-4B2A-B65B-ECF71022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652" y="3541551"/>
            <a:ext cx="127579" cy="105863"/>
          </a:xfrm>
          <a:custGeom xmlns:a="http://schemas.openxmlformats.org/drawingml/2006/main">
            <a:rect l="l" t="t" r="r" b="b"/>
            <a:pathLst>
              <a:path w="135722" h="151233">
                <a:moveTo>
                  <a:pt x="129905" y="5817"/>
                </a:moveTo>
                <a:lnTo>
                  <a:pt x="67861" y="145416"/>
                </a:lnTo>
                <a:lnTo>
                  <a:pt x="5817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83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317B878F-6936-4D08-9686-CC3A5FB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658" y="2611857"/>
            <a:ext cx="1392428" cy="662323"/>
          </a:xfrm>
          <a:custGeom xmlns:a="http://schemas.openxmlformats.org/drawingml/2006/main">
            <a:rect l="l" t="t" r="r" b="b"/>
            <a:pathLst>
              <a:path w="1481306" h="946175">
                <a:moveTo>
                  <a:pt x="7756" y="938419"/>
                </a:moveTo>
                <a:lnTo>
                  <a:pt x="744531" y="938419"/>
                </a:lnTo>
                <a:lnTo>
                  <a:pt x="744531" y="7756"/>
                </a:lnTo>
                <a:lnTo>
                  <a:pt x="1473551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4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C186F159-07F9-4669-A342-0AB7264A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2512223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5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5FF1DF53-C492-443C-8375-F6BF367C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368" y="3399043"/>
            <a:ext cx="1399718" cy="10858"/>
          </a:xfrm>
          <a:custGeom xmlns:a="http://schemas.openxmlformats.org/drawingml/2006/main">
            <a:rect l="l" t="t" r="r" b="b"/>
            <a:pathLst>
              <a:path w="1489062" h="15511">
                <a:moveTo>
                  <a:pt x="7756" y="7756"/>
                </a:moveTo>
                <a:lnTo>
                  <a:pt x="148130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6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8BC7520F-47EC-4716-9747-9343558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3299409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7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F1DD068-72E0-4151-87EC-4D808D8B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658" y="4050508"/>
            <a:ext cx="1392428" cy="10858"/>
          </a:xfrm>
          <a:custGeom xmlns:a="http://schemas.openxmlformats.org/drawingml/2006/main">
            <a:rect l="l" t="t" r="r" b="b"/>
            <a:pathLst>
              <a:path w="1481306" h="15511">
                <a:moveTo>
                  <a:pt x="7756" y="7756"/>
                </a:moveTo>
                <a:lnTo>
                  <a:pt x="1473551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8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33178EA8-E062-44F3-9F0F-8019E5D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3950874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9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E69DB760-1035-47B6-994D-58A3BC15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953" y="4050508"/>
            <a:ext cx="1355977" cy="10858"/>
          </a:xfrm>
          <a:custGeom xmlns:a="http://schemas.openxmlformats.org/drawingml/2006/main">
            <a:rect l="l" t="t" r="r" b="b"/>
            <a:pathLst>
              <a:path w="1442529" h="15511">
                <a:moveTo>
                  <a:pt x="7756" y="7756"/>
                </a:moveTo>
                <a:lnTo>
                  <a:pt x="1434773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0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BF89CFF7-56FF-4E50-83B6-0A61DBA4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250" y="3263322"/>
            <a:ext cx="699859" cy="10858"/>
          </a:xfrm>
          <a:custGeom xmlns:a="http://schemas.openxmlformats.org/drawingml/2006/main">
            <a:rect l="l" t="t" r="r" b="b"/>
            <a:pathLst>
              <a:path w="744531" h="15511">
                <a:moveTo>
                  <a:pt x="736775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1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A39E2243-104C-461B-859A-8ABBAC2A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586" y="3163688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7756" y="292424"/>
                </a:moveTo>
                <a:cubicBezTo>
                  <a:pt x="72177" y="275162"/>
                  <a:pt x="116972" y="216783"/>
                  <a:pt x="116972" y="150090"/>
                </a:cubicBezTo>
                <a:cubicBezTo>
                  <a:pt x="116972" y="83396"/>
                  <a:pt x="72177" y="25017"/>
                  <a:pt x="7756" y="7756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2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831670EB-3CFC-404A-BE4C-A961C0B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362" y="3263322"/>
            <a:ext cx="729020" cy="10858"/>
          </a:xfrm>
          <a:custGeom xmlns:a="http://schemas.openxmlformats.org/drawingml/2006/main">
            <a:rect l="l" t="t" r="r" b="b"/>
            <a:pathLst>
              <a:path w="775553" h="15511">
                <a:moveTo>
                  <a:pt x="7756" y="7756"/>
                </a:moveTo>
                <a:lnTo>
                  <a:pt x="767798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3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CE7CA38-10E4-425F-9486-7DD6A625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84" y="2611857"/>
            <a:ext cx="634247" cy="2589572"/>
          </a:xfrm>
          <a:custGeom xmlns:a="http://schemas.openxmlformats.org/drawingml/2006/main">
            <a:rect l="l" t="t" r="r" b="b"/>
            <a:pathLst>
              <a:path w="674731" h="3699388">
                <a:moveTo>
                  <a:pt x="7756" y="7756"/>
                </a:moveTo>
                <a:lnTo>
                  <a:pt x="666976" y="7756"/>
                </a:lnTo>
                <a:lnTo>
                  <a:pt x="666976" y="3691633"/>
                </a:lnTo>
                <a:lnTo>
                  <a:pt x="434310" y="3691633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94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AEFDFC24-21A3-48E3-9B8F-D958A178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268" y="5148497"/>
            <a:ext cx="142159" cy="95005"/>
          </a:xfrm>
          <a:custGeom xmlns:a="http://schemas.openxmlformats.org/drawingml/2006/main">
            <a:rect l="l" t="t" r="r" b="b"/>
            <a:pathLst>
              <a:path w="151233" h="135722">
                <a:moveTo>
                  <a:pt x="145416" y="129905"/>
                </a:moveTo>
                <a:lnTo>
                  <a:pt x="5817" y="67861"/>
                </a:lnTo>
                <a:lnTo>
                  <a:pt x="145416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95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32E34B22-6F86-4375-8FC1-D30DCCF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135" y="4273092"/>
            <a:ext cx="14580" cy="711183"/>
          </a:xfrm>
          <a:custGeom xmlns:a="http://schemas.openxmlformats.org/drawingml/2006/main">
            <a:rect l="l" t="t" r="r" b="b"/>
            <a:pathLst>
              <a:path w="15511" h="1015975">
                <a:moveTo>
                  <a:pt x="7756" y="7756"/>
                </a:moveTo>
                <a:lnTo>
                  <a:pt x="7756" y="1008219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96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BC94501F-2877-4A82-B53C-8B01046A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636" y="4877054"/>
            <a:ext cx="127579" cy="105863"/>
          </a:xfrm>
          <a:custGeom xmlns:a="http://schemas.openxmlformats.org/drawingml/2006/main">
            <a:rect l="l" t="t" r="r" b="b"/>
            <a:pathLst>
              <a:path w="135722" h="151233">
                <a:moveTo>
                  <a:pt x="129905" y="5817"/>
                </a:moveTo>
                <a:lnTo>
                  <a:pt x="67861" y="145416"/>
                </a:lnTo>
                <a:lnTo>
                  <a:pt x="5817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97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6E56D1D7-846E-45B7-8976-240C04D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ARCHITECTURE · DATAFLOW</a:t>
            </a:r>
          </a:p>
        </p:txBody>
      </p:sp>
      <p:sp>
        <p:nvSpPr>
          <p:cNvPr id="98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A4DF534C-3A51-42E9-9F19-5D462442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Reuse editor behavior across clients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b527512a842b5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100" name="Header rule">
            <a:extLst xmlns:a="http://schemas.openxmlformats.org/drawingml/2006/main">
              <a:ext uri="{FF2B5EF4-FFF2-40B4-BE49-F238E27FC236}">
                <a16:creationId xmlns:a16="http://schemas.microsoft.com/office/drawing/2014/main" id="{62B4262B-71D4-4936-88D1-AE79D08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01" name="Footer rule">
            <a:extLst xmlns:a="http://schemas.openxmlformats.org/drawingml/2006/main">
              <a:ext uri="{FF2B5EF4-FFF2-40B4-BE49-F238E27FC236}">
                <a16:creationId xmlns:a16="http://schemas.microsoft.com/office/drawing/2014/main" id="{9535F0C7-BF7C-4818-A5E7-F783F8FF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02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310AD467-F9BC-434F-A255-BE85251A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03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0E79346D-678C-4004-82E5-379B5B46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4" name="Architecture step number">
            <a:extLst xmlns:a="http://schemas.openxmlformats.org/drawingml/2006/main">
              <a:ext uri="{FF2B5EF4-FFF2-40B4-BE49-F238E27FC236}">
                <a16:creationId xmlns:a16="http://schemas.microsoft.com/office/drawing/2014/main" id="{A088294F-C1AD-4994-86E3-784F7D01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5" name="Architecture step copy">
            <a:extLst xmlns:a="http://schemas.openxmlformats.org/drawingml/2006/main">
              <a:ext uri="{FF2B5EF4-FFF2-40B4-BE49-F238E27FC236}">
                <a16:creationId xmlns:a16="http://schemas.microsoft.com/office/drawing/2014/main" id="{210AABC4-319D-45D0-996B-F899022B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9065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The standalone editors reuse the maintained Apollon library through the editor API.</a:t>
            </a:r>
          </a:p>
        </p:txBody>
      </p:sp>
      <p:sp>
        <p:nvSpPr>
          <p:cNvPr id="106" name="Stage 1 mask">
            <a:extLst xmlns:a="http://schemas.openxmlformats.org/drawingml/2006/main">
              <a:ext uri="{FF2B5EF4-FFF2-40B4-BE49-F238E27FC236}">
                <a16:creationId xmlns:a16="http://schemas.microsoft.com/office/drawing/2014/main" id="{4C1983F5-BBEF-482C-B89A-53D5C1FD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953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3125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119879D-D30A-4B40-A0A5-A09919EC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500" y="1938676"/>
            <a:ext cx="2259962" cy="2578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FA1103D0-5F84-4A28-9F66-BBEA12F5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708" y="197803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277CBC19-9131-4505-B564-BAFBF9D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02" y="2004095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A8F97CA2-8E1D-42D5-A83B-EAB4BBB1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272" y="2013921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6" name="Node · &quot;Standalone Web Application&quot;">
            <a:extLst xmlns:a="http://schemas.openxmlformats.org/drawingml/2006/main">
              <a:ext uri="{FF2B5EF4-FFF2-40B4-BE49-F238E27FC236}">
                <a16:creationId xmlns:a16="http://schemas.microsoft.com/office/drawing/2014/main" id="{34AAF4D1-660A-466C-8674-A447CDAC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504" y="2102628"/>
            <a:ext cx="1659955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Standalone Web Application</a:t>
            </a:r>
          </a:p>
        </p:txBody>
      </p:sp>
      <p:sp>
        <p:nvSpPr>
          <p:cNvPr id="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D3F5A118-8853-4DAE-A81E-9689B6C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2427275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86AF9501-EA30-4A29-8244-44EACB7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246663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45CD5F05-2C10-40B6-960B-7B7B2A81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249269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8FABBFB0-98CD-41E2-8E43-22087375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253509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11" name="Node · &quot;Diagram Overview&quot;">
            <a:extLst xmlns:a="http://schemas.openxmlformats.org/drawingml/2006/main">
              <a:ext uri="{FF2B5EF4-FFF2-40B4-BE49-F238E27FC236}">
                <a16:creationId xmlns:a16="http://schemas.microsoft.com/office/drawing/2014/main" id="{89CB9BEF-9413-4AAD-BB62-C77FDE0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019" y="2637372"/>
            <a:ext cx="109673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Overview</a:t>
            </a:r>
          </a:p>
        </p:txBody>
      </p:sp>
      <p:sp>
        <p:nvSpPr>
          <p:cNvPr id="1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1D2652E-6743-4825-8B25-B25A58EC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3051595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1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3530AB3F-4C7B-4F0F-85FB-D1560093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14AA87E5-BC9F-4347-86AB-F7487CA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5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032E9209-A00D-4619-A761-C2CA8216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16" name="Node · &quot;Apollon Diagram Editor&quot;">
            <a:extLst xmlns:a="http://schemas.openxmlformats.org/drawingml/2006/main">
              <a:ext uri="{FF2B5EF4-FFF2-40B4-BE49-F238E27FC236}">
                <a16:creationId xmlns:a16="http://schemas.microsoft.com/office/drawing/2014/main" id="{90A354EB-F7D1-43AD-920F-CF735A49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03" y="3261693"/>
            <a:ext cx="1355362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Diagram Editor</a:t>
            </a:r>
          </a:p>
        </p:txBody>
      </p:sp>
      <p:sp>
        <p:nvSpPr>
          <p:cNvPr id="1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2AA6A23-FB1D-4C55-9F57-9C2AAD8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3838782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1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AF01167C-33EF-4173-A1FD-CC81A27B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3878141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2FB700F9-1BA1-4458-8E52-BBF4915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390419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2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10A0D179-F847-4D40-A217-296E1AA3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3946599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21" name="Node · &quot;Version History&quot;">
            <a:extLst xmlns:a="http://schemas.openxmlformats.org/drawingml/2006/main">
              <a:ext uri="{FF2B5EF4-FFF2-40B4-BE49-F238E27FC236}">
                <a16:creationId xmlns:a16="http://schemas.microsoft.com/office/drawing/2014/main" id="{3B5C742F-4D3D-4577-85EB-11190185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855" y="4048879"/>
            <a:ext cx="929057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History</a:t>
            </a:r>
          </a:p>
        </p:txBody>
      </p:sp>
      <p:sp>
        <p:nvSpPr>
          <p:cNvPr id="2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B1D45257-6B9C-4F1E-BECD-C0173AA2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62" y="2671574"/>
            <a:ext cx="2041256" cy="1628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2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040AE326-055D-4067-8D44-AEE5F4FD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864" y="2710934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2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D497B389-8B18-4C15-AFE9-1D906D6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857" y="2736992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2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D2C424C9-A1ED-4D4F-A61D-3E52CF35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80" y="2746819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26" name="Node · &quot;Apollon Library (npm)&quot;">
            <a:extLst xmlns:a="http://schemas.openxmlformats.org/drawingml/2006/main">
              <a:ext uri="{FF2B5EF4-FFF2-40B4-BE49-F238E27FC236}">
                <a16:creationId xmlns:a16="http://schemas.microsoft.com/office/drawing/2014/main" id="{AA8D1AC5-9FA9-405A-8AA3-D0C66E6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826" y="2835526"/>
            <a:ext cx="1288326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Library (npm)</a:t>
            </a:r>
          </a:p>
        </p:txBody>
      </p:sp>
      <p:sp>
        <p:nvSpPr>
          <p:cNvPr id="2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6322F7D2-5EE4-4442-8B14-4FFF2E02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19" y="3051595"/>
            <a:ext cx="1603844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2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4FF4667D-BBF3-4A5B-B4DA-7AF67DD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609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2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76914AC3-2A54-47EC-AF7C-290D059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602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3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66FC70DF-3F97-4F4D-B32F-F3B7D739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31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31" name="Node · &quot;Diagram Editor&quot;">
            <a:extLst xmlns:a="http://schemas.openxmlformats.org/drawingml/2006/main">
              <a:ext uri="{FF2B5EF4-FFF2-40B4-BE49-F238E27FC236}">
                <a16:creationId xmlns:a16="http://schemas.microsoft.com/office/drawing/2014/main" id="{5D9CEAB1-5DDB-4A3A-B52F-9063A38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31" y="3261693"/>
            <a:ext cx="888220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Editor</a:t>
            </a:r>
          </a:p>
        </p:txBody>
      </p:sp>
      <p:sp>
        <p:nvSpPr>
          <p:cNvPr id="3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7473BFF-82B6-4B08-91D7-3030D64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581" y="1938676"/>
            <a:ext cx="2187059" cy="26058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3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DA7DFCC2-E1AB-4711-B181-908DA53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887" y="197803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3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D5B29E09-A8AB-43F8-8C8D-726F4B9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880" y="2004095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3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EBB9C116-35F1-42F8-B057-DED2AC3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901" y="2013921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36" name="Node · &quot;Standalone Server&quot;">
            <a:extLst xmlns:a="http://schemas.openxmlformats.org/drawingml/2006/main">
              <a:ext uri="{FF2B5EF4-FFF2-40B4-BE49-F238E27FC236}">
                <a16:creationId xmlns:a16="http://schemas.microsoft.com/office/drawing/2014/main" id="{989CEF5D-3B4F-4144-AB12-F7582EA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724" y="2102628"/>
            <a:ext cx="1100775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Standalone Server</a:t>
            </a:r>
          </a:p>
        </p:txBody>
      </p:sp>
      <p:sp>
        <p:nvSpPr>
          <p:cNvPr id="3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BCD9C0D0-9379-4E73-9CEA-38B5B78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640" y="2400131"/>
            <a:ext cx="1603844" cy="407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3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3A6C0EC-AE88-4BE6-B17C-C2492F51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2439490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3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764642DF-CF7E-41F7-8BB3-BD959A3F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246554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6B8F96E1-32DF-430B-87D7-80AB25B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652" y="2494376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41" name="Node · &quot;Diagram Service&quot;">
            <a:extLst xmlns:a="http://schemas.openxmlformats.org/drawingml/2006/main">
              <a:ext uri="{FF2B5EF4-FFF2-40B4-BE49-F238E27FC236}">
                <a16:creationId xmlns:a16="http://schemas.microsoft.com/office/drawing/2014/main" id="{DA6A3907-E5D2-4FA1-BF18-27CFAB6F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329" y="2596656"/>
            <a:ext cx="986466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Service</a:t>
            </a:r>
          </a:p>
        </p:txBody>
      </p:sp>
      <p:sp>
        <p:nvSpPr>
          <p:cNvPr id="4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1409D4B-B223-4F72-863F-26EB356E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640" y="3865926"/>
            <a:ext cx="1603844" cy="407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4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7B60512D-16BF-4720-B774-BE11FC7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390528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39139627-4A8C-4610-8A50-881F322F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3931344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5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25DE5873-F539-4E66-AB92-6A01C748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652" y="3960171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46" name="Node · &quot;Version Service&quot;">
            <a:extLst xmlns:a="http://schemas.openxmlformats.org/drawingml/2006/main">
              <a:ext uri="{FF2B5EF4-FFF2-40B4-BE49-F238E27FC236}">
                <a16:creationId xmlns:a16="http://schemas.microsoft.com/office/drawing/2014/main" id="{2A29A71C-5962-40A9-8EF5-533F60E9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978" y="4062451"/>
            <a:ext cx="947168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Service</a:t>
            </a:r>
          </a:p>
        </p:txBody>
      </p:sp>
      <p:sp>
        <p:nvSpPr>
          <p:cNvPr id="4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7E0B2D07-BB30-41B0-A5BC-2573784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307" y="4978845"/>
            <a:ext cx="1385138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4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A83AC662-0E80-473C-A0CF-1B77FFAD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91" y="501820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4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37C3FA96-38B2-4B54-8B69-DC2958B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684" y="504426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5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BDE18533-8A2B-4BCE-9E25-F709B04F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67" y="508666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51" name="Node · &quot;Redis Stack&quot;">
            <a:extLst xmlns:a="http://schemas.openxmlformats.org/drawingml/2006/main">
              <a:ext uri="{FF2B5EF4-FFF2-40B4-BE49-F238E27FC236}">
                <a16:creationId xmlns:a16="http://schemas.microsoft.com/office/drawing/2014/main" id="{0A74788E-670A-4128-AAB2-EB4DCDF2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334" y="5188942"/>
            <a:ext cx="71308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Redis Stack</a:t>
            </a:r>
          </a:p>
        </p:txBody>
      </p:sp>
      <p:sp>
        <p:nvSpPr>
          <p:cNvPr id="52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932CC26E-E055-427B-B444-6D6B7BD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585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5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FD819D4-61F7-487D-A9DF-0A89309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056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54" name="Node · &quot;Existing&quot;">
            <a:extLst xmlns:a="http://schemas.openxmlformats.org/drawingml/2006/main">
              <a:ext uri="{FF2B5EF4-FFF2-40B4-BE49-F238E27FC236}">
                <a16:creationId xmlns:a16="http://schemas.microsoft.com/office/drawing/2014/main" id="{E0269E5A-670A-4FF0-BA88-7E74663B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912" y="1429449"/>
            <a:ext cx="50275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Existing</a:t>
            </a:r>
          </a:p>
        </p:txBody>
      </p:sp>
      <p:sp>
        <p:nvSpPr>
          <p:cNvPr id="55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7EC472E9-6721-41BA-BE5C-9ED38E10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409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56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9FBEF53-9FF5-459F-9C44-B0F1DEE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880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57" name="Node · &quot;Modified&quot;">
            <a:extLst xmlns:a="http://schemas.openxmlformats.org/drawingml/2006/main">
              <a:ext uri="{FF2B5EF4-FFF2-40B4-BE49-F238E27FC236}">
                <a16:creationId xmlns:a16="http://schemas.microsoft.com/office/drawing/2014/main" id="{7A97BC3C-F368-4348-BB27-39AC7EB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106" y="1429449"/>
            <a:ext cx="554010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Modified</a:t>
            </a:r>
          </a:p>
        </p:txBody>
      </p:sp>
      <p:sp>
        <p:nvSpPr>
          <p:cNvPr id="58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5AC57B1E-4766-4280-ACF2-BADA737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233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D9E8FF"/>
          </a:solidFill>
          <a:ln xmlns:a="http://schemas.openxmlformats.org/drawingml/2006/main" w="15511">
            <a:solidFill>
              <a:srgbClr val="4A86D9"/>
            </a:solidFill>
            <a:prstDash val="solid"/>
          </a:ln>
        </p:spPr>
      </p:sp>
      <p:sp>
        <p:nvSpPr>
          <p:cNvPr id="59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58D79DF3-62B7-4186-A1C1-33A2773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7704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D9E8FF"/>
          </a:solidFill>
          <a:ln xmlns:a="http://schemas.openxmlformats.org/drawingml/2006/main" w="15511">
            <a:solidFill>
              <a:srgbClr val="4A86D9"/>
            </a:solidFill>
            <a:prstDash val="solid"/>
          </a:ln>
        </p:spPr>
      </p:sp>
      <p:sp>
        <p:nvSpPr>
          <p:cNvPr id="60" name="Node · &quot;Added&quot;">
            <a:extLst xmlns:a="http://schemas.openxmlformats.org/drawingml/2006/main">
              <a:ext uri="{FF2B5EF4-FFF2-40B4-BE49-F238E27FC236}">
                <a16:creationId xmlns:a16="http://schemas.microsoft.com/office/drawing/2014/main" id="{7748EDBB-CBEB-4E60-B471-8E1CE416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6368" y="1429449"/>
            <a:ext cx="42113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Added</a:t>
            </a:r>
          </a:p>
        </p:txBody>
      </p:sp>
      <p:sp>
        <p:nvSpPr>
          <p:cNvPr id="61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A3198180-FB95-4540-A656-B5987F37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19" y="3648772"/>
            <a:ext cx="1603844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62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1AA8FAA7-6525-4D85-9B51-3EE58E4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609" y="3688131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3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6ABB34D9-AB12-4A70-9C61-AE3CAC44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602" y="371418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4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C30718DF-58F1-4B12-B432-6D9F1814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31" y="3756589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65" name="Node · &quot;State Synchronization&quot;">
            <a:extLst xmlns:a="http://schemas.openxmlformats.org/drawingml/2006/main">
              <a:ext uri="{FF2B5EF4-FFF2-40B4-BE49-F238E27FC236}">
                <a16:creationId xmlns:a16="http://schemas.microsoft.com/office/drawing/2014/main" id="{8220C850-8F4F-490A-AFB3-4740536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36" y="3858869"/>
            <a:ext cx="1306608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State Synchronization</a:t>
            </a:r>
          </a:p>
        </p:txBody>
      </p:sp>
      <p:sp>
        <p:nvSpPr>
          <p:cNvPr id="66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ED1FE54-710D-488D-BF25-47880263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190" y="3051595"/>
            <a:ext cx="1640295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67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87A6D5DA-79B9-4C48-936D-F5E9D462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8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E8824884-87CE-4F2C-85F6-A4D049A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9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95E8CA77-8F94-4A55-B4F4-9EB5889D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426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70" name="Node · &quot;WebSocket Relay&quot;">
            <a:extLst xmlns:a="http://schemas.openxmlformats.org/drawingml/2006/main">
              <a:ext uri="{FF2B5EF4-FFF2-40B4-BE49-F238E27FC236}">
                <a16:creationId xmlns:a16="http://schemas.microsoft.com/office/drawing/2014/main" id="{F34CEEAD-CC88-41B9-A39B-DF6B7D2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075" y="3261693"/>
            <a:ext cx="1038523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WebSocket Relay</a:t>
            </a:r>
          </a:p>
        </p:txBody>
      </p:sp>
      <p:sp>
        <p:nvSpPr>
          <p:cNvPr id="71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D9859B82-C511-4C46-BE77-A797E7DB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2535853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2" name="Node · &quot;Diagram API&quot;">
            <a:extLst xmlns:a="http://schemas.openxmlformats.org/drawingml/2006/main">
              <a:ext uri="{FF2B5EF4-FFF2-40B4-BE49-F238E27FC236}">
                <a16:creationId xmlns:a16="http://schemas.microsoft.com/office/drawing/2014/main" id="{44373849-F7E6-4425-8057-8006DB79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086" y="2718806"/>
            <a:ext cx="747029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API</a:t>
            </a:r>
          </a:p>
        </p:txBody>
      </p:sp>
      <p:sp>
        <p:nvSpPr>
          <p:cNvPr id="73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B65A0C22-851A-4D0F-BDB7-EA7A976C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3323039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4" name="Node · &quot;Collaboration WebSocket&quot;">
            <a:extLst xmlns:a="http://schemas.openxmlformats.org/drawingml/2006/main">
              <a:ext uri="{FF2B5EF4-FFF2-40B4-BE49-F238E27FC236}">
                <a16:creationId xmlns:a16="http://schemas.microsoft.com/office/drawing/2014/main" id="{AE8E8EBB-F380-47C8-8D76-94DB3C8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9" y="3505992"/>
            <a:ext cx="149222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Collaboration WebSocket</a:t>
            </a:r>
          </a:p>
        </p:txBody>
      </p:sp>
      <p:sp>
        <p:nvSpPr>
          <p:cNvPr id="75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ED5A8620-3BE1-4D36-83C9-16FC52DD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3974504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6" name="Node · &quot;Version API&quot;">
            <a:extLst xmlns:a="http://schemas.openxmlformats.org/drawingml/2006/main">
              <a:ext uri="{FF2B5EF4-FFF2-40B4-BE49-F238E27FC236}">
                <a16:creationId xmlns:a16="http://schemas.microsoft.com/office/drawing/2014/main" id="{235886F1-254E-4750-B90C-9A35A008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36" y="4157457"/>
            <a:ext cx="70773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API</a:t>
            </a:r>
          </a:p>
        </p:txBody>
      </p:sp>
      <p:sp>
        <p:nvSpPr>
          <p:cNvPr id="77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AC7B44D4-FE21-4DFF-A548-1313D287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82" y="3187318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8" name="Node · &quot;Apollon Editor API&quot;">
            <a:extLst xmlns:a="http://schemas.openxmlformats.org/drawingml/2006/main">
              <a:ext uri="{FF2B5EF4-FFF2-40B4-BE49-F238E27FC236}">
                <a16:creationId xmlns:a16="http://schemas.microsoft.com/office/drawing/2014/main" id="{6C37D856-356C-48AF-949C-8B7744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018" y="3370270"/>
            <a:ext cx="1073437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Editor API</a:t>
            </a:r>
          </a:p>
        </p:txBody>
      </p:sp>
      <p:sp>
        <p:nvSpPr>
          <p:cNvPr id="79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16550A7-02EE-44D1-8EB0-873700F5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63" y="2611857"/>
            <a:ext cx="1355977" cy="10858"/>
          </a:xfrm>
          <a:custGeom xmlns:a="http://schemas.openxmlformats.org/drawingml/2006/main">
            <a:rect l="l" t="t" r="r" b="b"/>
            <a:pathLst>
              <a:path w="1442529" h="15511">
                <a:moveTo>
                  <a:pt x="1434773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0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82D243AC-C7EA-43B8-9947-A77B4B3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63" y="3399043"/>
            <a:ext cx="1326817" cy="10858"/>
          </a:xfrm>
          <a:custGeom xmlns:a="http://schemas.openxmlformats.org/drawingml/2006/main">
            <a:rect l="l" t="t" r="r" b="b"/>
            <a:pathLst>
              <a:path w="1411507" h="15511">
                <a:moveTo>
                  <a:pt x="1403751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1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7435FE8C-6D9F-4720-9B37-4CC4C407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150" y="3485905"/>
            <a:ext cx="14580" cy="162866"/>
          </a:xfrm>
          <a:custGeom xmlns:a="http://schemas.openxmlformats.org/drawingml/2006/main">
            <a:rect l="l" t="t" r="r" b="b"/>
            <a:pathLst>
              <a:path w="15511" h="232666">
                <a:moveTo>
                  <a:pt x="7756" y="7756"/>
                </a:moveTo>
                <a:lnTo>
                  <a:pt x="7756" y="224910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82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C11EC195-98E0-4B2A-B65B-ECF71022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652" y="3541551"/>
            <a:ext cx="127579" cy="105863"/>
          </a:xfrm>
          <a:custGeom xmlns:a="http://schemas.openxmlformats.org/drawingml/2006/main">
            <a:rect l="l" t="t" r="r" b="b"/>
            <a:pathLst>
              <a:path w="135722" h="151233">
                <a:moveTo>
                  <a:pt x="129905" y="5817"/>
                </a:moveTo>
                <a:lnTo>
                  <a:pt x="67861" y="145416"/>
                </a:lnTo>
                <a:lnTo>
                  <a:pt x="5817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83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317B878F-6936-4D08-9686-CC3A5FB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658" y="2611857"/>
            <a:ext cx="1392428" cy="662323"/>
          </a:xfrm>
          <a:custGeom xmlns:a="http://schemas.openxmlformats.org/drawingml/2006/main">
            <a:rect l="l" t="t" r="r" b="b"/>
            <a:pathLst>
              <a:path w="1481306" h="946175">
                <a:moveTo>
                  <a:pt x="7756" y="938419"/>
                </a:moveTo>
                <a:lnTo>
                  <a:pt x="744531" y="938419"/>
                </a:lnTo>
                <a:lnTo>
                  <a:pt x="744531" y="7756"/>
                </a:lnTo>
                <a:lnTo>
                  <a:pt x="1473551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4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C186F159-07F9-4669-A342-0AB7264A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2512223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5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5FF1DF53-C492-443C-8375-F6BF367C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368" y="3399043"/>
            <a:ext cx="1399718" cy="10858"/>
          </a:xfrm>
          <a:custGeom xmlns:a="http://schemas.openxmlformats.org/drawingml/2006/main">
            <a:rect l="l" t="t" r="r" b="b"/>
            <a:pathLst>
              <a:path w="1489062" h="15511">
                <a:moveTo>
                  <a:pt x="7756" y="7756"/>
                </a:moveTo>
                <a:lnTo>
                  <a:pt x="148130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6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8BC7520F-47EC-4716-9747-9343558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3299409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7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F1DD068-72E0-4151-87EC-4D808D8B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658" y="4050508"/>
            <a:ext cx="1392428" cy="10858"/>
          </a:xfrm>
          <a:custGeom xmlns:a="http://schemas.openxmlformats.org/drawingml/2006/main">
            <a:rect l="l" t="t" r="r" b="b"/>
            <a:pathLst>
              <a:path w="1481306" h="15511">
                <a:moveTo>
                  <a:pt x="7756" y="7756"/>
                </a:moveTo>
                <a:lnTo>
                  <a:pt x="1473551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8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33178EA8-E062-44F3-9F0F-8019E5D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3950874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9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E69DB760-1035-47B6-994D-58A3BC15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953" y="4050508"/>
            <a:ext cx="1355977" cy="10858"/>
          </a:xfrm>
          <a:custGeom xmlns:a="http://schemas.openxmlformats.org/drawingml/2006/main">
            <a:rect l="l" t="t" r="r" b="b"/>
            <a:pathLst>
              <a:path w="1442529" h="15511">
                <a:moveTo>
                  <a:pt x="7756" y="7756"/>
                </a:moveTo>
                <a:lnTo>
                  <a:pt x="1434773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0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BF89CFF7-56FF-4E50-83B6-0A61DBA4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250" y="3263322"/>
            <a:ext cx="699859" cy="10858"/>
          </a:xfrm>
          <a:custGeom xmlns:a="http://schemas.openxmlformats.org/drawingml/2006/main">
            <a:rect l="l" t="t" r="r" b="b"/>
            <a:pathLst>
              <a:path w="744531" h="15511">
                <a:moveTo>
                  <a:pt x="736775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1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A39E2243-104C-461B-859A-8ABBAC2A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586" y="3163688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7756" y="292424"/>
                </a:moveTo>
                <a:cubicBezTo>
                  <a:pt x="72177" y="275162"/>
                  <a:pt x="116972" y="216783"/>
                  <a:pt x="116972" y="150090"/>
                </a:cubicBezTo>
                <a:cubicBezTo>
                  <a:pt x="116972" y="83396"/>
                  <a:pt x="72177" y="25017"/>
                  <a:pt x="7756" y="7756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2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831670EB-3CFC-404A-BE4C-A961C0B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362" y="3263322"/>
            <a:ext cx="729020" cy="10858"/>
          </a:xfrm>
          <a:custGeom xmlns:a="http://schemas.openxmlformats.org/drawingml/2006/main">
            <a:rect l="l" t="t" r="r" b="b"/>
            <a:pathLst>
              <a:path w="775553" h="15511">
                <a:moveTo>
                  <a:pt x="7756" y="7756"/>
                </a:moveTo>
                <a:lnTo>
                  <a:pt x="767798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3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CE7CA38-10E4-425F-9486-7DD6A625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84" y="2611857"/>
            <a:ext cx="634247" cy="2589572"/>
          </a:xfrm>
          <a:custGeom xmlns:a="http://schemas.openxmlformats.org/drawingml/2006/main">
            <a:rect l="l" t="t" r="r" b="b"/>
            <a:pathLst>
              <a:path w="674731" h="3699388">
                <a:moveTo>
                  <a:pt x="7756" y="7756"/>
                </a:moveTo>
                <a:lnTo>
                  <a:pt x="666976" y="7756"/>
                </a:lnTo>
                <a:lnTo>
                  <a:pt x="666976" y="3691633"/>
                </a:lnTo>
                <a:lnTo>
                  <a:pt x="434310" y="3691633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94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AEFDFC24-21A3-48E3-9B8F-D958A178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268" y="5148497"/>
            <a:ext cx="142159" cy="95005"/>
          </a:xfrm>
          <a:custGeom xmlns:a="http://schemas.openxmlformats.org/drawingml/2006/main">
            <a:rect l="l" t="t" r="r" b="b"/>
            <a:pathLst>
              <a:path w="151233" h="135722">
                <a:moveTo>
                  <a:pt x="145416" y="129905"/>
                </a:moveTo>
                <a:lnTo>
                  <a:pt x="5817" y="67861"/>
                </a:lnTo>
                <a:lnTo>
                  <a:pt x="145416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95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32E34B22-6F86-4375-8FC1-D30DCCF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135" y="4273092"/>
            <a:ext cx="14580" cy="711183"/>
          </a:xfrm>
          <a:custGeom xmlns:a="http://schemas.openxmlformats.org/drawingml/2006/main">
            <a:rect l="l" t="t" r="r" b="b"/>
            <a:pathLst>
              <a:path w="15511" h="1015975">
                <a:moveTo>
                  <a:pt x="7756" y="7756"/>
                </a:moveTo>
                <a:lnTo>
                  <a:pt x="7756" y="1008219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96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BC94501F-2877-4A82-B53C-8B01046A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636" y="4877054"/>
            <a:ext cx="127579" cy="105863"/>
          </a:xfrm>
          <a:custGeom xmlns:a="http://schemas.openxmlformats.org/drawingml/2006/main">
            <a:rect l="l" t="t" r="r" b="b"/>
            <a:pathLst>
              <a:path w="135722" h="151233">
                <a:moveTo>
                  <a:pt x="129905" y="5817"/>
                </a:moveTo>
                <a:lnTo>
                  <a:pt x="67861" y="145416"/>
                </a:lnTo>
                <a:lnTo>
                  <a:pt x="5817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97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6E56D1D7-846E-45B7-8976-240C04D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ARCHITECTURE · DATAFLOW</a:t>
            </a:r>
          </a:p>
        </p:txBody>
      </p:sp>
      <p:sp>
        <p:nvSpPr>
          <p:cNvPr id="98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A4DF534C-3A51-42E9-9F19-5D462442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collaboration transport host-owned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fc2ce441b4f3f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100" name="Header rule">
            <a:extLst xmlns:a="http://schemas.openxmlformats.org/drawingml/2006/main">
              <a:ext uri="{FF2B5EF4-FFF2-40B4-BE49-F238E27FC236}">
                <a16:creationId xmlns:a16="http://schemas.microsoft.com/office/drawing/2014/main" id="{62B4262B-71D4-4936-88D1-AE79D08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01" name="Footer rule">
            <a:extLst xmlns:a="http://schemas.openxmlformats.org/drawingml/2006/main">
              <a:ext uri="{FF2B5EF4-FFF2-40B4-BE49-F238E27FC236}">
                <a16:creationId xmlns:a16="http://schemas.microsoft.com/office/drawing/2014/main" id="{9535F0C7-BF7C-4818-A5E7-F783F8FF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02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310AD467-F9BC-434F-A255-BE85251A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03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0E79346D-678C-4004-82E5-379B5B46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4" name="Architecture step number">
            <a:extLst xmlns:a="http://schemas.openxmlformats.org/drawingml/2006/main">
              <a:ext uri="{FF2B5EF4-FFF2-40B4-BE49-F238E27FC236}">
                <a16:creationId xmlns:a16="http://schemas.microsoft.com/office/drawing/2014/main" id="{AD753A34-483B-4980-9B36-234B6494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0C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5" name="Architecture step copy">
            <a:extLst xmlns:a="http://schemas.openxmlformats.org/drawingml/2006/main">
              <a:ext uri="{FF2B5EF4-FFF2-40B4-BE49-F238E27FC236}">
                <a16:creationId xmlns:a16="http://schemas.microsoft.com/office/drawing/2014/main" id="{83D23E67-C709-462F-A384-FFA6909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906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Shared editing crosses the host boundary through APIs and a WebSocket relay.</a:t>
            </a:r>
          </a:p>
        </p:txBody>
      </p:sp>
      <p:sp>
        <p:nvSpPr>
          <p:cNvPr id="106" name="Stage 2 persistence mask">
            <a:extLst xmlns:a="http://schemas.openxmlformats.org/drawingml/2006/main">
              <a:ext uri="{FF2B5EF4-FFF2-40B4-BE49-F238E27FC236}">
                <a16:creationId xmlns:a16="http://schemas.microsoft.com/office/drawing/2014/main" id="{8BB6F667-9A72-42FB-9C3E-32E08B4C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48250"/>
            <a:ext cx="2428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312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119879D-D30A-4B40-A0A5-A09919EC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500" y="1938676"/>
            <a:ext cx="2259962" cy="2578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FA1103D0-5F84-4A28-9F66-BBEA12F5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708" y="197803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277CBC19-9131-4505-B564-BAFBF9D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702" y="2004095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A8F97CA2-8E1D-42D5-A83B-EAB4BBB1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272" y="2013921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6" name="Node · &quot;Standalone Web Application&quot;">
            <a:extLst xmlns:a="http://schemas.openxmlformats.org/drawingml/2006/main">
              <a:ext uri="{FF2B5EF4-FFF2-40B4-BE49-F238E27FC236}">
                <a16:creationId xmlns:a16="http://schemas.microsoft.com/office/drawing/2014/main" id="{34AAF4D1-660A-466C-8674-A447CDAC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504" y="2102628"/>
            <a:ext cx="1659955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Standalone Web Application</a:t>
            </a:r>
          </a:p>
        </p:txBody>
      </p:sp>
      <p:sp>
        <p:nvSpPr>
          <p:cNvPr id="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D3F5A118-8853-4DAE-A81E-9689B6CB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2427275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86AF9501-EA30-4A29-8244-44EACB7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246663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45CD5F05-2C10-40B6-960B-7B7B2A81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249269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8FABBFB0-98CD-41E2-8E43-22087375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253509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11" name="Node · &quot;Diagram Overview&quot;">
            <a:extLst xmlns:a="http://schemas.openxmlformats.org/drawingml/2006/main">
              <a:ext uri="{FF2B5EF4-FFF2-40B4-BE49-F238E27FC236}">
                <a16:creationId xmlns:a16="http://schemas.microsoft.com/office/drawing/2014/main" id="{89CB9BEF-9413-4AAD-BB62-C77FDE0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019" y="2637372"/>
            <a:ext cx="109673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Overview</a:t>
            </a:r>
          </a:p>
        </p:txBody>
      </p:sp>
      <p:sp>
        <p:nvSpPr>
          <p:cNvPr id="1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1D2652E-6743-4825-8B25-B25A58EC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3051595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1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3530AB3F-4C7B-4F0F-85FB-D1560093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14AA87E5-BC9F-4347-86AB-F7487CA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5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032E9209-A00D-4619-A761-C2CA8216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16" name="Node · &quot;Apollon Diagram Editor&quot;">
            <a:extLst xmlns:a="http://schemas.openxmlformats.org/drawingml/2006/main">
              <a:ext uri="{FF2B5EF4-FFF2-40B4-BE49-F238E27FC236}">
                <a16:creationId xmlns:a16="http://schemas.microsoft.com/office/drawing/2014/main" id="{90A354EB-F7D1-43AD-920F-CF735A49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703" y="3261693"/>
            <a:ext cx="1355362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Diagram Editor</a:t>
            </a:r>
          </a:p>
        </p:txBody>
      </p:sp>
      <p:sp>
        <p:nvSpPr>
          <p:cNvPr id="1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2AA6A23-FB1D-4C55-9F57-9C2AAD8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109" y="3838782"/>
            <a:ext cx="1822550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1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AF01167C-33EF-4173-A1FD-CC81A27B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905" y="3878141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1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2FB700F9-1BA1-4458-8E52-BBF4915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897" y="390419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2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10A0D179-F847-4D40-A217-296E1AA3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4" y="3946599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21" name="Node · &quot;Version History&quot;">
            <a:extLst xmlns:a="http://schemas.openxmlformats.org/drawingml/2006/main">
              <a:ext uri="{FF2B5EF4-FFF2-40B4-BE49-F238E27FC236}">
                <a16:creationId xmlns:a16="http://schemas.microsoft.com/office/drawing/2014/main" id="{3B5C742F-4D3D-4577-85EB-11190185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855" y="4048879"/>
            <a:ext cx="929057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History</a:t>
            </a:r>
          </a:p>
        </p:txBody>
      </p:sp>
      <p:sp>
        <p:nvSpPr>
          <p:cNvPr id="2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B1D45257-6B9C-4F1E-BECD-C0173AA2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62" y="2671574"/>
            <a:ext cx="2041256" cy="16286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2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040AE326-055D-4067-8D44-AEE5F4FD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864" y="2710934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2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D497B389-8B18-4C15-AFE9-1D906D6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857" y="2736992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2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D2C424C9-A1ED-4D4F-A61D-3E52CF35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80" y="2746819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26" name="Node · &quot;Apollon Library (npm)&quot;">
            <a:extLst xmlns:a="http://schemas.openxmlformats.org/drawingml/2006/main">
              <a:ext uri="{FF2B5EF4-FFF2-40B4-BE49-F238E27FC236}">
                <a16:creationId xmlns:a16="http://schemas.microsoft.com/office/drawing/2014/main" id="{AA8D1AC5-9FA9-405A-8AA3-D0C66E6C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826" y="2835526"/>
            <a:ext cx="1288326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Library (npm)</a:t>
            </a:r>
          </a:p>
        </p:txBody>
      </p:sp>
      <p:sp>
        <p:nvSpPr>
          <p:cNvPr id="2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6322F7D2-5EE4-4442-8B14-4FFF2E02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19" y="3051595"/>
            <a:ext cx="1603844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2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4FF4667D-BBF3-4A5B-B4DA-7AF67DD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609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2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76914AC3-2A54-47EC-AF7C-290D059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602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3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66FC70DF-3F97-4F4D-B32F-F3B7D739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31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31" name="Node · &quot;Diagram Editor&quot;">
            <a:extLst xmlns:a="http://schemas.openxmlformats.org/drawingml/2006/main">
              <a:ext uri="{FF2B5EF4-FFF2-40B4-BE49-F238E27FC236}">
                <a16:creationId xmlns:a16="http://schemas.microsoft.com/office/drawing/2014/main" id="{5D9CEAB1-5DDB-4A3A-B52F-9063A38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31" y="3261693"/>
            <a:ext cx="888220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Editor</a:t>
            </a:r>
          </a:p>
        </p:txBody>
      </p:sp>
      <p:sp>
        <p:nvSpPr>
          <p:cNvPr id="3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7473BFF-82B6-4B08-91D7-3030D64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581" y="1938676"/>
            <a:ext cx="2187059" cy="26058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3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DA7DFCC2-E1AB-4711-B181-908DA53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887" y="197803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3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D5B29E09-A8AB-43F8-8C8D-726F4B93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880" y="2004095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35" name="Node · &quot;«subsystem»&quot;">
            <a:extLst xmlns:a="http://schemas.openxmlformats.org/drawingml/2006/main">
              <a:ext uri="{FF2B5EF4-FFF2-40B4-BE49-F238E27FC236}">
                <a16:creationId xmlns:a16="http://schemas.microsoft.com/office/drawing/2014/main" id="{EBB9C116-35F1-42F8-B057-DED2AC3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901" y="2013921"/>
            <a:ext cx="664419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«subsystem»</a:t>
            </a:r>
          </a:p>
        </p:txBody>
      </p:sp>
      <p:sp>
        <p:nvSpPr>
          <p:cNvPr id="36" name="Node · &quot;Standalone Server&quot;">
            <a:extLst xmlns:a="http://schemas.openxmlformats.org/drawingml/2006/main">
              <a:ext uri="{FF2B5EF4-FFF2-40B4-BE49-F238E27FC236}">
                <a16:creationId xmlns:a16="http://schemas.microsoft.com/office/drawing/2014/main" id="{989CEF5D-3B4F-4144-AB12-F7582EA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724" y="2102628"/>
            <a:ext cx="1100775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Standalone Server</a:t>
            </a:r>
          </a:p>
        </p:txBody>
      </p:sp>
      <p:sp>
        <p:nvSpPr>
          <p:cNvPr id="3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BCD9C0D0-9379-4E73-9CEA-38B5B78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640" y="2400131"/>
            <a:ext cx="1603844" cy="407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3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3A6C0EC-AE88-4BE6-B17C-C2492F51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2439490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3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764642DF-CF7E-41F7-8BB3-BD959A3F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246554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6B8F96E1-32DF-430B-87D7-80AB25B2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652" y="2494376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41" name="Node · &quot;Diagram Service&quot;">
            <a:extLst xmlns:a="http://schemas.openxmlformats.org/drawingml/2006/main">
              <a:ext uri="{FF2B5EF4-FFF2-40B4-BE49-F238E27FC236}">
                <a16:creationId xmlns:a16="http://schemas.microsoft.com/office/drawing/2014/main" id="{DA6A3907-E5D2-4FA1-BF18-27CFAB6F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329" y="2596656"/>
            <a:ext cx="986466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Service</a:t>
            </a:r>
          </a:p>
        </p:txBody>
      </p:sp>
      <p:sp>
        <p:nvSpPr>
          <p:cNvPr id="42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C1409D4B-B223-4F72-863F-26EB356E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640" y="3865926"/>
            <a:ext cx="1603844" cy="407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4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7B60512D-16BF-4720-B774-BE11FC7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3905286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4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39139627-4A8C-4610-8A50-881F322F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3931344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45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25DE5873-F539-4E66-AB92-6A01C748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652" y="3960171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46" name="Node · &quot;Version Service&quot;">
            <a:extLst xmlns:a="http://schemas.openxmlformats.org/drawingml/2006/main">
              <a:ext uri="{FF2B5EF4-FFF2-40B4-BE49-F238E27FC236}">
                <a16:creationId xmlns:a16="http://schemas.microsoft.com/office/drawing/2014/main" id="{2A29A71C-5962-40A9-8EF5-533F60E9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978" y="4062451"/>
            <a:ext cx="947168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Service</a:t>
            </a:r>
          </a:p>
        </p:txBody>
      </p:sp>
      <p:sp>
        <p:nvSpPr>
          <p:cNvPr id="47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7E0B2D07-BB30-41B0-A5BC-2573784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6307" y="4978845"/>
            <a:ext cx="1385138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48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A83AC662-0E80-473C-A0CF-1B77FFAD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691" y="501820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49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37C3FA96-38B2-4B54-8B69-DC2958B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7684" y="504426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50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BDE18533-8A2B-4BCE-9E25-F709B04F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967" y="508666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51" name="Node · &quot;Redis Stack&quot;">
            <a:extLst xmlns:a="http://schemas.openxmlformats.org/drawingml/2006/main">
              <a:ext uri="{FF2B5EF4-FFF2-40B4-BE49-F238E27FC236}">
                <a16:creationId xmlns:a16="http://schemas.microsoft.com/office/drawing/2014/main" id="{0A74788E-670A-4128-AAB2-EB4DCDF2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334" y="5188942"/>
            <a:ext cx="71308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Redis Stack</a:t>
            </a:r>
          </a:p>
        </p:txBody>
      </p:sp>
      <p:sp>
        <p:nvSpPr>
          <p:cNvPr id="52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932CC26E-E055-427B-B444-6D6B7BD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585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53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FD819D4-61F7-487D-A9DF-0A89309E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056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54" name="Node · &quot;Existing&quot;">
            <a:extLst xmlns:a="http://schemas.openxmlformats.org/drawingml/2006/main">
              <a:ext uri="{FF2B5EF4-FFF2-40B4-BE49-F238E27FC236}">
                <a16:creationId xmlns:a16="http://schemas.microsoft.com/office/drawing/2014/main" id="{E0269E5A-670A-4FF0-BA88-7E74663B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5912" y="1429449"/>
            <a:ext cx="50275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Existing</a:t>
            </a:r>
          </a:p>
        </p:txBody>
      </p:sp>
      <p:sp>
        <p:nvSpPr>
          <p:cNvPr id="55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7EC472E9-6721-41BA-BE5C-9ED38E10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409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56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C9FBEF53-9FF5-459F-9C44-B0F1DEE9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880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57" name="Node · &quot;Modified&quot;">
            <a:extLst xmlns:a="http://schemas.openxmlformats.org/drawingml/2006/main">
              <a:ext uri="{FF2B5EF4-FFF2-40B4-BE49-F238E27FC236}">
                <a16:creationId xmlns:a16="http://schemas.microsoft.com/office/drawing/2014/main" id="{7A97BC3C-F368-4348-BB27-39AC7EB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106" y="1429449"/>
            <a:ext cx="554010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Modified</a:t>
            </a:r>
          </a:p>
        </p:txBody>
      </p:sp>
      <p:sp>
        <p:nvSpPr>
          <p:cNvPr id="58" name="Node · Path 1">
            <a:extLst xmlns:a="http://schemas.openxmlformats.org/drawingml/2006/main">
              <a:ext uri="{FF2B5EF4-FFF2-40B4-BE49-F238E27FC236}">
                <a16:creationId xmlns:a16="http://schemas.microsoft.com/office/drawing/2014/main" id="{5AC57B1E-4766-4280-ACF2-BADA737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233" y="1363216"/>
            <a:ext cx="889405" cy="249728"/>
          </a:xfrm>
          <a:custGeom xmlns:a="http://schemas.openxmlformats.org/drawingml/2006/main">
            <a:rect l="l" t="t" r="r" b="b"/>
            <a:pathLst>
              <a:path w="946175" h="356754">
                <a:moveTo>
                  <a:pt x="7756" y="7756"/>
                </a:moveTo>
                <a:lnTo>
                  <a:pt x="822086" y="7756"/>
                </a:lnTo>
                <a:lnTo>
                  <a:pt x="822086" y="124089"/>
                </a:lnTo>
                <a:lnTo>
                  <a:pt x="938419" y="124089"/>
                </a:lnTo>
                <a:lnTo>
                  <a:pt x="938419" y="348999"/>
                </a:lnTo>
                <a:lnTo>
                  <a:pt x="7756" y="34899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D9E8FF"/>
          </a:solidFill>
          <a:ln xmlns:a="http://schemas.openxmlformats.org/drawingml/2006/main" w="15511">
            <a:solidFill>
              <a:srgbClr val="4A86D9"/>
            </a:solidFill>
            <a:prstDash val="solid"/>
          </a:ln>
        </p:spPr>
      </p:sp>
      <p:sp>
        <p:nvSpPr>
          <p:cNvPr id="59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58D79DF3-62B7-4186-A1C1-33A2773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7704" y="1363216"/>
            <a:ext cx="123933" cy="92291"/>
          </a:xfrm>
          <a:custGeom xmlns:a="http://schemas.openxmlformats.org/drawingml/2006/main">
            <a:rect l="l" t="t" r="r" b="b"/>
            <a:pathLst>
              <a:path w="131844" h="131844">
                <a:moveTo>
                  <a:pt x="7756" y="7756"/>
                </a:moveTo>
                <a:lnTo>
                  <a:pt x="7756" y="124089"/>
                </a:lnTo>
                <a:lnTo>
                  <a:pt x="124089" y="124089"/>
                </a:lnTo>
                <a:lnTo>
                  <a:pt x="7756" y="7756"/>
                </a:lnTo>
                <a:close/>
              </a:path>
            </a:pathLst>
          </a:custGeom>
          <a:solidFill xmlns:a="http://schemas.openxmlformats.org/drawingml/2006/main">
            <a:srgbClr val="D9E8FF"/>
          </a:solidFill>
          <a:ln xmlns:a="http://schemas.openxmlformats.org/drawingml/2006/main" w="15511">
            <a:solidFill>
              <a:srgbClr val="4A86D9"/>
            </a:solidFill>
            <a:prstDash val="solid"/>
          </a:ln>
        </p:spPr>
      </p:sp>
      <p:sp>
        <p:nvSpPr>
          <p:cNvPr id="60" name="Node · &quot;Added&quot;">
            <a:extLst xmlns:a="http://schemas.openxmlformats.org/drawingml/2006/main">
              <a:ext uri="{FF2B5EF4-FFF2-40B4-BE49-F238E27FC236}">
                <a16:creationId xmlns:a16="http://schemas.microsoft.com/office/drawing/2014/main" id="{7748EDBB-CBEB-4E60-B471-8E1CE416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6368" y="1429449"/>
            <a:ext cx="42113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Added</a:t>
            </a:r>
          </a:p>
        </p:txBody>
      </p:sp>
      <p:sp>
        <p:nvSpPr>
          <p:cNvPr id="61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A3198180-FB95-4540-A656-B5987F37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19" y="3648772"/>
            <a:ext cx="1603844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62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1AA8FAA7-6525-4D85-9B51-3EE58E4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609" y="3688131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3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6ABB34D9-AB12-4A70-9C61-AE3CAC44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602" y="3714189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4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C30718DF-58F1-4B12-B432-6D9F1814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531" y="3756589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65" name="Node · &quot;State Synchronization&quot;">
            <a:extLst xmlns:a="http://schemas.openxmlformats.org/drawingml/2006/main">
              <a:ext uri="{FF2B5EF4-FFF2-40B4-BE49-F238E27FC236}">
                <a16:creationId xmlns:a16="http://schemas.microsoft.com/office/drawing/2014/main" id="{8220C850-8F4F-490A-AFB3-47405363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36" y="3858869"/>
            <a:ext cx="1306608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State Synchronization</a:t>
            </a:r>
          </a:p>
        </p:txBody>
      </p:sp>
      <p:sp>
        <p:nvSpPr>
          <p:cNvPr id="66" name="Node · Rect 1">
            <a:extLst xmlns:a="http://schemas.openxmlformats.org/drawingml/2006/main">
              <a:ext uri="{FF2B5EF4-FFF2-40B4-BE49-F238E27FC236}">
                <a16:creationId xmlns:a16="http://schemas.microsoft.com/office/drawing/2014/main" id="{FED1FE54-710D-488D-BF25-47880263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190" y="3051595"/>
            <a:ext cx="1640295" cy="43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AD"/>
          </a:solidFill>
          <a:ln xmlns:a="http://schemas.openxmlformats.org/drawingml/2006/main" w="15511">
            <a:solidFill>
              <a:srgbClr val="D08A00"/>
            </a:solidFill>
            <a:prstDash val="solid"/>
          </a:ln>
        </p:spPr>
      </p:sp>
      <p:sp>
        <p:nvSpPr>
          <p:cNvPr id="67" name="Node · Path 2">
            <a:extLst xmlns:a="http://schemas.openxmlformats.org/drawingml/2006/main">
              <a:ext uri="{FF2B5EF4-FFF2-40B4-BE49-F238E27FC236}">
                <a16:creationId xmlns:a16="http://schemas.microsoft.com/office/drawing/2014/main" id="{87A6D5DA-79B9-4C48-936D-F5E9D462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730" y="3090955"/>
            <a:ext cx="185900" cy="138436"/>
          </a:xfrm>
          <a:custGeom xmlns:a="http://schemas.openxmlformats.org/drawingml/2006/main">
            <a:rect l="l" t="t" r="r" b="b"/>
            <a:pathLst>
              <a:path w="197766" h="197766">
                <a:moveTo>
                  <a:pt x="43043" y="5817"/>
                </a:moveTo>
                <a:lnTo>
                  <a:pt x="191949" y="5817"/>
                </a:lnTo>
                <a:lnTo>
                  <a:pt x="191949" y="191949"/>
                </a:lnTo>
                <a:lnTo>
                  <a:pt x="43043" y="191949"/>
                </a:lnTo>
                <a:lnTo>
                  <a:pt x="43043" y="154723"/>
                </a:lnTo>
                <a:lnTo>
                  <a:pt x="5817" y="154723"/>
                </a:lnTo>
                <a:lnTo>
                  <a:pt x="5817" y="117496"/>
                </a:lnTo>
                <a:lnTo>
                  <a:pt x="43043" y="117496"/>
                </a:lnTo>
                <a:lnTo>
                  <a:pt x="43043" y="80270"/>
                </a:lnTo>
                <a:lnTo>
                  <a:pt x="5817" y="80270"/>
                </a:lnTo>
                <a:lnTo>
                  <a:pt x="5817" y="43043"/>
                </a:lnTo>
                <a:lnTo>
                  <a:pt x="43043" y="43043"/>
                </a:lnTo>
                <a:close/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8" name="Node · Path 3">
            <a:extLst xmlns:a="http://schemas.openxmlformats.org/drawingml/2006/main">
              <a:ext uri="{FF2B5EF4-FFF2-40B4-BE49-F238E27FC236}">
                <a16:creationId xmlns:a16="http://schemas.microsoft.com/office/drawing/2014/main" id="{E8824884-87CE-4F2C-85F6-A4D049A1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23" y="3117013"/>
            <a:ext cx="45928" cy="86319"/>
          </a:xfrm>
          <a:custGeom xmlns:a="http://schemas.openxmlformats.org/drawingml/2006/main">
            <a:rect l="l" t="t" r="r" b="b"/>
            <a:pathLst>
              <a:path w="48860" h="123313">
                <a:moveTo>
                  <a:pt x="5817" y="5817"/>
                </a:moveTo>
                <a:lnTo>
                  <a:pt x="43043" y="5817"/>
                </a:lnTo>
                <a:lnTo>
                  <a:pt x="43043" y="43043"/>
                </a:lnTo>
                <a:lnTo>
                  <a:pt x="5817" y="43043"/>
                </a:lnTo>
                <a:moveTo>
                  <a:pt x="5817" y="80270"/>
                </a:moveTo>
                <a:lnTo>
                  <a:pt x="43043" y="80270"/>
                </a:lnTo>
                <a:lnTo>
                  <a:pt x="43043" y="117496"/>
                </a:lnTo>
                <a:lnTo>
                  <a:pt x="5817" y="117496"/>
                </a:lnTo>
              </a:path>
            </a:pathLst>
          </a:custGeom>
          <a:ln xmlns:a="http://schemas.openxmlformats.org/drawingml/2006/main" w="11633">
            <a:solidFill>
              <a:srgbClr val="D08A00"/>
            </a:solidFill>
            <a:prstDash val="solid"/>
          </a:ln>
        </p:spPr>
      </p:sp>
      <p:sp>
        <p:nvSpPr>
          <p:cNvPr id="69" name="Node · &quot;«component»&quot;">
            <a:extLst xmlns:a="http://schemas.openxmlformats.org/drawingml/2006/main">
              <a:ext uri="{FF2B5EF4-FFF2-40B4-BE49-F238E27FC236}">
                <a16:creationId xmlns:a16="http://schemas.microsoft.com/office/drawing/2014/main" id="{95E8CA77-8F94-4A55-B4F4-9EB5889D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426" y="3159413"/>
            <a:ext cx="679820" cy="938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82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«component»</a:t>
            </a:r>
          </a:p>
        </p:txBody>
      </p:sp>
      <p:sp>
        <p:nvSpPr>
          <p:cNvPr id="70" name="Node · &quot;WebSocket Relay&quot;">
            <a:extLst xmlns:a="http://schemas.openxmlformats.org/drawingml/2006/main">
              <a:ext uri="{FF2B5EF4-FFF2-40B4-BE49-F238E27FC236}">
                <a16:creationId xmlns:a16="http://schemas.microsoft.com/office/drawing/2014/main" id="{F34CEEAD-CC88-41B9-A39B-DF6B7D2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1075" y="3261693"/>
            <a:ext cx="1038523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WebSocket Relay</a:t>
            </a:r>
          </a:p>
        </p:txBody>
      </p:sp>
      <p:sp>
        <p:nvSpPr>
          <p:cNvPr id="71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D9859B82-C511-4C46-BE77-A797E7DB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2535853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2" name="Node · &quot;Diagram API&quot;">
            <a:extLst xmlns:a="http://schemas.openxmlformats.org/drawingml/2006/main">
              <a:ext uri="{FF2B5EF4-FFF2-40B4-BE49-F238E27FC236}">
                <a16:creationId xmlns:a16="http://schemas.microsoft.com/office/drawing/2014/main" id="{44373849-F7E6-4425-8057-8006DB79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086" y="2718806"/>
            <a:ext cx="747029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Diagram API</a:t>
            </a:r>
          </a:p>
        </p:txBody>
      </p:sp>
      <p:sp>
        <p:nvSpPr>
          <p:cNvPr id="73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B65A0C22-851A-4D0F-BDB7-EA7A976C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3323039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4" name="Node · &quot;Collaboration WebSocket&quot;">
            <a:extLst xmlns:a="http://schemas.openxmlformats.org/drawingml/2006/main">
              <a:ext uri="{FF2B5EF4-FFF2-40B4-BE49-F238E27FC236}">
                <a16:creationId xmlns:a16="http://schemas.microsoft.com/office/drawing/2014/main" id="{AE8E8EBB-F380-47C8-8D76-94DB3C8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9" y="3505992"/>
            <a:ext cx="1492224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Collaboration WebSocket</a:t>
            </a:r>
          </a:p>
        </p:txBody>
      </p:sp>
      <p:sp>
        <p:nvSpPr>
          <p:cNvPr id="75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ED5A8620-3BE1-4D36-83C9-16FC52DD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247" y="3974504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6" name="Node · &quot;Version API&quot;">
            <a:extLst xmlns:a="http://schemas.openxmlformats.org/drawingml/2006/main">
              <a:ext uri="{FF2B5EF4-FFF2-40B4-BE49-F238E27FC236}">
                <a16:creationId xmlns:a16="http://schemas.microsoft.com/office/drawing/2014/main" id="{235886F1-254E-4750-B90C-9A35A008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36" y="4157457"/>
            <a:ext cx="707731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Version API</a:t>
            </a:r>
          </a:p>
        </p:txBody>
      </p:sp>
      <p:sp>
        <p:nvSpPr>
          <p:cNvPr id="77" name="Node · Circle 1">
            <a:extLst xmlns:a="http://schemas.openxmlformats.org/drawingml/2006/main">
              <a:ext uri="{FF2B5EF4-FFF2-40B4-BE49-F238E27FC236}">
                <a16:creationId xmlns:a16="http://schemas.microsoft.com/office/drawing/2014/main" id="{AC7B44D4-FE21-4DFF-A548-1313D287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382" y="3187318"/>
            <a:ext cx="218706" cy="1628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78" name="Node · &quot;Apollon Editor API&quot;">
            <a:extLst xmlns:a="http://schemas.openxmlformats.org/drawingml/2006/main">
              <a:ext uri="{FF2B5EF4-FFF2-40B4-BE49-F238E27FC236}">
                <a16:creationId xmlns:a16="http://schemas.microsoft.com/office/drawing/2014/main" id="{6C37D856-356C-48AF-949C-8B7744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018" y="3370270"/>
            <a:ext cx="1073437" cy="117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77" b="1">
                <a:solidFill>
                  <a:srgbClr val="000000"/>
                </a:solidFill>
                <a:latin typeface="Inter"/>
                <a:ea typeface="Inter"/>
                <a:cs typeface="Inter"/>
              </a:rPr>
              <a:t>Apollon Editor API</a:t>
            </a:r>
          </a:p>
        </p:txBody>
      </p:sp>
      <p:sp>
        <p:nvSpPr>
          <p:cNvPr id="79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16550A7-02EE-44D1-8EB0-873700F5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63" y="2611857"/>
            <a:ext cx="1355977" cy="10858"/>
          </a:xfrm>
          <a:custGeom xmlns:a="http://schemas.openxmlformats.org/drawingml/2006/main">
            <a:rect l="l" t="t" r="r" b="b"/>
            <a:pathLst>
              <a:path w="1442529" h="15511">
                <a:moveTo>
                  <a:pt x="1434773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0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82D243AC-C7EA-43B8-9947-A77B4B3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63" y="3399043"/>
            <a:ext cx="1326817" cy="10858"/>
          </a:xfrm>
          <a:custGeom xmlns:a="http://schemas.openxmlformats.org/drawingml/2006/main">
            <a:rect l="l" t="t" r="r" b="b"/>
            <a:pathLst>
              <a:path w="1411507" h="15511">
                <a:moveTo>
                  <a:pt x="1403751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1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7435FE8C-6D9F-4720-9B37-4CC4C407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9150" y="3485905"/>
            <a:ext cx="14580" cy="162866"/>
          </a:xfrm>
          <a:custGeom xmlns:a="http://schemas.openxmlformats.org/drawingml/2006/main">
            <a:rect l="l" t="t" r="r" b="b"/>
            <a:pathLst>
              <a:path w="15511" h="232666">
                <a:moveTo>
                  <a:pt x="7756" y="7756"/>
                </a:moveTo>
                <a:lnTo>
                  <a:pt x="7756" y="224910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82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C11EC195-98E0-4B2A-B65B-ECF71022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652" y="3541551"/>
            <a:ext cx="127579" cy="105863"/>
          </a:xfrm>
          <a:custGeom xmlns:a="http://schemas.openxmlformats.org/drawingml/2006/main">
            <a:rect l="l" t="t" r="r" b="b"/>
            <a:pathLst>
              <a:path w="135722" h="151233">
                <a:moveTo>
                  <a:pt x="129905" y="5817"/>
                </a:moveTo>
                <a:lnTo>
                  <a:pt x="67861" y="145416"/>
                </a:lnTo>
                <a:lnTo>
                  <a:pt x="5817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83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317B878F-6936-4D08-9686-CC3A5FB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658" y="2611857"/>
            <a:ext cx="1392428" cy="662323"/>
          </a:xfrm>
          <a:custGeom xmlns:a="http://schemas.openxmlformats.org/drawingml/2006/main">
            <a:rect l="l" t="t" r="r" b="b"/>
            <a:pathLst>
              <a:path w="1481306" h="946175">
                <a:moveTo>
                  <a:pt x="7756" y="938419"/>
                </a:moveTo>
                <a:lnTo>
                  <a:pt x="744531" y="938419"/>
                </a:lnTo>
                <a:lnTo>
                  <a:pt x="744531" y="7756"/>
                </a:lnTo>
                <a:lnTo>
                  <a:pt x="1473551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4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C186F159-07F9-4669-A342-0AB7264A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2512223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5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5FF1DF53-C492-443C-8375-F6BF367C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0368" y="3399043"/>
            <a:ext cx="1399718" cy="10858"/>
          </a:xfrm>
          <a:custGeom xmlns:a="http://schemas.openxmlformats.org/drawingml/2006/main">
            <a:rect l="l" t="t" r="r" b="b"/>
            <a:pathLst>
              <a:path w="1489062" h="15511">
                <a:moveTo>
                  <a:pt x="7756" y="7756"/>
                </a:moveTo>
                <a:lnTo>
                  <a:pt x="148130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6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8BC7520F-47EC-4716-9747-9343558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3299409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7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F1DD068-72E0-4151-87EC-4D808D8B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658" y="4050508"/>
            <a:ext cx="1392428" cy="10858"/>
          </a:xfrm>
          <a:custGeom xmlns:a="http://schemas.openxmlformats.org/drawingml/2006/main">
            <a:rect l="l" t="t" r="r" b="b"/>
            <a:pathLst>
              <a:path w="1481306" h="15511">
                <a:moveTo>
                  <a:pt x="7756" y="7756"/>
                </a:moveTo>
                <a:lnTo>
                  <a:pt x="1473551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8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33178EA8-E062-44F3-9F0F-8019E5D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506" y="3950874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116972" y="7756"/>
                </a:moveTo>
                <a:cubicBezTo>
                  <a:pt x="52551" y="25017"/>
                  <a:pt x="7756" y="83396"/>
                  <a:pt x="7756" y="150090"/>
                </a:cubicBezTo>
                <a:cubicBezTo>
                  <a:pt x="7756" y="216783"/>
                  <a:pt x="52551" y="275162"/>
                  <a:pt x="116972" y="292424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89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E69DB760-1035-47B6-994D-58A3BC15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953" y="4050508"/>
            <a:ext cx="1355977" cy="10858"/>
          </a:xfrm>
          <a:custGeom xmlns:a="http://schemas.openxmlformats.org/drawingml/2006/main">
            <a:rect l="l" t="t" r="r" b="b"/>
            <a:pathLst>
              <a:path w="1442529" h="15511">
                <a:moveTo>
                  <a:pt x="7756" y="7756"/>
                </a:moveTo>
                <a:lnTo>
                  <a:pt x="1434773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0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BF89CFF7-56FF-4E50-83B6-0A61DBA4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250" y="3263322"/>
            <a:ext cx="699859" cy="10858"/>
          </a:xfrm>
          <a:custGeom xmlns:a="http://schemas.openxmlformats.org/drawingml/2006/main">
            <a:rect l="l" t="t" r="r" b="b"/>
            <a:pathLst>
              <a:path w="744531" h="15511">
                <a:moveTo>
                  <a:pt x="736775" y="7756"/>
                </a:moveTo>
                <a:lnTo>
                  <a:pt x="7756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1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A39E2243-104C-461B-859A-8ABBAC2A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586" y="3163688"/>
            <a:ext cx="117244" cy="210125"/>
          </a:xfrm>
          <a:custGeom xmlns:a="http://schemas.openxmlformats.org/drawingml/2006/main">
            <a:rect l="l" t="t" r="r" b="b"/>
            <a:pathLst>
              <a:path w="124728" h="300179">
                <a:moveTo>
                  <a:pt x="7756" y="292424"/>
                </a:moveTo>
                <a:cubicBezTo>
                  <a:pt x="72177" y="275162"/>
                  <a:pt x="116972" y="216783"/>
                  <a:pt x="116972" y="150090"/>
                </a:cubicBezTo>
                <a:cubicBezTo>
                  <a:pt x="116972" y="83396"/>
                  <a:pt x="72177" y="25017"/>
                  <a:pt x="7756" y="7756"/>
                </a:cubicBez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2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831670EB-3CFC-404A-BE4C-A961C0B9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362" y="3263322"/>
            <a:ext cx="729020" cy="10858"/>
          </a:xfrm>
          <a:custGeom xmlns:a="http://schemas.openxmlformats.org/drawingml/2006/main">
            <a:rect l="l" t="t" r="r" b="b"/>
            <a:pathLst>
              <a:path w="775553" h="15511">
                <a:moveTo>
                  <a:pt x="7756" y="7756"/>
                </a:moveTo>
                <a:lnTo>
                  <a:pt x="767798" y="7756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solid"/>
          </a:ln>
        </p:spPr>
      </p:sp>
      <p:sp>
        <p:nvSpPr>
          <p:cNvPr id="93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ACE7CA38-10E4-425F-9486-7DD6A625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84" y="2611857"/>
            <a:ext cx="634247" cy="2589572"/>
          </a:xfrm>
          <a:custGeom xmlns:a="http://schemas.openxmlformats.org/drawingml/2006/main">
            <a:rect l="l" t="t" r="r" b="b"/>
            <a:pathLst>
              <a:path w="674731" h="3699388">
                <a:moveTo>
                  <a:pt x="7756" y="7756"/>
                </a:moveTo>
                <a:lnTo>
                  <a:pt x="666976" y="7756"/>
                </a:lnTo>
                <a:lnTo>
                  <a:pt x="666976" y="3691633"/>
                </a:lnTo>
                <a:lnTo>
                  <a:pt x="434310" y="3691633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94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AEFDFC24-21A3-48E3-9B8F-D958A178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268" y="5148497"/>
            <a:ext cx="142159" cy="95005"/>
          </a:xfrm>
          <a:custGeom xmlns:a="http://schemas.openxmlformats.org/drawingml/2006/main">
            <a:rect l="l" t="t" r="r" b="b"/>
            <a:pathLst>
              <a:path w="151233" h="135722">
                <a:moveTo>
                  <a:pt x="145416" y="129905"/>
                </a:moveTo>
                <a:lnTo>
                  <a:pt x="5817" y="67861"/>
                </a:lnTo>
                <a:lnTo>
                  <a:pt x="145416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95" name="Edge · Path 1">
            <a:extLst xmlns:a="http://schemas.openxmlformats.org/drawingml/2006/main">
              <a:ext uri="{FF2B5EF4-FFF2-40B4-BE49-F238E27FC236}">
                <a16:creationId xmlns:a16="http://schemas.microsoft.com/office/drawing/2014/main" id="{32E34B22-6F86-4375-8FC1-D30DCCF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135" y="4273092"/>
            <a:ext cx="14580" cy="711183"/>
          </a:xfrm>
          <a:custGeom xmlns:a="http://schemas.openxmlformats.org/drawingml/2006/main">
            <a:rect l="l" t="t" r="r" b="b"/>
            <a:pathLst>
              <a:path w="15511" h="1015975">
                <a:moveTo>
                  <a:pt x="7756" y="7756"/>
                </a:moveTo>
                <a:lnTo>
                  <a:pt x="7756" y="1008219"/>
                </a:lnTo>
              </a:path>
            </a:pathLst>
          </a:custGeom>
          <a:ln xmlns:a="http://schemas.openxmlformats.org/drawingml/2006/main" w="15511">
            <a:solidFill>
              <a:srgbClr val="000000"/>
            </a:solidFill>
            <a:prstDash val="dash"/>
          </a:ln>
        </p:spPr>
      </p:sp>
      <p:sp>
        <p:nvSpPr>
          <p:cNvPr id="96" name="Edge · Arrowhead 1">
            <a:extLst xmlns:a="http://schemas.openxmlformats.org/drawingml/2006/main">
              <a:ext uri="{FF2B5EF4-FFF2-40B4-BE49-F238E27FC236}">
                <a16:creationId xmlns:a16="http://schemas.microsoft.com/office/drawing/2014/main" id="{BC94501F-2877-4A82-B53C-8B01046A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636" y="4877054"/>
            <a:ext cx="127579" cy="105863"/>
          </a:xfrm>
          <a:custGeom xmlns:a="http://schemas.openxmlformats.org/drawingml/2006/main">
            <a:rect l="l" t="t" r="r" b="b"/>
            <a:pathLst>
              <a:path w="135722" h="151233">
                <a:moveTo>
                  <a:pt x="129905" y="5817"/>
                </a:moveTo>
                <a:lnTo>
                  <a:pt x="67861" y="145416"/>
                </a:lnTo>
                <a:lnTo>
                  <a:pt x="5817" y="5817"/>
                </a:lnTo>
              </a:path>
            </a:pathLst>
          </a:custGeom>
          <a:ln xmlns:a="http://schemas.openxmlformats.org/drawingml/2006/main" w="11633">
            <a:solidFill>
              <a:srgbClr val="000000"/>
            </a:solidFill>
            <a:prstDash val="solid"/>
          </a:ln>
        </p:spPr>
      </p:sp>
      <p:sp>
        <p:nvSpPr>
          <p:cNvPr id="97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6E56D1D7-846E-45B7-8976-240C04D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ARCHITECTURE · DATAFLOW</a:t>
            </a:r>
          </a:p>
        </p:txBody>
      </p:sp>
      <p:sp>
        <p:nvSpPr>
          <p:cNvPr id="98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A4DF534C-3A51-42E9-9F19-5D462442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Persist diagrams, not transient awareness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dc2586270497c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100" name="Header rule">
            <a:extLst xmlns:a="http://schemas.openxmlformats.org/drawingml/2006/main">
              <a:ext uri="{FF2B5EF4-FFF2-40B4-BE49-F238E27FC236}">
                <a16:creationId xmlns:a16="http://schemas.microsoft.com/office/drawing/2014/main" id="{62B4262B-71D4-4936-88D1-AE79D08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01" name="Footer rule">
            <a:extLst xmlns:a="http://schemas.openxmlformats.org/drawingml/2006/main">
              <a:ext uri="{FF2B5EF4-FFF2-40B4-BE49-F238E27FC236}">
                <a16:creationId xmlns:a16="http://schemas.microsoft.com/office/drawing/2014/main" id="{9535F0C7-BF7C-4818-A5E7-F783F8FF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02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310AD467-F9BC-434F-A255-BE85251A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03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0E79346D-678C-4004-82E5-379B5B46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4" name="Architecture step number">
            <a:extLst xmlns:a="http://schemas.openxmlformats.org/drawingml/2006/main">
              <a:ext uri="{FF2B5EF4-FFF2-40B4-BE49-F238E27FC236}">
                <a16:creationId xmlns:a16="http://schemas.microsoft.com/office/drawing/2014/main" id="{9F8E2367-8F77-48FF-A817-00D144D1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22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5" name="Architecture step copy">
            <a:extLst xmlns:a="http://schemas.openxmlformats.org/drawingml/2006/main">
              <a:ext uri="{FF2B5EF4-FFF2-40B4-BE49-F238E27FC236}">
                <a16:creationId xmlns:a16="http://schemas.microsoft.com/office/drawing/2014/main" id="{1AE3521E-5192-45AD-A459-3F9B307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906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Diagram versions persist in Redis Stack; collaboration awareness remains transient.</a:t>
            </a:r>
          </a:p>
        </p:txBody>
      </p:sp>
    </p:spTree>
    <p:extLst>
      <p:ext uri="{BB962C8B-B14F-4D97-AF65-F5344CB8AC3E}">
        <p14:creationId xmlns:p14="http://schemas.microsoft.com/office/powerpoint/2010/main" val="1413125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AC15F2F7-A65F-4A6A-9531-56E0B355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OBJECTIVES 3 &amp; 4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3834DE2C-34C5-4240-9D2A-DE1CB2DE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Apollon evolves without breaking educational workflows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de101f9f241b9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136B3FD4-E559-450D-A6BA-967AD393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c38b405544f3e"/>
          <a:stretch xmlns:a="http://schemas.openxmlformats.org/drawingml/2006/main"/>
        </p:blipFill>
        <p:spPr>
          <a:xfrm xmlns:a="http://schemas.openxmlformats.org/drawingml/2006/main">
            <a:off x="497618" y="1390650"/>
            <a:ext cx="7539165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5F482-487A-4FEE-B003-86857295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24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Artemis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BA6EE-2778-43FB-B062-A618C5D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Maintained editor · modeling exercises · quizzes · assessment · team 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7F2E1-FFCD-4F58-8CE9-B7B8C875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Athena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C86F7-5346-46C0-8863-9DDF7A62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718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Earlier and current supported model formats remain consumable for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657A6-D045-4C78-A6EC-336381A7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37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7222"/>
                </a:solidFill>
                <a:latin typeface="Arial"/>
                <a:ea typeface="Arial"/>
                <a:cs typeface="Arial"/>
              </a:rPr>
              <a:t>Portability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5E17D-25A3-4499-9992-59BA0A5B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006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Server-side PDF · SVG compatibility · flat SVG · PPTX-ready rendering</a:t>
            </a:r>
          </a:p>
        </p:txBody>
      </p:sp>
      <p:sp>
        <p:nvSpPr>
          <p:cNvPr id="12" name="Footer rule">
            <a:extLst xmlns:a="http://schemas.openxmlformats.org/drawingml/2006/main">
              <a:ext uri="{FF2B5EF4-FFF2-40B4-BE49-F238E27FC236}">
                <a16:creationId xmlns:a16="http://schemas.microsoft.com/office/drawing/2014/main" id="{A5F1FFC2-5243-4502-AEB2-F1B7C91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3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A41D7582-8909-4B97-A9DB-3DA3A6D1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4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63AD1CF7-8D9A-4F4E-A0D6-68A9E296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32385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3A4EDF21-F6C9-40A3-8C13-A38C6F65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2A0F9B86-F6CC-46A9-B402-81B2B8C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Qualitative feedback supports the direction—within limits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11bf8e91842e0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FE04A679-53A8-474A-B3A3-71A03AA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E78C5-E766-4C53-8EFA-8B9B489C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Formative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4DDEB-28C4-4627-A1E8-54B0A9AA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Think-aloud walkthroughs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Teaching and integration feedback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GitHub issues and implementation findings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4DC9-2963-482A-8411-3C6A132B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3722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37222"/>
                </a:solidFill>
                <a:latin typeface="Arial"/>
                <a:ea typeface="Arial"/>
                <a:cs typeface="Arial"/>
              </a:rPr>
              <a:t>Not a controlled comparative study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EC919-D6F7-4565-997E-B078BC57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No quantified claims about task time, errors, or satisfaction.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FDFF4-F222-46FD-8923-B4BF4BB9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66850"/>
            <a:ext cx="9525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B08EB-B872-433C-855C-0649AA07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859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Perceived positively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ADDC1-CA27-4E75-B2F9-91B0D5AE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Collaboration awareness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Line jumps and edge readability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Export reliability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Standalone navigation and diagram management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CB995-1424-4583-A20B-27A725E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Remaining friction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BEA48-F0BF-4691-BEBC-0FCE0C54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482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Precise layout control · shortcuts · selection · styling · sharing semantics · notation coverage</a:t>
            </a:r>
          </a:p>
        </p:txBody>
      </p:sp>
      <p:sp>
        <p:nvSpPr>
          <p:cNvPr id="14" name="Footer rule">
            <a:extLst xmlns:a="http://schemas.openxmlformats.org/drawingml/2006/main">
              <a:ext uri="{FF2B5EF4-FFF2-40B4-BE49-F238E27FC236}">
                <a16:creationId xmlns:a16="http://schemas.microsoft.com/office/drawing/2014/main" id="{E52D4F7E-EBD7-45C1-8DC9-C34777DB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5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03E4FD36-8A2F-4174-8BC7-623D0362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16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80EE3854-73A1-4C8E-907E-EB620BF3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95820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Header section">
            <a:extLst xmlns:a="http://schemas.openxmlformats.org/drawingml/2006/main">
              <a:ext uri="{FF2B5EF4-FFF2-40B4-BE49-F238E27FC236}">
                <a16:creationId xmlns:a16="http://schemas.microsoft.com/office/drawing/2014/main" id="{2B4ED201-A024-4C62-AD0E-A6D18FEC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" name="Header title">
            <a:extLst xmlns:a="http://schemas.openxmlformats.org/drawingml/2006/main">
              <a:ext uri="{FF2B5EF4-FFF2-40B4-BE49-F238E27FC236}">
                <a16:creationId xmlns:a16="http://schemas.microsoft.com/office/drawing/2014/main" id="{D52D7C5E-9D30-46F5-B5BB-0AF69B6C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four objectives were realized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873cce69a4c66"/>
          <a:stretch xmlns:a="http://schemas.openxmlformats.org/drawingml/2006/main"/>
        </p:blipFill>
        <p:spPr>
          <a:xfrm xmlns:a="http://schemas.openxmlformats.org/drawingml/2006/main">
            <a:off x="11087100" y="266957"/>
            <a:ext cx="685800" cy="361435"/>
          </a:xfrm>
          <a:prstGeom xmlns:a="http://schemas.openxmlformats.org/drawingml/2006/main" prst="rect">
            <a:avLst/>
          </a:prstGeom>
        </p:spPr>
      </p:pic>
      <p:sp>
        <p:nvSpPr>
          <p:cNvPr id="4" name="Header rule">
            <a:extLst xmlns:a="http://schemas.openxmlformats.org/drawingml/2006/main">
              <a:ext uri="{FF2B5EF4-FFF2-40B4-BE49-F238E27FC236}">
                <a16:creationId xmlns:a16="http://schemas.microsoft.com/office/drawing/2014/main" id="{EDCF9F95-02B0-480B-9BA6-86BA34E5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0D8BC-8FDA-4F92-830E-94398F7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5B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65BD"/>
                </a:solidFill>
                <a:latin typeface="Arial"/>
                <a:ea typeface="Arial"/>
                <a:cs typeface="Arial"/>
              </a:rPr>
              <a:t>✓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F686A-5FF1-4E9D-BA71-F705D928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Improve modeling and application usability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60DD9-6A2B-4390-B021-17B2F64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57325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Editing, navigation, mobile, and export workflows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B4ABE-B50F-49C1-AC5F-D0B8F2D8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553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3D7B7-6EF9-4498-B459-C32C73E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4A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4A0C8"/>
                </a:solidFill>
                <a:latin typeface="Arial"/>
                <a:ea typeface="Arial"/>
                <a:cs typeface="Arial"/>
              </a:rPr>
              <a:t>✓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FF5A7-8B9D-4C91-8566-45683B6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19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 collaborative modeling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FD397-D7BB-4E01-8942-E0D22D55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28875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Selections, cursors, viewport following, library reuse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66A2D-1C30-49EE-A950-3554A352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553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5215C-116E-4904-AB6A-4C7372A4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2AD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2AD00"/>
                </a:solidFill>
                <a:latin typeface="Arial"/>
                <a:ea typeface="Arial"/>
                <a:cs typeface="Arial"/>
              </a:rPr>
              <a:t>✓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E7FB9-9E73-48CF-9BD9-CB9D0D9C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Enhance Apollon for educational systems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41346-6618-4DDB-8E50-C68A435A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0425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Artemis, Athena, assessment, quiz, VS Code compatibility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5257A-70F7-4372-A8DC-48350DF8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553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57F70-4C39-475F-8A2D-7AC8549F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72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37222"/>
                </a:solidFill>
                <a:latin typeface="Arial"/>
                <a:ea typeface="Arial"/>
                <a:cs typeface="Arial"/>
              </a:rPr>
              <a:t>✓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C9353-8869-4EB9-9E8F-BA13F040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Improve diagram portability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DFB2E-E707-4091-9FB4-AB4F5B92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71975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PDF, SVG, rendering fixes, visual export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5D7EA-7E00-4549-BFFD-D9917336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553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7320E-508C-41A5-B8E8-0B5F7FF2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Next: controlled usability evaluation · persistent ownership · broader UML support · PlantUML interoperability</a:t>
            </a:r>
          </a:p>
        </p:txBody>
      </p:sp>
      <p:sp>
        <p:nvSpPr>
          <p:cNvPr id="22" name="Footer rule">
            <a:extLst xmlns:a="http://schemas.openxmlformats.org/drawingml/2006/main">
              <a:ext uri="{FF2B5EF4-FFF2-40B4-BE49-F238E27FC236}">
                <a16:creationId xmlns:a16="http://schemas.microsoft.com/office/drawing/2014/main" id="{1F8017A7-7458-4CFD-A3AB-B8376B62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C"/>
            </a:solidFill>
            <a:prstDash val="solid"/>
          </a:ln>
        </p:spPr>
      </p:sp>
      <p:sp>
        <p:nvSpPr>
          <p:cNvPr id="23" name="Footer label">
            <a:extLst xmlns:a="http://schemas.openxmlformats.org/drawingml/2006/main">
              <a:ext uri="{FF2B5EF4-FFF2-40B4-BE49-F238E27FC236}">
                <a16:creationId xmlns:a16="http://schemas.microsoft.com/office/drawing/2014/main" id="{FB9A0B05-B43D-4FC2-B98F-5B75A36D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Fady Samaan &amp; Ravi Tamang | Master’s Thesis | Apollon</a:t>
            </a:r>
          </a:p>
        </p:txBody>
      </p:sp>
      <p:sp>
        <p:nvSpPr>
          <p:cNvPr id="24" name="Footer number">
            <a:extLst xmlns:a="http://schemas.openxmlformats.org/drawingml/2006/main">
              <a:ext uri="{FF2B5EF4-FFF2-40B4-BE49-F238E27FC236}">
                <a16:creationId xmlns:a16="http://schemas.microsoft.com/office/drawing/2014/main" id="{6E7C8E33-F0B9-483C-B02B-0AE6E367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796652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bca34d327490e"/>
          <a:stretch xmlns:a="http://schemas.openxmlformats.org/drawingml/2006/main"/>
        </p:blipFill>
        <p:spPr>
          <a:xfrm xmlns:a="http://schemas.openxmlformats.org/drawingml/2006/main">
            <a:off x="10956681" y="400050"/>
            <a:ext cx="813288" cy="428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07704-2BDA-4BC2-BB59-361DB50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F7D9B-AB50-4654-94F0-670573C1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6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1E4AF-5231-4401-ACFB-AD54B157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962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shared foundation makes every improvement travel further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409A6-FE4F-4375-BB6A-D1CF3187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Apollon now provides a more consistent basis for modeling across individual study, teamwork, teaching, assessment, and export.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DFCFC-C606-410F-A897-197E3F74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5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300DF-107C-453B-A43E-90D1114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529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293"/>
                </a:solidFill>
                <a:latin typeface="Arial"/>
                <a:ea typeface="Arial"/>
                <a:cs typeface="Arial"/>
              </a:rPr>
              <a:t>Questions are welcome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8B402-B4B5-435D-BC5C-30870CAC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938680"/>
      </p:ext>
    </p:extLst>
  </p:cSld>
</p:sld>
</file>

<file path=ppt/theme/theme1.xml><?xml version="1.0" encoding="utf-8"?>
<a:theme xmlns:a="http://schemas.openxmlformats.org/drawingml/2006/main" name="Office Theme">
  <a:themeElements>
    <a:clrScheme name="TUM">
      <a:dk1>
        <a:srgbClr val="000000"/>
      </a:dk1>
      <a:lt1>
        <a:srgbClr val="FFFFFF"/>
      </a:lt1>
      <a:dk2>
        <a:srgbClr val="005293"/>
      </a:dk2>
      <a:lt2>
        <a:srgbClr val="EAF4FB"/>
      </a:lt2>
      <a:accent1>
        <a:srgbClr val="0065BD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65BD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UM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2026-07-23T14:31:26.7450000Z</dcterms:created>
  <dcterms:modified xsi:type="dcterms:W3CDTF">2026-07-23T14:31:26.7450000Z</dcterms:modified>
</coreProperties>
</file>