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827" autoAdjust="0"/>
  </p:normalViewPr>
  <p:slideViewPr>
    <p:cSldViewPr snapToGrid="0" snapToObjects="1">
      <p:cViewPr varScale="1">
        <p:scale>
          <a:sx n="78" d="100"/>
          <a:sy n="78" d="100"/>
        </p:scale>
        <p:origin x="1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0:00-0:15. Introduce Apollon as an ecosystem rather than one screen. The thesis covers the library, standalone application, mobile/iOS, Artemis, Athena, VS Code, and export services. Source: metadata.typ and content/abstract_en.typ.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0:15-0:50. Name each environment. Stress that Artemis is the concrete learning platform; Athena consumes models; VS Code is an IDE host; iOS shares the standalone workflow through Capacitor. Source: content/background.typ and content/system_design.typ.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0:50-1:30. Tell the problem as three connected experiences: student editing friction, team coordination, and platform fragmentation. Avoid a bug catalogue. Source: content/introduction.typ,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1:30-2:00. State the architectural motivation: reuse common behavior without moving Artemis or standalone responsibilities into the editor library. Source: content/system_design.typ, Design Goals.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2:00-2:35. Read the four verb-led objectives. The third objective makes the thesis phrase 'educational systems' concrete by naming Artemis, Athena, and VS Code. The status slide repeats these exact sentences. Source: content/introduction.typ, Objectives, tightened for presentation specificity.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2:35-3:05. This is a presentation simplification of the thesis use-case model. Point out the three human roles, then the added follow and PPTX use cases. The full formal use-case model is in the appendix. Source: figures/requirements-use-case-model.* and content/requirements.typ.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3:05-3:45. Use the screenshots as proof, not decoration. Explain that the semantic edge remains while the path can be corrected. Mention the remaining improvements in one sentence. Source: content/implementation.typ, Edge Usability, and edge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3:45-4:25. Describe the three iterations: selection/drag highlights, named live cursors, and viewport follow. Emphasize that awareness remains outside the diagram model and is reusable in standalone and Artemis. Source: content/implementation.typ, Collaboration Awareness.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4:25-4:55. Explain the shift from editor-first to diagram-management-first. Mention local/shared routes, gallery tools, sharing, thumbnails, versions, and error recovery. Do not show the outdated thesis screenshot. Source: content/implementation.typ, Standalone Home Page and Routing.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4:55-5:25. Explicitly name the mobile contribution: PNG, PDF, JSON, SVG, and animatable PPTX export through Capacitor file handling and app-local services. Source: content/requirements.typ, iOS Application, and content/implementation.typ, iOS Export.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5:25-8:25 (3 minutes). Open the current standalone home page, import or open a realistic thesis diagram, demonstrate one edge interaction, show collaboration awareness if stable, then export PPTX and show editable elements. Record this exact sequence as the backup screencast.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8:25-9:00. This is the editable Apollon PPTX export of the standalone subsystem decomposition. It is translated downward only - there is no horizontal or vertical scaling, so the diagram is not stretched. Point out the library boundary, standalone UI, server, WebSocket relay, and Redis. Animation is intentionally deferred for later manual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9:00-9:35. Keep the diagram large. Artemis owns exercises, submissions, quiz data, assessment records, permissions, persistence, and team sessions. Apollon provides the editor and model interaction. Athena consumes serialized models. Source: content/system_design.typ and figures/apollon-artemis-integration.*.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9:35-10:15. Tell the migration through four preserved teaching workflows: modeling, quiz generation including nested class members, assessment, and team modeling. Source: content/implementation.typ, Artemis Migration and Quiz/Assessment.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10:15-10:50. Athena does not embed the editor; it parses supported model versions. VS Code is a local IDE host that now uses the maintained renderer from the monorepo. Source: content/implementation.typ, Athena and VS Code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10:50-11:30. Explain the source-to-artifact path. The server-side PDF conversion no longer launches a browser; SVG compatibility and text-bound fixes make artifacts more dependable. Do not claim universal interoperability. Source: content/implementation.typ, Export and Rendering.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11:30-12:10. Be explicit about method and limitation. Sources included issues, developers, teaching contexts, integration feedback, tests, and think-aloud walkthroughs. The thesis does not quantify task time, error rate, or satisfaction. Source: content/evaluation.typ.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12:10-12:50. Return to the exact objective wording and ordering from slide 5. All four are realized within the defined thesis scope. Qualitative feedback and future work prevent overclaiming. Source: content/summary.typ, Realized Goals.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12:50-13:25. Select three directions rather than listing every feature: systematic evaluation, stronger persistence/ownership/review, and deeper teaching/development interoperability. Source: content/evaluation.typ and content/summary.typ,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13:25-13:40. Resolve the opening: usability and integration are connected because the same maintained foundation is reused across every workflow. Invite questions. The remaining time is deliberate buffer for live-demo variability and transitions.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divider. Use only during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Traceability reference from content/requirements.typ and content/summary.typ.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separates persisted diagram elements and versions from transient collaboration state. Export requests produce artifacts; Artemis owns exercises and assessments; Athena owns feedback requests. Source: figures/requirements-analysis-object-model.*.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figures/standalone-collaboration-communication.* and content/implementation.typ, Collaboration Awareness.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deployment diagram, not a component diagram. It maps execution nodes and storage ownership. Source: figures/apollon-deployment-and-persistence-architecture.* and content/system_design.typ.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content/implementation.typ, Implementation Timeline. The sequence shows why the process was iterative: migration exposed Athena and quiz gaps; collaboration moved into the library when Artemis needed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Attribution follows the user's rule: entries in Fady-contribution-history belong to Fady; the remaining thesis work belongs to Ravi unless shared. Source: Fady-contribution-history/fady-contribution-inventory.md and user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formal use-case model from figures/requirements-use-case-model.*. White existed, orange was modified, and blue was added.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002FAA1-41BE-4288-BC45-955D0FE9E7E0}"/>
              </a:ext>
            </a:extLst>
          </p:cNvPr>
          <p:cNvSpPr>
            <a:spLocks noGrp="1"/>
          </p:cNvSpPr>
          <p:nvPr/>
        </p:nvSpPr>
        <p:spPr>
          <a:xfrm>
            <a:off x="0" y="0"/>
            <a:ext cx="190500" cy="6858000"/>
          </a:xfrm>
          <a:prstGeom prst="rect">
            <a:avLst/>
          </a:prstGeom>
          <a:solidFill>
            <a:srgbClr val="0065BD"/>
          </a:solidFill>
          <a:ln w="0">
            <a:noFill/>
            <a:prstDash val="solid"/>
          </a:ln>
        </p:spPr>
        <p:txBody>
          <a:bodyPr/>
          <a:lstStyle/>
          <a:p>
            <a:endParaRPr lang="de-DE"/>
          </a:p>
        </p:txBody>
      </p:sp>
      <p:sp>
        <p:nvSpPr>
          <p:cNvPr id="2" name="Rectangle 1">
            <a:extLst>
              <a:ext uri="{FF2B5EF4-FFF2-40B4-BE49-F238E27FC236}">
                <a16:creationId xmlns:a16="http://schemas.microsoft.com/office/drawing/2014/main" id="{A9D05057-C8F0-4631-9EEC-599325CFFC27}"/>
              </a:ext>
            </a:extLst>
          </p:cNvPr>
          <p:cNvSpPr>
            <a:spLocks noGrp="1"/>
          </p:cNvSpPr>
          <p:nvPr/>
        </p:nvSpPr>
        <p:spPr>
          <a:xfrm>
            <a:off x="190500" y="0"/>
            <a:ext cx="66675" cy="6858000"/>
          </a:xfrm>
          <a:prstGeom prst="rect">
            <a:avLst/>
          </a:prstGeom>
          <a:solidFill>
            <a:srgbClr val="98C6EA"/>
          </a:solidFill>
          <a:ln w="0">
            <a:noFill/>
            <a:prstDash val="solid"/>
          </a:ln>
        </p:spPr>
        <p:txBody>
          <a:bodyPr/>
          <a:lstStyle/>
          <a:p>
            <a:endParaRPr lang="de-DE"/>
          </a:p>
        </p:txBody>
      </p:sp>
      <p:sp>
        <p:nvSpPr>
          <p:cNvPr id="3" name="Rectangle 2">
            <a:extLst>
              <a:ext uri="{FF2B5EF4-FFF2-40B4-BE49-F238E27FC236}">
                <a16:creationId xmlns:a16="http://schemas.microsoft.com/office/drawing/2014/main" id="{383F4D46-AD7E-4518-838C-B55476266456}"/>
              </a:ext>
            </a:extLst>
          </p:cNvPr>
          <p:cNvSpPr>
            <a:spLocks noGrp="1"/>
          </p:cNvSpPr>
          <p:nvPr/>
        </p:nvSpPr>
        <p:spPr>
          <a:xfrm>
            <a:off x="666750" y="609600"/>
            <a:ext cx="8096250" cy="209550"/>
          </a:xfrm>
          <a:prstGeom prst="rect">
            <a:avLst/>
          </a:prstGeom>
          <a:noFill/>
          <a:ln w="0">
            <a:noFill/>
            <a:prstDash val="solid"/>
          </a:ln>
        </p:spPr>
        <p:txBody>
          <a:bodyPr lIns="0" tIns="0" rIns="0" bIns="0" anchor="t"/>
          <a:lstStyle/>
          <a:p>
            <a:pPr algn="l">
              <a:defRPr sz="1050" b="1">
                <a:solidFill>
                  <a:srgbClr val="0065BD"/>
                </a:solidFill>
                <a:latin typeface="Arial"/>
                <a:ea typeface="Arial"/>
                <a:cs typeface="Arial"/>
              </a:defRPr>
            </a:pPr>
            <a:r>
              <a:rPr sz="1050" b="1">
                <a:solidFill>
                  <a:srgbClr val="0065BD"/>
                </a:solidFill>
                <a:latin typeface="Arial"/>
                <a:ea typeface="Arial"/>
                <a:cs typeface="Arial"/>
              </a:rPr>
              <a:t>MASTER'S THESIS · INFORMATION SYSTEMS / INFORMATIK</a:t>
            </a:r>
          </a:p>
        </p:txBody>
      </p:sp>
      <p:sp>
        <p:nvSpPr>
          <p:cNvPr id="4" name="Rectangle 3">
            <a:extLst>
              <a:ext uri="{FF2B5EF4-FFF2-40B4-BE49-F238E27FC236}">
                <a16:creationId xmlns:a16="http://schemas.microsoft.com/office/drawing/2014/main" id="{7B95610E-5359-46F2-9833-E85609A8F22D}"/>
              </a:ext>
            </a:extLst>
          </p:cNvPr>
          <p:cNvSpPr>
            <a:spLocks noGrp="1"/>
          </p:cNvSpPr>
          <p:nvPr/>
        </p:nvSpPr>
        <p:spPr>
          <a:xfrm>
            <a:off x="666750" y="1257300"/>
            <a:ext cx="8763000" cy="1257300"/>
          </a:xfrm>
          <a:prstGeom prst="rect">
            <a:avLst/>
          </a:prstGeom>
          <a:noFill/>
          <a:ln w="0">
            <a:noFill/>
            <a:prstDash val="solid"/>
          </a:ln>
        </p:spPr>
        <p:txBody>
          <a:bodyPr lIns="0" tIns="0" rIns="0" bIns="0" anchor="t"/>
          <a:lstStyle/>
          <a:p>
            <a:pPr algn="l">
              <a:defRPr sz="3525" b="1">
                <a:solidFill>
                  <a:srgbClr val="111820"/>
                </a:solidFill>
                <a:latin typeface="Arial"/>
                <a:ea typeface="Arial"/>
                <a:cs typeface="Arial"/>
              </a:defRPr>
            </a:pPr>
            <a:r>
              <a:rPr sz="3525" b="1">
                <a:solidFill>
                  <a:srgbClr val="111820"/>
                </a:solidFill>
                <a:latin typeface="Arial"/>
                <a:ea typeface="Arial"/>
                <a:cs typeface="Arial"/>
              </a:rPr>
              <a:t>Enhance Usability of the Educational Modeling Software Apollon</a:t>
            </a:r>
          </a:p>
        </p:txBody>
      </p:sp>
      <p:sp>
        <p:nvSpPr>
          <p:cNvPr id="5" name="Rectangle 4">
            <a:extLst>
              <a:ext uri="{FF2B5EF4-FFF2-40B4-BE49-F238E27FC236}">
                <a16:creationId xmlns:a16="http://schemas.microsoft.com/office/drawing/2014/main" id="{74CC292D-149B-4118-B557-FFDD7B65409F}"/>
              </a:ext>
            </a:extLst>
          </p:cNvPr>
          <p:cNvSpPr>
            <a:spLocks noGrp="1"/>
          </p:cNvSpPr>
          <p:nvPr/>
        </p:nvSpPr>
        <p:spPr>
          <a:xfrm>
            <a:off x="666750" y="2800350"/>
            <a:ext cx="8096250" cy="666750"/>
          </a:xfrm>
          <a:prstGeom prst="rect">
            <a:avLst/>
          </a:prstGeom>
          <a:noFill/>
          <a:ln w="0">
            <a:noFill/>
            <a:prstDash val="solid"/>
          </a:ln>
        </p:spPr>
        <p:txBody>
          <a:bodyPr lIns="0" tIns="0" rIns="0" bIns="0" anchor="t"/>
          <a:lstStyle/>
          <a:p>
            <a:pPr algn="l">
              <a:defRPr sz="1725" b="0">
                <a:solidFill>
                  <a:srgbClr val="56616B"/>
                </a:solidFill>
                <a:latin typeface="Arial"/>
                <a:ea typeface="Arial"/>
                <a:cs typeface="Arial"/>
              </a:defRPr>
            </a:pPr>
            <a:r>
              <a:rPr sz="1725" b="0">
                <a:solidFill>
                  <a:srgbClr val="56616B"/>
                </a:solidFill>
                <a:latin typeface="Arial"/>
                <a:ea typeface="Arial"/>
                <a:cs typeface="Arial"/>
              </a:rPr>
              <a:t>One maintained modeling foundation across standalone, iOS, Artemis, Athena, and VS Code</a:t>
            </a:r>
          </a:p>
        </p:txBody>
      </p:sp>
      <p:sp>
        <p:nvSpPr>
          <p:cNvPr id="6" name="Straight Connector 5">
            <a:extLst>
              <a:ext uri="{FF2B5EF4-FFF2-40B4-BE49-F238E27FC236}">
                <a16:creationId xmlns:a16="http://schemas.microsoft.com/office/drawing/2014/main" id="{384113A1-CA98-4929-8714-2607B67B609A}"/>
              </a:ext>
            </a:extLst>
          </p:cNvPr>
          <p:cNvSpPr>
            <a:spLocks noGrp="1"/>
          </p:cNvSpPr>
          <p:nvPr/>
        </p:nvSpPr>
        <p:spPr>
          <a:xfrm>
            <a:off x="666750" y="3886200"/>
            <a:ext cx="1981200" cy="9525"/>
          </a:xfrm>
          <a:prstGeom prst="line">
            <a:avLst/>
          </a:prstGeom>
          <a:noFill/>
          <a:ln w="57150">
            <a:solidFill>
              <a:srgbClr val="0065BD"/>
            </a:solidFill>
            <a:prstDash val="solid"/>
          </a:ln>
        </p:spPr>
        <p:txBody>
          <a:bodyPr/>
          <a:lstStyle/>
          <a:p>
            <a:endParaRPr lang="de-DE"/>
          </a:p>
        </p:txBody>
      </p:sp>
      <p:sp>
        <p:nvSpPr>
          <p:cNvPr id="7" name="Rectangle 6">
            <a:extLst>
              <a:ext uri="{FF2B5EF4-FFF2-40B4-BE49-F238E27FC236}">
                <a16:creationId xmlns:a16="http://schemas.microsoft.com/office/drawing/2014/main" id="{C98AF8BF-BFE4-4CD5-9109-29DF7885FA96}"/>
              </a:ext>
            </a:extLst>
          </p:cNvPr>
          <p:cNvSpPr>
            <a:spLocks noGrp="1"/>
          </p:cNvSpPr>
          <p:nvPr/>
        </p:nvSpPr>
        <p:spPr>
          <a:xfrm>
            <a:off x="666750" y="4286250"/>
            <a:ext cx="6191250" cy="323850"/>
          </a:xfrm>
          <a:prstGeom prst="rect">
            <a:avLst/>
          </a:prstGeom>
          <a:noFill/>
          <a:ln w="0">
            <a:noFill/>
            <a:prstDash val="solid"/>
          </a:ln>
        </p:spPr>
        <p:txBody>
          <a:bodyPr lIns="0" tIns="0" rIns="0" bIns="0" anchor="t"/>
          <a:lstStyle/>
          <a:p>
            <a:pPr algn="l">
              <a:defRPr sz="1800" b="1">
                <a:solidFill>
                  <a:srgbClr val="111820"/>
                </a:solidFill>
                <a:latin typeface="Arial"/>
                <a:ea typeface="Arial"/>
                <a:cs typeface="Arial"/>
              </a:defRPr>
            </a:pPr>
            <a:r>
              <a:rPr sz="1800" b="1">
                <a:solidFill>
                  <a:srgbClr val="111820"/>
                </a:solidFill>
                <a:latin typeface="Arial"/>
                <a:ea typeface="Arial"/>
                <a:cs typeface="Arial"/>
              </a:rPr>
              <a:t>Fady Samaan · Ravi Tamang</a:t>
            </a:r>
          </a:p>
        </p:txBody>
      </p:sp>
      <p:sp>
        <p:nvSpPr>
          <p:cNvPr id="8" name="Rectangle 7">
            <a:extLst>
              <a:ext uri="{FF2B5EF4-FFF2-40B4-BE49-F238E27FC236}">
                <a16:creationId xmlns:a16="http://schemas.microsoft.com/office/drawing/2014/main" id="{B3536251-45D8-45B9-AC09-8A3740FCD007}"/>
              </a:ext>
            </a:extLst>
          </p:cNvPr>
          <p:cNvSpPr>
            <a:spLocks noGrp="1"/>
          </p:cNvSpPr>
          <p:nvPr/>
        </p:nvSpPr>
        <p:spPr>
          <a:xfrm>
            <a:off x="666750" y="4743450"/>
            <a:ext cx="6096000" cy="971550"/>
          </a:xfrm>
          <a:prstGeom prst="rect">
            <a:avLst/>
          </a:prstGeom>
          <a:noFill/>
          <a:ln w="0">
            <a:noFill/>
            <a:prstDash val="solid"/>
          </a:ln>
        </p:spPr>
        <p:txBody>
          <a:bodyPr lIns="0" tIns="0" rIns="0" bIns="0" anchor="t"/>
          <a:lstStyle/>
          <a:p>
            <a:pPr algn="l">
              <a:defRPr sz="1350" b="0">
                <a:solidFill>
                  <a:srgbClr val="56616B"/>
                </a:solidFill>
                <a:latin typeface="Arial"/>
                <a:ea typeface="Arial"/>
                <a:cs typeface="Arial"/>
              </a:defRPr>
            </a:pPr>
            <a:r>
              <a:rPr sz="1350" b="0">
                <a:solidFill>
                  <a:srgbClr val="56616B"/>
                </a:solidFill>
                <a:latin typeface="Arial"/>
                <a:ea typeface="Arial"/>
                <a:cs typeface="Arial"/>
              </a:rPr>
              <a:t>Supervisor: Felix Dietrich, M.Sc.</a:t>
            </a:r>
          </a:p>
          <a:p>
            <a:pPr algn="l">
              <a:defRPr sz="1350" b="0">
                <a:solidFill>
                  <a:srgbClr val="56616B"/>
                </a:solidFill>
                <a:latin typeface="Arial"/>
                <a:ea typeface="Arial"/>
                <a:cs typeface="Arial"/>
              </a:defRPr>
            </a:pPr>
            <a:r>
              <a:rPr sz="1350" b="0">
                <a:solidFill>
                  <a:srgbClr val="56616B"/>
                </a:solidFill>
                <a:latin typeface="Arial"/>
                <a:ea typeface="Arial"/>
                <a:cs typeface="Arial"/>
              </a:rPr>
              <a:t>Examiner: Prof. Dr. Stephan Krusche</a:t>
            </a:r>
          </a:p>
          <a:p>
            <a:pPr algn="l">
              <a:defRPr sz="1350" b="0">
                <a:solidFill>
                  <a:srgbClr val="56616B"/>
                </a:solidFill>
                <a:latin typeface="Arial"/>
                <a:ea typeface="Arial"/>
                <a:cs typeface="Arial"/>
              </a:defRPr>
            </a:pPr>
            <a:r>
              <a:rPr sz="1350" b="0">
                <a:solidFill>
                  <a:srgbClr val="56616B"/>
                </a:solidFill>
                <a:latin typeface="Arial"/>
                <a:ea typeface="Arial"/>
                <a:cs typeface="Arial"/>
              </a:rPr>
              <a:t>Garching · 8 July 2026</a:t>
            </a:r>
          </a:p>
        </p:txBody>
      </p:sp>
      <p:pic>
        <p:nvPicPr>
          <p:cNvPr id="19" name="Picture 18"/>
          <p:cNvPicPr>
            <a:picLocks noChangeAspect="1"/>
          </p:cNvPicPr>
          <p:nvPr/>
        </p:nvPicPr>
        <p:blipFill>
          <a:blip r:embed="rId3"/>
          <a:stretch/>
        </p:blipFill>
        <p:spPr>
          <a:xfrm>
            <a:off x="10881946" y="400050"/>
            <a:ext cx="867508" cy="457200"/>
          </a:xfrm>
          <a:prstGeom prst="rect">
            <a:avLst/>
          </a:prstGeom>
        </p:spPr>
      </p:pic>
      <p:sp>
        <p:nvSpPr>
          <p:cNvPr id="10" name="Rectangle 9">
            <a:extLst>
              <a:ext uri="{FF2B5EF4-FFF2-40B4-BE49-F238E27FC236}">
                <a16:creationId xmlns:a16="http://schemas.microsoft.com/office/drawing/2014/main" id="{85209115-0957-44EF-BAEC-BA7905EBC9DF}"/>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a:t>
            </a:r>
          </a:p>
        </p:txBody>
      </p:sp>
    </p:spTree>
    <p:extLst>
      <p:ext uri="{BB962C8B-B14F-4D97-AF65-F5344CB8AC3E}">
        <p14:creationId xmlns:p14="http://schemas.microsoft.com/office/powerpoint/2010/main" val="865822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ection label">
            <a:extLst>
              <a:ext uri="{FF2B5EF4-FFF2-40B4-BE49-F238E27FC236}">
                <a16:creationId xmlns:a16="http://schemas.microsoft.com/office/drawing/2014/main" id="{79C33D6F-ED92-4094-8956-2889406CDD02}"/>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CONTEXT</a:t>
            </a:r>
          </a:p>
        </p:txBody>
      </p:sp>
      <p:sp>
        <p:nvSpPr>
          <p:cNvPr id="2" name="Slide title">
            <a:extLst>
              <a:ext uri="{FF2B5EF4-FFF2-40B4-BE49-F238E27FC236}">
                <a16:creationId xmlns:a16="http://schemas.microsoft.com/office/drawing/2014/main" id="{44D86A49-8107-430C-A838-8CFAD80E684E}"/>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Apollon is more than an editor</a:t>
            </a:r>
          </a:p>
        </p:txBody>
      </p:sp>
      <p:pic>
        <p:nvPicPr>
          <p:cNvPr id="42" name="Picture 41"/>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C6A403AC-8E39-4CD3-8DFA-074F2C656F06}"/>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C33BDADA-E1D0-434F-9667-B96AB990907D}"/>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a:t>
            </a:r>
          </a:p>
        </p:txBody>
      </p:sp>
      <p:sp>
        <p:nvSpPr>
          <p:cNvPr id="6" name="Footer">
            <a:extLst>
              <a:ext uri="{FF2B5EF4-FFF2-40B4-BE49-F238E27FC236}">
                <a16:creationId xmlns:a16="http://schemas.microsoft.com/office/drawing/2014/main" id="{97CFD5B0-4C04-4AC2-9F37-E3FC649362A4}"/>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Straight Connector 6">
            <a:extLst>
              <a:ext uri="{FF2B5EF4-FFF2-40B4-BE49-F238E27FC236}">
                <a16:creationId xmlns:a16="http://schemas.microsoft.com/office/drawing/2014/main" id="{20FB4C8F-6267-4527-85F4-BB98929C27EE}"/>
              </a:ext>
            </a:extLst>
          </p:cNvPr>
          <p:cNvSpPr>
            <a:spLocks noGrp="1"/>
          </p:cNvSpPr>
          <p:nvPr/>
        </p:nvSpPr>
        <p:spPr>
          <a:xfrm>
            <a:off x="5505450" y="2457450"/>
            <a:ext cx="1181100" cy="9525"/>
          </a:xfrm>
          <a:prstGeom prst="line">
            <a:avLst/>
          </a:prstGeom>
          <a:noFill/>
          <a:ln w="19050">
            <a:solidFill>
              <a:srgbClr val="98C6EA"/>
            </a:solidFill>
            <a:prstDash val="solid"/>
          </a:ln>
        </p:spPr>
        <p:txBody>
          <a:bodyPr/>
          <a:lstStyle/>
          <a:p>
            <a:endParaRPr lang="de-DE"/>
          </a:p>
        </p:txBody>
      </p:sp>
      <p:sp>
        <p:nvSpPr>
          <p:cNvPr id="8" name="Straight Connector 7">
            <a:extLst>
              <a:ext uri="{FF2B5EF4-FFF2-40B4-BE49-F238E27FC236}">
                <a16:creationId xmlns:a16="http://schemas.microsoft.com/office/drawing/2014/main" id="{9BAD0B31-B88A-48F9-BCEF-C5C488EEFBB7}"/>
              </a:ext>
            </a:extLst>
          </p:cNvPr>
          <p:cNvSpPr>
            <a:spLocks noGrp="1"/>
          </p:cNvSpPr>
          <p:nvPr/>
        </p:nvSpPr>
        <p:spPr>
          <a:xfrm>
            <a:off x="2130879" y="2371725"/>
            <a:ext cx="3847884" cy="409573"/>
          </a:xfrm>
          <a:prstGeom prst="line">
            <a:avLst/>
          </a:prstGeom>
          <a:noFill/>
          <a:ln w="19050">
            <a:solidFill>
              <a:srgbClr val="98C6EA"/>
            </a:solidFill>
            <a:prstDash val="solid"/>
          </a:ln>
        </p:spPr>
        <p:txBody>
          <a:bodyPr/>
          <a:lstStyle/>
          <a:p>
            <a:endParaRPr lang="de-DE"/>
          </a:p>
        </p:txBody>
      </p:sp>
      <p:sp>
        <p:nvSpPr>
          <p:cNvPr id="9" name="Straight Connector 8">
            <a:extLst>
              <a:ext uri="{FF2B5EF4-FFF2-40B4-BE49-F238E27FC236}">
                <a16:creationId xmlns:a16="http://schemas.microsoft.com/office/drawing/2014/main" id="{521B2E53-4990-4D99-8EF4-B537AD0EA273}"/>
              </a:ext>
            </a:extLst>
          </p:cNvPr>
          <p:cNvSpPr>
            <a:spLocks noGrp="1"/>
          </p:cNvSpPr>
          <p:nvPr/>
        </p:nvSpPr>
        <p:spPr>
          <a:xfrm flipV="1">
            <a:off x="7569438" y="2371723"/>
            <a:ext cx="2365131" cy="1036113"/>
          </a:xfrm>
          <a:prstGeom prst="line">
            <a:avLst/>
          </a:prstGeom>
          <a:noFill/>
          <a:ln w="19050">
            <a:solidFill>
              <a:srgbClr val="98C6EA"/>
            </a:solidFill>
            <a:prstDash val="solid"/>
          </a:ln>
        </p:spPr>
        <p:txBody>
          <a:bodyPr/>
          <a:lstStyle/>
          <a:p>
            <a:endParaRPr lang="de-DE"/>
          </a:p>
        </p:txBody>
      </p:sp>
      <p:sp>
        <p:nvSpPr>
          <p:cNvPr id="10" name="Straight Connector 9">
            <a:extLst>
              <a:ext uri="{FF2B5EF4-FFF2-40B4-BE49-F238E27FC236}">
                <a16:creationId xmlns:a16="http://schemas.microsoft.com/office/drawing/2014/main" id="{DB50E25A-4956-42A4-B32E-473688A08307}"/>
              </a:ext>
            </a:extLst>
          </p:cNvPr>
          <p:cNvSpPr>
            <a:spLocks noGrp="1"/>
          </p:cNvSpPr>
          <p:nvPr/>
        </p:nvSpPr>
        <p:spPr>
          <a:xfrm flipV="1">
            <a:off x="2257425" y="3393013"/>
            <a:ext cx="2371721" cy="1169461"/>
          </a:xfrm>
          <a:prstGeom prst="line">
            <a:avLst/>
          </a:prstGeom>
          <a:noFill/>
          <a:ln w="19050">
            <a:solidFill>
              <a:srgbClr val="98C6EA"/>
            </a:solidFill>
            <a:prstDash val="solid"/>
          </a:ln>
        </p:spPr>
        <p:txBody>
          <a:bodyPr/>
          <a:lstStyle/>
          <a:p>
            <a:endParaRPr lang="de-DE"/>
          </a:p>
        </p:txBody>
      </p:sp>
      <p:sp>
        <p:nvSpPr>
          <p:cNvPr id="11" name="Straight Connector 10">
            <a:extLst>
              <a:ext uri="{FF2B5EF4-FFF2-40B4-BE49-F238E27FC236}">
                <a16:creationId xmlns:a16="http://schemas.microsoft.com/office/drawing/2014/main" id="{AEA83D4A-A96F-4621-8C6E-DB90BC9F40CC}"/>
              </a:ext>
            </a:extLst>
          </p:cNvPr>
          <p:cNvSpPr>
            <a:spLocks noGrp="1"/>
          </p:cNvSpPr>
          <p:nvPr/>
        </p:nvSpPr>
        <p:spPr>
          <a:xfrm>
            <a:off x="6096000" y="3600450"/>
            <a:ext cx="0" cy="1038225"/>
          </a:xfrm>
          <a:prstGeom prst="line">
            <a:avLst/>
          </a:prstGeom>
          <a:noFill/>
          <a:ln w="19050">
            <a:solidFill>
              <a:srgbClr val="98C6EA"/>
            </a:solidFill>
            <a:prstDash val="solid"/>
          </a:ln>
        </p:spPr>
        <p:txBody>
          <a:bodyPr/>
          <a:lstStyle/>
          <a:p>
            <a:endParaRPr lang="de-DE"/>
          </a:p>
        </p:txBody>
      </p:sp>
      <p:sp>
        <p:nvSpPr>
          <p:cNvPr id="12" name="Straight Connector 11">
            <a:extLst>
              <a:ext uri="{FF2B5EF4-FFF2-40B4-BE49-F238E27FC236}">
                <a16:creationId xmlns:a16="http://schemas.microsoft.com/office/drawing/2014/main" id="{BE36E2EE-703E-4562-8519-3D0D268A4451}"/>
              </a:ext>
            </a:extLst>
          </p:cNvPr>
          <p:cNvSpPr>
            <a:spLocks noGrp="1"/>
          </p:cNvSpPr>
          <p:nvPr/>
        </p:nvSpPr>
        <p:spPr>
          <a:xfrm>
            <a:off x="7600950" y="3393013"/>
            <a:ext cx="2333620" cy="1169462"/>
          </a:xfrm>
          <a:prstGeom prst="line">
            <a:avLst/>
          </a:prstGeom>
          <a:noFill/>
          <a:ln w="19050">
            <a:solidFill>
              <a:srgbClr val="98C6EA"/>
            </a:solidFill>
            <a:prstDash val="solid"/>
          </a:ln>
        </p:spPr>
        <p:txBody>
          <a:bodyPr/>
          <a:lstStyle/>
          <a:p>
            <a:endParaRPr lang="de-DE"/>
          </a:p>
        </p:txBody>
      </p:sp>
      <p:sp>
        <p:nvSpPr>
          <p:cNvPr id="13" name="Apollon library">
            <a:extLst>
              <a:ext uri="{FF2B5EF4-FFF2-40B4-BE49-F238E27FC236}">
                <a16:creationId xmlns:a16="http://schemas.microsoft.com/office/drawing/2014/main" id="{D5BFE82B-A90B-46CD-A325-AB6E8BB8CD68}"/>
              </a:ext>
            </a:extLst>
          </p:cNvPr>
          <p:cNvSpPr>
            <a:spLocks noGrp="1"/>
          </p:cNvSpPr>
          <p:nvPr/>
        </p:nvSpPr>
        <p:spPr>
          <a:xfrm>
            <a:off x="4610100" y="2790825"/>
            <a:ext cx="3009900" cy="1143000"/>
          </a:xfrm>
          <a:prstGeom prst="roundRect">
            <a:avLst>
              <a:gd name="adj" fmla="val 10000"/>
            </a:avLst>
          </a:prstGeom>
          <a:solidFill>
            <a:srgbClr val="003359"/>
          </a:solidFill>
          <a:ln w="0">
            <a:noFill/>
            <a:prstDash val="solid"/>
          </a:ln>
        </p:spPr>
        <p:txBody>
          <a:bodyPr/>
          <a:lstStyle/>
          <a:p>
            <a:endParaRPr lang="de-DE"/>
          </a:p>
        </p:txBody>
      </p:sp>
      <p:sp>
        <p:nvSpPr>
          <p:cNvPr id="14" name="Rectangle 13">
            <a:extLst>
              <a:ext uri="{FF2B5EF4-FFF2-40B4-BE49-F238E27FC236}">
                <a16:creationId xmlns:a16="http://schemas.microsoft.com/office/drawing/2014/main" id="{6C46E202-6C9F-46B2-81C7-0037B99B4DB2}"/>
              </a:ext>
            </a:extLst>
          </p:cNvPr>
          <p:cNvSpPr>
            <a:spLocks noGrp="1"/>
          </p:cNvSpPr>
          <p:nvPr/>
        </p:nvSpPr>
        <p:spPr>
          <a:xfrm>
            <a:off x="4914900" y="3000375"/>
            <a:ext cx="2400300" cy="323850"/>
          </a:xfrm>
          <a:prstGeom prst="rect">
            <a:avLst/>
          </a:prstGeom>
          <a:noFill/>
          <a:ln w="0">
            <a:noFill/>
            <a:prstDash val="solid"/>
          </a:ln>
        </p:spPr>
        <p:txBody>
          <a:bodyPr lIns="0" tIns="0" rIns="0" bIns="0" anchor="t"/>
          <a:lstStyle/>
          <a:p>
            <a:pPr algn="ctr">
              <a:defRPr sz="1875" b="1">
                <a:solidFill>
                  <a:srgbClr val="FFFFFF"/>
                </a:solidFill>
                <a:latin typeface="Arial"/>
                <a:ea typeface="Arial"/>
                <a:cs typeface="Arial"/>
              </a:defRPr>
            </a:pPr>
            <a:r>
              <a:rPr sz="1875" b="1">
                <a:solidFill>
                  <a:srgbClr val="FFFFFF"/>
                </a:solidFill>
                <a:latin typeface="Arial"/>
                <a:ea typeface="Arial"/>
                <a:cs typeface="Arial"/>
              </a:rPr>
              <a:t>Apollon library</a:t>
            </a:r>
          </a:p>
        </p:txBody>
      </p:sp>
      <p:sp>
        <p:nvSpPr>
          <p:cNvPr id="15" name="Rectangle 14">
            <a:extLst>
              <a:ext uri="{FF2B5EF4-FFF2-40B4-BE49-F238E27FC236}">
                <a16:creationId xmlns:a16="http://schemas.microsoft.com/office/drawing/2014/main" id="{67AFA7FF-E217-4613-84C0-637E45054980}"/>
              </a:ext>
            </a:extLst>
          </p:cNvPr>
          <p:cNvSpPr>
            <a:spLocks noGrp="1"/>
          </p:cNvSpPr>
          <p:nvPr/>
        </p:nvSpPr>
        <p:spPr>
          <a:xfrm>
            <a:off x="4914900" y="3448050"/>
            <a:ext cx="2400300" cy="247650"/>
          </a:xfrm>
          <a:prstGeom prst="rect">
            <a:avLst/>
          </a:prstGeom>
          <a:noFill/>
          <a:ln w="0">
            <a:noFill/>
            <a:prstDash val="solid"/>
          </a:ln>
        </p:spPr>
        <p:txBody>
          <a:bodyPr lIns="0" tIns="0" rIns="0" bIns="0" anchor="t"/>
          <a:lstStyle/>
          <a:p>
            <a:pPr algn="ctr">
              <a:defRPr sz="975" b="0">
                <a:solidFill>
                  <a:srgbClr val="98C6EA"/>
                </a:solidFill>
                <a:latin typeface="Arial"/>
                <a:ea typeface="Arial"/>
                <a:cs typeface="Arial"/>
              </a:defRPr>
            </a:pPr>
            <a:r>
              <a:rPr sz="975" b="0" dirty="0">
                <a:solidFill>
                  <a:srgbClr val="98C6EA"/>
                </a:solidFill>
                <a:latin typeface="Arial"/>
                <a:ea typeface="Arial"/>
                <a:cs typeface="Arial"/>
              </a:rPr>
              <a:t>Model · rendering · awareness</a:t>
            </a:r>
          </a:p>
        </p:txBody>
      </p:sp>
      <p:sp>
        <p:nvSpPr>
          <p:cNvPr id="16" name="Rectangle: Rounded Corners 15">
            <a:extLst>
              <a:ext uri="{FF2B5EF4-FFF2-40B4-BE49-F238E27FC236}">
                <a16:creationId xmlns:a16="http://schemas.microsoft.com/office/drawing/2014/main" id="{11958B95-41C1-436A-9488-CFDC017583F8}"/>
              </a:ext>
            </a:extLst>
          </p:cNvPr>
          <p:cNvSpPr>
            <a:spLocks noGrp="1"/>
          </p:cNvSpPr>
          <p:nvPr/>
        </p:nvSpPr>
        <p:spPr>
          <a:xfrm>
            <a:off x="666750" y="13906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17" name="Rectangle 16">
            <a:extLst>
              <a:ext uri="{FF2B5EF4-FFF2-40B4-BE49-F238E27FC236}">
                <a16:creationId xmlns:a16="http://schemas.microsoft.com/office/drawing/2014/main" id="{AEE9ABC9-0020-4243-9054-54B9CC6CD3A3}"/>
              </a:ext>
            </a:extLst>
          </p:cNvPr>
          <p:cNvSpPr>
            <a:spLocks noGrp="1"/>
          </p:cNvSpPr>
          <p:nvPr/>
        </p:nvSpPr>
        <p:spPr>
          <a:xfrm>
            <a:off x="666750" y="1390650"/>
            <a:ext cx="66675" cy="990600"/>
          </a:xfrm>
          <a:prstGeom prst="rect">
            <a:avLst/>
          </a:prstGeom>
          <a:solidFill>
            <a:srgbClr val="0065BD"/>
          </a:solidFill>
          <a:ln w="0">
            <a:noFill/>
            <a:prstDash val="solid"/>
          </a:ln>
        </p:spPr>
        <p:txBody>
          <a:bodyPr/>
          <a:lstStyle/>
          <a:p>
            <a:endParaRPr lang="de-DE"/>
          </a:p>
        </p:txBody>
      </p:sp>
      <p:sp>
        <p:nvSpPr>
          <p:cNvPr id="18" name="Rectangle 17">
            <a:extLst>
              <a:ext uri="{FF2B5EF4-FFF2-40B4-BE49-F238E27FC236}">
                <a16:creationId xmlns:a16="http://schemas.microsoft.com/office/drawing/2014/main" id="{75B4AA75-B3EF-4EEF-961E-631846E83327}"/>
              </a:ext>
            </a:extLst>
          </p:cNvPr>
          <p:cNvSpPr>
            <a:spLocks noGrp="1"/>
          </p:cNvSpPr>
          <p:nvPr/>
        </p:nvSpPr>
        <p:spPr>
          <a:xfrm>
            <a:off x="904875" y="16192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Standalone</a:t>
            </a:r>
          </a:p>
        </p:txBody>
      </p:sp>
      <p:sp>
        <p:nvSpPr>
          <p:cNvPr id="19" name="Rectangle 18">
            <a:extLst>
              <a:ext uri="{FF2B5EF4-FFF2-40B4-BE49-F238E27FC236}">
                <a16:creationId xmlns:a16="http://schemas.microsoft.com/office/drawing/2014/main" id="{4B2507E6-BBA4-4DD0-999C-6FD7A51910BC}"/>
              </a:ext>
            </a:extLst>
          </p:cNvPr>
          <p:cNvSpPr>
            <a:spLocks noGrp="1"/>
          </p:cNvSpPr>
          <p:nvPr/>
        </p:nvSpPr>
        <p:spPr>
          <a:xfrm>
            <a:off x="904875" y="21145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Create, manage, share</a:t>
            </a:r>
          </a:p>
        </p:txBody>
      </p:sp>
      <p:sp>
        <p:nvSpPr>
          <p:cNvPr id="20" name="Rectangle: Rounded Corners 19">
            <a:extLst>
              <a:ext uri="{FF2B5EF4-FFF2-40B4-BE49-F238E27FC236}">
                <a16:creationId xmlns:a16="http://schemas.microsoft.com/office/drawing/2014/main" id="{11D575F2-D941-4490-870D-10C3C9BE43DE}"/>
              </a:ext>
            </a:extLst>
          </p:cNvPr>
          <p:cNvSpPr>
            <a:spLocks noGrp="1"/>
          </p:cNvSpPr>
          <p:nvPr/>
        </p:nvSpPr>
        <p:spPr>
          <a:xfrm>
            <a:off x="4476750" y="13906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21" name="Rectangle 20">
            <a:extLst>
              <a:ext uri="{FF2B5EF4-FFF2-40B4-BE49-F238E27FC236}">
                <a16:creationId xmlns:a16="http://schemas.microsoft.com/office/drawing/2014/main" id="{A6475208-F3B5-43BF-8B7C-E733064DC6B9}"/>
              </a:ext>
            </a:extLst>
          </p:cNvPr>
          <p:cNvSpPr>
            <a:spLocks noGrp="1"/>
          </p:cNvSpPr>
          <p:nvPr/>
        </p:nvSpPr>
        <p:spPr>
          <a:xfrm>
            <a:off x="4476750" y="1390650"/>
            <a:ext cx="66675" cy="990600"/>
          </a:xfrm>
          <a:prstGeom prst="rect">
            <a:avLst/>
          </a:prstGeom>
          <a:solidFill>
            <a:srgbClr val="0065BD"/>
          </a:solidFill>
          <a:ln w="0">
            <a:noFill/>
            <a:prstDash val="solid"/>
          </a:ln>
        </p:spPr>
        <p:txBody>
          <a:bodyPr/>
          <a:lstStyle/>
          <a:p>
            <a:endParaRPr lang="de-DE"/>
          </a:p>
        </p:txBody>
      </p:sp>
      <p:sp>
        <p:nvSpPr>
          <p:cNvPr id="22" name="Rectangle 21">
            <a:extLst>
              <a:ext uri="{FF2B5EF4-FFF2-40B4-BE49-F238E27FC236}">
                <a16:creationId xmlns:a16="http://schemas.microsoft.com/office/drawing/2014/main" id="{AC2059CD-4C5F-43FC-8004-2D8ACF2621B2}"/>
              </a:ext>
            </a:extLst>
          </p:cNvPr>
          <p:cNvSpPr>
            <a:spLocks noGrp="1"/>
          </p:cNvSpPr>
          <p:nvPr/>
        </p:nvSpPr>
        <p:spPr>
          <a:xfrm>
            <a:off x="4714875" y="16192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dirty="0">
                <a:solidFill>
                  <a:srgbClr val="111820"/>
                </a:solidFill>
                <a:latin typeface="Arial"/>
                <a:ea typeface="Arial"/>
                <a:cs typeface="Arial"/>
              </a:rPr>
              <a:t>Mobile / iOS</a:t>
            </a:r>
          </a:p>
        </p:txBody>
      </p:sp>
      <p:sp>
        <p:nvSpPr>
          <p:cNvPr id="23" name="Rectangle 22">
            <a:extLst>
              <a:ext uri="{FF2B5EF4-FFF2-40B4-BE49-F238E27FC236}">
                <a16:creationId xmlns:a16="http://schemas.microsoft.com/office/drawing/2014/main" id="{9F9D27F6-1244-4884-ADB5-4602B2D77B55}"/>
              </a:ext>
            </a:extLst>
          </p:cNvPr>
          <p:cNvSpPr>
            <a:spLocks noGrp="1"/>
          </p:cNvSpPr>
          <p:nvPr/>
        </p:nvSpPr>
        <p:spPr>
          <a:xfrm>
            <a:off x="4714875" y="21145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Native file export</a:t>
            </a:r>
          </a:p>
        </p:txBody>
      </p:sp>
      <p:sp>
        <p:nvSpPr>
          <p:cNvPr id="24" name="Rectangle: Rounded Corners 23">
            <a:extLst>
              <a:ext uri="{FF2B5EF4-FFF2-40B4-BE49-F238E27FC236}">
                <a16:creationId xmlns:a16="http://schemas.microsoft.com/office/drawing/2014/main" id="{DDB10A3E-0BE9-4704-BB3F-984540453E38}"/>
              </a:ext>
            </a:extLst>
          </p:cNvPr>
          <p:cNvSpPr>
            <a:spLocks noGrp="1"/>
          </p:cNvSpPr>
          <p:nvPr/>
        </p:nvSpPr>
        <p:spPr>
          <a:xfrm>
            <a:off x="8286750" y="13906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25" name="Rectangle 24">
            <a:extLst>
              <a:ext uri="{FF2B5EF4-FFF2-40B4-BE49-F238E27FC236}">
                <a16:creationId xmlns:a16="http://schemas.microsoft.com/office/drawing/2014/main" id="{4F807782-9946-409F-8B91-82B23793EB08}"/>
              </a:ext>
            </a:extLst>
          </p:cNvPr>
          <p:cNvSpPr>
            <a:spLocks noGrp="1"/>
          </p:cNvSpPr>
          <p:nvPr/>
        </p:nvSpPr>
        <p:spPr>
          <a:xfrm>
            <a:off x="8286750" y="1390650"/>
            <a:ext cx="66675" cy="990600"/>
          </a:xfrm>
          <a:prstGeom prst="rect">
            <a:avLst/>
          </a:prstGeom>
          <a:solidFill>
            <a:srgbClr val="E37222"/>
          </a:solidFill>
          <a:ln w="0">
            <a:noFill/>
            <a:prstDash val="solid"/>
          </a:ln>
        </p:spPr>
        <p:txBody>
          <a:bodyPr/>
          <a:lstStyle/>
          <a:p>
            <a:endParaRPr lang="de-DE"/>
          </a:p>
        </p:txBody>
      </p:sp>
      <p:sp>
        <p:nvSpPr>
          <p:cNvPr id="26" name="Rectangle 25">
            <a:extLst>
              <a:ext uri="{FF2B5EF4-FFF2-40B4-BE49-F238E27FC236}">
                <a16:creationId xmlns:a16="http://schemas.microsoft.com/office/drawing/2014/main" id="{466F50AE-5B6E-468F-9180-A0FAD85277E7}"/>
              </a:ext>
            </a:extLst>
          </p:cNvPr>
          <p:cNvSpPr>
            <a:spLocks noGrp="1"/>
          </p:cNvSpPr>
          <p:nvPr/>
        </p:nvSpPr>
        <p:spPr>
          <a:xfrm>
            <a:off x="8524875" y="16192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Artemis</a:t>
            </a:r>
          </a:p>
        </p:txBody>
      </p:sp>
      <p:sp>
        <p:nvSpPr>
          <p:cNvPr id="27" name="Rectangle 26">
            <a:extLst>
              <a:ext uri="{FF2B5EF4-FFF2-40B4-BE49-F238E27FC236}">
                <a16:creationId xmlns:a16="http://schemas.microsoft.com/office/drawing/2014/main" id="{4CB91F41-5F57-448A-A05A-2E5943CF0AF6}"/>
              </a:ext>
            </a:extLst>
          </p:cNvPr>
          <p:cNvSpPr>
            <a:spLocks noGrp="1"/>
          </p:cNvSpPr>
          <p:nvPr/>
        </p:nvSpPr>
        <p:spPr>
          <a:xfrm>
            <a:off x="8524875" y="21145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Exercises and assessment</a:t>
            </a:r>
          </a:p>
        </p:txBody>
      </p:sp>
      <p:sp>
        <p:nvSpPr>
          <p:cNvPr id="28" name="Rectangle: Rounded Corners 27">
            <a:extLst>
              <a:ext uri="{FF2B5EF4-FFF2-40B4-BE49-F238E27FC236}">
                <a16:creationId xmlns:a16="http://schemas.microsoft.com/office/drawing/2014/main" id="{AD83E244-FBAB-4601-A218-D2264A4B9623}"/>
              </a:ext>
            </a:extLst>
          </p:cNvPr>
          <p:cNvSpPr>
            <a:spLocks noGrp="1"/>
          </p:cNvSpPr>
          <p:nvPr/>
        </p:nvSpPr>
        <p:spPr>
          <a:xfrm>
            <a:off x="666750" y="45529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29" name="Rectangle 28">
            <a:extLst>
              <a:ext uri="{FF2B5EF4-FFF2-40B4-BE49-F238E27FC236}">
                <a16:creationId xmlns:a16="http://schemas.microsoft.com/office/drawing/2014/main" id="{155C2CFC-B86E-4332-8B79-65DF7D86C4C6}"/>
              </a:ext>
            </a:extLst>
          </p:cNvPr>
          <p:cNvSpPr>
            <a:spLocks noGrp="1"/>
          </p:cNvSpPr>
          <p:nvPr/>
        </p:nvSpPr>
        <p:spPr>
          <a:xfrm>
            <a:off x="666750" y="4552950"/>
            <a:ext cx="66675" cy="990600"/>
          </a:xfrm>
          <a:prstGeom prst="rect">
            <a:avLst/>
          </a:prstGeom>
          <a:solidFill>
            <a:srgbClr val="0065BD"/>
          </a:solidFill>
          <a:ln w="0">
            <a:noFill/>
            <a:prstDash val="solid"/>
          </a:ln>
        </p:spPr>
        <p:txBody>
          <a:bodyPr/>
          <a:lstStyle/>
          <a:p>
            <a:endParaRPr lang="de-DE"/>
          </a:p>
        </p:txBody>
      </p:sp>
      <p:sp>
        <p:nvSpPr>
          <p:cNvPr id="30" name="Rectangle 29">
            <a:extLst>
              <a:ext uri="{FF2B5EF4-FFF2-40B4-BE49-F238E27FC236}">
                <a16:creationId xmlns:a16="http://schemas.microsoft.com/office/drawing/2014/main" id="{CC6B3675-79AE-4487-A2A7-F85B611098A7}"/>
              </a:ext>
            </a:extLst>
          </p:cNvPr>
          <p:cNvSpPr>
            <a:spLocks noGrp="1"/>
          </p:cNvSpPr>
          <p:nvPr/>
        </p:nvSpPr>
        <p:spPr>
          <a:xfrm>
            <a:off x="904875" y="47815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Athena</a:t>
            </a:r>
          </a:p>
        </p:txBody>
      </p:sp>
      <p:sp>
        <p:nvSpPr>
          <p:cNvPr id="31" name="Rectangle 30">
            <a:extLst>
              <a:ext uri="{FF2B5EF4-FFF2-40B4-BE49-F238E27FC236}">
                <a16:creationId xmlns:a16="http://schemas.microsoft.com/office/drawing/2014/main" id="{348556C1-B399-46EC-A6B8-C8B2C4C49DE4}"/>
              </a:ext>
            </a:extLst>
          </p:cNvPr>
          <p:cNvSpPr>
            <a:spLocks noGrp="1"/>
          </p:cNvSpPr>
          <p:nvPr/>
        </p:nvSpPr>
        <p:spPr>
          <a:xfrm>
            <a:off x="904875" y="52768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Model-based feedback</a:t>
            </a:r>
          </a:p>
        </p:txBody>
      </p:sp>
      <p:sp>
        <p:nvSpPr>
          <p:cNvPr id="32" name="Rectangle: Rounded Corners 31">
            <a:extLst>
              <a:ext uri="{FF2B5EF4-FFF2-40B4-BE49-F238E27FC236}">
                <a16:creationId xmlns:a16="http://schemas.microsoft.com/office/drawing/2014/main" id="{3688EF33-31AF-4BCF-8F79-12A119C56059}"/>
              </a:ext>
            </a:extLst>
          </p:cNvPr>
          <p:cNvSpPr>
            <a:spLocks noGrp="1"/>
          </p:cNvSpPr>
          <p:nvPr/>
        </p:nvSpPr>
        <p:spPr>
          <a:xfrm>
            <a:off x="4476750" y="45529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33" name="Rectangle 32">
            <a:extLst>
              <a:ext uri="{FF2B5EF4-FFF2-40B4-BE49-F238E27FC236}">
                <a16:creationId xmlns:a16="http://schemas.microsoft.com/office/drawing/2014/main" id="{D8C85EC5-EDA4-48CD-B2AE-51E94B82AC14}"/>
              </a:ext>
            </a:extLst>
          </p:cNvPr>
          <p:cNvSpPr>
            <a:spLocks noGrp="1"/>
          </p:cNvSpPr>
          <p:nvPr/>
        </p:nvSpPr>
        <p:spPr>
          <a:xfrm>
            <a:off x="4476750" y="4552950"/>
            <a:ext cx="66675" cy="990600"/>
          </a:xfrm>
          <a:prstGeom prst="rect">
            <a:avLst/>
          </a:prstGeom>
          <a:solidFill>
            <a:srgbClr val="64A0C8"/>
          </a:solidFill>
          <a:ln w="0">
            <a:noFill/>
            <a:prstDash val="solid"/>
          </a:ln>
        </p:spPr>
        <p:txBody>
          <a:bodyPr/>
          <a:lstStyle/>
          <a:p>
            <a:endParaRPr lang="de-DE"/>
          </a:p>
        </p:txBody>
      </p:sp>
      <p:sp>
        <p:nvSpPr>
          <p:cNvPr id="34" name="Rectangle 33">
            <a:extLst>
              <a:ext uri="{FF2B5EF4-FFF2-40B4-BE49-F238E27FC236}">
                <a16:creationId xmlns:a16="http://schemas.microsoft.com/office/drawing/2014/main" id="{D6B6CA33-56D2-4FF1-BF0D-63F5E5F1A045}"/>
              </a:ext>
            </a:extLst>
          </p:cNvPr>
          <p:cNvSpPr>
            <a:spLocks noGrp="1"/>
          </p:cNvSpPr>
          <p:nvPr/>
        </p:nvSpPr>
        <p:spPr>
          <a:xfrm>
            <a:off x="4714875" y="47815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VS Code</a:t>
            </a:r>
          </a:p>
        </p:txBody>
      </p:sp>
      <p:sp>
        <p:nvSpPr>
          <p:cNvPr id="35" name="Rectangle 34">
            <a:extLst>
              <a:ext uri="{FF2B5EF4-FFF2-40B4-BE49-F238E27FC236}">
                <a16:creationId xmlns:a16="http://schemas.microsoft.com/office/drawing/2014/main" id="{28C8D4A9-77ED-4062-9FF7-C75C82B3F9E8}"/>
              </a:ext>
            </a:extLst>
          </p:cNvPr>
          <p:cNvSpPr>
            <a:spLocks noGrp="1"/>
          </p:cNvSpPr>
          <p:nvPr/>
        </p:nvSpPr>
        <p:spPr>
          <a:xfrm>
            <a:off x="4714875" y="52768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Workspace editing</a:t>
            </a:r>
          </a:p>
        </p:txBody>
      </p:sp>
      <p:sp>
        <p:nvSpPr>
          <p:cNvPr id="36" name="Rectangle: Rounded Corners 35">
            <a:extLst>
              <a:ext uri="{FF2B5EF4-FFF2-40B4-BE49-F238E27FC236}">
                <a16:creationId xmlns:a16="http://schemas.microsoft.com/office/drawing/2014/main" id="{F6E1489A-58A4-4322-BDB3-884072AF808E}"/>
              </a:ext>
            </a:extLst>
          </p:cNvPr>
          <p:cNvSpPr>
            <a:spLocks noGrp="1"/>
          </p:cNvSpPr>
          <p:nvPr/>
        </p:nvSpPr>
        <p:spPr>
          <a:xfrm>
            <a:off x="8286750" y="4552950"/>
            <a:ext cx="3143250" cy="990600"/>
          </a:xfrm>
          <a:prstGeom prst="roundRect">
            <a:avLst>
              <a:gd name="adj" fmla="val 11538"/>
            </a:avLst>
          </a:prstGeom>
          <a:solidFill>
            <a:srgbClr val="FFFFFF"/>
          </a:solidFill>
          <a:ln w="11430">
            <a:solidFill>
              <a:srgbClr val="DDE3E8"/>
            </a:solidFill>
            <a:prstDash val="solid"/>
          </a:ln>
        </p:spPr>
        <p:txBody>
          <a:bodyPr/>
          <a:lstStyle/>
          <a:p>
            <a:endParaRPr lang="de-DE"/>
          </a:p>
        </p:txBody>
      </p:sp>
      <p:sp>
        <p:nvSpPr>
          <p:cNvPr id="37" name="Rectangle 36">
            <a:extLst>
              <a:ext uri="{FF2B5EF4-FFF2-40B4-BE49-F238E27FC236}">
                <a16:creationId xmlns:a16="http://schemas.microsoft.com/office/drawing/2014/main" id="{9F8D5898-93FD-4B7E-BB79-407862D9DFBE}"/>
              </a:ext>
            </a:extLst>
          </p:cNvPr>
          <p:cNvSpPr>
            <a:spLocks noGrp="1"/>
          </p:cNvSpPr>
          <p:nvPr/>
        </p:nvSpPr>
        <p:spPr>
          <a:xfrm>
            <a:off x="8286750" y="4552950"/>
            <a:ext cx="66675" cy="990600"/>
          </a:xfrm>
          <a:prstGeom prst="rect">
            <a:avLst/>
          </a:prstGeom>
          <a:solidFill>
            <a:srgbClr val="0065BD"/>
          </a:solidFill>
          <a:ln w="0">
            <a:noFill/>
            <a:prstDash val="solid"/>
          </a:ln>
        </p:spPr>
        <p:txBody>
          <a:bodyPr/>
          <a:lstStyle/>
          <a:p>
            <a:endParaRPr lang="de-DE"/>
          </a:p>
        </p:txBody>
      </p:sp>
      <p:sp>
        <p:nvSpPr>
          <p:cNvPr id="38" name="Rectangle 37">
            <a:extLst>
              <a:ext uri="{FF2B5EF4-FFF2-40B4-BE49-F238E27FC236}">
                <a16:creationId xmlns:a16="http://schemas.microsoft.com/office/drawing/2014/main" id="{21B505E9-5EB9-40E2-988B-2E0EE329C49D}"/>
              </a:ext>
            </a:extLst>
          </p:cNvPr>
          <p:cNvSpPr>
            <a:spLocks noGrp="1"/>
          </p:cNvSpPr>
          <p:nvPr/>
        </p:nvSpPr>
        <p:spPr>
          <a:xfrm>
            <a:off x="8524875" y="4781550"/>
            <a:ext cx="26860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Conversion service</a:t>
            </a:r>
          </a:p>
        </p:txBody>
      </p:sp>
      <p:sp>
        <p:nvSpPr>
          <p:cNvPr id="39" name="Rectangle 38">
            <a:extLst>
              <a:ext uri="{FF2B5EF4-FFF2-40B4-BE49-F238E27FC236}">
                <a16:creationId xmlns:a16="http://schemas.microsoft.com/office/drawing/2014/main" id="{BEA8B62D-AEA8-4CAF-A8D4-8E4C7AD27683}"/>
              </a:ext>
            </a:extLst>
          </p:cNvPr>
          <p:cNvSpPr>
            <a:spLocks noGrp="1"/>
          </p:cNvSpPr>
          <p:nvPr/>
        </p:nvSpPr>
        <p:spPr>
          <a:xfrm>
            <a:off x="8524875" y="5276850"/>
            <a:ext cx="2686050" cy="1333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Server-side artifacts</a:t>
            </a:r>
          </a:p>
        </p:txBody>
      </p:sp>
    </p:spTree>
    <p:extLst>
      <p:ext uri="{BB962C8B-B14F-4D97-AF65-F5344CB8AC3E}">
        <p14:creationId xmlns:p14="http://schemas.microsoft.com/office/powerpoint/2010/main" val="1064405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ection label">
            <a:extLst>
              <a:ext uri="{FF2B5EF4-FFF2-40B4-BE49-F238E27FC236}">
                <a16:creationId xmlns:a16="http://schemas.microsoft.com/office/drawing/2014/main" id="{ABA8643A-57F5-437E-B08B-E5B953CDD108}"/>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PROBLEM</a:t>
            </a:r>
          </a:p>
        </p:txBody>
      </p:sp>
      <p:sp>
        <p:nvSpPr>
          <p:cNvPr id="2" name="Slide title">
            <a:extLst>
              <a:ext uri="{FF2B5EF4-FFF2-40B4-BE49-F238E27FC236}">
                <a16:creationId xmlns:a16="http://schemas.microsoft.com/office/drawing/2014/main" id="{5995C3D3-93CA-4EBB-9861-DD5C593450FD}"/>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Users fought the editor - and every host felt it</a:t>
            </a:r>
          </a:p>
        </p:txBody>
      </p:sp>
      <p:pic>
        <p:nvPicPr>
          <p:cNvPr id="25" name="Picture 24"/>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D6BFD52E-BD37-413F-AEB7-76BEA706ABF8}"/>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88B8A815-D0FF-424A-8104-87FEB31C004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3</a:t>
            </a:r>
          </a:p>
        </p:txBody>
      </p:sp>
      <p:sp>
        <p:nvSpPr>
          <p:cNvPr id="6" name="Footer">
            <a:extLst>
              <a:ext uri="{FF2B5EF4-FFF2-40B4-BE49-F238E27FC236}">
                <a16:creationId xmlns:a16="http://schemas.microsoft.com/office/drawing/2014/main" id="{23B13914-BFEB-432F-96A3-24BE4AEC1980}"/>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D3DE6482-2C1F-405F-BFD9-B31E0FC6FED2}"/>
              </a:ext>
            </a:extLst>
          </p:cNvPr>
          <p:cNvSpPr>
            <a:spLocks noGrp="1"/>
          </p:cNvSpPr>
          <p:nvPr/>
        </p:nvSpPr>
        <p:spPr>
          <a:xfrm>
            <a:off x="609600" y="1600200"/>
            <a:ext cx="3333750" cy="3028950"/>
          </a:xfrm>
          <a:prstGeom prst="roundRect">
            <a:avLst>
              <a:gd name="adj" fmla="val 3774"/>
            </a:avLst>
          </a:prstGeom>
          <a:solidFill>
            <a:srgbClr val="EAF4FB"/>
          </a:solidFill>
          <a:ln w="11430">
            <a:solidFill>
              <a:srgbClr val="DDE3E8"/>
            </a:solidFill>
            <a:prstDash val="solid"/>
          </a:ln>
        </p:spPr>
        <p:txBody>
          <a:bodyPr/>
          <a:lstStyle/>
          <a:p>
            <a:endParaRPr lang="de-DE"/>
          </a:p>
        </p:txBody>
      </p:sp>
      <p:sp>
        <p:nvSpPr>
          <p:cNvPr id="8" name="Rectangle 7">
            <a:extLst>
              <a:ext uri="{FF2B5EF4-FFF2-40B4-BE49-F238E27FC236}">
                <a16:creationId xmlns:a16="http://schemas.microsoft.com/office/drawing/2014/main" id="{726A06DD-5BE1-4850-B748-FB2DF0E1BB46}"/>
              </a:ext>
            </a:extLst>
          </p:cNvPr>
          <p:cNvSpPr>
            <a:spLocks noGrp="1"/>
          </p:cNvSpPr>
          <p:nvPr/>
        </p:nvSpPr>
        <p:spPr>
          <a:xfrm>
            <a:off x="609600" y="1600200"/>
            <a:ext cx="66675" cy="3028950"/>
          </a:xfrm>
          <a:prstGeom prst="rect">
            <a:avLst/>
          </a:prstGeom>
          <a:solidFill>
            <a:srgbClr val="0065BD"/>
          </a:solidFill>
          <a:ln w="0">
            <a:noFill/>
            <a:prstDash val="solid"/>
          </a:ln>
        </p:spPr>
        <p:txBody>
          <a:bodyPr/>
          <a:lstStyle/>
          <a:p>
            <a:endParaRPr lang="de-DE"/>
          </a:p>
        </p:txBody>
      </p:sp>
      <p:sp>
        <p:nvSpPr>
          <p:cNvPr id="9" name="Rectangle 8">
            <a:extLst>
              <a:ext uri="{FF2B5EF4-FFF2-40B4-BE49-F238E27FC236}">
                <a16:creationId xmlns:a16="http://schemas.microsoft.com/office/drawing/2014/main" id="{EDBBEBAE-BC77-48BA-AF22-45F0E37BF843}"/>
              </a:ext>
            </a:extLst>
          </p:cNvPr>
          <p:cNvSpPr>
            <a:spLocks noGrp="1"/>
          </p:cNvSpPr>
          <p:nvPr/>
        </p:nvSpPr>
        <p:spPr>
          <a:xfrm>
            <a:off x="847725" y="1790700"/>
            <a:ext cx="2895600" cy="171450"/>
          </a:xfrm>
          <a:prstGeom prst="rect">
            <a:avLst/>
          </a:prstGeom>
          <a:noFill/>
          <a:ln w="0">
            <a:noFill/>
            <a:prstDash val="solid"/>
          </a:ln>
        </p:spPr>
        <p:txBody>
          <a:bodyPr lIns="0" tIns="0" rIns="0" bIns="0" anchor="t"/>
          <a:lstStyle/>
          <a:p>
            <a:pPr algn="l">
              <a:defRPr sz="825" b="1">
                <a:solidFill>
                  <a:srgbClr val="0065BD"/>
                </a:solidFill>
                <a:latin typeface="Arial"/>
                <a:ea typeface="Arial"/>
                <a:cs typeface="Arial"/>
              </a:defRPr>
            </a:pPr>
            <a:r>
              <a:rPr sz="825" b="1">
                <a:solidFill>
                  <a:srgbClr val="0065BD"/>
                </a:solidFill>
                <a:latin typeface="Arial"/>
                <a:ea typeface="Arial"/>
                <a:cs typeface="Arial"/>
              </a:rPr>
              <a:t>ON THE CANVAS</a:t>
            </a:r>
          </a:p>
        </p:txBody>
      </p:sp>
      <p:sp>
        <p:nvSpPr>
          <p:cNvPr id="10" name="Rectangle 9">
            <a:extLst>
              <a:ext uri="{FF2B5EF4-FFF2-40B4-BE49-F238E27FC236}">
                <a16:creationId xmlns:a16="http://schemas.microsoft.com/office/drawing/2014/main" id="{5B6202D7-8999-407B-8B5A-F98EA431C481}"/>
              </a:ext>
            </a:extLst>
          </p:cNvPr>
          <p:cNvSpPr>
            <a:spLocks noGrp="1"/>
          </p:cNvSpPr>
          <p:nvPr/>
        </p:nvSpPr>
        <p:spPr>
          <a:xfrm>
            <a:off x="847725" y="20764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Editing interrupted modeling</a:t>
            </a:r>
          </a:p>
        </p:txBody>
      </p:sp>
      <p:sp>
        <p:nvSpPr>
          <p:cNvPr id="11" name="Rectangle 10">
            <a:extLst>
              <a:ext uri="{FF2B5EF4-FFF2-40B4-BE49-F238E27FC236}">
                <a16:creationId xmlns:a16="http://schemas.microsoft.com/office/drawing/2014/main" id="{9B0E0136-4C85-44B2-9B41-E51859F33F5F}"/>
              </a:ext>
            </a:extLst>
          </p:cNvPr>
          <p:cNvSpPr>
            <a:spLocks noGrp="1"/>
          </p:cNvSpPr>
          <p:nvPr/>
        </p:nvSpPr>
        <p:spPr>
          <a:xfrm>
            <a:off x="847725" y="2800350"/>
            <a:ext cx="2876550" cy="169545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Correcting edge paths, arranging elements, and navigating larger diagrams demanded repeated manual work.</a:t>
            </a:r>
          </a:p>
        </p:txBody>
      </p:sp>
      <p:sp>
        <p:nvSpPr>
          <p:cNvPr id="12" name="Rectangle: Rounded Corners 11">
            <a:extLst>
              <a:ext uri="{FF2B5EF4-FFF2-40B4-BE49-F238E27FC236}">
                <a16:creationId xmlns:a16="http://schemas.microsoft.com/office/drawing/2014/main" id="{B93D64EA-1ABB-49C6-B236-41CC835F7FFB}"/>
              </a:ext>
            </a:extLst>
          </p:cNvPr>
          <p:cNvSpPr>
            <a:spLocks noGrp="1"/>
          </p:cNvSpPr>
          <p:nvPr/>
        </p:nvSpPr>
        <p:spPr>
          <a:xfrm>
            <a:off x="4429125" y="1600200"/>
            <a:ext cx="3333750" cy="3028950"/>
          </a:xfrm>
          <a:prstGeom prst="roundRect">
            <a:avLst>
              <a:gd name="adj" fmla="val 3774"/>
            </a:avLst>
          </a:prstGeom>
          <a:solidFill>
            <a:srgbClr val="FFF1E7"/>
          </a:solidFill>
          <a:ln w="11430">
            <a:solidFill>
              <a:srgbClr val="DDE3E8"/>
            </a:solidFill>
            <a:prstDash val="solid"/>
          </a:ln>
        </p:spPr>
        <p:txBody>
          <a:bodyPr/>
          <a:lstStyle/>
          <a:p>
            <a:endParaRPr lang="de-DE"/>
          </a:p>
        </p:txBody>
      </p:sp>
      <p:sp>
        <p:nvSpPr>
          <p:cNvPr id="13" name="Rectangle 12">
            <a:extLst>
              <a:ext uri="{FF2B5EF4-FFF2-40B4-BE49-F238E27FC236}">
                <a16:creationId xmlns:a16="http://schemas.microsoft.com/office/drawing/2014/main" id="{26FC6546-D4AC-4866-B69B-3274ED26AE21}"/>
              </a:ext>
            </a:extLst>
          </p:cNvPr>
          <p:cNvSpPr>
            <a:spLocks noGrp="1"/>
          </p:cNvSpPr>
          <p:nvPr/>
        </p:nvSpPr>
        <p:spPr>
          <a:xfrm>
            <a:off x="4429125" y="1600200"/>
            <a:ext cx="66675" cy="3028950"/>
          </a:xfrm>
          <a:prstGeom prst="rect">
            <a:avLst/>
          </a:prstGeom>
          <a:solidFill>
            <a:srgbClr val="E37222"/>
          </a:solidFill>
          <a:ln w="0">
            <a:noFill/>
            <a:prstDash val="solid"/>
          </a:ln>
        </p:spPr>
        <p:txBody>
          <a:bodyPr/>
          <a:lstStyle/>
          <a:p>
            <a:endParaRPr lang="de-DE"/>
          </a:p>
        </p:txBody>
      </p:sp>
      <p:sp>
        <p:nvSpPr>
          <p:cNvPr id="14" name="Rectangle 13">
            <a:extLst>
              <a:ext uri="{FF2B5EF4-FFF2-40B4-BE49-F238E27FC236}">
                <a16:creationId xmlns:a16="http://schemas.microsoft.com/office/drawing/2014/main" id="{6EAA6C5F-7DB4-45DF-831E-A8AEEFFF5943}"/>
              </a:ext>
            </a:extLst>
          </p:cNvPr>
          <p:cNvSpPr>
            <a:spLocks noGrp="1"/>
          </p:cNvSpPr>
          <p:nvPr/>
        </p:nvSpPr>
        <p:spPr>
          <a:xfrm>
            <a:off x="4667250" y="1790700"/>
            <a:ext cx="2895600" cy="171450"/>
          </a:xfrm>
          <a:prstGeom prst="rect">
            <a:avLst/>
          </a:prstGeom>
          <a:noFill/>
          <a:ln w="0">
            <a:noFill/>
            <a:prstDash val="solid"/>
          </a:ln>
        </p:spPr>
        <p:txBody>
          <a:bodyPr lIns="0" tIns="0" rIns="0" bIns="0" anchor="t"/>
          <a:lstStyle/>
          <a:p>
            <a:pPr algn="l">
              <a:defRPr sz="825" b="1">
                <a:solidFill>
                  <a:srgbClr val="E37222"/>
                </a:solidFill>
                <a:latin typeface="Arial"/>
                <a:ea typeface="Arial"/>
                <a:cs typeface="Arial"/>
              </a:defRPr>
            </a:pPr>
            <a:r>
              <a:rPr sz="825" b="1">
                <a:solidFill>
                  <a:srgbClr val="E37222"/>
                </a:solidFill>
                <a:latin typeface="Arial"/>
                <a:ea typeface="Arial"/>
                <a:cs typeface="Arial"/>
              </a:rPr>
              <a:t>IN A SHARED SESSION</a:t>
            </a:r>
          </a:p>
        </p:txBody>
      </p:sp>
      <p:sp>
        <p:nvSpPr>
          <p:cNvPr id="15" name="Rectangle 14">
            <a:extLst>
              <a:ext uri="{FF2B5EF4-FFF2-40B4-BE49-F238E27FC236}">
                <a16:creationId xmlns:a16="http://schemas.microsoft.com/office/drawing/2014/main" id="{D814622A-1620-4233-AF20-A98744C8CBE5}"/>
              </a:ext>
            </a:extLst>
          </p:cNvPr>
          <p:cNvSpPr>
            <a:spLocks noGrp="1"/>
          </p:cNvSpPr>
          <p:nvPr/>
        </p:nvSpPr>
        <p:spPr>
          <a:xfrm>
            <a:off x="4667250" y="20764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Collaboration was hard to read</a:t>
            </a:r>
          </a:p>
        </p:txBody>
      </p:sp>
      <p:sp>
        <p:nvSpPr>
          <p:cNvPr id="16" name="Rectangle 15">
            <a:extLst>
              <a:ext uri="{FF2B5EF4-FFF2-40B4-BE49-F238E27FC236}">
                <a16:creationId xmlns:a16="http://schemas.microsoft.com/office/drawing/2014/main" id="{3FB6E1EB-3649-4933-B580-06A9BF1ABDC5}"/>
              </a:ext>
            </a:extLst>
          </p:cNvPr>
          <p:cNvSpPr>
            <a:spLocks noGrp="1"/>
          </p:cNvSpPr>
          <p:nvPr/>
        </p:nvSpPr>
        <p:spPr>
          <a:xfrm>
            <a:off x="4667250" y="2800350"/>
            <a:ext cx="2876550" cy="169545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Shared state showed the result, but not who was active, what they selected, or where they were working.</a:t>
            </a:r>
          </a:p>
        </p:txBody>
      </p:sp>
      <p:sp>
        <p:nvSpPr>
          <p:cNvPr id="17" name="Rectangle: Rounded Corners 16">
            <a:extLst>
              <a:ext uri="{FF2B5EF4-FFF2-40B4-BE49-F238E27FC236}">
                <a16:creationId xmlns:a16="http://schemas.microsoft.com/office/drawing/2014/main" id="{B74ED631-6B46-44E8-9E55-0F7EDF589682}"/>
              </a:ext>
            </a:extLst>
          </p:cNvPr>
          <p:cNvSpPr>
            <a:spLocks noGrp="1"/>
          </p:cNvSpPr>
          <p:nvPr/>
        </p:nvSpPr>
        <p:spPr>
          <a:xfrm>
            <a:off x="8248650" y="1600200"/>
            <a:ext cx="3333750" cy="3028950"/>
          </a:xfrm>
          <a:prstGeom prst="roundRect">
            <a:avLst>
              <a:gd name="adj" fmla="val 3774"/>
            </a:avLst>
          </a:prstGeom>
          <a:solidFill>
            <a:srgbClr val="F1F5DA"/>
          </a:solidFill>
          <a:ln w="11430">
            <a:solidFill>
              <a:srgbClr val="DDE3E8"/>
            </a:solidFill>
            <a:prstDash val="solid"/>
          </a:ln>
        </p:spPr>
        <p:txBody>
          <a:bodyPr/>
          <a:lstStyle/>
          <a:p>
            <a:endParaRPr lang="de-DE"/>
          </a:p>
        </p:txBody>
      </p:sp>
      <p:sp>
        <p:nvSpPr>
          <p:cNvPr id="18" name="Rectangle 17">
            <a:extLst>
              <a:ext uri="{FF2B5EF4-FFF2-40B4-BE49-F238E27FC236}">
                <a16:creationId xmlns:a16="http://schemas.microsoft.com/office/drawing/2014/main" id="{2C9144B3-8735-4916-AC82-D58C63B58EA9}"/>
              </a:ext>
            </a:extLst>
          </p:cNvPr>
          <p:cNvSpPr>
            <a:spLocks noGrp="1"/>
          </p:cNvSpPr>
          <p:nvPr/>
        </p:nvSpPr>
        <p:spPr>
          <a:xfrm>
            <a:off x="8248650" y="1600200"/>
            <a:ext cx="66675" cy="3028950"/>
          </a:xfrm>
          <a:prstGeom prst="rect">
            <a:avLst/>
          </a:prstGeom>
          <a:solidFill>
            <a:srgbClr val="A2AD00"/>
          </a:solidFill>
          <a:ln w="0">
            <a:noFill/>
            <a:prstDash val="solid"/>
          </a:ln>
        </p:spPr>
        <p:txBody>
          <a:bodyPr/>
          <a:lstStyle/>
          <a:p>
            <a:endParaRPr lang="de-DE"/>
          </a:p>
        </p:txBody>
      </p:sp>
      <p:sp>
        <p:nvSpPr>
          <p:cNvPr id="19" name="Rectangle 18">
            <a:extLst>
              <a:ext uri="{FF2B5EF4-FFF2-40B4-BE49-F238E27FC236}">
                <a16:creationId xmlns:a16="http://schemas.microsoft.com/office/drawing/2014/main" id="{E53D36C6-874E-4474-A8FF-6D69182F2D59}"/>
              </a:ext>
            </a:extLst>
          </p:cNvPr>
          <p:cNvSpPr>
            <a:spLocks noGrp="1"/>
          </p:cNvSpPr>
          <p:nvPr/>
        </p:nvSpPr>
        <p:spPr>
          <a:xfrm>
            <a:off x="8486775" y="1790700"/>
            <a:ext cx="2895600" cy="171450"/>
          </a:xfrm>
          <a:prstGeom prst="rect">
            <a:avLst/>
          </a:prstGeom>
          <a:noFill/>
          <a:ln w="0">
            <a:noFill/>
            <a:prstDash val="solid"/>
          </a:ln>
        </p:spPr>
        <p:txBody>
          <a:bodyPr lIns="0" tIns="0" rIns="0" bIns="0" anchor="t"/>
          <a:lstStyle/>
          <a:p>
            <a:pPr algn="l">
              <a:defRPr sz="825" b="1">
                <a:solidFill>
                  <a:srgbClr val="A2AD00"/>
                </a:solidFill>
                <a:latin typeface="Arial"/>
                <a:ea typeface="Arial"/>
                <a:cs typeface="Arial"/>
              </a:defRPr>
            </a:pPr>
            <a:r>
              <a:rPr sz="825" b="1">
                <a:solidFill>
                  <a:srgbClr val="A2AD00"/>
                </a:solidFill>
                <a:latin typeface="Arial"/>
                <a:ea typeface="Arial"/>
                <a:cs typeface="Arial"/>
              </a:rPr>
              <a:t>ACROSS THE ECOSYSTEM</a:t>
            </a:r>
          </a:p>
        </p:txBody>
      </p:sp>
      <p:sp>
        <p:nvSpPr>
          <p:cNvPr id="20" name="Rectangle 19">
            <a:extLst>
              <a:ext uri="{FF2B5EF4-FFF2-40B4-BE49-F238E27FC236}">
                <a16:creationId xmlns:a16="http://schemas.microsoft.com/office/drawing/2014/main" id="{EF7DEE9C-FB08-472C-B23D-9F2E66B0AACF}"/>
              </a:ext>
            </a:extLst>
          </p:cNvPr>
          <p:cNvSpPr>
            <a:spLocks noGrp="1"/>
          </p:cNvSpPr>
          <p:nvPr/>
        </p:nvSpPr>
        <p:spPr>
          <a:xfrm>
            <a:off x="8486775" y="20764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Integrations had drifted apart</a:t>
            </a:r>
          </a:p>
        </p:txBody>
      </p:sp>
      <p:sp>
        <p:nvSpPr>
          <p:cNvPr id="21" name="Rectangle 20">
            <a:extLst>
              <a:ext uri="{FF2B5EF4-FFF2-40B4-BE49-F238E27FC236}">
                <a16:creationId xmlns:a16="http://schemas.microsoft.com/office/drawing/2014/main" id="{CF8C381F-96C5-4730-9511-FDE48D47ACDD}"/>
              </a:ext>
            </a:extLst>
          </p:cNvPr>
          <p:cNvSpPr>
            <a:spLocks noGrp="1"/>
          </p:cNvSpPr>
          <p:nvPr/>
        </p:nvSpPr>
        <p:spPr>
          <a:xfrm>
            <a:off x="8486775" y="2800350"/>
            <a:ext cx="2876550" cy="169545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Legacy and maintained editor behavior had to coexist across Artemis, Athena, mobile, VS Code, and exports.</a:t>
            </a:r>
          </a:p>
        </p:txBody>
      </p:sp>
      <p:sp>
        <p:nvSpPr>
          <p:cNvPr id="22" name="Rectangle 21">
            <a:extLst>
              <a:ext uri="{FF2B5EF4-FFF2-40B4-BE49-F238E27FC236}">
                <a16:creationId xmlns:a16="http://schemas.microsoft.com/office/drawing/2014/main" id="{22A815EE-CE4A-45B1-B838-8E3870CA1384}"/>
              </a:ext>
            </a:extLst>
          </p:cNvPr>
          <p:cNvSpPr>
            <a:spLocks noGrp="1"/>
          </p:cNvSpPr>
          <p:nvPr/>
        </p:nvSpPr>
        <p:spPr>
          <a:xfrm>
            <a:off x="1009650" y="5219700"/>
            <a:ext cx="10172700" cy="514350"/>
          </a:xfrm>
          <a:prstGeom prst="rect">
            <a:avLst/>
          </a:prstGeom>
          <a:noFill/>
          <a:ln w="0">
            <a:noFill/>
            <a:prstDash val="solid"/>
          </a:ln>
        </p:spPr>
        <p:txBody>
          <a:bodyPr lIns="0" tIns="0" rIns="0" bIns="0" anchor="t"/>
          <a:lstStyle/>
          <a:p>
            <a:pPr algn="ctr">
              <a:defRPr sz="1950" b="1">
                <a:solidFill>
                  <a:srgbClr val="003359"/>
                </a:solidFill>
                <a:latin typeface="Arial"/>
                <a:ea typeface="Arial"/>
                <a:cs typeface="Arial"/>
              </a:defRPr>
            </a:pPr>
            <a:r>
              <a:rPr sz="1950" b="1" dirty="0">
                <a:solidFill>
                  <a:srgbClr val="003359"/>
                </a:solidFill>
                <a:latin typeface="Arial"/>
                <a:ea typeface="Arial"/>
                <a:cs typeface="Arial"/>
              </a:rPr>
              <a:t>A small editor change could become a migration problem in quizzes, assessment, feedback, or export.</a:t>
            </a:r>
          </a:p>
        </p:txBody>
      </p:sp>
    </p:spTree>
    <p:extLst>
      <p:ext uri="{BB962C8B-B14F-4D97-AF65-F5344CB8AC3E}">
        <p14:creationId xmlns:p14="http://schemas.microsoft.com/office/powerpoint/2010/main" val="23340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ction label">
            <a:extLst>
              <a:ext uri="{FF2B5EF4-FFF2-40B4-BE49-F238E27FC236}">
                <a16:creationId xmlns:a16="http://schemas.microsoft.com/office/drawing/2014/main" id="{142224BF-1D42-4C3E-8A2F-4641D6280FCF}"/>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MOTIVATION</a:t>
            </a:r>
          </a:p>
        </p:txBody>
      </p:sp>
      <p:sp>
        <p:nvSpPr>
          <p:cNvPr id="2" name="Slide title">
            <a:extLst>
              <a:ext uri="{FF2B5EF4-FFF2-40B4-BE49-F238E27FC236}">
                <a16:creationId xmlns:a16="http://schemas.microsoft.com/office/drawing/2014/main" id="{D7485358-1F4C-4A0D-9F5A-86CA67AF9E7E}"/>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 shared foundation removes friction once, everywhere</a:t>
            </a:r>
          </a:p>
        </p:txBody>
      </p:sp>
      <p:pic>
        <p:nvPicPr>
          <p:cNvPr id="24" name="Picture 23"/>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A7ABB074-AE88-4157-AFD1-B56822E65839}"/>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BAB5A183-70E9-456E-B12A-39842D51197C}"/>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4</a:t>
            </a:r>
          </a:p>
        </p:txBody>
      </p:sp>
      <p:sp>
        <p:nvSpPr>
          <p:cNvPr id="6" name="Footer">
            <a:extLst>
              <a:ext uri="{FF2B5EF4-FFF2-40B4-BE49-F238E27FC236}">
                <a16:creationId xmlns:a16="http://schemas.microsoft.com/office/drawing/2014/main" id="{45CF9534-1945-41C3-899A-D6B0EDAB2CAA}"/>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6">
            <a:extLst>
              <a:ext uri="{FF2B5EF4-FFF2-40B4-BE49-F238E27FC236}">
                <a16:creationId xmlns:a16="http://schemas.microsoft.com/office/drawing/2014/main" id="{97A7FB4D-405E-4E92-9077-DFA5A125A85C}"/>
              </a:ext>
            </a:extLst>
          </p:cNvPr>
          <p:cNvSpPr>
            <a:spLocks noGrp="1"/>
          </p:cNvSpPr>
          <p:nvPr/>
        </p:nvSpPr>
        <p:spPr>
          <a:xfrm>
            <a:off x="800100" y="1562100"/>
            <a:ext cx="4000500" cy="438150"/>
          </a:xfrm>
          <a:prstGeom prst="rect">
            <a:avLst/>
          </a:prstGeom>
          <a:noFill/>
          <a:ln w="0">
            <a:noFill/>
            <a:prstDash val="solid"/>
          </a:ln>
        </p:spPr>
        <p:txBody>
          <a:bodyPr lIns="0" tIns="0" rIns="0" bIns="0" anchor="t"/>
          <a:lstStyle/>
          <a:p>
            <a:pPr algn="l">
              <a:defRPr sz="2250" b="1">
                <a:solidFill>
                  <a:srgbClr val="003359"/>
                </a:solidFill>
                <a:latin typeface="Arial"/>
                <a:ea typeface="Arial"/>
                <a:cs typeface="Arial"/>
              </a:defRPr>
            </a:pPr>
            <a:r>
              <a:rPr sz="2250" b="1">
                <a:solidFill>
                  <a:srgbClr val="003359"/>
                </a:solidFill>
                <a:latin typeface="Arial"/>
                <a:ea typeface="Arial"/>
                <a:cs typeface="Arial"/>
              </a:rPr>
              <a:t>Improve the reusable editor</a:t>
            </a:r>
          </a:p>
        </p:txBody>
      </p:sp>
      <p:sp>
        <p:nvSpPr>
          <p:cNvPr id="8" name="Rectangle 7">
            <a:extLst>
              <a:ext uri="{FF2B5EF4-FFF2-40B4-BE49-F238E27FC236}">
                <a16:creationId xmlns:a16="http://schemas.microsoft.com/office/drawing/2014/main" id="{47E41DC2-F516-406B-9A85-50A1CD54F686}"/>
              </a:ext>
            </a:extLst>
          </p:cNvPr>
          <p:cNvSpPr>
            <a:spLocks noGrp="1"/>
          </p:cNvSpPr>
          <p:nvPr/>
        </p:nvSpPr>
        <p:spPr>
          <a:xfrm>
            <a:off x="800100" y="2133600"/>
            <a:ext cx="3905250" cy="819150"/>
          </a:xfrm>
          <a:prstGeom prst="rect">
            <a:avLst/>
          </a:prstGeom>
          <a:noFill/>
          <a:ln w="0">
            <a:noFill/>
            <a:prstDash val="solid"/>
          </a:ln>
        </p:spPr>
        <p:txBody>
          <a:bodyPr lIns="0" tIns="0" rIns="0" bIns="0" anchor="t"/>
          <a:lstStyle/>
          <a:p>
            <a:pPr algn="l">
              <a:defRPr sz="1500" b="0">
                <a:solidFill>
                  <a:srgbClr val="56616B"/>
                </a:solidFill>
                <a:latin typeface="Arial"/>
                <a:ea typeface="Arial"/>
                <a:cs typeface="Arial"/>
              </a:defRPr>
            </a:pPr>
            <a:r>
              <a:rPr sz="1500" b="0">
                <a:solidFill>
                  <a:srgbClr val="56616B"/>
                </a:solidFill>
                <a:latin typeface="Arial"/>
                <a:ea typeface="Arial"/>
                <a:cs typeface="Arial"/>
              </a:rPr>
              <a:t>One interaction or rendering improvement lives in the Apollon library.</a:t>
            </a:r>
          </a:p>
        </p:txBody>
      </p:sp>
      <p:sp>
        <p:nvSpPr>
          <p:cNvPr id="9" name="Rectangle 8">
            <a:extLst>
              <a:ext uri="{FF2B5EF4-FFF2-40B4-BE49-F238E27FC236}">
                <a16:creationId xmlns:a16="http://schemas.microsoft.com/office/drawing/2014/main" id="{1339C4B7-5FF2-4838-BC68-CF728B5F62AB}"/>
              </a:ext>
            </a:extLst>
          </p:cNvPr>
          <p:cNvSpPr>
            <a:spLocks noGrp="1"/>
          </p:cNvSpPr>
          <p:nvPr/>
        </p:nvSpPr>
        <p:spPr>
          <a:xfrm>
            <a:off x="5048250" y="2286000"/>
            <a:ext cx="857250" cy="704850"/>
          </a:xfrm>
          <a:prstGeom prst="rect">
            <a:avLst/>
          </a:prstGeom>
          <a:noFill/>
          <a:ln w="0">
            <a:noFill/>
            <a:prstDash val="solid"/>
          </a:ln>
        </p:spPr>
        <p:txBody>
          <a:bodyPr lIns="0" tIns="0" rIns="0" bIns="0" anchor="ctr"/>
          <a:lstStyle/>
          <a:p>
            <a:pPr algn="ctr">
              <a:defRPr sz="4050" b="1">
                <a:solidFill>
                  <a:srgbClr val="98C6EA"/>
                </a:solidFill>
                <a:latin typeface="Arial"/>
                <a:ea typeface="Arial"/>
                <a:cs typeface="Arial"/>
              </a:defRPr>
            </a:pPr>
            <a:r>
              <a:rPr sz="4050" b="1">
                <a:solidFill>
                  <a:srgbClr val="98C6EA"/>
                </a:solidFill>
                <a:latin typeface="Arial"/>
                <a:ea typeface="Arial"/>
                <a:cs typeface="Arial"/>
              </a:rPr>
              <a:t>→</a:t>
            </a:r>
          </a:p>
        </p:txBody>
      </p:sp>
      <p:sp>
        <p:nvSpPr>
          <p:cNvPr id="10" name="Rectangle 9">
            <a:extLst>
              <a:ext uri="{FF2B5EF4-FFF2-40B4-BE49-F238E27FC236}">
                <a16:creationId xmlns:a16="http://schemas.microsoft.com/office/drawing/2014/main" id="{6376D1A6-50EB-4FA4-9D3C-22F3A2B29283}"/>
              </a:ext>
            </a:extLst>
          </p:cNvPr>
          <p:cNvSpPr>
            <a:spLocks noGrp="1"/>
          </p:cNvSpPr>
          <p:nvPr/>
        </p:nvSpPr>
        <p:spPr>
          <a:xfrm>
            <a:off x="6229350" y="1562100"/>
            <a:ext cx="4476750" cy="438150"/>
          </a:xfrm>
          <a:prstGeom prst="rect">
            <a:avLst/>
          </a:prstGeom>
          <a:noFill/>
          <a:ln w="0">
            <a:noFill/>
            <a:prstDash val="solid"/>
          </a:ln>
        </p:spPr>
        <p:txBody>
          <a:bodyPr lIns="0" tIns="0" rIns="0" bIns="0" anchor="t"/>
          <a:lstStyle/>
          <a:p>
            <a:pPr algn="l">
              <a:defRPr sz="2250" b="1">
                <a:solidFill>
                  <a:srgbClr val="003359"/>
                </a:solidFill>
                <a:latin typeface="Arial"/>
                <a:ea typeface="Arial"/>
                <a:cs typeface="Arial"/>
              </a:defRPr>
            </a:pPr>
            <a:r>
              <a:rPr sz="2250" b="1">
                <a:solidFill>
                  <a:srgbClr val="003359"/>
                </a:solidFill>
                <a:latin typeface="Arial"/>
                <a:ea typeface="Arial"/>
                <a:cs typeface="Arial"/>
              </a:rPr>
              <a:t>Reuse it in every host</a:t>
            </a:r>
          </a:p>
        </p:txBody>
      </p:sp>
      <p:sp>
        <p:nvSpPr>
          <p:cNvPr id="11" name="Rectangle: Rounded Corners 10">
            <a:extLst>
              <a:ext uri="{FF2B5EF4-FFF2-40B4-BE49-F238E27FC236}">
                <a16:creationId xmlns:a16="http://schemas.microsoft.com/office/drawing/2014/main" id="{67EF0177-28D1-4297-A9B8-1FD42BB3A6A8}"/>
              </a:ext>
            </a:extLst>
          </p:cNvPr>
          <p:cNvSpPr>
            <a:spLocks noGrp="1"/>
          </p:cNvSpPr>
          <p:nvPr/>
        </p:nvSpPr>
        <p:spPr>
          <a:xfrm>
            <a:off x="6229350" y="2209800"/>
            <a:ext cx="2095500" cy="742950"/>
          </a:xfrm>
          <a:prstGeom prst="roundRect">
            <a:avLst>
              <a:gd name="adj" fmla="val 15385"/>
            </a:avLst>
          </a:prstGeom>
          <a:solidFill>
            <a:srgbClr val="FFFFFF"/>
          </a:solidFill>
          <a:ln w="11430">
            <a:solidFill>
              <a:srgbClr val="98C6EA"/>
            </a:solidFill>
            <a:prstDash val="solid"/>
          </a:ln>
        </p:spPr>
        <p:txBody>
          <a:bodyPr/>
          <a:lstStyle/>
          <a:p>
            <a:endParaRPr lang="de-DE"/>
          </a:p>
        </p:txBody>
      </p:sp>
      <p:sp>
        <p:nvSpPr>
          <p:cNvPr id="12" name="Rectangle 11">
            <a:extLst>
              <a:ext uri="{FF2B5EF4-FFF2-40B4-BE49-F238E27FC236}">
                <a16:creationId xmlns:a16="http://schemas.microsoft.com/office/drawing/2014/main" id="{625E94C0-D521-4CBC-8417-F80B81293EF5}"/>
              </a:ext>
            </a:extLst>
          </p:cNvPr>
          <p:cNvSpPr>
            <a:spLocks noGrp="1"/>
          </p:cNvSpPr>
          <p:nvPr/>
        </p:nvSpPr>
        <p:spPr>
          <a:xfrm>
            <a:off x="6400800" y="2428875"/>
            <a:ext cx="1752600" cy="285750"/>
          </a:xfrm>
          <a:prstGeom prst="rect">
            <a:avLst/>
          </a:prstGeom>
          <a:noFill/>
          <a:ln w="0">
            <a:noFill/>
            <a:prstDash val="solid"/>
          </a:ln>
        </p:spPr>
        <p:txBody>
          <a:bodyPr lIns="0" tIns="0" rIns="0" bIns="0" anchor="ctr"/>
          <a:lstStyle/>
          <a:p>
            <a:pPr algn="ctr">
              <a:defRPr sz="1575" b="1">
                <a:solidFill>
                  <a:srgbClr val="0065BD"/>
                </a:solidFill>
                <a:latin typeface="Arial"/>
                <a:ea typeface="Arial"/>
                <a:cs typeface="Arial"/>
              </a:defRPr>
            </a:pPr>
            <a:r>
              <a:rPr sz="1575" b="1">
                <a:solidFill>
                  <a:srgbClr val="0065BD"/>
                </a:solidFill>
                <a:latin typeface="Arial"/>
                <a:ea typeface="Arial"/>
                <a:cs typeface="Arial"/>
              </a:rPr>
              <a:t>Standalone</a:t>
            </a:r>
          </a:p>
        </p:txBody>
      </p:sp>
      <p:sp>
        <p:nvSpPr>
          <p:cNvPr id="13" name="Rectangle: Rounded Corners 12">
            <a:extLst>
              <a:ext uri="{FF2B5EF4-FFF2-40B4-BE49-F238E27FC236}">
                <a16:creationId xmlns:a16="http://schemas.microsoft.com/office/drawing/2014/main" id="{FDCEA3B5-0745-4891-8072-1C1C37DBDE3F}"/>
              </a:ext>
            </a:extLst>
          </p:cNvPr>
          <p:cNvSpPr>
            <a:spLocks noGrp="1"/>
          </p:cNvSpPr>
          <p:nvPr/>
        </p:nvSpPr>
        <p:spPr>
          <a:xfrm>
            <a:off x="8591550" y="2209800"/>
            <a:ext cx="2095500" cy="742950"/>
          </a:xfrm>
          <a:prstGeom prst="roundRect">
            <a:avLst>
              <a:gd name="adj" fmla="val 15385"/>
            </a:avLst>
          </a:prstGeom>
          <a:solidFill>
            <a:srgbClr val="FFFFFF"/>
          </a:solidFill>
          <a:ln w="11430">
            <a:solidFill>
              <a:srgbClr val="98C6EA"/>
            </a:solidFill>
            <a:prstDash val="solid"/>
          </a:ln>
        </p:spPr>
        <p:txBody>
          <a:bodyPr/>
          <a:lstStyle/>
          <a:p>
            <a:endParaRPr lang="de-DE"/>
          </a:p>
        </p:txBody>
      </p:sp>
      <p:sp>
        <p:nvSpPr>
          <p:cNvPr id="14" name="Rectangle 13">
            <a:extLst>
              <a:ext uri="{FF2B5EF4-FFF2-40B4-BE49-F238E27FC236}">
                <a16:creationId xmlns:a16="http://schemas.microsoft.com/office/drawing/2014/main" id="{8345F5C9-C256-471C-8D4E-320EF832ED78}"/>
              </a:ext>
            </a:extLst>
          </p:cNvPr>
          <p:cNvSpPr>
            <a:spLocks noGrp="1"/>
          </p:cNvSpPr>
          <p:nvPr/>
        </p:nvSpPr>
        <p:spPr>
          <a:xfrm>
            <a:off x="8763000" y="2428875"/>
            <a:ext cx="1752600" cy="285750"/>
          </a:xfrm>
          <a:prstGeom prst="rect">
            <a:avLst/>
          </a:prstGeom>
          <a:noFill/>
          <a:ln w="0">
            <a:noFill/>
            <a:prstDash val="solid"/>
          </a:ln>
        </p:spPr>
        <p:txBody>
          <a:bodyPr lIns="0" tIns="0" rIns="0" bIns="0" anchor="ctr"/>
          <a:lstStyle/>
          <a:p>
            <a:pPr algn="ctr">
              <a:defRPr sz="1575" b="1">
                <a:solidFill>
                  <a:srgbClr val="0065BD"/>
                </a:solidFill>
                <a:latin typeface="Arial"/>
                <a:ea typeface="Arial"/>
                <a:cs typeface="Arial"/>
              </a:defRPr>
            </a:pPr>
            <a:r>
              <a:rPr sz="1575" b="1">
                <a:solidFill>
                  <a:srgbClr val="0065BD"/>
                </a:solidFill>
                <a:latin typeface="Arial"/>
                <a:ea typeface="Arial"/>
                <a:cs typeface="Arial"/>
              </a:rPr>
              <a:t>iOS</a:t>
            </a:r>
          </a:p>
        </p:txBody>
      </p:sp>
      <p:sp>
        <p:nvSpPr>
          <p:cNvPr id="15" name="Rectangle: Rounded Corners 14">
            <a:extLst>
              <a:ext uri="{FF2B5EF4-FFF2-40B4-BE49-F238E27FC236}">
                <a16:creationId xmlns:a16="http://schemas.microsoft.com/office/drawing/2014/main" id="{E58F0A8D-0A96-412D-B495-805738BBDA84}"/>
              </a:ext>
            </a:extLst>
          </p:cNvPr>
          <p:cNvSpPr>
            <a:spLocks noGrp="1"/>
          </p:cNvSpPr>
          <p:nvPr/>
        </p:nvSpPr>
        <p:spPr>
          <a:xfrm>
            <a:off x="6229350" y="3219450"/>
            <a:ext cx="2095500" cy="742950"/>
          </a:xfrm>
          <a:prstGeom prst="roundRect">
            <a:avLst>
              <a:gd name="adj" fmla="val 15385"/>
            </a:avLst>
          </a:prstGeom>
          <a:solidFill>
            <a:srgbClr val="FFFFFF"/>
          </a:solidFill>
          <a:ln w="11430">
            <a:solidFill>
              <a:srgbClr val="98C6EA"/>
            </a:solidFill>
            <a:prstDash val="solid"/>
          </a:ln>
        </p:spPr>
        <p:txBody>
          <a:bodyPr/>
          <a:lstStyle/>
          <a:p>
            <a:endParaRPr lang="de-DE"/>
          </a:p>
        </p:txBody>
      </p:sp>
      <p:sp>
        <p:nvSpPr>
          <p:cNvPr id="16" name="Rectangle 15">
            <a:extLst>
              <a:ext uri="{FF2B5EF4-FFF2-40B4-BE49-F238E27FC236}">
                <a16:creationId xmlns:a16="http://schemas.microsoft.com/office/drawing/2014/main" id="{9634DA50-1DDF-4CBE-B04B-C5B183F891B1}"/>
              </a:ext>
            </a:extLst>
          </p:cNvPr>
          <p:cNvSpPr>
            <a:spLocks noGrp="1"/>
          </p:cNvSpPr>
          <p:nvPr/>
        </p:nvSpPr>
        <p:spPr>
          <a:xfrm>
            <a:off x="6400800" y="3438525"/>
            <a:ext cx="1752600" cy="285750"/>
          </a:xfrm>
          <a:prstGeom prst="rect">
            <a:avLst/>
          </a:prstGeom>
          <a:noFill/>
          <a:ln w="0">
            <a:noFill/>
            <a:prstDash val="solid"/>
          </a:ln>
        </p:spPr>
        <p:txBody>
          <a:bodyPr lIns="0" tIns="0" rIns="0" bIns="0" anchor="ctr"/>
          <a:lstStyle/>
          <a:p>
            <a:pPr algn="ctr">
              <a:defRPr sz="1575" b="1">
                <a:solidFill>
                  <a:srgbClr val="0065BD"/>
                </a:solidFill>
                <a:latin typeface="Arial"/>
                <a:ea typeface="Arial"/>
                <a:cs typeface="Arial"/>
              </a:defRPr>
            </a:pPr>
            <a:r>
              <a:rPr sz="1575" b="1">
                <a:solidFill>
                  <a:srgbClr val="0065BD"/>
                </a:solidFill>
                <a:latin typeface="Arial"/>
                <a:ea typeface="Arial"/>
                <a:cs typeface="Arial"/>
              </a:rPr>
              <a:t>Artemis</a:t>
            </a:r>
          </a:p>
        </p:txBody>
      </p:sp>
      <p:sp>
        <p:nvSpPr>
          <p:cNvPr id="17" name="Rectangle: Rounded Corners 16">
            <a:extLst>
              <a:ext uri="{FF2B5EF4-FFF2-40B4-BE49-F238E27FC236}">
                <a16:creationId xmlns:a16="http://schemas.microsoft.com/office/drawing/2014/main" id="{5C6068F3-92B0-4FAB-A0F6-95B37B4D70BF}"/>
              </a:ext>
            </a:extLst>
          </p:cNvPr>
          <p:cNvSpPr>
            <a:spLocks noGrp="1"/>
          </p:cNvSpPr>
          <p:nvPr/>
        </p:nvSpPr>
        <p:spPr>
          <a:xfrm>
            <a:off x="8591550" y="3219450"/>
            <a:ext cx="2095500" cy="742950"/>
          </a:xfrm>
          <a:prstGeom prst="roundRect">
            <a:avLst>
              <a:gd name="adj" fmla="val 15385"/>
            </a:avLst>
          </a:prstGeom>
          <a:solidFill>
            <a:srgbClr val="FFFFFF"/>
          </a:solidFill>
          <a:ln w="11430">
            <a:solidFill>
              <a:srgbClr val="98C6EA"/>
            </a:solidFill>
            <a:prstDash val="solid"/>
          </a:ln>
        </p:spPr>
        <p:txBody>
          <a:bodyPr/>
          <a:lstStyle/>
          <a:p>
            <a:endParaRPr lang="de-DE"/>
          </a:p>
        </p:txBody>
      </p:sp>
      <p:sp>
        <p:nvSpPr>
          <p:cNvPr id="18" name="Rectangle 17">
            <a:extLst>
              <a:ext uri="{FF2B5EF4-FFF2-40B4-BE49-F238E27FC236}">
                <a16:creationId xmlns:a16="http://schemas.microsoft.com/office/drawing/2014/main" id="{799715D1-6B0F-4E6A-BFEB-333D70945EF8}"/>
              </a:ext>
            </a:extLst>
          </p:cNvPr>
          <p:cNvSpPr>
            <a:spLocks noGrp="1"/>
          </p:cNvSpPr>
          <p:nvPr/>
        </p:nvSpPr>
        <p:spPr>
          <a:xfrm>
            <a:off x="8763000" y="3438525"/>
            <a:ext cx="1752600" cy="285750"/>
          </a:xfrm>
          <a:prstGeom prst="rect">
            <a:avLst/>
          </a:prstGeom>
          <a:noFill/>
          <a:ln w="0">
            <a:noFill/>
            <a:prstDash val="solid"/>
          </a:ln>
        </p:spPr>
        <p:txBody>
          <a:bodyPr lIns="0" tIns="0" rIns="0" bIns="0" anchor="ctr"/>
          <a:lstStyle/>
          <a:p>
            <a:pPr algn="ctr">
              <a:defRPr sz="1575" b="1">
                <a:solidFill>
                  <a:srgbClr val="0065BD"/>
                </a:solidFill>
                <a:latin typeface="Arial"/>
                <a:ea typeface="Arial"/>
                <a:cs typeface="Arial"/>
              </a:defRPr>
            </a:pPr>
            <a:r>
              <a:rPr sz="1575" b="1">
                <a:solidFill>
                  <a:srgbClr val="0065BD"/>
                </a:solidFill>
                <a:latin typeface="Arial"/>
                <a:ea typeface="Arial"/>
                <a:cs typeface="Arial"/>
              </a:rPr>
              <a:t>VS Code</a:t>
            </a:r>
          </a:p>
        </p:txBody>
      </p:sp>
      <p:sp>
        <p:nvSpPr>
          <p:cNvPr id="19" name="Straight Connector 18">
            <a:extLst>
              <a:ext uri="{FF2B5EF4-FFF2-40B4-BE49-F238E27FC236}">
                <a16:creationId xmlns:a16="http://schemas.microsoft.com/office/drawing/2014/main" id="{18F15A57-7C3F-4D93-BC69-0DEF091B330D}"/>
              </a:ext>
            </a:extLst>
          </p:cNvPr>
          <p:cNvSpPr>
            <a:spLocks noGrp="1"/>
          </p:cNvSpPr>
          <p:nvPr/>
        </p:nvSpPr>
        <p:spPr>
          <a:xfrm>
            <a:off x="800100" y="4305300"/>
            <a:ext cx="9906000" cy="9525"/>
          </a:xfrm>
          <a:prstGeom prst="line">
            <a:avLst/>
          </a:prstGeom>
          <a:noFill/>
          <a:ln w="14288">
            <a:solidFill>
              <a:srgbClr val="DDE3E8"/>
            </a:solidFill>
            <a:prstDash val="solid"/>
          </a:ln>
        </p:spPr>
        <p:txBody>
          <a:bodyPr/>
          <a:lstStyle/>
          <a:p>
            <a:endParaRPr lang="de-DE"/>
          </a:p>
        </p:txBody>
      </p:sp>
      <p:sp>
        <p:nvSpPr>
          <p:cNvPr id="20" name="Rectangle 19">
            <a:extLst>
              <a:ext uri="{FF2B5EF4-FFF2-40B4-BE49-F238E27FC236}">
                <a16:creationId xmlns:a16="http://schemas.microsoft.com/office/drawing/2014/main" id="{9CA58FF1-15C8-4813-B7EE-F84EE8A8816B}"/>
              </a:ext>
            </a:extLst>
          </p:cNvPr>
          <p:cNvSpPr>
            <a:spLocks noGrp="1"/>
          </p:cNvSpPr>
          <p:nvPr/>
        </p:nvSpPr>
        <p:spPr>
          <a:xfrm>
            <a:off x="800100" y="4667250"/>
            <a:ext cx="4762500" cy="36195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Keep host responsibilities separate</a:t>
            </a:r>
          </a:p>
        </p:txBody>
      </p:sp>
      <p:sp>
        <p:nvSpPr>
          <p:cNvPr id="21" name="Rectangle 20">
            <a:extLst>
              <a:ext uri="{FF2B5EF4-FFF2-40B4-BE49-F238E27FC236}">
                <a16:creationId xmlns:a16="http://schemas.microsoft.com/office/drawing/2014/main" id="{8E4E7067-8370-41A3-89D8-89C1878CC0A6}"/>
              </a:ext>
            </a:extLst>
          </p:cNvPr>
          <p:cNvSpPr>
            <a:spLocks noGrp="1"/>
          </p:cNvSpPr>
          <p:nvPr/>
        </p:nvSpPr>
        <p:spPr>
          <a:xfrm>
            <a:off x="800100" y="5162550"/>
            <a:ext cx="9906000" cy="628650"/>
          </a:xfrm>
          <a:prstGeom prst="rect">
            <a:avLst/>
          </a:prstGeom>
          <a:noFill/>
          <a:ln w="0">
            <a:noFill/>
            <a:prstDash val="solid"/>
          </a:ln>
        </p:spPr>
        <p:txBody>
          <a:bodyPr lIns="0" tIns="0" rIns="0" bIns="0" anchor="t"/>
          <a:lstStyle/>
          <a:p>
            <a:pPr algn="l">
              <a:defRPr sz="1500" b="0">
                <a:solidFill>
                  <a:srgbClr val="56616B"/>
                </a:solidFill>
                <a:latin typeface="Arial"/>
                <a:ea typeface="Arial"/>
                <a:cs typeface="Arial"/>
              </a:defRPr>
            </a:pPr>
            <a:r>
              <a:rPr sz="1500" b="0">
                <a:solidFill>
                  <a:srgbClr val="56616B"/>
                </a:solidFill>
                <a:latin typeface="Arial"/>
                <a:ea typeface="Arial"/>
                <a:cs typeface="Arial"/>
              </a:rPr>
              <a:t>Persistence, authentication, courses, assessment, collaboration transport, and deployment stay with their host systems.</a:t>
            </a:r>
          </a:p>
        </p:txBody>
      </p:sp>
    </p:spTree>
    <p:extLst>
      <p:ext uri="{BB962C8B-B14F-4D97-AF65-F5344CB8AC3E}">
        <p14:creationId xmlns:p14="http://schemas.microsoft.com/office/powerpoint/2010/main" val="329115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ection label">
            <a:extLst>
              <a:ext uri="{FF2B5EF4-FFF2-40B4-BE49-F238E27FC236}">
                <a16:creationId xmlns:a16="http://schemas.microsoft.com/office/drawing/2014/main" id="{0826747D-DD8E-4D31-8E25-5A5E9E5C2B4A}"/>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OBJECTIVES</a:t>
            </a:r>
          </a:p>
        </p:txBody>
      </p:sp>
      <p:sp>
        <p:nvSpPr>
          <p:cNvPr id="2" name="Slide title">
            <a:extLst>
              <a:ext uri="{FF2B5EF4-FFF2-40B4-BE49-F238E27FC236}">
                <a16:creationId xmlns:a16="http://schemas.microsoft.com/office/drawing/2014/main" id="{E74F6307-1BD9-4D6E-9062-A350C9435358}"/>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Four objectives guided the thesis</a:t>
            </a:r>
          </a:p>
        </p:txBody>
      </p:sp>
      <p:pic>
        <p:nvPicPr>
          <p:cNvPr id="25" name="Picture 24"/>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C7E23AED-215D-44E3-91A1-6152B06B4B0B}"/>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4F60AC27-0273-4BEF-893D-0BFA3BAB948F}"/>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5</a:t>
            </a:r>
          </a:p>
        </p:txBody>
      </p:sp>
      <p:sp>
        <p:nvSpPr>
          <p:cNvPr id="6" name="Footer">
            <a:extLst>
              <a:ext uri="{FF2B5EF4-FFF2-40B4-BE49-F238E27FC236}">
                <a16:creationId xmlns:a16="http://schemas.microsoft.com/office/drawing/2014/main" id="{5C8E5984-BDE5-4C4C-B433-0DC7515CC2EE}"/>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400B98D2-ED5A-44D3-ABD2-3EBF49BF04E9}"/>
              </a:ext>
            </a:extLst>
          </p:cNvPr>
          <p:cNvSpPr>
            <a:spLocks noGrp="1"/>
          </p:cNvSpPr>
          <p:nvPr/>
        </p:nvSpPr>
        <p:spPr>
          <a:xfrm>
            <a:off x="666750" y="1428750"/>
            <a:ext cx="723900" cy="685800"/>
          </a:xfrm>
          <a:prstGeom prst="roundRect">
            <a:avLst>
              <a:gd name="adj" fmla="val 16667"/>
            </a:avLst>
          </a:prstGeom>
          <a:solidFill>
            <a:srgbClr val="0065BD"/>
          </a:solidFill>
          <a:ln w="0">
            <a:noFill/>
            <a:prstDash val="solid"/>
          </a:ln>
        </p:spPr>
        <p:txBody>
          <a:bodyPr/>
          <a:lstStyle/>
          <a:p>
            <a:endParaRPr lang="de-DE"/>
          </a:p>
        </p:txBody>
      </p:sp>
      <p:sp>
        <p:nvSpPr>
          <p:cNvPr id="8" name="Rectangle 7">
            <a:extLst>
              <a:ext uri="{FF2B5EF4-FFF2-40B4-BE49-F238E27FC236}">
                <a16:creationId xmlns:a16="http://schemas.microsoft.com/office/drawing/2014/main" id="{00FFFA95-81A2-4BED-9B35-EFEF65403424}"/>
              </a:ext>
            </a:extLst>
          </p:cNvPr>
          <p:cNvSpPr>
            <a:spLocks noGrp="1"/>
          </p:cNvSpPr>
          <p:nvPr/>
        </p:nvSpPr>
        <p:spPr>
          <a:xfrm>
            <a:off x="742950" y="1628775"/>
            <a:ext cx="571500" cy="266700"/>
          </a:xfrm>
          <a:prstGeom prst="rect">
            <a:avLst/>
          </a:prstGeom>
          <a:noFill/>
          <a:ln w="0">
            <a:noFill/>
            <a:prstDash val="solid"/>
          </a:ln>
        </p:spPr>
        <p:txBody>
          <a:bodyPr lIns="0" tIns="0" rIns="0" bIns="0" anchor="ct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O1</a:t>
            </a:r>
          </a:p>
        </p:txBody>
      </p:sp>
      <p:sp>
        <p:nvSpPr>
          <p:cNvPr id="9" name="Rectangle 8">
            <a:extLst>
              <a:ext uri="{FF2B5EF4-FFF2-40B4-BE49-F238E27FC236}">
                <a16:creationId xmlns:a16="http://schemas.microsoft.com/office/drawing/2014/main" id="{57A0F342-2325-48A1-8326-41188EF11A88}"/>
              </a:ext>
            </a:extLst>
          </p:cNvPr>
          <p:cNvSpPr>
            <a:spLocks noGrp="1"/>
          </p:cNvSpPr>
          <p:nvPr/>
        </p:nvSpPr>
        <p:spPr>
          <a:xfrm>
            <a:off x="1676400" y="14478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Improve modeling and application usability</a:t>
            </a:r>
          </a:p>
        </p:txBody>
      </p:sp>
      <p:sp>
        <p:nvSpPr>
          <p:cNvPr id="10" name="Rectangle 9">
            <a:extLst>
              <a:ext uri="{FF2B5EF4-FFF2-40B4-BE49-F238E27FC236}">
                <a16:creationId xmlns:a16="http://schemas.microsoft.com/office/drawing/2014/main" id="{10EBEDC0-1132-493B-8449-27F7B9D717B2}"/>
              </a:ext>
            </a:extLst>
          </p:cNvPr>
          <p:cNvSpPr>
            <a:spLocks noGrp="1"/>
          </p:cNvSpPr>
          <p:nvPr/>
        </p:nvSpPr>
        <p:spPr>
          <a:xfrm>
            <a:off x="1676400" y="18097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Editing, navigation, standalone workflows, and mobile use</a:t>
            </a:r>
          </a:p>
        </p:txBody>
      </p:sp>
      <p:sp>
        <p:nvSpPr>
          <p:cNvPr id="11" name="Rectangle: Rounded Corners 10">
            <a:extLst>
              <a:ext uri="{FF2B5EF4-FFF2-40B4-BE49-F238E27FC236}">
                <a16:creationId xmlns:a16="http://schemas.microsoft.com/office/drawing/2014/main" id="{F91E828D-AE42-42AA-A9DA-B47D17C61CAD}"/>
              </a:ext>
            </a:extLst>
          </p:cNvPr>
          <p:cNvSpPr>
            <a:spLocks noGrp="1"/>
          </p:cNvSpPr>
          <p:nvPr/>
        </p:nvSpPr>
        <p:spPr>
          <a:xfrm>
            <a:off x="666750" y="2457450"/>
            <a:ext cx="723900" cy="685800"/>
          </a:xfrm>
          <a:prstGeom prst="roundRect">
            <a:avLst>
              <a:gd name="adj" fmla="val 16667"/>
            </a:avLst>
          </a:prstGeom>
          <a:solidFill>
            <a:srgbClr val="64A0C8"/>
          </a:solidFill>
          <a:ln w="0">
            <a:noFill/>
            <a:prstDash val="solid"/>
          </a:ln>
        </p:spPr>
        <p:txBody>
          <a:bodyPr/>
          <a:lstStyle/>
          <a:p>
            <a:endParaRPr lang="de-DE"/>
          </a:p>
        </p:txBody>
      </p:sp>
      <p:sp>
        <p:nvSpPr>
          <p:cNvPr id="12" name="Rectangle 11">
            <a:extLst>
              <a:ext uri="{FF2B5EF4-FFF2-40B4-BE49-F238E27FC236}">
                <a16:creationId xmlns:a16="http://schemas.microsoft.com/office/drawing/2014/main" id="{104E8A71-AE4D-4DEA-A6D5-9CD42F9D0100}"/>
              </a:ext>
            </a:extLst>
          </p:cNvPr>
          <p:cNvSpPr>
            <a:spLocks noGrp="1"/>
          </p:cNvSpPr>
          <p:nvPr/>
        </p:nvSpPr>
        <p:spPr>
          <a:xfrm>
            <a:off x="742950" y="2657475"/>
            <a:ext cx="571500" cy="266700"/>
          </a:xfrm>
          <a:prstGeom prst="rect">
            <a:avLst/>
          </a:prstGeom>
          <a:noFill/>
          <a:ln w="0">
            <a:noFill/>
            <a:prstDash val="solid"/>
          </a:ln>
        </p:spPr>
        <p:txBody>
          <a:bodyPr lIns="0" tIns="0" rIns="0" bIns="0" anchor="ct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O2</a:t>
            </a:r>
          </a:p>
        </p:txBody>
      </p:sp>
      <p:sp>
        <p:nvSpPr>
          <p:cNvPr id="13" name="Rectangle 12">
            <a:extLst>
              <a:ext uri="{FF2B5EF4-FFF2-40B4-BE49-F238E27FC236}">
                <a16:creationId xmlns:a16="http://schemas.microsoft.com/office/drawing/2014/main" id="{AE5920E2-6C01-4A64-9DD1-0494ADBC3462}"/>
              </a:ext>
            </a:extLst>
          </p:cNvPr>
          <p:cNvSpPr>
            <a:spLocks noGrp="1"/>
          </p:cNvSpPr>
          <p:nvPr/>
        </p:nvSpPr>
        <p:spPr>
          <a:xfrm>
            <a:off x="1676400" y="24765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Support collaborative modeling</a:t>
            </a:r>
          </a:p>
        </p:txBody>
      </p:sp>
      <p:sp>
        <p:nvSpPr>
          <p:cNvPr id="14" name="Rectangle 13">
            <a:extLst>
              <a:ext uri="{FF2B5EF4-FFF2-40B4-BE49-F238E27FC236}">
                <a16:creationId xmlns:a16="http://schemas.microsoft.com/office/drawing/2014/main" id="{F86F503D-20EF-4AC6-B2BF-369DBE835921}"/>
              </a:ext>
            </a:extLst>
          </p:cNvPr>
          <p:cNvSpPr>
            <a:spLocks noGrp="1"/>
          </p:cNvSpPr>
          <p:nvPr/>
        </p:nvSpPr>
        <p:spPr>
          <a:xfrm>
            <a:off x="1676400" y="28384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Reusable awareness for standalone shared modeling and Artemis team modeling</a:t>
            </a:r>
          </a:p>
        </p:txBody>
      </p:sp>
      <p:sp>
        <p:nvSpPr>
          <p:cNvPr id="15" name="Rectangle: Rounded Corners 14">
            <a:extLst>
              <a:ext uri="{FF2B5EF4-FFF2-40B4-BE49-F238E27FC236}">
                <a16:creationId xmlns:a16="http://schemas.microsoft.com/office/drawing/2014/main" id="{190364F0-5FE8-446E-8128-0E451B410566}"/>
              </a:ext>
            </a:extLst>
          </p:cNvPr>
          <p:cNvSpPr>
            <a:spLocks noGrp="1"/>
          </p:cNvSpPr>
          <p:nvPr/>
        </p:nvSpPr>
        <p:spPr>
          <a:xfrm>
            <a:off x="666750" y="3486150"/>
            <a:ext cx="723900" cy="685800"/>
          </a:xfrm>
          <a:prstGeom prst="roundRect">
            <a:avLst>
              <a:gd name="adj" fmla="val 16667"/>
            </a:avLst>
          </a:prstGeom>
          <a:solidFill>
            <a:srgbClr val="A2AD00"/>
          </a:solidFill>
          <a:ln w="0">
            <a:noFill/>
            <a:prstDash val="solid"/>
          </a:ln>
        </p:spPr>
        <p:txBody>
          <a:bodyPr/>
          <a:lstStyle/>
          <a:p>
            <a:endParaRPr lang="de-DE"/>
          </a:p>
        </p:txBody>
      </p:sp>
      <p:sp>
        <p:nvSpPr>
          <p:cNvPr id="16" name="Rectangle 15">
            <a:extLst>
              <a:ext uri="{FF2B5EF4-FFF2-40B4-BE49-F238E27FC236}">
                <a16:creationId xmlns:a16="http://schemas.microsoft.com/office/drawing/2014/main" id="{C6EC45E9-C063-4CFC-8A67-185C7BF7C36B}"/>
              </a:ext>
            </a:extLst>
          </p:cNvPr>
          <p:cNvSpPr>
            <a:spLocks noGrp="1"/>
          </p:cNvSpPr>
          <p:nvPr/>
        </p:nvSpPr>
        <p:spPr>
          <a:xfrm>
            <a:off x="742950" y="3686175"/>
            <a:ext cx="571500" cy="266700"/>
          </a:xfrm>
          <a:prstGeom prst="rect">
            <a:avLst/>
          </a:prstGeom>
          <a:noFill/>
          <a:ln w="0">
            <a:noFill/>
            <a:prstDash val="solid"/>
          </a:ln>
        </p:spPr>
        <p:txBody>
          <a:bodyPr lIns="0" tIns="0" rIns="0" bIns="0" anchor="ct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O3</a:t>
            </a:r>
          </a:p>
        </p:txBody>
      </p:sp>
      <p:sp>
        <p:nvSpPr>
          <p:cNvPr id="17" name="Rectangle 16">
            <a:extLst>
              <a:ext uri="{FF2B5EF4-FFF2-40B4-BE49-F238E27FC236}">
                <a16:creationId xmlns:a16="http://schemas.microsoft.com/office/drawing/2014/main" id="{38C5274E-FCF4-47F8-A623-0B398CC873B2}"/>
              </a:ext>
            </a:extLst>
          </p:cNvPr>
          <p:cNvSpPr>
            <a:spLocks noGrp="1"/>
          </p:cNvSpPr>
          <p:nvPr/>
        </p:nvSpPr>
        <p:spPr>
          <a:xfrm>
            <a:off x="1676400" y="3505200"/>
            <a:ext cx="8858250" cy="304800"/>
          </a:xfrm>
          <a:prstGeom prst="rect">
            <a:avLst/>
          </a:prstGeom>
          <a:noFill/>
          <a:ln w="0">
            <a:noFill/>
            <a:prstDash val="solid"/>
          </a:ln>
        </p:spPr>
        <p:txBody>
          <a:bodyPr lIns="0" tIns="0" rIns="0" bIns="0" anchor="t"/>
          <a:lstStyle/>
          <a:p>
            <a:pPr algn="l">
              <a:defRPr sz="1500" b="1">
                <a:solidFill>
                  <a:srgbClr val="111820"/>
                </a:solidFill>
                <a:latin typeface="Arial"/>
                <a:ea typeface="Arial"/>
                <a:cs typeface="Arial"/>
              </a:defRPr>
            </a:pPr>
            <a:r>
              <a:rPr sz="1500" b="1">
                <a:solidFill>
                  <a:srgbClr val="111820"/>
                </a:solidFill>
                <a:latin typeface="Arial"/>
                <a:ea typeface="Arial"/>
                <a:cs typeface="Arial"/>
              </a:rPr>
              <a:t>Preserve Artemis, Athena, and VS Code workflows while adopting maintained Apollon</a:t>
            </a:r>
          </a:p>
        </p:txBody>
      </p:sp>
      <p:sp>
        <p:nvSpPr>
          <p:cNvPr id="18" name="Rectangle 17">
            <a:extLst>
              <a:ext uri="{FF2B5EF4-FFF2-40B4-BE49-F238E27FC236}">
                <a16:creationId xmlns:a16="http://schemas.microsoft.com/office/drawing/2014/main" id="{B1DA16D7-F7D6-4E9A-AB73-F43979D0D229}"/>
              </a:ext>
            </a:extLst>
          </p:cNvPr>
          <p:cNvSpPr>
            <a:spLocks noGrp="1"/>
          </p:cNvSpPr>
          <p:nvPr/>
        </p:nvSpPr>
        <p:spPr>
          <a:xfrm>
            <a:off x="1676400" y="38671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Modeling, quizzes, assessment, feedback compatibility, and IDE editing</a:t>
            </a:r>
          </a:p>
        </p:txBody>
      </p:sp>
      <p:sp>
        <p:nvSpPr>
          <p:cNvPr id="19" name="Rectangle: Rounded Corners 18">
            <a:extLst>
              <a:ext uri="{FF2B5EF4-FFF2-40B4-BE49-F238E27FC236}">
                <a16:creationId xmlns:a16="http://schemas.microsoft.com/office/drawing/2014/main" id="{13865E05-03E6-4F42-8ECA-FDEB9E73BA48}"/>
              </a:ext>
            </a:extLst>
          </p:cNvPr>
          <p:cNvSpPr>
            <a:spLocks noGrp="1"/>
          </p:cNvSpPr>
          <p:nvPr/>
        </p:nvSpPr>
        <p:spPr>
          <a:xfrm>
            <a:off x="666750" y="4514850"/>
            <a:ext cx="723900" cy="685800"/>
          </a:xfrm>
          <a:prstGeom prst="roundRect">
            <a:avLst>
              <a:gd name="adj" fmla="val 16667"/>
            </a:avLst>
          </a:prstGeom>
          <a:solidFill>
            <a:srgbClr val="E37222"/>
          </a:solidFill>
          <a:ln w="0">
            <a:noFill/>
            <a:prstDash val="solid"/>
          </a:ln>
        </p:spPr>
        <p:txBody>
          <a:bodyPr/>
          <a:lstStyle/>
          <a:p>
            <a:endParaRPr lang="de-DE"/>
          </a:p>
        </p:txBody>
      </p:sp>
      <p:sp>
        <p:nvSpPr>
          <p:cNvPr id="20" name="Rectangle 19">
            <a:extLst>
              <a:ext uri="{FF2B5EF4-FFF2-40B4-BE49-F238E27FC236}">
                <a16:creationId xmlns:a16="http://schemas.microsoft.com/office/drawing/2014/main" id="{FD42CA14-2461-4EC6-B530-1DE095A3FB0F}"/>
              </a:ext>
            </a:extLst>
          </p:cNvPr>
          <p:cNvSpPr>
            <a:spLocks noGrp="1"/>
          </p:cNvSpPr>
          <p:nvPr/>
        </p:nvSpPr>
        <p:spPr>
          <a:xfrm>
            <a:off x="742950" y="4714875"/>
            <a:ext cx="571500" cy="266700"/>
          </a:xfrm>
          <a:prstGeom prst="rect">
            <a:avLst/>
          </a:prstGeom>
          <a:noFill/>
          <a:ln w="0">
            <a:noFill/>
            <a:prstDash val="solid"/>
          </a:ln>
        </p:spPr>
        <p:txBody>
          <a:bodyPr lIns="0" tIns="0" rIns="0" bIns="0" anchor="ct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O4</a:t>
            </a:r>
          </a:p>
        </p:txBody>
      </p:sp>
      <p:sp>
        <p:nvSpPr>
          <p:cNvPr id="21" name="Rectangle 20">
            <a:extLst>
              <a:ext uri="{FF2B5EF4-FFF2-40B4-BE49-F238E27FC236}">
                <a16:creationId xmlns:a16="http://schemas.microsoft.com/office/drawing/2014/main" id="{8E7C71D8-06CE-4998-AE04-8CA955A5717D}"/>
              </a:ext>
            </a:extLst>
          </p:cNvPr>
          <p:cNvSpPr>
            <a:spLocks noGrp="1"/>
          </p:cNvSpPr>
          <p:nvPr/>
        </p:nvSpPr>
        <p:spPr>
          <a:xfrm>
            <a:off x="1676400" y="45339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Improve diagram portability across web, server, and iOS</a:t>
            </a:r>
          </a:p>
        </p:txBody>
      </p:sp>
      <p:sp>
        <p:nvSpPr>
          <p:cNvPr id="22" name="Rectangle 21">
            <a:extLst>
              <a:ext uri="{FF2B5EF4-FFF2-40B4-BE49-F238E27FC236}">
                <a16:creationId xmlns:a16="http://schemas.microsoft.com/office/drawing/2014/main" id="{51811A80-F4AC-409E-B15D-807D2173A835}"/>
              </a:ext>
            </a:extLst>
          </p:cNvPr>
          <p:cNvSpPr>
            <a:spLocks noGrp="1"/>
          </p:cNvSpPr>
          <p:nvPr/>
        </p:nvSpPr>
        <p:spPr>
          <a:xfrm>
            <a:off x="1676400" y="48958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Dependable SVG, PNG, PDF, PPTX, and JSON workflows</a:t>
            </a:r>
          </a:p>
        </p:txBody>
      </p:sp>
    </p:spTree>
    <p:extLst>
      <p:ext uri="{BB962C8B-B14F-4D97-AF65-F5344CB8AC3E}">
        <p14:creationId xmlns:p14="http://schemas.microsoft.com/office/powerpoint/2010/main" val="1103726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Section label">
            <a:extLst>
              <a:ext uri="{FF2B5EF4-FFF2-40B4-BE49-F238E27FC236}">
                <a16:creationId xmlns:a16="http://schemas.microsoft.com/office/drawing/2014/main" id="{19DFB31A-E5B6-4114-A869-326351B976BE}"/>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SYSTEM MODEL</a:t>
            </a:r>
          </a:p>
        </p:txBody>
      </p:sp>
      <p:sp>
        <p:nvSpPr>
          <p:cNvPr id="2" name="Slide title">
            <a:extLst>
              <a:ext uri="{FF2B5EF4-FFF2-40B4-BE49-F238E27FC236}">
                <a16:creationId xmlns:a16="http://schemas.microsoft.com/office/drawing/2014/main" id="{F44FDFD6-8473-49B9-98FD-0FD9F186BC19}"/>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The thesis changes the editor and its workflows</a:t>
            </a:r>
          </a:p>
        </p:txBody>
      </p:sp>
      <p:pic>
        <p:nvPicPr>
          <p:cNvPr id="43" name="Picture 42"/>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3008CA5E-CFC6-4B88-B7DB-853569C0A28C}"/>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D1233823-9E2C-42DA-9757-4B69E7953A34}"/>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6</a:t>
            </a:r>
          </a:p>
        </p:txBody>
      </p:sp>
      <p:sp>
        <p:nvSpPr>
          <p:cNvPr id="6" name="Footer">
            <a:extLst>
              <a:ext uri="{FF2B5EF4-FFF2-40B4-BE49-F238E27FC236}">
                <a16:creationId xmlns:a16="http://schemas.microsoft.com/office/drawing/2014/main" id="{C0832AC1-5D1E-4E46-A920-30F7E3973EEC}"/>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Straight Connector 6">
            <a:extLst>
              <a:ext uri="{FF2B5EF4-FFF2-40B4-BE49-F238E27FC236}">
                <a16:creationId xmlns:a16="http://schemas.microsoft.com/office/drawing/2014/main" id="{50F54C40-5010-4FA6-900A-DAE1853DEEE7}"/>
              </a:ext>
            </a:extLst>
          </p:cNvPr>
          <p:cNvSpPr>
            <a:spLocks noGrp="1"/>
          </p:cNvSpPr>
          <p:nvPr/>
        </p:nvSpPr>
        <p:spPr>
          <a:xfrm>
            <a:off x="2080809" y="1976438"/>
            <a:ext cx="2363006" cy="9525"/>
          </a:xfrm>
          <a:prstGeom prst="line">
            <a:avLst/>
          </a:prstGeom>
          <a:noFill/>
          <a:ln w="12383">
            <a:solidFill>
              <a:srgbClr val="DDE3E8"/>
            </a:solidFill>
            <a:prstDash val="solid"/>
          </a:ln>
        </p:spPr>
        <p:txBody>
          <a:bodyPr/>
          <a:lstStyle/>
          <a:p>
            <a:endParaRPr lang="de-DE"/>
          </a:p>
        </p:txBody>
      </p:sp>
      <p:sp>
        <p:nvSpPr>
          <p:cNvPr id="8" name="Straight Connector 7">
            <a:extLst>
              <a:ext uri="{FF2B5EF4-FFF2-40B4-BE49-F238E27FC236}">
                <a16:creationId xmlns:a16="http://schemas.microsoft.com/office/drawing/2014/main" id="{699DFD82-C8F9-4D00-9609-0E46DE847B31}"/>
              </a:ext>
            </a:extLst>
          </p:cNvPr>
          <p:cNvSpPr>
            <a:spLocks noGrp="1"/>
          </p:cNvSpPr>
          <p:nvPr/>
        </p:nvSpPr>
        <p:spPr>
          <a:xfrm>
            <a:off x="2066460" y="2424113"/>
            <a:ext cx="2391705" cy="9525"/>
          </a:xfrm>
          <a:prstGeom prst="line">
            <a:avLst/>
          </a:prstGeom>
          <a:noFill/>
          <a:ln w="12383">
            <a:solidFill>
              <a:srgbClr val="DDE3E8"/>
            </a:solidFill>
            <a:prstDash val="solid"/>
          </a:ln>
        </p:spPr>
        <p:txBody>
          <a:bodyPr/>
          <a:lstStyle/>
          <a:p>
            <a:endParaRPr lang="de-DE"/>
          </a:p>
        </p:txBody>
      </p:sp>
      <p:sp>
        <p:nvSpPr>
          <p:cNvPr id="9" name="Straight Connector 8">
            <a:extLst>
              <a:ext uri="{FF2B5EF4-FFF2-40B4-BE49-F238E27FC236}">
                <a16:creationId xmlns:a16="http://schemas.microsoft.com/office/drawing/2014/main" id="{6B686A9B-DFE4-4415-9966-8B128935CF6D}"/>
              </a:ext>
            </a:extLst>
          </p:cNvPr>
          <p:cNvSpPr>
            <a:spLocks noGrp="1"/>
          </p:cNvSpPr>
          <p:nvPr/>
        </p:nvSpPr>
        <p:spPr>
          <a:xfrm>
            <a:off x="1896662" y="2871788"/>
            <a:ext cx="2731301" cy="9525"/>
          </a:xfrm>
          <a:prstGeom prst="line">
            <a:avLst/>
          </a:prstGeom>
          <a:noFill/>
          <a:ln w="12383">
            <a:solidFill>
              <a:srgbClr val="DDE3E8"/>
            </a:solidFill>
            <a:prstDash val="solid"/>
          </a:ln>
        </p:spPr>
        <p:txBody>
          <a:bodyPr/>
          <a:lstStyle/>
          <a:p>
            <a:endParaRPr lang="de-DE"/>
          </a:p>
        </p:txBody>
      </p:sp>
      <p:sp>
        <p:nvSpPr>
          <p:cNvPr id="10" name="Straight Connector 9">
            <a:extLst>
              <a:ext uri="{FF2B5EF4-FFF2-40B4-BE49-F238E27FC236}">
                <a16:creationId xmlns:a16="http://schemas.microsoft.com/office/drawing/2014/main" id="{5E657283-FC25-49F6-ADFD-9DAF38619110}"/>
              </a:ext>
            </a:extLst>
          </p:cNvPr>
          <p:cNvSpPr>
            <a:spLocks noGrp="1"/>
          </p:cNvSpPr>
          <p:nvPr/>
        </p:nvSpPr>
        <p:spPr>
          <a:xfrm>
            <a:off x="1278035" y="3767138"/>
            <a:ext cx="3968554" cy="9525"/>
          </a:xfrm>
          <a:prstGeom prst="line">
            <a:avLst/>
          </a:prstGeom>
          <a:noFill/>
          <a:ln w="12383">
            <a:solidFill>
              <a:srgbClr val="DDE3E8"/>
            </a:solidFill>
            <a:prstDash val="solid"/>
          </a:ln>
        </p:spPr>
        <p:txBody>
          <a:bodyPr/>
          <a:lstStyle/>
          <a:p>
            <a:endParaRPr lang="de-DE"/>
          </a:p>
        </p:txBody>
      </p:sp>
      <p:sp>
        <p:nvSpPr>
          <p:cNvPr id="11" name="Straight Connector 10">
            <a:extLst>
              <a:ext uri="{FF2B5EF4-FFF2-40B4-BE49-F238E27FC236}">
                <a16:creationId xmlns:a16="http://schemas.microsoft.com/office/drawing/2014/main" id="{2C9F4AD6-88D0-4CF4-9749-BCB85E0D4CBC}"/>
              </a:ext>
            </a:extLst>
          </p:cNvPr>
          <p:cNvSpPr>
            <a:spLocks noGrp="1"/>
          </p:cNvSpPr>
          <p:nvPr/>
        </p:nvSpPr>
        <p:spPr>
          <a:xfrm>
            <a:off x="2037794" y="3057525"/>
            <a:ext cx="2449037" cy="9525"/>
          </a:xfrm>
          <a:prstGeom prst="line">
            <a:avLst/>
          </a:prstGeom>
          <a:noFill/>
          <a:ln w="12383">
            <a:solidFill>
              <a:srgbClr val="DDE3E8"/>
            </a:solidFill>
            <a:prstDash val="solid"/>
          </a:ln>
        </p:spPr>
        <p:txBody>
          <a:bodyPr/>
          <a:lstStyle/>
          <a:p>
            <a:endParaRPr lang="de-DE"/>
          </a:p>
        </p:txBody>
      </p:sp>
      <p:sp>
        <p:nvSpPr>
          <p:cNvPr id="12" name="Straight Connector 11">
            <a:extLst>
              <a:ext uri="{FF2B5EF4-FFF2-40B4-BE49-F238E27FC236}">
                <a16:creationId xmlns:a16="http://schemas.microsoft.com/office/drawing/2014/main" id="{52D81350-29BB-4CC1-AB3F-9FAF8E3F8456}"/>
              </a:ext>
            </a:extLst>
          </p:cNvPr>
          <p:cNvSpPr>
            <a:spLocks noGrp="1"/>
          </p:cNvSpPr>
          <p:nvPr/>
        </p:nvSpPr>
        <p:spPr>
          <a:xfrm>
            <a:off x="1983291" y="3952875"/>
            <a:ext cx="2558043" cy="9525"/>
          </a:xfrm>
          <a:prstGeom prst="line">
            <a:avLst/>
          </a:prstGeom>
          <a:noFill/>
          <a:ln w="12383">
            <a:solidFill>
              <a:srgbClr val="DDE3E8"/>
            </a:solidFill>
            <a:prstDash val="solid"/>
          </a:ln>
        </p:spPr>
        <p:txBody>
          <a:bodyPr/>
          <a:lstStyle/>
          <a:p>
            <a:endParaRPr lang="de-DE"/>
          </a:p>
        </p:txBody>
      </p:sp>
      <p:sp>
        <p:nvSpPr>
          <p:cNvPr id="13" name="Straight Connector 12">
            <a:extLst>
              <a:ext uri="{FF2B5EF4-FFF2-40B4-BE49-F238E27FC236}">
                <a16:creationId xmlns:a16="http://schemas.microsoft.com/office/drawing/2014/main" id="{CBDEA7DD-2417-4B19-9299-2438719DBC1A}"/>
              </a:ext>
            </a:extLst>
          </p:cNvPr>
          <p:cNvSpPr>
            <a:spLocks noGrp="1"/>
          </p:cNvSpPr>
          <p:nvPr/>
        </p:nvSpPr>
        <p:spPr>
          <a:xfrm>
            <a:off x="2090370" y="4586288"/>
            <a:ext cx="2343886" cy="9525"/>
          </a:xfrm>
          <a:prstGeom prst="line">
            <a:avLst/>
          </a:prstGeom>
          <a:noFill/>
          <a:ln w="12383">
            <a:solidFill>
              <a:srgbClr val="DDE3E8"/>
            </a:solidFill>
            <a:prstDash val="solid"/>
          </a:ln>
        </p:spPr>
        <p:txBody>
          <a:bodyPr/>
          <a:lstStyle/>
          <a:p>
            <a:endParaRPr lang="de-DE"/>
          </a:p>
        </p:txBody>
      </p:sp>
      <p:sp>
        <p:nvSpPr>
          <p:cNvPr id="14" name="Apollon use cases">
            <a:extLst>
              <a:ext uri="{FF2B5EF4-FFF2-40B4-BE49-F238E27FC236}">
                <a16:creationId xmlns:a16="http://schemas.microsoft.com/office/drawing/2014/main" id="{994A58DF-31C5-46AC-83EE-394320969DEA}"/>
              </a:ext>
            </a:extLst>
          </p:cNvPr>
          <p:cNvSpPr>
            <a:spLocks noGrp="1"/>
          </p:cNvSpPr>
          <p:nvPr/>
        </p:nvSpPr>
        <p:spPr>
          <a:xfrm>
            <a:off x="4210050" y="1352550"/>
            <a:ext cx="6667500" cy="4476750"/>
          </a:xfrm>
          <a:prstGeom prst="roundRect">
            <a:avLst>
              <a:gd name="adj" fmla="val 2553"/>
            </a:avLst>
          </a:prstGeom>
          <a:solidFill>
            <a:srgbClr val="FFFFFF"/>
          </a:solidFill>
          <a:ln w="11430">
            <a:solidFill>
              <a:srgbClr val="DDE3E8"/>
            </a:solidFill>
            <a:prstDash val="solid"/>
          </a:ln>
        </p:spPr>
        <p:txBody>
          <a:bodyPr/>
          <a:lstStyle/>
          <a:p>
            <a:endParaRPr lang="de-DE"/>
          </a:p>
        </p:txBody>
      </p:sp>
      <p:sp>
        <p:nvSpPr>
          <p:cNvPr id="15" name="Oval 14">
            <a:extLst>
              <a:ext uri="{FF2B5EF4-FFF2-40B4-BE49-F238E27FC236}">
                <a16:creationId xmlns:a16="http://schemas.microsoft.com/office/drawing/2014/main" id="{C93E868F-F856-44F8-9FF2-466AA0D08344}"/>
              </a:ext>
            </a:extLst>
          </p:cNvPr>
          <p:cNvSpPr>
            <a:spLocks noGrp="1"/>
          </p:cNvSpPr>
          <p:nvPr/>
        </p:nvSpPr>
        <p:spPr>
          <a:xfrm>
            <a:off x="895350" y="1685925"/>
            <a:ext cx="514350" cy="514350"/>
          </a:xfrm>
          <a:prstGeom prst="ellipse">
            <a:avLst/>
          </a:prstGeom>
          <a:solidFill>
            <a:srgbClr val="EAF4FB"/>
          </a:solidFill>
          <a:ln w="11430">
            <a:solidFill>
              <a:srgbClr val="0065BD"/>
            </a:solidFill>
            <a:prstDash val="solid"/>
          </a:ln>
        </p:spPr>
        <p:txBody>
          <a:bodyPr/>
          <a:lstStyle/>
          <a:p>
            <a:endParaRPr lang="de-DE"/>
          </a:p>
        </p:txBody>
      </p:sp>
      <p:sp>
        <p:nvSpPr>
          <p:cNvPr id="16" name="Rectangle 15">
            <a:extLst>
              <a:ext uri="{FF2B5EF4-FFF2-40B4-BE49-F238E27FC236}">
                <a16:creationId xmlns:a16="http://schemas.microsoft.com/office/drawing/2014/main" id="{DC49F1C8-4CCB-4FD0-BFDF-E4648E926E9C}"/>
              </a:ext>
            </a:extLst>
          </p:cNvPr>
          <p:cNvSpPr>
            <a:spLocks noGrp="1"/>
          </p:cNvSpPr>
          <p:nvPr/>
        </p:nvSpPr>
        <p:spPr>
          <a:xfrm>
            <a:off x="990600" y="1800225"/>
            <a:ext cx="323850" cy="266700"/>
          </a:xfrm>
          <a:prstGeom prst="rect">
            <a:avLst/>
          </a:prstGeom>
          <a:noFill/>
          <a:ln w="0">
            <a:noFill/>
            <a:prstDash val="solid"/>
          </a:ln>
        </p:spPr>
        <p:txBody>
          <a:bodyPr lIns="0" tIns="0" rIns="0" bIns="0" anchor="ctr"/>
          <a:lstStyle/>
          <a:p>
            <a:pPr algn="ctr">
              <a:defRPr sz="1500" b="1">
                <a:solidFill>
                  <a:srgbClr val="0065BD"/>
                </a:solidFill>
                <a:latin typeface="Arial"/>
                <a:ea typeface="Arial"/>
                <a:cs typeface="Arial"/>
              </a:defRPr>
            </a:pPr>
            <a:r>
              <a:rPr sz="1500" b="1">
                <a:solidFill>
                  <a:srgbClr val="0065BD"/>
                </a:solidFill>
                <a:latin typeface="Arial"/>
                <a:ea typeface="Arial"/>
                <a:cs typeface="Arial"/>
              </a:rPr>
              <a:t>1</a:t>
            </a:r>
          </a:p>
        </p:txBody>
      </p:sp>
      <p:sp>
        <p:nvSpPr>
          <p:cNvPr id="17" name="Rectangle 16">
            <a:extLst>
              <a:ext uri="{FF2B5EF4-FFF2-40B4-BE49-F238E27FC236}">
                <a16:creationId xmlns:a16="http://schemas.microsoft.com/office/drawing/2014/main" id="{B8D37C69-98A1-4768-A9AC-3BB43B951AF1}"/>
              </a:ext>
            </a:extLst>
          </p:cNvPr>
          <p:cNvSpPr>
            <a:spLocks noGrp="1"/>
          </p:cNvSpPr>
          <p:nvPr/>
        </p:nvSpPr>
        <p:spPr>
          <a:xfrm>
            <a:off x="1581150" y="1704975"/>
            <a:ext cx="2381250" cy="266700"/>
          </a:xfrm>
          <a:prstGeom prst="rect">
            <a:avLst/>
          </a:prstGeom>
          <a:noFill/>
          <a:ln w="0">
            <a:noFill/>
            <a:prstDash val="solid"/>
          </a:ln>
        </p:spPr>
        <p:txBody>
          <a:bodyPr lIns="0" tIns="0" rIns="0" bIns="0" anchor="t"/>
          <a:lstStyle/>
          <a:p>
            <a:pPr algn="l">
              <a:defRPr sz="1500" b="1">
                <a:solidFill>
                  <a:srgbClr val="111820"/>
                </a:solidFill>
                <a:latin typeface="Arial"/>
                <a:ea typeface="Arial"/>
                <a:cs typeface="Arial"/>
              </a:defRPr>
            </a:pPr>
            <a:r>
              <a:rPr sz="1500" b="1">
                <a:solidFill>
                  <a:srgbClr val="111820"/>
                </a:solidFill>
                <a:latin typeface="Arial"/>
                <a:ea typeface="Arial"/>
                <a:cs typeface="Arial"/>
              </a:rPr>
              <a:t>Diagram user</a:t>
            </a:r>
          </a:p>
        </p:txBody>
      </p:sp>
      <p:sp>
        <p:nvSpPr>
          <p:cNvPr id="18" name="Rectangle 17">
            <a:extLst>
              <a:ext uri="{FF2B5EF4-FFF2-40B4-BE49-F238E27FC236}">
                <a16:creationId xmlns:a16="http://schemas.microsoft.com/office/drawing/2014/main" id="{0564CECE-961E-4FEB-84A8-54342F63287F}"/>
              </a:ext>
            </a:extLst>
          </p:cNvPr>
          <p:cNvSpPr>
            <a:spLocks noGrp="1"/>
          </p:cNvSpPr>
          <p:nvPr/>
        </p:nvSpPr>
        <p:spPr>
          <a:xfrm>
            <a:off x="1581150" y="2009775"/>
            <a:ext cx="2381250" cy="400050"/>
          </a:xfrm>
          <a:prstGeom prst="rect">
            <a:avLst/>
          </a:prstGeom>
          <a:noFill/>
          <a:ln w="0">
            <a:noFill/>
            <a:prstDash val="solid"/>
          </a:ln>
        </p:spPr>
        <p:txBody>
          <a:bodyPr lIns="0" tIns="0" rIns="0" bIns="0" anchor="t"/>
          <a:lstStyle/>
          <a:p>
            <a:pPr algn="l">
              <a:defRPr sz="1050" b="0">
                <a:solidFill>
                  <a:srgbClr val="56616B"/>
                </a:solidFill>
                <a:latin typeface="Arial"/>
                <a:ea typeface="Arial"/>
                <a:cs typeface="Arial"/>
              </a:defRPr>
            </a:pPr>
            <a:r>
              <a:rPr sz="1050" b="0">
                <a:solidFill>
                  <a:srgbClr val="56616B"/>
                </a:solidFill>
                <a:latin typeface="Arial"/>
                <a:ea typeface="Arial"/>
                <a:cs typeface="Arial"/>
              </a:rPr>
              <a:t>Create and collaborate</a:t>
            </a:r>
          </a:p>
        </p:txBody>
      </p:sp>
      <p:sp>
        <p:nvSpPr>
          <p:cNvPr id="19" name="Oval 18">
            <a:extLst>
              <a:ext uri="{FF2B5EF4-FFF2-40B4-BE49-F238E27FC236}">
                <a16:creationId xmlns:a16="http://schemas.microsoft.com/office/drawing/2014/main" id="{AF56FDCD-D0F8-4A40-A3D9-14947B2A73F3}"/>
              </a:ext>
            </a:extLst>
          </p:cNvPr>
          <p:cNvSpPr>
            <a:spLocks noGrp="1"/>
          </p:cNvSpPr>
          <p:nvPr/>
        </p:nvSpPr>
        <p:spPr>
          <a:xfrm>
            <a:off x="895350" y="2952750"/>
            <a:ext cx="514350" cy="514350"/>
          </a:xfrm>
          <a:prstGeom prst="ellipse">
            <a:avLst/>
          </a:prstGeom>
          <a:solidFill>
            <a:srgbClr val="FFF1E7"/>
          </a:solidFill>
          <a:ln w="11430">
            <a:solidFill>
              <a:srgbClr val="E37222"/>
            </a:solidFill>
            <a:prstDash val="solid"/>
          </a:ln>
        </p:spPr>
        <p:txBody>
          <a:bodyPr/>
          <a:lstStyle/>
          <a:p>
            <a:endParaRPr lang="de-DE"/>
          </a:p>
        </p:txBody>
      </p:sp>
      <p:sp>
        <p:nvSpPr>
          <p:cNvPr id="20" name="Rectangle 19">
            <a:extLst>
              <a:ext uri="{FF2B5EF4-FFF2-40B4-BE49-F238E27FC236}">
                <a16:creationId xmlns:a16="http://schemas.microsoft.com/office/drawing/2014/main" id="{D1D5349D-1179-433F-A9E4-F3F89F78072E}"/>
              </a:ext>
            </a:extLst>
          </p:cNvPr>
          <p:cNvSpPr>
            <a:spLocks noGrp="1"/>
          </p:cNvSpPr>
          <p:nvPr/>
        </p:nvSpPr>
        <p:spPr>
          <a:xfrm>
            <a:off x="990600" y="3067050"/>
            <a:ext cx="323850" cy="266700"/>
          </a:xfrm>
          <a:prstGeom prst="rect">
            <a:avLst/>
          </a:prstGeom>
          <a:noFill/>
          <a:ln w="0">
            <a:noFill/>
            <a:prstDash val="solid"/>
          </a:ln>
        </p:spPr>
        <p:txBody>
          <a:bodyPr lIns="0" tIns="0" rIns="0" bIns="0" anchor="ctr"/>
          <a:lstStyle/>
          <a:p>
            <a:pPr algn="ctr">
              <a:defRPr sz="1500" b="1">
                <a:solidFill>
                  <a:srgbClr val="E37222"/>
                </a:solidFill>
                <a:latin typeface="Arial"/>
                <a:ea typeface="Arial"/>
                <a:cs typeface="Arial"/>
              </a:defRPr>
            </a:pPr>
            <a:r>
              <a:rPr sz="1500" b="1">
                <a:solidFill>
                  <a:srgbClr val="E37222"/>
                </a:solidFill>
                <a:latin typeface="Arial"/>
                <a:ea typeface="Arial"/>
                <a:cs typeface="Arial"/>
              </a:rPr>
              <a:t>2</a:t>
            </a:r>
          </a:p>
        </p:txBody>
      </p:sp>
      <p:sp>
        <p:nvSpPr>
          <p:cNvPr id="21" name="Rectangle 20">
            <a:extLst>
              <a:ext uri="{FF2B5EF4-FFF2-40B4-BE49-F238E27FC236}">
                <a16:creationId xmlns:a16="http://schemas.microsoft.com/office/drawing/2014/main" id="{D716A09C-A18D-4889-8834-0A63D1469CFB}"/>
              </a:ext>
            </a:extLst>
          </p:cNvPr>
          <p:cNvSpPr>
            <a:spLocks noGrp="1"/>
          </p:cNvSpPr>
          <p:nvPr/>
        </p:nvSpPr>
        <p:spPr>
          <a:xfrm>
            <a:off x="1581150" y="2971800"/>
            <a:ext cx="2381250" cy="266700"/>
          </a:xfrm>
          <a:prstGeom prst="rect">
            <a:avLst/>
          </a:prstGeom>
          <a:noFill/>
          <a:ln w="0">
            <a:noFill/>
            <a:prstDash val="solid"/>
          </a:ln>
        </p:spPr>
        <p:txBody>
          <a:bodyPr lIns="0" tIns="0" rIns="0" bIns="0" anchor="t"/>
          <a:lstStyle/>
          <a:p>
            <a:pPr algn="l">
              <a:defRPr sz="1500" b="1">
                <a:solidFill>
                  <a:srgbClr val="111820"/>
                </a:solidFill>
                <a:latin typeface="Arial"/>
                <a:ea typeface="Arial"/>
                <a:cs typeface="Arial"/>
              </a:defRPr>
            </a:pPr>
            <a:r>
              <a:rPr sz="1500" b="1">
                <a:solidFill>
                  <a:srgbClr val="111820"/>
                </a:solidFill>
                <a:latin typeface="Arial"/>
                <a:ea typeface="Arial"/>
                <a:cs typeface="Arial"/>
              </a:rPr>
              <a:t>Instructor</a:t>
            </a:r>
          </a:p>
        </p:txBody>
      </p:sp>
      <p:sp>
        <p:nvSpPr>
          <p:cNvPr id="22" name="Rectangle 21">
            <a:extLst>
              <a:ext uri="{FF2B5EF4-FFF2-40B4-BE49-F238E27FC236}">
                <a16:creationId xmlns:a16="http://schemas.microsoft.com/office/drawing/2014/main" id="{2D905C98-6F18-4734-A103-6B0928DD9DA2}"/>
              </a:ext>
            </a:extLst>
          </p:cNvPr>
          <p:cNvSpPr>
            <a:spLocks noGrp="1"/>
          </p:cNvSpPr>
          <p:nvPr/>
        </p:nvSpPr>
        <p:spPr>
          <a:xfrm>
            <a:off x="1581150" y="3276600"/>
            <a:ext cx="2381250" cy="400050"/>
          </a:xfrm>
          <a:prstGeom prst="rect">
            <a:avLst/>
          </a:prstGeom>
          <a:noFill/>
          <a:ln w="0">
            <a:noFill/>
            <a:prstDash val="solid"/>
          </a:ln>
        </p:spPr>
        <p:txBody>
          <a:bodyPr lIns="0" tIns="0" rIns="0" bIns="0" anchor="t"/>
          <a:lstStyle/>
          <a:p>
            <a:pPr algn="l">
              <a:defRPr sz="1050" b="0">
                <a:solidFill>
                  <a:srgbClr val="56616B"/>
                </a:solidFill>
                <a:latin typeface="Arial"/>
                <a:ea typeface="Arial"/>
                <a:cs typeface="Arial"/>
              </a:defRPr>
            </a:pPr>
            <a:r>
              <a:rPr sz="1050" b="0">
                <a:solidFill>
                  <a:srgbClr val="56616B"/>
                </a:solidFill>
                <a:latin typeface="Arial"/>
                <a:ea typeface="Arial"/>
                <a:cs typeface="Arial"/>
              </a:rPr>
              <a:t>Prepare exercises and quizzes</a:t>
            </a:r>
          </a:p>
        </p:txBody>
      </p:sp>
      <p:sp>
        <p:nvSpPr>
          <p:cNvPr id="23" name="Oval 22">
            <a:extLst>
              <a:ext uri="{FF2B5EF4-FFF2-40B4-BE49-F238E27FC236}">
                <a16:creationId xmlns:a16="http://schemas.microsoft.com/office/drawing/2014/main" id="{F9CBB362-2006-4619-84B1-33D662432C5E}"/>
              </a:ext>
            </a:extLst>
          </p:cNvPr>
          <p:cNvSpPr>
            <a:spLocks noGrp="1"/>
          </p:cNvSpPr>
          <p:nvPr/>
        </p:nvSpPr>
        <p:spPr>
          <a:xfrm>
            <a:off x="895350" y="4219575"/>
            <a:ext cx="514350" cy="514350"/>
          </a:xfrm>
          <a:prstGeom prst="ellipse">
            <a:avLst/>
          </a:prstGeom>
          <a:solidFill>
            <a:srgbClr val="EAF4FB"/>
          </a:solidFill>
          <a:ln w="11430">
            <a:solidFill>
              <a:srgbClr val="0065BD"/>
            </a:solidFill>
            <a:prstDash val="solid"/>
          </a:ln>
        </p:spPr>
        <p:txBody>
          <a:bodyPr/>
          <a:lstStyle/>
          <a:p>
            <a:endParaRPr lang="de-DE"/>
          </a:p>
        </p:txBody>
      </p:sp>
      <p:sp>
        <p:nvSpPr>
          <p:cNvPr id="24" name="Rectangle 23">
            <a:extLst>
              <a:ext uri="{FF2B5EF4-FFF2-40B4-BE49-F238E27FC236}">
                <a16:creationId xmlns:a16="http://schemas.microsoft.com/office/drawing/2014/main" id="{22B3BE48-3BD4-43FF-9062-FE95C46AC288}"/>
              </a:ext>
            </a:extLst>
          </p:cNvPr>
          <p:cNvSpPr>
            <a:spLocks noGrp="1"/>
          </p:cNvSpPr>
          <p:nvPr/>
        </p:nvSpPr>
        <p:spPr>
          <a:xfrm>
            <a:off x="990600" y="4333875"/>
            <a:ext cx="323850" cy="266700"/>
          </a:xfrm>
          <a:prstGeom prst="rect">
            <a:avLst/>
          </a:prstGeom>
          <a:noFill/>
          <a:ln w="0">
            <a:noFill/>
            <a:prstDash val="solid"/>
          </a:ln>
        </p:spPr>
        <p:txBody>
          <a:bodyPr lIns="0" tIns="0" rIns="0" bIns="0" anchor="ctr"/>
          <a:lstStyle/>
          <a:p>
            <a:pPr algn="ctr">
              <a:defRPr sz="1500" b="1">
                <a:solidFill>
                  <a:srgbClr val="0065BD"/>
                </a:solidFill>
                <a:latin typeface="Arial"/>
                <a:ea typeface="Arial"/>
                <a:cs typeface="Arial"/>
              </a:defRPr>
            </a:pPr>
            <a:r>
              <a:rPr sz="1500" b="1">
                <a:solidFill>
                  <a:srgbClr val="0065BD"/>
                </a:solidFill>
                <a:latin typeface="Arial"/>
                <a:ea typeface="Arial"/>
                <a:cs typeface="Arial"/>
              </a:rPr>
              <a:t>3</a:t>
            </a:r>
          </a:p>
        </p:txBody>
      </p:sp>
      <p:sp>
        <p:nvSpPr>
          <p:cNvPr id="25" name="Rectangle 24">
            <a:extLst>
              <a:ext uri="{FF2B5EF4-FFF2-40B4-BE49-F238E27FC236}">
                <a16:creationId xmlns:a16="http://schemas.microsoft.com/office/drawing/2014/main" id="{330263AC-B2CC-43A9-B820-28498551B39E}"/>
              </a:ext>
            </a:extLst>
          </p:cNvPr>
          <p:cNvSpPr>
            <a:spLocks noGrp="1"/>
          </p:cNvSpPr>
          <p:nvPr/>
        </p:nvSpPr>
        <p:spPr>
          <a:xfrm>
            <a:off x="1581150" y="4238625"/>
            <a:ext cx="2381250" cy="266700"/>
          </a:xfrm>
          <a:prstGeom prst="rect">
            <a:avLst/>
          </a:prstGeom>
          <a:noFill/>
          <a:ln w="0">
            <a:noFill/>
            <a:prstDash val="solid"/>
          </a:ln>
        </p:spPr>
        <p:txBody>
          <a:bodyPr lIns="0" tIns="0" rIns="0" bIns="0" anchor="t"/>
          <a:lstStyle/>
          <a:p>
            <a:pPr algn="l">
              <a:defRPr sz="1500" b="1">
                <a:solidFill>
                  <a:srgbClr val="111820"/>
                </a:solidFill>
                <a:latin typeface="Arial"/>
                <a:ea typeface="Arial"/>
                <a:cs typeface="Arial"/>
              </a:defRPr>
            </a:pPr>
            <a:r>
              <a:rPr sz="1500" b="1">
                <a:solidFill>
                  <a:srgbClr val="111820"/>
                </a:solidFill>
                <a:latin typeface="Arial"/>
                <a:ea typeface="Arial"/>
                <a:cs typeface="Arial"/>
              </a:rPr>
              <a:t>Assessor</a:t>
            </a:r>
          </a:p>
        </p:txBody>
      </p:sp>
      <p:sp>
        <p:nvSpPr>
          <p:cNvPr id="26" name="Rectangle 25">
            <a:extLst>
              <a:ext uri="{FF2B5EF4-FFF2-40B4-BE49-F238E27FC236}">
                <a16:creationId xmlns:a16="http://schemas.microsoft.com/office/drawing/2014/main" id="{C29952E0-DE7E-41F5-9C37-49DDB6119775}"/>
              </a:ext>
            </a:extLst>
          </p:cNvPr>
          <p:cNvSpPr>
            <a:spLocks noGrp="1"/>
          </p:cNvSpPr>
          <p:nvPr/>
        </p:nvSpPr>
        <p:spPr>
          <a:xfrm>
            <a:off x="1581150" y="4543425"/>
            <a:ext cx="2381250" cy="400050"/>
          </a:xfrm>
          <a:prstGeom prst="rect">
            <a:avLst/>
          </a:prstGeom>
          <a:noFill/>
          <a:ln w="0">
            <a:noFill/>
            <a:prstDash val="solid"/>
          </a:ln>
        </p:spPr>
        <p:txBody>
          <a:bodyPr lIns="0" tIns="0" rIns="0" bIns="0" anchor="t"/>
          <a:lstStyle/>
          <a:p>
            <a:pPr algn="l">
              <a:defRPr sz="1050" b="0">
                <a:solidFill>
                  <a:srgbClr val="56616B"/>
                </a:solidFill>
                <a:latin typeface="Arial"/>
                <a:ea typeface="Arial"/>
                <a:cs typeface="Arial"/>
              </a:defRPr>
            </a:pPr>
            <a:r>
              <a:rPr sz="1050" b="0">
                <a:solidFill>
                  <a:srgbClr val="56616B"/>
                </a:solidFill>
                <a:latin typeface="Arial"/>
                <a:ea typeface="Arial"/>
                <a:cs typeface="Arial"/>
              </a:rPr>
              <a:t>Review submissions</a:t>
            </a:r>
          </a:p>
        </p:txBody>
      </p:sp>
      <p:sp>
        <p:nvSpPr>
          <p:cNvPr id="27" name="Rectangle: Rounded Corners 26">
            <a:extLst>
              <a:ext uri="{FF2B5EF4-FFF2-40B4-BE49-F238E27FC236}">
                <a16:creationId xmlns:a16="http://schemas.microsoft.com/office/drawing/2014/main" id="{068A7B2A-AAD0-487E-B50C-0EAD32639426}"/>
              </a:ext>
            </a:extLst>
          </p:cNvPr>
          <p:cNvSpPr>
            <a:spLocks noGrp="1"/>
          </p:cNvSpPr>
          <p:nvPr/>
        </p:nvSpPr>
        <p:spPr>
          <a:xfrm>
            <a:off x="4610100" y="1581150"/>
            <a:ext cx="2667000" cy="628650"/>
          </a:xfrm>
          <a:prstGeom prst="roundRect">
            <a:avLst>
              <a:gd name="adj" fmla="val 18182"/>
            </a:avLst>
          </a:prstGeom>
          <a:solidFill>
            <a:srgbClr val="FFF1E7"/>
          </a:solidFill>
          <a:ln w="11430">
            <a:solidFill>
              <a:srgbClr val="E37222"/>
            </a:solidFill>
            <a:prstDash val="solid"/>
          </a:ln>
        </p:spPr>
        <p:txBody>
          <a:bodyPr/>
          <a:lstStyle/>
          <a:p>
            <a:endParaRPr lang="de-DE"/>
          </a:p>
        </p:txBody>
      </p:sp>
      <p:sp>
        <p:nvSpPr>
          <p:cNvPr id="28" name="Rectangle 27">
            <a:extLst>
              <a:ext uri="{FF2B5EF4-FFF2-40B4-BE49-F238E27FC236}">
                <a16:creationId xmlns:a16="http://schemas.microsoft.com/office/drawing/2014/main" id="{760F195F-D21B-4E0C-AA8E-EDDDCF1FC162}"/>
              </a:ext>
            </a:extLst>
          </p:cNvPr>
          <p:cNvSpPr>
            <a:spLocks noGrp="1"/>
          </p:cNvSpPr>
          <p:nvPr/>
        </p:nvSpPr>
        <p:spPr>
          <a:xfrm>
            <a:off x="4781550" y="1771650"/>
            <a:ext cx="232410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Create or edit a diagram</a:t>
            </a:r>
          </a:p>
        </p:txBody>
      </p:sp>
      <p:sp>
        <p:nvSpPr>
          <p:cNvPr id="29" name="Rectangle: Rounded Corners 28">
            <a:extLst>
              <a:ext uri="{FF2B5EF4-FFF2-40B4-BE49-F238E27FC236}">
                <a16:creationId xmlns:a16="http://schemas.microsoft.com/office/drawing/2014/main" id="{EAEE8252-8220-4DC1-8E8A-ECCB32185C2D}"/>
              </a:ext>
            </a:extLst>
          </p:cNvPr>
          <p:cNvSpPr>
            <a:spLocks noGrp="1"/>
          </p:cNvSpPr>
          <p:nvPr/>
        </p:nvSpPr>
        <p:spPr>
          <a:xfrm>
            <a:off x="7524750" y="1581150"/>
            <a:ext cx="2914650" cy="628650"/>
          </a:xfrm>
          <a:prstGeom prst="roundRect">
            <a:avLst>
              <a:gd name="adj" fmla="val 18182"/>
            </a:avLst>
          </a:prstGeom>
          <a:solidFill>
            <a:srgbClr val="EAF4FB"/>
          </a:solidFill>
          <a:ln w="11430">
            <a:solidFill>
              <a:srgbClr val="0065BD"/>
            </a:solidFill>
            <a:prstDash val="solid"/>
          </a:ln>
        </p:spPr>
        <p:txBody>
          <a:bodyPr/>
          <a:lstStyle/>
          <a:p>
            <a:endParaRPr lang="de-DE"/>
          </a:p>
        </p:txBody>
      </p:sp>
      <p:sp>
        <p:nvSpPr>
          <p:cNvPr id="30" name="Rectangle 29">
            <a:extLst>
              <a:ext uri="{FF2B5EF4-FFF2-40B4-BE49-F238E27FC236}">
                <a16:creationId xmlns:a16="http://schemas.microsoft.com/office/drawing/2014/main" id="{FDBDCC58-0923-464F-98CC-45ABD5160B91}"/>
              </a:ext>
            </a:extLst>
          </p:cNvPr>
          <p:cNvSpPr>
            <a:spLocks noGrp="1"/>
          </p:cNvSpPr>
          <p:nvPr/>
        </p:nvSpPr>
        <p:spPr>
          <a:xfrm>
            <a:off x="7696200" y="1771650"/>
            <a:ext cx="257175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Collaborate and follow</a:t>
            </a:r>
          </a:p>
        </p:txBody>
      </p:sp>
      <p:sp>
        <p:nvSpPr>
          <p:cNvPr id="31" name="Rectangle: Rounded Corners 30">
            <a:extLst>
              <a:ext uri="{FF2B5EF4-FFF2-40B4-BE49-F238E27FC236}">
                <a16:creationId xmlns:a16="http://schemas.microsoft.com/office/drawing/2014/main" id="{302FF0EB-0408-449C-B481-26C3CB700A02}"/>
              </a:ext>
            </a:extLst>
          </p:cNvPr>
          <p:cNvSpPr>
            <a:spLocks noGrp="1"/>
          </p:cNvSpPr>
          <p:nvPr/>
        </p:nvSpPr>
        <p:spPr>
          <a:xfrm>
            <a:off x="4610100" y="2705100"/>
            <a:ext cx="2667000" cy="628650"/>
          </a:xfrm>
          <a:prstGeom prst="roundRect">
            <a:avLst>
              <a:gd name="adj" fmla="val 18182"/>
            </a:avLst>
          </a:prstGeom>
          <a:solidFill>
            <a:srgbClr val="EAF4FB"/>
          </a:solidFill>
          <a:ln w="11430">
            <a:solidFill>
              <a:srgbClr val="0065BD"/>
            </a:solidFill>
            <a:prstDash val="solid"/>
          </a:ln>
        </p:spPr>
        <p:txBody>
          <a:bodyPr/>
          <a:lstStyle/>
          <a:p>
            <a:endParaRPr lang="de-DE"/>
          </a:p>
        </p:txBody>
      </p:sp>
      <p:sp>
        <p:nvSpPr>
          <p:cNvPr id="32" name="Rectangle 31">
            <a:extLst>
              <a:ext uri="{FF2B5EF4-FFF2-40B4-BE49-F238E27FC236}">
                <a16:creationId xmlns:a16="http://schemas.microsoft.com/office/drawing/2014/main" id="{21B003AC-9939-4D18-97D0-1227117060E5}"/>
              </a:ext>
            </a:extLst>
          </p:cNvPr>
          <p:cNvSpPr>
            <a:spLocks noGrp="1"/>
          </p:cNvSpPr>
          <p:nvPr/>
        </p:nvSpPr>
        <p:spPr>
          <a:xfrm>
            <a:off x="4781550" y="2895600"/>
            <a:ext cx="232410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Manage local and shared work</a:t>
            </a:r>
          </a:p>
        </p:txBody>
      </p:sp>
      <p:sp>
        <p:nvSpPr>
          <p:cNvPr id="33" name="Rectangle: Rounded Corners 32">
            <a:extLst>
              <a:ext uri="{FF2B5EF4-FFF2-40B4-BE49-F238E27FC236}">
                <a16:creationId xmlns:a16="http://schemas.microsoft.com/office/drawing/2014/main" id="{D078743E-3E7E-4F94-8877-BC2B1A4EC7A6}"/>
              </a:ext>
            </a:extLst>
          </p:cNvPr>
          <p:cNvSpPr>
            <a:spLocks noGrp="1"/>
          </p:cNvSpPr>
          <p:nvPr/>
        </p:nvSpPr>
        <p:spPr>
          <a:xfrm>
            <a:off x="7524750" y="2705100"/>
            <a:ext cx="2914650" cy="628650"/>
          </a:xfrm>
          <a:prstGeom prst="roundRect">
            <a:avLst>
              <a:gd name="adj" fmla="val 18182"/>
            </a:avLst>
          </a:prstGeom>
          <a:solidFill>
            <a:srgbClr val="FFF1E7"/>
          </a:solidFill>
          <a:ln w="11430">
            <a:solidFill>
              <a:srgbClr val="E37222"/>
            </a:solidFill>
            <a:prstDash val="solid"/>
          </a:ln>
        </p:spPr>
        <p:txBody>
          <a:bodyPr/>
          <a:lstStyle/>
          <a:p>
            <a:endParaRPr lang="de-DE"/>
          </a:p>
        </p:txBody>
      </p:sp>
      <p:sp>
        <p:nvSpPr>
          <p:cNvPr id="34" name="Rectangle 33">
            <a:extLst>
              <a:ext uri="{FF2B5EF4-FFF2-40B4-BE49-F238E27FC236}">
                <a16:creationId xmlns:a16="http://schemas.microsoft.com/office/drawing/2014/main" id="{216F8D9E-9A84-40C8-ACC0-A18FBBCE5BA3}"/>
              </a:ext>
            </a:extLst>
          </p:cNvPr>
          <p:cNvSpPr>
            <a:spLocks noGrp="1"/>
          </p:cNvSpPr>
          <p:nvPr/>
        </p:nvSpPr>
        <p:spPr>
          <a:xfrm>
            <a:off x="7696200" y="2895600"/>
            <a:ext cx="257175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Create quizzes and assess</a:t>
            </a:r>
          </a:p>
        </p:txBody>
      </p:sp>
      <p:sp>
        <p:nvSpPr>
          <p:cNvPr id="35" name="Rectangle: Rounded Corners 34">
            <a:extLst>
              <a:ext uri="{FF2B5EF4-FFF2-40B4-BE49-F238E27FC236}">
                <a16:creationId xmlns:a16="http://schemas.microsoft.com/office/drawing/2014/main" id="{E4DED1EC-C72F-4FF4-8D05-09A762CCEF4F}"/>
              </a:ext>
            </a:extLst>
          </p:cNvPr>
          <p:cNvSpPr>
            <a:spLocks noGrp="1"/>
          </p:cNvSpPr>
          <p:nvPr/>
        </p:nvSpPr>
        <p:spPr>
          <a:xfrm>
            <a:off x="4610100" y="3829050"/>
            <a:ext cx="5829300" cy="628650"/>
          </a:xfrm>
          <a:prstGeom prst="roundRect">
            <a:avLst>
              <a:gd name="adj" fmla="val 18182"/>
            </a:avLst>
          </a:prstGeom>
          <a:solidFill>
            <a:srgbClr val="F1F5DA"/>
          </a:solidFill>
          <a:ln w="11430">
            <a:solidFill>
              <a:srgbClr val="A2AD00"/>
            </a:solidFill>
            <a:prstDash val="solid"/>
          </a:ln>
        </p:spPr>
        <p:txBody>
          <a:bodyPr/>
          <a:lstStyle/>
          <a:p>
            <a:endParaRPr lang="de-DE"/>
          </a:p>
        </p:txBody>
      </p:sp>
      <p:sp>
        <p:nvSpPr>
          <p:cNvPr id="36" name="Rectangle 35">
            <a:extLst>
              <a:ext uri="{FF2B5EF4-FFF2-40B4-BE49-F238E27FC236}">
                <a16:creationId xmlns:a16="http://schemas.microsoft.com/office/drawing/2014/main" id="{596A3D12-23A1-4EBA-BA27-B89182D1EF97}"/>
              </a:ext>
            </a:extLst>
          </p:cNvPr>
          <p:cNvSpPr>
            <a:spLocks noGrp="1"/>
          </p:cNvSpPr>
          <p:nvPr/>
        </p:nvSpPr>
        <p:spPr>
          <a:xfrm>
            <a:off x="4781550" y="4019550"/>
            <a:ext cx="548640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Export and reuse the diagram across hosts</a:t>
            </a:r>
          </a:p>
        </p:txBody>
      </p:sp>
      <p:sp>
        <p:nvSpPr>
          <p:cNvPr id="37" name="Rectangle: Rounded Corners 36">
            <a:extLst>
              <a:ext uri="{FF2B5EF4-FFF2-40B4-BE49-F238E27FC236}">
                <a16:creationId xmlns:a16="http://schemas.microsoft.com/office/drawing/2014/main" id="{80276095-E797-46E1-9FC2-30B42B43C6DD}"/>
              </a:ext>
            </a:extLst>
          </p:cNvPr>
          <p:cNvSpPr>
            <a:spLocks noGrp="1"/>
          </p:cNvSpPr>
          <p:nvPr/>
        </p:nvSpPr>
        <p:spPr>
          <a:xfrm>
            <a:off x="4610100" y="4953000"/>
            <a:ext cx="2667000" cy="628650"/>
          </a:xfrm>
          <a:prstGeom prst="roundRect">
            <a:avLst>
              <a:gd name="adj" fmla="val 18182"/>
            </a:avLst>
          </a:prstGeom>
          <a:solidFill>
            <a:srgbClr val="FFFFFF"/>
          </a:solidFill>
          <a:ln w="11430">
            <a:solidFill>
              <a:srgbClr val="0065BD"/>
            </a:solidFill>
            <a:prstDash val="solid"/>
          </a:ln>
        </p:spPr>
        <p:txBody>
          <a:bodyPr/>
          <a:lstStyle/>
          <a:p>
            <a:endParaRPr lang="de-DE"/>
          </a:p>
        </p:txBody>
      </p:sp>
      <p:sp>
        <p:nvSpPr>
          <p:cNvPr id="38" name="Rectangle 37">
            <a:extLst>
              <a:ext uri="{FF2B5EF4-FFF2-40B4-BE49-F238E27FC236}">
                <a16:creationId xmlns:a16="http://schemas.microsoft.com/office/drawing/2014/main" id="{97E34EA7-8511-4D61-B1E5-3651BF0A60CF}"/>
              </a:ext>
            </a:extLst>
          </p:cNvPr>
          <p:cNvSpPr>
            <a:spLocks noGrp="1"/>
          </p:cNvSpPr>
          <p:nvPr/>
        </p:nvSpPr>
        <p:spPr>
          <a:xfrm>
            <a:off x="4781550" y="5143500"/>
            <a:ext cx="232410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New: follow collaborator</a:t>
            </a:r>
          </a:p>
        </p:txBody>
      </p:sp>
      <p:sp>
        <p:nvSpPr>
          <p:cNvPr id="39" name="Rectangle: Rounded Corners 38">
            <a:extLst>
              <a:ext uri="{FF2B5EF4-FFF2-40B4-BE49-F238E27FC236}">
                <a16:creationId xmlns:a16="http://schemas.microsoft.com/office/drawing/2014/main" id="{375E38CE-DDCB-45DC-92B9-0B90D9830262}"/>
              </a:ext>
            </a:extLst>
          </p:cNvPr>
          <p:cNvSpPr>
            <a:spLocks noGrp="1"/>
          </p:cNvSpPr>
          <p:nvPr/>
        </p:nvSpPr>
        <p:spPr>
          <a:xfrm>
            <a:off x="7524750" y="4953000"/>
            <a:ext cx="2914650" cy="628650"/>
          </a:xfrm>
          <a:prstGeom prst="roundRect">
            <a:avLst>
              <a:gd name="adj" fmla="val 18182"/>
            </a:avLst>
          </a:prstGeom>
          <a:solidFill>
            <a:srgbClr val="FFFFFF"/>
          </a:solidFill>
          <a:ln w="11430">
            <a:solidFill>
              <a:srgbClr val="0065BD"/>
            </a:solidFill>
            <a:prstDash val="solid"/>
          </a:ln>
        </p:spPr>
        <p:txBody>
          <a:bodyPr/>
          <a:lstStyle/>
          <a:p>
            <a:endParaRPr lang="de-DE"/>
          </a:p>
        </p:txBody>
      </p:sp>
      <p:sp>
        <p:nvSpPr>
          <p:cNvPr id="40" name="Rectangle 39">
            <a:extLst>
              <a:ext uri="{FF2B5EF4-FFF2-40B4-BE49-F238E27FC236}">
                <a16:creationId xmlns:a16="http://schemas.microsoft.com/office/drawing/2014/main" id="{FD414DAB-B713-4753-8B54-46B19CCF07BA}"/>
              </a:ext>
            </a:extLst>
          </p:cNvPr>
          <p:cNvSpPr>
            <a:spLocks noGrp="1"/>
          </p:cNvSpPr>
          <p:nvPr/>
        </p:nvSpPr>
        <p:spPr>
          <a:xfrm>
            <a:off x="7696200" y="5143500"/>
            <a:ext cx="2571750" cy="266700"/>
          </a:xfrm>
          <a:prstGeom prst="rect">
            <a:avLst/>
          </a:prstGeom>
          <a:noFill/>
          <a:ln w="0">
            <a:noFill/>
            <a:prstDash val="solid"/>
          </a:ln>
        </p:spPr>
        <p:txBody>
          <a:bodyPr lIns="0" tIns="0" rIns="0" bIns="0" anchor="ctr"/>
          <a:lstStyle/>
          <a:p>
            <a:pPr algn="ctr">
              <a:defRPr sz="1275" b="1">
                <a:solidFill>
                  <a:srgbClr val="111820"/>
                </a:solidFill>
                <a:latin typeface="Arial"/>
                <a:ea typeface="Arial"/>
                <a:cs typeface="Arial"/>
              </a:defRPr>
            </a:pPr>
            <a:r>
              <a:rPr sz="1275" b="1">
                <a:solidFill>
                  <a:srgbClr val="111820"/>
                </a:solidFill>
                <a:latin typeface="Arial"/>
                <a:ea typeface="Arial"/>
                <a:cs typeface="Arial"/>
              </a:rPr>
              <a:t>New: export editable PPTX</a:t>
            </a:r>
          </a:p>
        </p:txBody>
      </p:sp>
    </p:spTree>
    <p:extLst>
      <p:ext uri="{BB962C8B-B14F-4D97-AF65-F5344CB8AC3E}">
        <p14:creationId xmlns:p14="http://schemas.microsoft.com/office/powerpoint/2010/main" val="182686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 label">
            <a:extLst>
              <a:ext uri="{FF2B5EF4-FFF2-40B4-BE49-F238E27FC236}">
                <a16:creationId xmlns:a16="http://schemas.microsoft.com/office/drawing/2014/main" id="{308A4526-9443-4B3B-949B-D59C547C32C2}"/>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1 · EDITING</a:t>
            </a:r>
          </a:p>
        </p:txBody>
      </p:sp>
      <p:sp>
        <p:nvSpPr>
          <p:cNvPr id="2" name="Slide title">
            <a:extLst>
              <a:ext uri="{FF2B5EF4-FFF2-40B4-BE49-F238E27FC236}">
                <a16:creationId xmlns:a16="http://schemas.microsoft.com/office/drawing/2014/main" id="{5B5527D1-E775-4018-B93C-2F0A9DE1861C}"/>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Edges became directly manipulable</a:t>
            </a:r>
          </a:p>
        </p:txBody>
      </p:sp>
      <p:pic>
        <p:nvPicPr>
          <p:cNvPr id="18" name="Picture 17"/>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3B6D697B-AF65-403B-8E8B-567456B2FA76}"/>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2E9B58FE-4EA1-4207-89B3-89A9F278CEB2}"/>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7</a:t>
            </a:r>
          </a:p>
        </p:txBody>
      </p:sp>
      <p:sp>
        <p:nvSpPr>
          <p:cNvPr id="6" name="Footer">
            <a:extLst>
              <a:ext uri="{FF2B5EF4-FFF2-40B4-BE49-F238E27FC236}">
                <a16:creationId xmlns:a16="http://schemas.microsoft.com/office/drawing/2014/main" id="{713A1031-B7F3-47DA-ABFF-68C43660ED07}"/>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6B328F1B-EAB4-4870-9C87-24DB40DDC377}"/>
              </a:ext>
            </a:extLst>
          </p:cNvPr>
          <p:cNvSpPr>
            <a:spLocks noGrp="1"/>
          </p:cNvSpPr>
          <p:nvPr/>
        </p:nvSpPr>
        <p:spPr>
          <a:xfrm>
            <a:off x="495300" y="1381125"/>
            <a:ext cx="5381625" cy="3905250"/>
          </a:xfrm>
          <a:prstGeom prst="roundRect">
            <a:avLst>
              <a:gd name="adj" fmla="val 2927"/>
            </a:avLst>
          </a:prstGeom>
          <a:solidFill>
            <a:srgbClr val="FFFFFF"/>
          </a:solidFill>
          <a:ln w="11430">
            <a:solidFill>
              <a:srgbClr val="DDE3E8"/>
            </a:solidFill>
            <a:prstDash val="solid"/>
          </a:ln>
        </p:spPr>
        <p:txBody>
          <a:bodyPr/>
          <a:lstStyle/>
          <a:p>
            <a:endParaRPr lang="de-DE"/>
          </a:p>
        </p:txBody>
      </p:sp>
      <p:sp>
        <p:nvSpPr>
          <p:cNvPr id="8" name="Rectangle: Rounded Corners 7">
            <a:extLst>
              <a:ext uri="{FF2B5EF4-FFF2-40B4-BE49-F238E27FC236}">
                <a16:creationId xmlns:a16="http://schemas.microsoft.com/office/drawing/2014/main" id="{43480BB1-FB65-4491-BA87-F942BB103A07}"/>
              </a:ext>
            </a:extLst>
          </p:cNvPr>
          <p:cNvSpPr>
            <a:spLocks noGrp="1"/>
          </p:cNvSpPr>
          <p:nvPr/>
        </p:nvSpPr>
        <p:spPr>
          <a:xfrm>
            <a:off x="6305550" y="1381125"/>
            <a:ext cx="5391150" cy="3905250"/>
          </a:xfrm>
          <a:prstGeom prst="roundRect">
            <a:avLst>
              <a:gd name="adj" fmla="val 2927"/>
            </a:avLst>
          </a:prstGeom>
          <a:solidFill>
            <a:srgbClr val="FFFFFF"/>
          </a:solidFill>
          <a:ln w="11430">
            <a:solidFill>
              <a:srgbClr val="DDE3E8"/>
            </a:solidFill>
            <a:prstDash val="solid"/>
          </a:ln>
        </p:spPr>
        <p:txBody>
          <a:bodyPr/>
          <a:lstStyle/>
          <a:p>
            <a:endParaRPr lang="de-DE"/>
          </a:p>
        </p:txBody>
      </p:sp>
      <p:pic>
        <p:nvPicPr>
          <p:cNvPr id="24" name="Picture 23"/>
          <p:cNvPicPr>
            <a:picLocks noChangeAspect="1"/>
          </p:cNvPicPr>
          <p:nvPr/>
        </p:nvPicPr>
        <p:blipFill>
          <a:blip r:embed="rId4"/>
          <a:stretch/>
        </p:blipFill>
        <p:spPr>
          <a:xfrm>
            <a:off x="1451301" y="1581150"/>
            <a:ext cx="3469623" cy="2724150"/>
          </a:xfrm>
          <a:prstGeom prst="rect">
            <a:avLst/>
          </a:prstGeom>
        </p:spPr>
      </p:pic>
      <p:pic>
        <p:nvPicPr>
          <p:cNvPr id="25" name="Picture 24"/>
          <p:cNvPicPr>
            <a:picLocks noChangeAspect="1"/>
          </p:cNvPicPr>
          <p:nvPr/>
        </p:nvPicPr>
        <p:blipFill>
          <a:blip r:embed="rId5"/>
          <a:stretch/>
        </p:blipFill>
        <p:spPr>
          <a:xfrm>
            <a:off x="6534150" y="1601537"/>
            <a:ext cx="4933950" cy="2683376"/>
          </a:xfrm>
          <a:prstGeom prst="rect">
            <a:avLst/>
          </a:prstGeom>
        </p:spPr>
      </p:pic>
      <p:sp>
        <p:nvSpPr>
          <p:cNvPr id="11" name="Rectangle 10">
            <a:extLst>
              <a:ext uri="{FF2B5EF4-FFF2-40B4-BE49-F238E27FC236}">
                <a16:creationId xmlns:a16="http://schemas.microsoft.com/office/drawing/2014/main" id="{A2CBF935-CAEC-474B-9F52-2ECA965715DA}"/>
              </a:ext>
            </a:extLst>
          </p:cNvPr>
          <p:cNvSpPr>
            <a:spLocks noGrp="1"/>
          </p:cNvSpPr>
          <p:nvPr/>
        </p:nvSpPr>
        <p:spPr>
          <a:xfrm>
            <a:off x="742950" y="4476750"/>
            <a:ext cx="4476750" cy="304800"/>
          </a:xfrm>
          <a:prstGeom prst="rect">
            <a:avLst/>
          </a:prstGeom>
          <a:noFill/>
          <a:ln w="0">
            <a:noFill/>
            <a:prstDash val="solid"/>
          </a:ln>
        </p:spPr>
        <p:txBody>
          <a:bodyPr lIns="0" tIns="0" rIns="0" bIns="0" anchor="t"/>
          <a:lstStyle/>
          <a:p>
            <a:pPr algn="l">
              <a:defRPr sz="1800" b="1">
                <a:solidFill>
                  <a:srgbClr val="003359"/>
                </a:solidFill>
                <a:latin typeface="Arial"/>
                <a:ea typeface="Arial"/>
                <a:cs typeface="Arial"/>
              </a:defRPr>
            </a:pPr>
            <a:r>
              <a:rPr sz="1800" b="1">
                <a:solidFill>
                  <a:srgbClr val="003359"/>
                </a:solidFill>
                <a:latin typeface="Arial"/>
                <a:ea typeface="Arial"/>
                <a:cs typeface="Arial"/>
              </a:rPr>
              <a:t>Bend, drag, reconnect</a:t>
            </a:r>
          </a:p>
        </p:txBody>
      </p:sp>
      <p:sp>
        <p:nvSpPr>
          <p:cNvPr id="12" name="Rectangle 11">
            <a:extLst>
              <a:ext uri="{FF2B5EF4-FFF2-40B4-BE49-F238E27FC236}">
                <a16:creationId xmlns:a16="http://schemas.microsoft.com/office/drawing/2014/main" id="{E4186094-F139-46C0-B3AB-D9D33133CE4B}"/>
              </a:ext>
            </a:extLst>
          </p:cNvPr>
          <p:cNvSpPr>
            <a:spLocks noGrp="1"/>
          </p:cNvSpPr>
          <p:nvPr/>
        </p:nvSpPr>
        <p:spPr>
          <a:xfrm>
            <a:off x="742950" y="4857750"/>
            <a:ext cx="4762500" cy="3238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Precise bend handles · waypoint dragging · React Flow reconnection</a:t>
            </a:r>
          </a:p>
        </p:txBody>
      </p:sp>
      <p:sp>
        <p:nvSpPr>
          <p:cNvPr id="13" name="Rectangle 12">
            <a:extLst>
              <a:ext uri="{FF2B5EF4-FFF2-40B4-BE49-F238E27FC236}">
                <a16:creationId xmlns:a16="http://schemas.microsoft.com/office/drawing/2014/main" id="{4FA7FBA7-584A-48B6-B0B1-4C29494DAE45}"/>
              </a:ext>
            </a:extLst>
          </p:cNvPr>
          <p:cNvSpPr>
            <a:spLocks noGrp="1"/>
          </p:cNvSpPr>
          <p:nvPr/>
        </p:nvSpPr>
        <p:spPr>
          <a:xfrm>
            <a:off x="6553200" y="4476750"/>
            <a:ext cx="4476750" cy="304800"/>
          </a:xfrm>
          <a:prstGeom prst="rect">
            <a:avLst/>
          </a:prstGeom>
          <a:noFill/>
          <a:ln w="0">
            <a:noFill/>
            <a:prstDash val="solid"/>
          </a:ln>
        </p:spPr>
        <p:txBody>
          <a:bodyPr lIns="0" tIns="0" rIns="0" bIns="0" anchor="t"/>
          <a:lstStyle/>
          <a:p>
            <a:pPr algn="l">
              <a:defRPr sz="1800" b="1">
                <a:solidFill>
                  <a:srgbClr val="003359"/>
                </a:solidFill>
                <a:latin typeface="Arial"/>
                <a:ea typeface="Arial"/>
                <a:cs typeface="Arial"/>
              </a:defRPr>
            </a:pPr>
            <a:r>
              <a:rPr sz="1800" b="1">
                <a:solidFill>
                  <a:srgbClr val="003359"/>
                </a:solidFill>
                <a:latin typeface="Arial"/>
                <a:ea typeface="Arial"/>
                <a:cs typeface="Arial"/>
              </a:rPr>
              <a:t>Read dense diagrams</a:t>
            </a:r>
          </a:p>
        </p:txBody>
      </p:sp>
      <p:sp>
        <p:nvSpPr>
          <p:cNvPr id="14" name="Rectangle 13">
            <a:extLst>
              <a:ext uri="{FF2B5EF4-FFF2-40B4-BE49-F238E27FC236}">
                <a16:creationId xmlns:a16="http://schemas.microsoft.com/office/drawing/2014/main" id="{310EEC98-E71D-4F1B-97B2-C24E0AB4B4A2}"/>
              </a:ext>
            </a:extLst>
          </p:cNvPr>
          <p:cNvSpPr>
            <a:spLocks noGrp="1"/>
          </p:cNvSpPr>
          <p:nvPr/>
        </p:nvSpPr>
        <p:spPr>
          <a:xfrm>
            <a:off x="6553200" y="4857750"/>
            <a:ext cx="4762500" cy="3238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Line jumps · adaptive handles · compact routing · manual labels</a:t>
            </a:r>
          </a:p>
        </p:txBody>
      </p:sp>
      <p:sp>
        <p:nvSpPr>
          <p:cNvPr id="15" name="Rectangle 14">
            <a:extLst>
              <a:ext uri="{FF2B5EF4-FFF2-40B4-BE49-F238E27FC236}">
                <a16:creationId xmlns:a16="http://schemas.microsoft.com/office/drawing/2014/main" id="{E1165764-53D0-4423-817F-F4612E707153}"/>
              </a:ext>
            </a:extLst>
          </p:cNvPr>
          <p:cNvSpPr>
            <a:spLocks noGrp="1"/>
          </p:cNvSpPr>
          <p:nvPr/>
        </p:nvSpPr>
        <p:spPr>
          <a:xfrm>
            <a:off x="742950" y="5638800"/>
            <a:ext cx="10706100" cy="342900"/>
          </a:xfrm>
          <a:prstGeom prst="rect">
            <a:avLst/>
          </a:prstGeom>
          <a:noFill/>
          <a:ln w="0">
            <a:noFill/>
            <a:prstDash val="solid"/>
          </a:ln>
        </p:spPr>
        <p:txBody>
          <a:bodyPr lIns="0" tIns="0" rIns="0" bIns="0" anchor="t"/>
          <a:lstStyle/>
          <a:p>
            <a:pPr algn="ctr">
              <a:defRPr sz="1350" b="0">
                <a:solidFill>
                  <a:srgbClr val="56616B"/>
                </a:solidFill>
                <a:latin typeface="Arial"/>
                <a:ea typeface="Arial"/>
                <a:cs typeface="Arial"/>
              </a:defRPr>
            </a:pPr>
            <a:r>
              <a:rPr sz="1350" b="0">
                <a:solidFill>
                  <a:srgbClr val="56616B"/>
                </a:solidFill>
                <a:latin typeface="Arial"/>
                <a:ea typeface="Arial"/>
                <a:cs typeface="Arial"/>
              </a:rPr>
              <a:t>Also: alignment guides, larger hit areas, keyboard deletion, class-member reordering, and scroll lock.</a:t>
            </a:r>
          </a:p>
        </p:txBody>
      </p:sp>
    </p:spTree>
    <p:extLst>
      <p:ext uri="{BB962C8B-B14F-4D97-AF65-F5344CB8AC3E}">
        <p14:creationId xmlns:p14="http://schemas.microsoft.com/office/powerpoint/2010/main" val="1100530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ection label">
            <a:extLst>
              <a:ext uri="{FF2B5EF4-FFF2-40B4-BE49-F238E27FC236}">
                <a16:creationId xmlns:a16="http://schemas.microsoft.com/office/drawing/2014/main" id="{E996F6E1-FDD2-45F2-9FDB-DE514E2AEB4B}"/>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2 · COLLABORATION</a:t>
            </a:r>
          </a:p>
        </p:txBody>
      </p:sp>
      <p:sp>
        <p:nvSpPr>
          <p:cNvPr id="2" name="Slide title">
            <a:extLst>
              <a:ext uri="{FF2B5EF4-FFF2-40B4-BE49-F238E27FC236}">
                <a16:creationId xmlns:a16="http://schemas.microsoft.com/office/drawing/2014/main" id="{D3BAA857-EF53-4B07-8084-7EB8D78E98FE}"/>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Collaboration now shows who is doing what</a:t>
            </a:r>
          </a:p>
        </p:txBody>
      </p:sp>
      <p:pic>
        <p:nvPicPr>
          <p:cNvPr id="16" name="Picture 15"/>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83C5157D-E884-41EB-A43E-113B7B3E9DE1}"/>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32A2CBFF-E527-4FD5-A79D-5F4FF1770C77}"/>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8</a:t>
            </a:r>
          </a:p>
        </p:txBody>
      </p:sp>
      <p:sp>
        <p:nvSpPr>
          <p:cNvPr id="6" name="Footer">
            <a:extLst>
              <a:ext uri="{FF2B5EF4-FFF2-40B4-BE49-F238E27FC236}">
                <a16:creationId xmlns:a16="http://schemas.microsoft.com/office/drawing/2014/main" id="{5B8FE259-49EF-4EF7-9860-C56AD35022B7}"/>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20" name="Picture 19"/>
          <p:cNvPicPr>
            <a:picLocks noChangeAspect="1"/>
          </p:cNvPicPr>
          <p:nvPr/>
        </p:nvPicPr>
        <p:blipFill>
          <a:blip r:embed="rId4"/>
          <a:stretch/>
        </p:blipFill>
        <p:spPr>
          <a:xfrm>
            <a:off x="722056" y="1409700"/>
            <a:ext cx="6690237" cy="3638550"/>
          </a:xfrm>
          <a:prstGeom prst="rect">
            <a:avLst/>
          </a:prstGeom>
        </p:spPr>
      </p:pic>
      <p:pic>
        <p:nvPicPr>
          <p:cNvPr id="21" name="Picture 20"/>
          <p:cNvPicPr>
            <a:picLocks noChangeAspect="1"/>
          </p:cNvPicPr>
          <p:nvPr/>
        </p:nvPicPr>
        <p:blipFill>
          <a:blip r:embed="rId5"/>
          <a:stretch/>
        </p:blipFill>
        <p:spPr>
          <a:xfrm>
            <a:off x="7886700" y="2213806"/>
            <a:ext cx="3752850" cy="2030338"/>
          </a:xfrm>
          <a:prstGeom prst="rect">
            <a:avLst/>
          </a:prstGeom>
        </p:spPr>
      </p:pic>
      <p:sp>
        <p:nvSpPr>
          <p:cNvPr id="9" name="Rectangle 8">
            <a:extLst>
              <a:ext uri="{FF2B5EF4-FFF2-40B4-BE49-F238E27FC236}">
                <a16:creationId xmlns:a16="http://schemas.microsoft.com/office/drawing/2014/main" id="{01CBABE2-5409-41BA-A3ED-29380D43B0A9}"/>
              </a:ext>
            </a:extLst>
          </p:cNvPr>
          <p:cNvSpPr>
            <a:spLocks noGrp="1"/>
          </p:cNvSpPr>
          <p:nvPr/>
        </p:nvSpPr>
        <p:spPr>
          <a:xfrm>
            <a:off x="666750" y="5143500"/>
            <a:ext cx="4381500" cy="304800"/>
          </a:xfrm>
          <a:prstGeom prst="rect">
            <a:avLst/>
          </a:prstGeom>
          <a:noFill/>
          <a:ln w="0">
            <a:noFill/>
            <a:prstDash val="solid"/>
          </a:ln>
        </p:spPr>
        <p:txBody>
          <a:bodyPr lIns="0" tIns="0" rIns="0" bIns="0" anchor="t"/>
          <a:lstStyle/>
          <a:p>
            <a:pPr algn="l">
              <a:defRPr sz="1725" b="1">
                <a:solidFill>
                  <a:srgbClr val="003359"/>
                </a:solidFill>
                <a:latin typeface="Arial"/>
                <a:ea typeface="Arial"/>
                <a:cs typeface="Arial"/>
              </a:defRPr>
            </a:pPr>
            <a:r>
              <a:rPr sz="1725" b="1">
                <a:solidFill>
                  <a:srgbClr val="003359"/>
                </a:solidFill>
                <a:latin typeface="Arial"/>
                <a:ea typeface="Arial"/>
                <a:cs typeface="Arial"/>
              </a:rPr>
              <a:t>Named cursors and selections</a:t>
            </a:r>
          </a:p>
        </p:txBody>
      </p:sp>
      <p:sp>
        <p:nvSpPr>
          <p:cNvPr id="10" name="Rectangle 9">
            <a:extLst>
              <a:ext uri="{FF2B5EF4-FFF2-40B4-BE49-F238E27FC236}">
                <a16:creationId xmlns:a16="http://schemas.microsoft.com/office/drawing/2014/main" id="{570F7590-01D7-4CAF-82C7-11F44B975E7D}"/>
              </a:ext>
            </a:extLst>
          </p:cNvPr>
          <p:cNvSpPr>
            <a:spLocks noGrp="1"/>
          </p:cNvSpPr>
          <p:nvPr/>
        </p:nvSpPr>
        <p:spPr>
          <a:xfrm>
            <a:off x="666750" y="5524500"/>
            <a:ext cx="4762500" cy="45720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Participants can see focus and movement before the final model change arrives.</a:t>
            </a:r>
          </a:p>
        </p:txBody>
      </p:sp>
      <p:sp>
        <p:nvSpPr>
          <p:cNvPr id="11" name="Rectangle 10">
            <a:extLst>
              <a:ext uri="{FF2B5EF4-FFF2-40B4-BE49-F238E27FC236}">
                <a16:creationId xmlns:a16="http://schemas.microsoft.com/office/drawing/2014/main" id="{A9DFB31D-7CC9-4221-B7D7-7737A0CE2D5F}"/>
              </a:ext>
            </a:extLst>
          </p:cNvPr>
          <p:cNvSpPr>
            <a:spLocks noGrp="1"/>
          </p:cNvSpPr>
          <p:nvPr/>
        </p:nvSpPr>
        <p:spPr>
          <a:xfrm>
            <a:off x="6362700" y="5143500"/>
            <a:ext cx="4000500" cy="304800"/>
          </a:xfrm>
          <a:prstGeom prst="rect">
            <a:avLst/>
          </a:prstGeom>
          <a:noFill/>
          <a:ln w="0">
            <a:noFill/>
            <a:prstDash val="solid"/>
          </a:ln>
        </p:spPr>
        <p:txBody>
          <a:bodyPr lIns="0" tIns="0" rIns="0" bIns="0" anchor="t"/>
          <a:lstStyle/>
          <a:p>
            <a:pPr algn="l">
              <a:defRPr sz="1725" b="1">
                <a:solidFill>
                  <a:srgbClr val="003359"/>
                </a:solidFill>
                <a:latin typeface="Arial"/>
                <a:ea typeface="Arial"/>
                <a:cs typeface="Arial"/>
              </a:defRPr>
            </a:pPr>
            <a:r>
              <a:rPr sz="1725" b="1">
                <a:solidFill>
                  <a:srgbClr val="003359"/>
                </a:solidFill>
                <a:latin typeface="Arial"/>
                <a:ea typeface="Arial"/>
                <a:cs typeface="Arial"/>
              </a:rPr>
              <a:t>Viewport following</a:t>
            </a:r>
          </a:p>
        </p:txBody>
      </p:sp>
      <p:sp>
        <p:nvSpPr>
          <p:cNvPr id="12" name="Rectangle 11">
            <a:extLst>
              <a:ext uri="{FF2B5EF4-FFF2-40B4-BE49-F238E27FC236}">
                <a16:creationId xmlns:a16="http://schemas.microsoft.com/office/drawing/2014/main" id="{4E42793D-74DF-4581-BF38-4A83DC853A33}"/>
              </a:ext>
            </a:extLst>
          </p:cNvPr>
          <p:cNvSpPr>
            <a:spLocks noGrp="1"/>
          </p:cNvSpPr>
          <p:nvPr/>
        </p:nvSpPr>
        <p:spPr>
          <a:xfrm>
            <a:off x="6362700" y="5524500"/>
            <a:ext cx="4762500" cy="45720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A teammate or instructor can guide attention across a larger model.</a:t>
            </a:r>
          </a:p>
        </p:txBody>
      </p:sp>
      <p:sp>
        <p:nvSpPr>
          <p:cNvPr id="13" name="Rectangle 12">
            <a:extLst>
              <a:ext uri="{FF2B5EF4-FFF2-40B4-BE49-F238E27FC236}">
                <a16:creationId xmlns:a16="http://schemas.microsoft.com/office/drawing/2014/main" id="{C907B9CA-A1A5-4FAF-BBB3-6EAA867CB4B7}"/>
              </a:ext>
            </a:extLst>
          </p:cNvPr>
          <p:cNvSpPr>
            <a:spLocks noGrp="1"/>
          </p:cNvSpPr>
          <p:nvPr/>
        </p:nvSpPr>
        <p:spPr>
          <a:xfrm>
            <a:off x="2000250" y="6105525"/>
            <a:ext cx="8191500" cy="228600"/>
          </a:xfrm>
          <a:prstGeom prst="rect">
            <a:avLst/>
          </a:prstGeom>
          <a:noFill/>
          <a:ln w="0">
            <a:noFill/>
            <a:prstDash val="solid"/>
          </a:ln>
        </p:spPr>
        <p:txBody>
          <a:bodyPr lIns="0" tIns="0" rIns="0" bIns="0" anchor="t"/>
          <a:lstStyle/>
          <a:p>
            <a:pPr algn="ctr">
              <a:defRPr sz="1275" b="1">
                <a:solidFill>
                  <a:srgbClr val="E37222"/>
                </a:solidFill>
                <a:latin typeface="Arial"/>
                <a:ea typeface="Arial"/>
                <a:cs typeface="Arial"/>
              </a:defRPr>
            </a:pPr>
            <a:r>
              <a:rPr sz="1275" b="1">
                <a:solidFill>
                  <a:srgbClr val="E37222"/>
                </a:solidFill>
                <a:latin typeface="Arial"/>
                <a:ea typeface="Arial"/>
                <a:cs typeface="Arial"/>
              </a:rPr>
              <a:t>Awareness is transient session state - it never becomes part of the persisted diagram.</a:t>
            </a:r>
          </a:p>
        </p:txBody>
      </p:sp>
    </p:spTree>
    <p:extLst>
      <p:ext uri="{BB962C8B-B14F-4D97-AF65-F5344CB8AC3E}">
        <p14:creationId xmlns:p14="http://schemas.microsoft.com/office/powerpoint/2010/main" val="693520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 label">
            <a:extLst>
              <a:ext uri="{FF2B5EF4-FFF2-40B4-BE49-F238E27FC236}">
                <a16:creationId xmlns:a16="http://schemas.microsoft.com/office/drawing/2014/main" id="{BC7EB44A-6A93-423D-8072-F1D047A80B26}"/>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1 · STANDALONE</a:t>
            </a:r>
          </a:p>
        </p:txBody>
      </p:sp>
      <p:sp>
        <p:nvSpPr>
          <p:cNvPr id="2" name="Slide title">
            <a:extLst>
              <a:ext uri="{FF2B5EF4-FFF2-40B4-BE49-F238E27FC236}">
                <a16:creationId xmlns:a16="http://schemas.microsoft.com/office/drawing/2014/main" id="{C36922DF-ECE9-495A-A7AB-176FEA33CF6C}"/>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Standalone Apollon became a diagram workspace</a:t>
            </a:r>
          </a:p>
        </p:txBody>
      </p:sp>
      <p:pic>
        <p:nvPicPr>
          <p:cNvPr id="36" name="Picture 35"/>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215B02DB-1761-41D2-AC3C-35F17DF0F985}"/>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23D2270F-6802-4C34-A1E9-4CE5F5397BE5}"/>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9</a:t>
            </a:r>
          </a:p>
        </p:txBody>
      </p:sp>
      <p:sp>
        <p:nvSpPr>
          <p:cNvPr id="6" name="Footer">
            <a:extLst>
              <a:ext uri="{FF2B5EF4-FFF2-40B4-BE49-F238E27FC236}">
                <a16:creationId xmlns:a16="http://schemas.microsoft.com/office/drawing/2014/main" id="{022D71AD-82F0-434C-8FDB-B63A20E5A7CD}"/>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6">
            <a:extLst>
              <a:ext uri="{FF2B5EF4-FFF2-40B4-BE49-F238E27FC236}">
                <a16:creationId xmlns:a16="http://schemas.microsoft.com/office/drawing/2014/main" id="{DD07DCBB-69C6-4A86-8749-B35602EC4962}"/>
              </a:ext>
            </a:extLst>
          </p:cNvPr>
          <p:cNvSpPr>
            <a:spLocks noGrp="1"/>
          </p:cNvSpPr>
          <p:nvPr/>
        </p:nvSpPr>
        <p:spPr>
          <a:xfrm>
            <a:off x="2438400" y="2781300"/>
            <a:ext cx="476250" cy="400050"/>
          </a:xfrm>
          <a:prstGeom prst="rect">
            <a:avLst/>
          </a:prstGeom>
          <a:noFill/>
          <a:ln w="0">
            <a:noFill/>
            <a:prstDash val="solid"/>
          </a:ln>
        </p:spPr>
        <p:txBody>
          <a:bodyPr lIns="0" tIns="0" rIns="0" bIns="0" anchor="ctr"/>
          <a:lstStyle/>
          <a:p>
            <a:pPr algn="ctr">
              <a:defRPr sz="2550" b="1">
                <a:solidFill>
                  <a:srgbClr val="98C6EA"/>
                </a:solidFill>
                <a:latin typeface="Arial"/>
                <a:ea typeface="Arial"/>
                <a:cs typeface="Arial"/>
              </a:defRPr>
            </a:pPr>
            <a:r>
              <a:rPr sz="2550" b="1">
                <a:solidFill>
                  <a:srgbClr val="98C6EA"/>
                </a:solidFill>
                <a:latin typeface="Arial"/>
                <a:ea typeface="Arial"/>
                <a:cs typeface="Arial"/>
              </a:rPr>
              <a:t>→</a:t>
            </a:r>
          </a:p>
        </p:txBody>
      </p:sp>
      <p:sp>
        <p:nvSpPr>
          <p:cNvPr id="8" name="Rectangle 7">
            <a:extLst>
              <a:ext uri="{FF2B5EF4-FFF2-40B4-BE49-F238E27FC236}">
                <a16:creationId xmlns:a16="http://schemas.microsoft.com/office/drawing/2014/main" id="{0DD0356D-F6D3-48D6-ACA4-91C473DDC585}"/>
              </a:ext>
            </a:extLst>
          </p:cNvPr>
          <p:cNvSpPr>
            <a:spLocks noGrp="1"/>
          </p:cNvSpPr>
          <p:nvPr/>
        </p:nvSpPr>
        <p:spPr>
          <a:xfrm>
            <a:off x="4591050" y="2781300"/>
            <a:ext cx="476250" cy="400050"/>
          </a:xfrm>
          <a:prstGeom prst="rect">
            <a:avLst/>
          </a:prstGeom>
          <a:noFill/>
          <a:ln w="0">
            <a:noFill/>
            <a:prstDash val="solid"/>
          </a:ln>
        </p:spPr>
        <p:txBody>
          <a:bodyPr lIns="0" tIns="0" rIns="0" bIns="0" anchor="ctr"/>
          <a:lstStyle/>
          <a:p>
            <a:pPr algn="ctr">
              <a:defRPr sz="2550" b="1">
                <a:solidFill>
                  <a:srgbClr val="98C6EA"/>
                </a:solidFill>
                <a:latin typeface="Arial"/>
                <a:ea typeface="Arial"/>
                <a:cs typeface="Arial"/>
              </a:defRPr>
            </a:pPr>
            <a:r>
              <a:rPr sz="2550" b="1">
                <a:solidFill>
                  <a:srgbClr val="98C6EA"/>
                </a:solidFill>
                <a:latin typeface="Arial"/>
                <a:ea typeface="Arial"/>
                <a:cs typeface="Arial"/>
              </a:rPr>
              <a:t>→</a:t>
            </a:r>
          </a:p>
        </p:txBody>
      </p:sp>
      <p:sp>
        <p:nvSpPr>
          <p:cNvPr id="9" name="Rectangle 8">
            <a:extLst>
              <a:ext uri="{FF2B5EF4-FFF2-40B4-BE49-F238E27FC236}">
                <a16:creationId xmlns:a16="http://schemas.microsoft.com/office/drawing/2014/main" id="{83D83903-0A62-457D-9FF0-8DF7CC6CDA00}"/>
              </a:ext>
            </a:extLst>
          </p:cNvPr>
          <p:cNvSpPr>
            <a:spLocks noGrp="1"/>
          </p:cNvSpPr>
          <p:nvPr/>
        </p:nvSpPr>
        <p:spPr>
          <a:xfrm>
            <a:off x="6743700" y="2781300"/>
            <a:ext cx="476250" cy="400050"/>
          </a:xfrm>
          <a:prstGeom prst="rect">
            <a:avLst/>
          </a:prstGeom>
          <a:noFill/>
          <a:ln w="0">
            <a:noFill/>
            <a:prstDash val="solid"/>
          </a:ln>
        </p:spPr>
        <p:txBody>
          <a:bodyPr lIns="0" tIns="0" rIns="0" bIns="0" anchor="ctr"/>
          <a:lstStyle/>
          <a:p>
            <a:pPr algn="ctr">
              <a:defRPr sz="2550" b="1">
                <a:solidFill>
                  <a:srgbClr val="98C6EA"/>
                </a:solidFill>
                <a:latin typeface="Arial"/>
                <a:ea typeface="Arial"/>
                <a:cs typeface="Arial"/>
              </a:defRPr>
            </a:pPr>
            <a:r>
              <a:rPr sz="2550" b="1">
                <a:solidFill>
                  <a:srgbClr val="98C6EA"/>
                </a:solidFill>
                <a:latin typeface="Arial"/>
                <a:ea typeface="Arial"/>
                <a:cs typeface="Arial"/>
              </a:rPr>
              <a:t>→</a:t>
            </a:r>
          </a:p>
        </p:txBody>
      </p:sp>
      <p:sp>
        <p:nvSpPr>
          <p:cNvPr id="10" name="Rectangle 9">
            <a:extLst>
              <a:ext uri="{FF2B5EF4-FFF2-40B4-BE49-F238E27FC236}">
                <a16:creationId xmlns:a16="http://schemas.microsoft.com/office/drawing/2014/main" id="{4E409CE4-0266-4C73-A87D-D06F90D04498}"/>
              </a:ext>
            </a:extLst>
          </p:cNvPr>
          <p:cNvSpPr>
            <a:spLocks noGrp="1"/>
          </p:cNvSpPr>
          <p:nvPr/>
        </p:nvSpPr>
        <p:spPr>
          <a:xfrm>
            <a:off x="8896350" y="2781300"/>
            <a:ext cx="476250" cy="400050"/>
          </a:xfrm>
          <a:prstGeom prst="rect">
            <a:avLst/>
          </a:prstGeom>
          <a:noFill/>
          <a:ln w="0">
            <a:noFill/>
            <a:prstDash val="solid"/>
          </a:ln>
        </p:spPr>
        <p:txBody>
          <a:bodyPr lIns="0" tIns="0" rIns="0" bIns="0" anchor="ctr"/>
          <a:lstStyle/>
          <a:p>
            <a:pPr algn="ctr">
              <a:defRPr sz="2550" b="1">
                <a:solidFill>
                  <a:srgbClr val="98C6EA"/>
                </a:solidFill>
                <a:latin typeface="Arial"/>
                <a:ea typeface="Arial"/>
                <a:cs typeface="Arial"/>
              </a:defRPr>
            </a:pPr>
            <a:r>
              <a:rPr sz="2550" b="1">
                <a:solidFill>
                  <a:srgbClr val="98C6EA"/>
                </a:solidFill>
                <a:latin typeface="Arial"/>
                <a:ea typeface="Arial"/>
                <a:cs typeface="Arial"/>
              </a:rPr>
              <a:t>→</a:t>
            </a:r>
          </a:p>
        </p:txBody>
      </p:sp>
      <p:sp>
        <p:nvSpPr>
          <p:cNvPr id="11" name="Oval 10">
            <a:extLst>
              <a:ext uri="{FF2B5EF4-FFF2-40B4-BE49-F238E27FC236}">
                <a16:creationId xmlns:a16="http://schemas.microsoft.com/office/drawing/2014/main" id="{AAACB45A-5B5F-4C59-8507-79CC8531028E}"/>
              </a:ext>
            </a:extLst>
          </p:cNvPr>
          <p:cNvSpPr>
            <a:spLocks noGrp="1"/>
          </p:cNvSpPr>
          <p:nvPr/>
        </p:nvSpPr>
        <p:spPr>
          <a:xfrm>
            <a:off x="1276350" y="1714500"/>
            <a:ext cx="685800" cy="685800"/>
          </a:xfrm>
          <a:prstGeom prst="ellipse">
            <a:avLst/>
          </a:prstGeom>
          <a:solidFill>
            <a:srgbClr val="EAF4FB"/>
          </a:solidFill>
          <a:ln w="11430">
            <a:solidFill>
              <a:srgbClr val="0065BD"/>
            </a:solidFill>
            <a:prstDash val="solid"/>
          </a:ln>
        </p:spPr>
        <p:txBody>
          <a:bodyPr/>
          <a:lstStyle/>
          <a:p>
            <a:endParaRPr lang="de-DE"/>
          </a:p>
        </p:txBody>
      </p:sp>
      <p:sp>
        <p:nvSpPr>
          <p:cNvPr id="12" name="Rectangle 11">
            <a:extLst>
              <a:ext uri="{FF2B5EF4-FFF2-40B4-BE49-F238E27FC236}">
                <a16:creationId xmlns:a16="http://schemas.microsoft.com/office/drawing/2014/main" id="{D117A651-3B36-4DB9-BA03-A0C3D8008EBF}"/>
              </a:ext>
            </a:extLst>
          </p:cNvPr>
          <p:cNvSpPr>
            <a:spLocks noGrp="1"/>
          </p:cNvSpPr>
          <p:nvPr/>
        </p:nvSpPr>
        <p:spPr>
          <a:xfrm>
            <a:off x="1428750" y="1895475"/>
            <a:ext cx="381000" cy="285750"/>
          </a:xfrm>
          <a:prstGeom prst="rect">
            <a:avLst/>
          </a:prstGeom>
          <a:noFill/>
          <a:ln w="0">
            <a:noFill/>
            <a:prstDash val="solid"/>
          </a:ln>
        </p:spPr>
        <p:txBody>
          <a:bodyPr lIns="0" tIns="0" rIns="0" bIns="0" anchor="ctr"/>
          <a:lstStyle/>
          <a:p>
            <a:pPr algn="ctr">
              <a:defRPr sz="1650" b="1">
                <a:solidFill>
                  <a:srgbClr val="0065BD"/>
                </a:solidFill>
                <a:latin typeface="Arial"/>
                <a:ea typeface="Arial"/>
                <a:cs typeface="Arial"/>
              </a:defRPr>
            </a:pPr>
            <a:r>
              <a:rPr sz="1650" b="1">
                <a:solidFill>
                  <a:srgbClr val="0065BD"/>
                </a:solidFill>
                <a:latin typeface="Arial"/>
                <a:ea typeface="Arial"/>
                <a:cs typeface="Arial"/>
              </a:rPr>
              <a:t>1</a:t>
            </a:r>
          </a:p>
        </p:txBody>
      </p:sp>
      <p:sp>
        <p:nvSpPr>
          <p:cNvPr id="13" name="Rectangle 12">
            <a:extLst>
              <a:ext uri="{FF2B5EF4-FFF2-40B4-BE49-F238E27FC236}">
                <a16:creationId xmlns:a16="http://schemas.microsoft.com/office/drawing/2014/main" id="{ACFDC6C1-30AD-4E7E-A1F0-EAF3FC0D2A8E}"/>
              </a:ext>
            </a:extLst>
          </p:cNvPr>
          <p:cNvSpPr>
            <a:spLocks noGrp="1"/>
          </p:cNvSpPr>
          <p:nvPr/>
        </p:nvSpPr>
        <p:spPr>
          <a:xfrm>
            <a:off x="762000" y="2647950"/>
            <a:ext cx="1714500" cy="3048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Open home</a:t>
            </a:r>
          </a:p>
        </p:txBody>
      </p:sp>
      <p:sp>
        <p:nvSpPr>
          <p:cNvPr id="14" name="Rectangle 13">
            <a:extLst>
              <a:ext uri="{FF2B5EF4-FFF2-40B4-BE49-F238E27FC236}">
                <a16:creationId xmlns:a16="http://schemas.microsoft.com/office/drawing/2014/main" id="{5983A17F-F748-4805-805E-6AF421D6DC45}"/>
              </a:ext>
            </a:extLst>
          </p:cNvPr>
          <p:cNvSpPr>
            <a:spLocks noGrp="1"/>
          </p:cNvSpPr>
          <p:nvPr/>
        </p:nvSpPr>
        <p:spPr>
          <a:xfrm>
            <a:off x="762000" y="3105150"/>
            <a:ext cx="1714500" cy="552450"/>
          </a:xfrm>
          <a:prstGeom prst="rect">
            <a:avLst/>
          </a:prstGeom>
          <a:noFill/>
          <a:ln w="0">
            <a:noFill/>
            <a:prstDash val="solid"/>
          </a:ln>
        </p:spPr>
        <p:txBody>
          <a:bodyPr lIns="0" tIns="0" rIns="0" bIns="0" anchor="t"/>
          <a:lstStyle/>
          <a:p>
            <a:pPr algn="ctr">
              <a:defRPr sz="1125" b="0">
                <a:solidFill>
                  <a:srgbClr val="56616B"/>
                </a:solidFill>
                <a:latin typeface="Arial"/>
                <a:ea typeface="Arial"/>
                <a:cs typeface="Arial"/>
              </a:defRPr>
            </a:pPr>
            <a:r>
              <a:rPr sz="1125" b="0">
                <a:solidFill>
                  <a:srgbClr val="56616B"/>
                </a:solidFill>
                <a:latin typeface="Arial"/>
                <a:ea typeface="Arial"/>
                <a:cs typeface="Arial"/>
              </a:rPr>
              <a:t>Start with existing work</a:t>
            </a:r>
          </a:p>
        </p:txBody>
      </p:sp>
      <p:sp>
        <p:nvSpPr>
          <p:cNvPr id="15" name="Oval 14">
            <a:extLst>
              <a:ext uri="{FF2B5EF4-FFF2-40B4-BE49-F238E27FC236}">
                <a16:creationId xmlns:a16="http://schemas.microsoft.com/office/drawing/2014/main" id="{913CC49E-A958-4AD0-B902-41AF0E18245C}"/>
              </a:ext>
            </a:extLst>
          </p:cNvPr>
          <p:cNvSpPr>
            <a:spLocks noGrp="1"/>
          </p:cNvSpPr>
          <p:nvPr/>
        </p:nvSpPr>
        <p:spPr>
          <a:xfrm>
            <a:off x="3429000" y="1714500"/>
            <a:ext cx="685800" cy="685800"/>
          </a:xfrm>
          <a:prstGeom prst="ellipse">
            <a:avLst/>
          </a:prstGeom>
          <a:solidFill>
            <a:srgbClr val="EAF4FB"/>
          </a:solidFill>
          <a:ln w="11430">
            <a:solidFill>
              <a:srgbClr val="0065BD"/>
            </a:solidFill>
            <a:prstDash val="solid"/>
          </a:ln>
        </p:spPr>
        <p:txBody>
          <a:bodyPr/>
          <a:lstStyle/>
          <a:p>
            <a:endParaRPr lang="de-DE"/>
          </a:p>
        </p:txBody>
      </p:sp>
      <p:sp>
        <p:nvSpPr>
          <p:cNvPr id="16" name="Rectangle 15">
            <a:extLst>
              <a:ext uri="{FF2B5EF4-FFF2-40B4-BE49-F238E27FC236}">
                <a16:creationId xmlns:a16="http://schemas.microsoft.com/office/drawing/2014/main" id="{8B4ABD2B-AC8A-47C7-8F54-514406ABC0C5}"/>
              </a:ext>
            </a:extLst>
          </p:cNvPr>
          <p:cNvSpPr>
            <a:spLocks noGrp="1"/>
          </p:cNvSpPr>
          <p:nvPr/>
        </p:nvSpPr>
        <p:spPr>
          <a:xfrm>
            <a:off x="3581400" y="1895475"/>
            <a:ext cx="381000" cy="285750"/>
          </a:xfrm>
          <a:prstGeom prst="rect">
            <a:avLst/>
          </a:prstGeom>
          <a:noFill/>
          <a:ln w="0">
            <a:noFill/>
            <a:prstDash val="solid"/>
          </a:ln>
        </p:spPr>
        <p:txBody>
          <a:bodyPr lIns="0" tIns="0" rIns="0" bIns="0" anchor="ctr"/>
          <a:lstStyle/>
          <a:p>
            <a:pPr algn="ctr">
              <a:defRPr sz="1650" b="1">
                <a:solidFill>
                  <a:srgbClr val="0065BD"/>
                </a:solidFill>
                <a:latin typeface="Arial"/>
                <a:ea typeface="Arial"/>
                <a:cs typeface="Arial"/>
              </a:defRPr>
            </a:pPr>
            <a:r>
              <a:rPr sz="1650" b="1">
                <a:solidFill>
                  <a:srgbClr val="0065BD"/>
                </a:solidFill>
                <a:latin typeface="Arial"/>
                <a:ea typeface="Arial"/>
                <a:cs typeface="Arial"/>
              </a:rPr>
              <a:t>2</a:t>
            </a:r>
          </a:p>
        </p:txBody>
      </p:sp>
      <p:sp>
        <p:nvSpPr>
          <p:cNvPr id="17" name="Rectangle 16">
            <a:extLst>
              <a:ext uri="{FF2B5EF4-FFF2-40B4-BE49-F238E27FC236}">
                <a16:creationId xmlns:a16="http://schemas.microsoft.com/office/drawing/2014/main" id="{16F384F6-81BC-44B8-B6F0-2DD520856E10}"/>
              </a:ext>
            </a:extLst>
          </p:cNvPr>
          <p:cNvSpPr>
            <a:spLocks noGrp="1"/>
          </p:cNvSpPr>
          <p:nvPr/>
        </p:nvSpPr>
        <p:spPr>
          <a:xfrm>
            <a:off x="2914650" y="2647950"/>
            <a:ext cx="1714500" cy="3048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Find</a:t>
            </a:r>
          </a:p>
        </p:txBody>
      </p:sp>
      <p:sp>
        <p:nvSpPr>
          <p:cNvPr id="18" name="Rectangle 17">
            <a:extLst>
              <a:ext uri="{FF2B5EF4-FFF2-40B4-BE49-F238E27FC236}">
                <a16:creationId xmlns:a16="http://schemas.microsoft.com/office/drawing/2014/main" id="{B51D021F-9B25-4A63-8C3E-B9650590CBC2}"/>
              </a:ext>
            </a:extLst>
          </p:cNvPr>
          <p:cNvSpPr>
            <a:spLocks noGrp="1"/>
          </p:cNvSpPr>
          <p:nvPr/>
        </p:nvSpPr>
        <p:spPr>
          <a:xfrm>
            <a:off x="2914650" y="3105150"/>
            <a:ext cx="1714500" cy="552450"/>
          </a:xfrm>
          <a:prstGeom prst="rect">
            <a:avLst/>
          </a:prstGeom>
          <a:noFill/>
          <a:ln w="0">
            <a:noFill/>
            <a:prstDash val="solid"/>
          </a:ln>
        </p:spPr>
        <p:txBody>
          <a:bodyPr lIns="0" tIns="0" rIns="0" bIns="0" anchor="t"/>
          <a:lstStyle/>
          <a:p>
            <a:pPr algn="ctr">
              <a:defRPr sz="1125" b="0">
                <a:solidFill>
                  <a:srgbClr val="56616B"/>
                </a:solidFill>
                <a:latin typeface="Arial"/>
                <a:ea typeface="Arial"/>
                <a:cs typeface="Arial"/>
              </a:defRPr>
            </a:pPr>
            <a:r>
              <a:rPr sz="1125" b="0">
                <a:solidFill>
                  <a:srgbClr val="56616B"/>
                </a:solidFill>
                <a:latin typeface="Arial"/>
                <a:ea typeface="Arial"/>
                <a:cs typeface="Arial"/>
              </a:rPr>
              <a:t>Search · filter · sort</a:t>
            </a:r>
          </a:p>
        </p:txBody>
      </p:sp>
      <p:sp>
        <p:nvSpPr>
          <p:cNvPr id="19" name="Oval 18">
            <a:extLst>
              <a:ext uri="{FF2B5EF4-FFF2-40B4-BE49-F238E27FC236}">
                <a16:creationId xmlns:a16="http://schemas.microsoft.com/office/drawing/2014/main" id="{19A875A3-38B5-4A71-8B08-17B81752ABE7}"/>
              </a:ext>
            </a:extLst>
          </p:cNvPr>
          <p:cNvSpPr>
            <a:spLocks noGrp="1"/>
          </p:cNvSpPr>
          <p:nvPr/>
        </p:nvSpPr>
        <p:spPr>
          <a:xfrm>
            <a:off x="5581650" y="1714500"/>
            <a:ext cx="685800" cy="685800"/>
          </a:xfrm>
          <a:prstGeom prst="ellipse">
            <a:avLst/>
          </a:prstGeom>
          <a:solidFill>
            <a:srgbClr val="EAF4FB"/>
          </a:solidFill>
          <a:ln w="11430">
            <a:solidFill>
              <a:srgbClr val="0065BD"/>
            </a:solidFill>
            <a:prstDash val="solid"/>
          </a:ln>
        </p:spPr>
        <p:txBody>
          <a:bodyPr/>
          <a:lstStyle/>
          <a:p>
            <a:endParaRPr lang="de-DE"/>
          </a:p>
        </p:txBody>
      </p:sp>
      <p:sp>
        <p:nvSpPr>
          <p:cNvPr id="20" name="Rectangle 19">
            <a:extLst>
              <a:ext uri="{FF2B5EF4-FFF2-40B4-BE49-F238E27FC236}">
                <a16:creationId xmlns:a16="http://schemas.microsoft.com/office/drawing/2014/main" id="{B02B25E4-4C27-4317-9A4A-D3E77000B35F}"/>
              </a:ext>
            </a:extLst>
          </p:cNvPr>
          <p:cNvSpPr>
            <a:spLocks noGrp="1"/>
          </p:cNvSpPr>
          <p:nvPr/>
        </p:nvSpPr>
        <p:spPr>
          <a:xfrm>
            <a:off x="5734050" y="1895475"/>
            <a:ext cx="381000" cy="285750"/>
          </a:xfrm>
          <a:prstGeom prst="rect">
            <a:avLst/>
          </a:prstGeom>
          <a:noFill/>
          <a:ln w="0">
            <a:noFill/>
            <a:prstDash val="solid"/>
          </a:ln>
        </p:spPr>
        <p:txBody>
          <a:bodyPr lIns="0" tIns="0" rIns="0" bIns="0" anchor="ctr"/>
          <a:lstStyle/>
          <a:p>
            <a:pPr algn="ctr">
              <a:defRPr sz="1650" b="1">
                <a:solidFill>
                  <a:srgbClr val="0065BD"/>
                </a:solidFill>
                <a:latin typeface="Arial"/>
                <a:ea typeface="Arial"/>
                <a:cs typeface="Arial"/>
              </a:defRPr>
            </a:pPr>
            <a:r>
              <a:rPr sz="1650" b="1">
                <a:solidFill>
                  <a:srgbClr val="0065BD"/>
                </a:solidFill>
                <a:latin typeface="Arial"/>
                <a:ea typeface="Arial"/>
                <a:cs typeface="Arial"/>
              </a:rPr>
              <a:t>3</a:t>
            </a:r>
          </a:p>
        </p:txBody>
      </p:sp>
      <p:sp>
        <p:nvSpPr>
          <p:cNvPr id="21" name="Rectangle 20">
            <a:extLst>
              <a:ext uri="{FF2B5EF4-FFF2-40B4-BE49-F238E27FC236}">
                <a16:creationId xmlns:a16="http://schemas.microsoft.com/office/drawing/2014/main" id="{C427F491-810F-461F-B17F-1AECB8CFF197}"/>
              </a:ext>
            </a:extLst>
          </p:cNvPr>
          <p:cNvSpPr>
            <a:spLocks noGrp="1"/>
          </p:cNvSpPr>
          <p:nvPr/>
        </p:nvSpPr>
        <p:spPr>
          <a:xfrm>
            <a:off x="5067300" y="2647950"/>
            <a:ext cx="1714500" cy="3048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Manage</a:t>
            </a:r>
          </a:p>
        </p:txBody>
      </p:sp>
      <p:sp>
        <p:nvSpPr>
          <p:cNvPr id="22" name="Rectangle 21">
            <a:extLst>
              <a:ext uri="{FF2B5EF4-FFF2-40B4-BE49-F238E27FC236}">
                <a16:creationId xmlns:a16="http://schemas.microsoft.com/office/drawing/2014/main" id="{8C7CC073-2BCF-4ED7-ACB7-7C7D9F08B43E}"/>
              </a:ext>
            </a:extLst>
          </p:cNvPr>
          <p:cNvSpPr>
            <a:spLocks noGrp="1"/>
          </p:cNvSpPr>
          <p:nvPr/>
        </p:nvSpPr>
        <p:spPr>
          <a:xfrm>
            <a:off x="5067300" y="3105150"/>
            <a:ext cx="1714500" cy="552450"/>
          </a:xfrm>
          <a:prstGeom prst="rect">
            <a:avLst/>
          </a:prstGeom>
          <a:noFill/>
          <a:ln w="0">
            <a:noFill/>
            <a:prstDash val="solid"/>
          </a:ln>
        </p:spPr>
        <p:txBody>
          <a:bodyPr lIns="0" tIns="0" rIns="0" bIns="0" anchor="t"/>
          <a:lstStyle/>
          <a:p>
            <a:pPr algn="ctr">
              <a:defRPr sz="1125" b="0">
                <a:solidFill>
                  <a:srgbClr val="56616B"/>
                </a:solidFill>
                <a:latin typeface="Arial"/>
                <a:ea typeface="Arial"/>
                <a:cs typeface="Arial"/>
              </a:defRPr>
            </a:pPr>
            <a:r>
              <a:rPr sz="1125" b="0">
                <a:solidFill>
                  <a:srgbClr val="56616B"/>
                </a:solidFill>
                <a:latin typeface="Arial"/>
                <a:ea typeface="Arial"/>
                <a:cs typeface="Arial"/>
              </a:rPr>
              <a:t>Favorite · duplicate · delete</a:t>
            </a:r>
          </a:p>
        </p:txBody>
      </p:sp>
      <p:sp>
        <p:nvSpPr>
          <p:cNvPr id="23" name="Oval 22">
            <a:extLst>
              <a:ext uri="{FF2B5EF4-FFF2-40B4-BE49-F238E27FC236}">
                <a16:creationId xmlns:a16="http://schemas.microsoft.com/office/drawing/2014/main" id="{A5DFDB8C-D18C-4C58-9985-388747B71068}"/>
              </a:ext>
            </a:extLst>
          </p:cNvPr>
          <p:cNvSpPr>
            <a:spLocks noGrp="1"/>
          </p:cNvSpPr>
          <p:nvPr/>
        </p:nvSpPr>
        <p:spPr>
          <a:xfrm>
            <a:off x="7734300" y="1714500"/>
            <a:ext cx="685800" cy="685800"/>
          </a:xfrm>
          <a:prstGeom prst="ellipse">
            <a:avLst/>
          </a:prstGeom>
          <a:solidFill>
            <a:srgbClr val="FFF1E7"/>
          </a:solidFill>
          <a:ln w="11430">
            <a:solidFill>
              <a:srgbClr val="E37222"/>
            </a:solidFill>
            <a:prstDash val="solid"/>
          </a:ln>
        </p:spPr>
        <p:txBody>
          <a:bodyPr/>
          <a:lstStyle/>
          <a:p>
            <a:endParaRPr lang="de-DE"/>
          </a:p>
        </p:txBody>
      </p:sp>
      <p:sp>
        <p:nvSpPr>
          <p:cNvPr id="24" name="Rectangle 23">
            <a:extLst>
              <a:ext uri="{FF2B5EF4-FFF2-40B4-BE49-F238E27FC236}">
                <a16:creationId xmlns:a16="http://schemas.microsoft.com/office/drawing/2014/main" id="{9195B8C2-805F-4F19-97FF-294F5E092EBD}"/>
              </a:ext>
            </a:extLst>
          </p:cNvPr>
          <p:cNvSpPr>
            <a:spLocks noGrp="1"/>
          </p:cNvSpPr>
          <p:nvPr/>
        </p:nvSpPr>
        <p:spPr>
          <a:xfrm>
            <a:off x="7886700" y="1895475"/>
            <a:ext cx="381000" cy="285750"/>
          </a:xfrm>
          <a:prstGeom prst="rect">
            <a:avLst/>
          </a:prstGeom>
          <a:noFill/>
          <a:ln w="0">
            <a:noFill/>
            <a:prstDash val="solid"/>
          </a:ln>
        </p:spPr>
        <p:txBody>
          <a:bodyPr lIns="0" tIns="0" rIns="0" bIns="0" anchor="ctr"/>
          <a:lstStyle/>
          <a:p>
            <a:pPr algn="ctr">
              <a:defRPr sz="1650" b="1">
                <a:solidFill>
                  <a:srgbClr val="E37222"/>
                </a:solidFill>
                <a:latin typeface="Arial"/>
                <a:ea typeface="Arial"/>
                <a:cs typeface="Arial"/>
              </a:defRPr>
            </a:pPr>
            <a:r>
              <a:rPr sz="1650" b="1">
                <a:solidFill>
                  <a:srgbClr val="E37222"/>
                </a:solidFill>
                <a:latin typeface="Arial"/>
                <a:ea typeface="Arial"/>
                <a:cs typeface="Arial"/>
              </a:rPr>
              <a:t>4</a:t>
            </a:r>
          </a:p>
        </p:txBody>
      </p:sp>
      <p:sp>
        <p:nvSpPr>
          <p:cNvPr id="25" name="Rectangle 24">
            <a:extLst>
              <a:ext uri="{FF2B5EF4-FFF2-40B4-BE49-F238E27FC236}">
                <a16:creationId xmlns:a16="http://schemas.microsoft.com/office/drawing/2014/main" id="{F6900E77-5BF1-4936-99D3-D52A0E2A723B}"/>
              </a:ext>
            </a:extLst>
          </p:cNvPr>
          <p:cNvSpPr>
            <a:spLocks noGrp="1"/>
          </p:cNvSpPr>
          <p:nvPr/>
        </p:nvSpPr>
        <p:spPr>
          <a:xfrm>
            <a:off x="7219950" y="2647950"/>
            <a:ext cx="1714500" cy="3048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Share</a:t>
            </a:r>
          </a:p>
        </p:txBody>
      </p:sp>
      <p:sp>
        <p:nvSpPr>
          <p:cNvPr id="26" name="Rectangle 25">
            <a:extLst>
              <a:ext uri="{FF2B5EF4-FFF2-40B4-BE49-F238E27FC236}">
                <a16:creationId xmlns:a16="http://schemas.microsoft.com/office/drawing/2014/main" id="{9830382A-646D-4678-BDA7-29F084A94132}"/>
              </a:ext>
            </a:extLst>
          </p:cNvPr>
          <p:cNvSpPr>
            <a:spLocks noGrp="1"/>
          </p:cNvSpPr>
          <p:nvPr/>
        </p:nvSpPr>
        <p:spPr>
          <a:xfrm>
            <a:off x="7219950" y="3105150"/>
            <a:ext cx="1714500" cy="552450"/>
          </a:xfrm>
          <a:prstGeom prst="rect">
            <a:avLst/>
          </a:prstGeom>
          <a:noFill/>
          <a:ln w="0">
            <a:noFill/>
            <a:prstDash val="solid"/>
          </a:ln>
        </p:spPr>
        <p:txBody>
          <a:bodyPr lIns="0" tIns="0" rIns="0" bIns="0" anchor="t"/>
          <a:lstStyle/>
          <a:p>
            <a:pPr algn="ctr">
              <a:defRPr sz="1125" b="0">
                <a:solidFill>
                  <a:srgbClr val="56616B"/>
                </a:solidFill>
                <a:latin typeface="Arial"/>
                <a:ea typeface="Arial"/>
                <a:cs typeface="Arial"/>
              </a:defRPr>
            </a:pPr>
            <a:r>
              <a:rPr sz="1125" b="0">
                <a:solidFill>
                  <a:srgbClr val="56616B"/>
                </a:solidFill>
                <a:latin typeface="Arial"/>
                <a:ea typeface="Arial"/>
                <a:cs typeface="Arial"/>
              </a:rPr>
              <a:t>Stable local/shared routes</a:t>
            </a:r>
          </a:p>
        </p:txBody>
      </p:sp>
      <p:sp>
        <p:nvSpPr>
          <p:cNvPr id="27" name="Oval 26">
            <a:extLst>
              <a:ext uri="{FF2B5EF4-FFF2-40B4-BE49-F238E27FC236}">
                <a16:creationId xmlns:a16="http://schemas.microsoft.com/office/drawing/2014/main" id="{31353573-4234-4110-9A2C-F92F6ECD2340}"/>
              </a:ext>
            </a:extLst>
          </p:cNvPr>
          <p:cNvSpPr>
            <a:spLocks noGrp="1"/>
          </p:cNvSpPr>
          <p:nvPr/>
        </p:nvSpPr>
        <p:spPr>
          <a:xfrm>
            <a:off x="9886950" y="1714500"/>
            <a:ext cx="685800" cy="685800"/>
          </a:xfrm>
          <a:prstGeom prst="ellipse">
            <a:avLst/>
          </a:prstGeom>
          <a:solidFill>
            <a:srgbClr val="EAF4FB"/>
          </a:solidFill>
          <a:ln w="11430">
            <a:solidFill>
              <a:srgbClr val="0065BD"/>
            </a:solidFill>
            <a:prstDash val="solid"/>
          </a:ln>
        </p:spPr>
        <p:txBody>
          <a:bodyPr/>
          <a:lstStyle/>
          <a:p>
            <a:endParaRPr lang="de-DE"/>
          </a:p>
        </p:txBody>
      </p:sp>
      <p:sp>
        <p:nvSpPr>
          <p:cNvPr id="28" name="Rectangle 27">
            <a:extLst>
              <a:ext uri="{FF2B5EF4-FFF2-40B4-BE49-F238E27FC236}">
                <a16:creationId xmlns:a16="http://schemas.microsoft.com/office/drawing/2014/main" id="{4A024FE4-E160-4E0D-97FD-C81BA30D7648}"/>
              </a:ext>
            </a:extLst>
          </p:cNvPr>
          <p:cNvSpPr>
            <a:spLocks noGrp="1"/>
          </p:cNvSpPr>
          <p:nvPr/>
        </p:nvSpPr>
        <p:spPr>
          <a:xfrm>
            <a:off x="10039350" y="1895475"/>
            <a:ext cx="381000" cy="285750"/>
          </a:xfrm>
          <a:prstGeom prst="rect">
            <a:avLst/>
          </a:prstGeom>
          <a:noFill/>
          <a:ln w="0">
            <a:noFill/>
            <a:prstDash val="solid"/>
          </a:ln>
        </p:spPr>
        <p:txBody>
          <a:bodyPr lIns="0" tIns="0" rIns="0" bIns="0" anchor="ctr"/>
          <a:lstStyle/>
          <a:p>
            <a:pPr algn="ctr">
              <a:defRPr sz="1650" b="1">
                <a:solidFill>
                  <a:srgbClr val="0065BD"/>
                </a:solidFill>
                <a:latin typeface="Arial"/>
                <a:ea typeface="Arial"/>
                <a:cs typeface="Arial"/>
              </a:defRPr>
            </a:pPr>
            <a:r>
              <a:rPr sz="1650" b="1">
                <a:solidFill>
                  <a:srgbClr val="0065BD"/>
                </a:solidFill>
                <a:latin typeface="Arial"/>
                <a:ea typeface="Arial"/>
                <a:cs typeface="Arial"/>
              </a:rPr>
              <a:t>5</a:t>
            </a:r>
          </a:p>
        </p:txBody>
      </p:sp>
      <p:sp>
        <p:nvSpPr>
          <p:cNvPr id="29" name="Rectangle 28">
            <a:extLst>
              <a:ext uri="{FF2B5EF4-FFF2-40B4-BE49-F238E27FC236}">
                <a16:creationId xmlns:a16="http://schemas.microsoft.com/office/drawing/2014/main" id="{07CB52EA-E3E4-42E7-805B-B04604B6B02F}"/>
              </a:ext>
            </a:extLst>
          </p:cNvPr>
          <p:cNvSpPr>
            <a:spLocks noGrp="1"/>
          </p:cNvSpPr>
          <p:nvPr/>
        </p:nvSpPr>
        <p:spPr>
          <a:xfrm>
            <a:off x="9372600" y="2647950"/>
            <a:ext cx="1714500" cy="3048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Return</a:t>
            </a:r>
          </a:p>
        </p:txBody>
      </p:sp>
      <p:sp>
        <p:nvSpPr>
          <p:cNvPr id="30" name="Rectangle 29">
            <a:extLst>
              <a:ext uri="{FF2B5EF4-FFF2-40B4-BE49-F238E27FC236}">
                <a16:creationId xmlns:a16="http://schemas.microsoft.com/office/drawing/2014/main" id="{AC93E9F4-A169-4844-9DDE-569834C61A8A}"/>
              </a:ext>
            </a:extLst>
          </p:cNvPr>
          <p:cNvSpPr>
            <a:spLocks noGrp="1"/>
          </p:cNvSpPr>
          <p:nvPr/>
        </p:nvSpPr>
        <p:spPr>
          <a:xfrm>
            <a:off x="9372600" y="3105150"/>
            <a:ext cx="1714500" cy="552450"/>
          </a:xfrm>
          <a:prstGeom prst="rect">
            <a:avLst/>
          </a:prstGeom>
          <a:noFill/>
          <a:ln w="0">
            <a:noFill/>
            <a:prstDash val="solid"/>
          </a:ln>
        </p:spPr>
        <p:txBody>
          <a:bodyPr lIns="0" tIns="0" rIns="0" bIns="0" anchor="t"/>
          <a:lstStyle/>
          <a:p>
            <a:pPr algn="ctr">
              <a:defRPr sz="1125" b="0">
                <a:solidFill>
                  <a:srgbClr val="56616B"/>
                </a:solidFill>
                <a:latin typeface="Arial"/>
                <a:ea typeface="Arial"/>
                <a:cs typeface="Arial"/>
              </a:defRPr>
            </a:pPr>
            <a:r>
              <a:rPr sz="1125" b="0">
                <a:solidFill>
                  <a:srgbClr val="56616B"/>
                </a:solidFill>
                <a:latin typeface="Arial"/>
                <a:ea typeface="Arial"/>
                <a:cs typeface="Arial"/>
              </a:rPr>
              <a:t>History · retry · overview</a:t>
            </a:r>
          </a:p>
        </p:txBody>
      </p:sp>
      <p:sp>
        <p:nvSpPr>
          <p:cNvPr id="31" name="Rectangle: Rounded Corners 30">
            <a:extLst>
              <a:ext uri="{FF2B5EF4-FFF2-40B4-BE49-F238E27FC236}">
                <a16:creationId xmlns:a16="http://schemas.microsoft.com/office/drawing/2014/main" id="{0C38268C-511A-4A0B-A6D3-025A5469C485}"/>
              </a:ext>
            </a:extLst>
          </p:cNvPr>
          <p:cNvSpPr>
            <a:spLocks noGrp="1"/>
          </p:cNvSpPr>
          <p:nvPr/>
        </p:nvSpPr>
        <p:spPr>
          <a:xfrm>
            <a:off x="1428750" y="4305300"/>
            <a:ext cx="9334500" cy="1028700"/>
          </a:xfrm>
          <a:prstGeom prst="roundRect">
            <a:avLst>
              <a:gd name="adj" fmla="val 11111"/>
            </a:avLst>
          </a:prstGeom>
          <a:solidFill>
            <a:srgbClr val="F7F9FB"/>
          </a:solidFill>
          <a:ln w="11430">
            <a:solidFill>
              <a:srgbClr val="DDE3E8"/>
            </a:solidFill>
            <a:prstDash val="solid"/>
          </a:ln>
        </p:spPr>
        <p:txBody>
          <a:bodyPr/>
          <a:lstStyle/>
          <a:p>
            <a:endParaRPr lang="de-DE"/>
          </a:p>
        </p:txBody>
      </p:sp>
      <p:sp>
        <p:nvSpPr>
          <p:cNvPr id="32" name="Rectangle 31">
            <a:extLst>
              <a:ext uri="{FF2B5EF4-FFF2-40B4-BE49-F238E27FC236}">
                <a16:creationId xmlns:a16="http://schemas.microsoft.com/office/drawing/2014/main" id="{19112DC6-1F7A-4AEE-A98A-BDEDB6DF72A9}"/>
              </a:ext>
            </a:extLst>
          </p:cNvPr>
          <p:cNvSpPr>
            <a:spLocks noGrp="1"/>
          </p:cNvSpPr>
          <p:nvPr/>
        </p:nvSpPr>
        <p:spPr>
          <a:xfrm>
            <a:off x="1790700" y="4552950"/>
            <a:ext cx="8610600" cy="285750"/>
          </a:xfrm>
          <a:prstGeom prst="rect">
            <a:avLst/>
          </a:prstGeom>
          <a:noFill/>
          <a:ln w="0">
            <a:noFill/>
            <a:prstDash val="solid"/>
          </a:ln>
        </p:spPr>
        <p:txBody>
          <a:bodyPr lIns="0" tIns="0" rIns="0" bIns="0" anchor="t"/>
          <a:lstStyle/>
          <a:p>
            <a:pPr algn="ctr">
              <a:defRPr sz="1650" b="1">
                <a:solidFill>
                  <a:srgbClr val="111820"/>
                </a:solidFill>
                <a:latin typeface="Arial"/>
                <a:ea typeface="Arial"/>
                <a:cs typeface="Arial"/>
              </a:defRPr>
            </a:pPr>
            <a:r>
              <a:rPr sz="1650" b="1">
                <a:solidFill>
                  <a:srgbClr val="111820"/>
                </a:solidFill>
                <a:latin typeface="Arial"/>
                <a:ea typeface="Arial"/>
                <a:cs typeface="Arial"/>
              </a:rPr>
              <a:t>Users return to existing work instead of starting from a blank editor.</a:t>
            </a:r>
          </a:p>
        </p:txBody>
      </p:sp>
      <p:sp>
        <p:nvSpPr>
          <p:cNvPr id="33" name="Rectangle 32">
            <a:extLst>
              <a:ext uri="{FF2B5EF4-FFF2-40B4-BE49-F238E27FC236}">
                <a16:creationId xmlns:a16="http://schemas.microsoft.com/office/drawing/2014/main" id="{752070C7-15CC-433F-B9C1-5D646D6D80E7}"/>
              </a:ext>
            </a:extLst>
          </p:cNvPr>
          <p:cNvSpPr>
            <a:spLocks noGrp="1"/>
          </p:cNvSpPr>
          <p:nvPr/>
        </p:nvSpPr>
        <p:spPr>
          <a:xfrm>
            <a:off x="1790700" y="4933950"/>
            <a:ext cx="8610600" cy="266700"/>
          </a:xfrm>
          <a:prstGeom prst="rect">
            <a:avLst/>
          </a:prstGeom>
          <a:noFill/>
          <a:ln w="0">
            <a:noFill/>
            <a:prstDash val="solid"/>
          </a:ln>
        </p:spPr>
        <p:txBody>
          <a:bodyPr lIns="0" tIns="0" rIns="0" bIns="0" anchor="t"/>
          <a:lstStyle/>
          <a:p>
            <a:pPr algn="ctr">
              <a:defRPr sz="1350" b="0">
                <a:solidFill>
                  <a:srgbClr val="56616B"/>
                </a:solidFill>
                <a:latin typeface="Arial"/>
                <a:ea typeface="Arial"/>
                <a:cs typeface="Arial"/>
              </a:defRPr>
            </a:pPr>
            <a:r>
              <a:rPr sz="1350" b="0">
                <a:solidFill>
                  <a:srgbClr val="56616B"/>
                </a:solidFill>
                <a:latin typeface="Arial"/>
                <a:ea typeface="Arial"/>
                <a:cs typeface="Arial"/>
              </a:rPr>
              <a:t>Local and shared diagrams remain addressable through stable routes.</a:t>
            </a:r>
          </a:p>
        </p:txBody>
      </p:sp>
    </p:spTree>
    <p:extLst>
      <p:ext uri="{BB962C8B-B14F-4D97-AF65-F5344CB8AC3E}">
        <p14:creationId xmlns:p14="http://schemas.microsoft.com/office/powerpoint/2010/main" val="2088089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 label">
            <a:extLst>
              <a:ext uri="{FF2B5EF4-FFF2-40B4-BE49-F238E27FC236}">
                <a16:creationId xmlns:a16="http://schemas.microsoft.com/office/drawing/2014/main" id="{350E241B-55AB-4037-8F39-9E68F93215CD}"/>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4 · MOBILE</a:t>
            </a:r>
          </a:p>
        </p:txBody>
      </p:sp>
      <p:sp>
        <p:nvSpPr>
          <p:cNvPr id="2" name="Slide title">
            <a:extLst>
              <a:ext uri="{FF2B5EF4-FFF2-40B4-BE49-F238E27FC236}">
                <a16:creationId xmlns:a16="http://schemas.microsoft.com/office/drawing/2014/main" id="{575AAFEF-E56D-489F-9FD1-9A2EA0D457AC}"/>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iOS exports the same diagram - including editable PPTX</a:t>
            </a:r>
          </a:p>
        </p:txBody>
      </p:sp>
      <p:pic>
        <p:nvPicPr>
          <p:cNvPr id="28" name="Picture 27"/>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6800BA35-5352-4E7A-B428-0A6682F83B88}"/>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EC35815D-1974-40E1-8CE7-18A58B75AA54}"/>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10</a:t>
            </a:r>
          </a:p>
        </p:txBody>
      </p:sp>
      <p:sp>
        <p:nvSpPr>
          <p:cNvPr id="6" name="Footer">
            <a:extLst>
              <a:ext uri="{FF2B5EF4-FFF2-40B4-BE49-F238E27FC236}">
                <a16:creationId xmlns:a16="http://schemas.microsoft.com/office/drawing/2014/main" id="{E3B1919B-47B7-48BB-A313-B092CECCE356}"/>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Phone frame">
            <a:extLst>
              <a:ext uri="{FF2B5EF4-FFF2-40B4-BE49-F238E27FC236}">
                <a16:creationId xmlns:a16="http://schemas.microsoft.com/office/drawing/2014/main" id="{C3B57AAA-5ABD-4871-9ED0-8E65CF9400B2}"/>
              </a:ext>
            </a:extLst>
          </p:cNvPr>
          <p:cNvSpPr>
            <a:spLocks noGrp="1"/>
          </p:cNvSpPr>
          <p:nvPr/>
        </p:nvSpPr>
        <p:spPr>
          <a:xfrm>
            <a:off x="952500" y="1504950"/>
            <a:ext cx="2857500" cy="4171950"/>
          </a:xfrm>
          <a:prstGeom prst="roundRect">
            <a:avLst>
              <a:gd name="adj" fmla="val 5333"/>
            </a:avLst>
          </a:prstGeom>
          <a:solidFill>
            <a:srgbClr val="111820"/>
          </a:solidFill>
          <a:ln w="11430">
            <a:solidFill>
              <a:srgbClr val="111820"/>
            </a:solidFill>
            <a:prstDash val="solid"/>
          </a:ln>
        </p:spPr>
        <p:txBody>
          <a:bodyPr/>
          <a:lstStyle/>
          <a:p>
            <a:endParaRPr lang="de-DE"/>
          </a:p>
        </p:txBody>
      </p:sp>
      <p:sp>
        <p:nvSpPr>
          <p:cNvPr id="8" name="Phone screen">
            <a:extLst>
              <a:ext uri="{FF2B5EF4-FFF2-40B4-BE49-F238E27FC236}">
                <a16:creationId xmlns:a16="http://schemas.microsoft.com/office/drawing/2014/main" id="{A23735E2-F98A-46F5-8666-0F0309766780}"/>
              </a:ext>
            </a:extLst>
          </p:cNvPr>
          <p:cNvSpPr>
            <a:spLocks noGrp="1"/>
          </p:cNvSpPr>
          <p:nvPr/>
        </p:nvSpPr>
        <p:spPr>
          <a:xfrm>
            <a:off x="1104900" y="1695450"/>
            <a:ext cx="2552700" cy="3752850"/>
          </a:xfrm>
          <a:prstGeom prst="roundRect">
            <a:avLst>
              <a:gd name="adj" fmla="val 4478"/>
            </a:avLst>
          </a:prstGeom>
          <a:solidFill>
            <a:srgbClr val="FFFFFF"/>
          </a:solidFill>
          <a:ln w="11430">
            <a:solidFill>
              <a:srgbClr val="FFFFFF"/>
            </a:solidFill>
            <a:prstDash val="solid"/>
          </a:ln>
        </p:spPr>
        <p:txBody>
          <a:bodyPr/>
          <a:lstStyle/>
          <a:p>
            <a:endParaRPr lang="de-DE"/>
          </a:p>
        </p:txBody>
      </p:sp>
      <p:sp>
        <p:nvSpPr>
          <p:cNvPr id="9" name="Rectangle: Rounded Corners 8">
            <a:extLst>
              <a:ext uri="{FF2B5EF4-FFF2-40B4-BE49-F238E27FC236}">
                <a16:creationId xmlns:a16="http://schemas.microsoft.com/office/drawing/2014/main" id="{6EADB039-0DD5-4AE8-9517-392D4D5B9869}"/>
              </a:ext>
            </a:extLst>
          </p:cNvPr>
          <p:cNvSpPr>
            <a:spLocks noGrp="1"/>
          </p:cNvSpPr>
          <p:nvPr/>
        </p:nvSpPr>
        <p:spPr>
          <a:xfrm>
            <a:off x="1952625" y="1600200"/>
            <a:ext cx="857250" cy="114300"/>
          </a:xfrm>
          <a:prstGeom prst="roundRect">
            <a:avLst>
              <a:gd name="adj" fmla="val 50000"/>
            </a:avLst>
          </a:prstGeom>
          <a:solidFill>
            <a:srgbClr val="111820"/>
          </a:solidFill>
          <a:ln w="0">
            <a:noFill/>
            <a:prstDash val="solid"/>
          </a:ln>
        </p:spPr>
        <p:txBody>
          <a:bodyPr/>
          <a:lstStyle/>
          <a:p>
            <a:endParaRPr lang="de-DE"/>
          </a:p>
        </p:txBody>
      </p:sp>
      <p:sp>
        <p:nvSpPr>
          <p:cNvPr id="10" name="Rectangle 9">
            <a:extLst>
              <a:ext uri="{FF2B5EF4-FFF2-40B4-BE49-F238E27FC236}">
                <a16:creationId xmlns:a16="http://schemas.microsoft.com/office/drawing/2014/main" id="{60BA3DD8-39D0-45B4-8F85-337A1B8ECE1D}"/>
              </a:ext>
            </a:extLst>
          </p:cNvPr>
          <p:cNvSpPr>
            <a:spLocks noGrp="1"/>
          </p:cNvSpPr>
          <p:nvPr/>
        </p:nvSpPr>
        <p:spPr>
          <a:xfrm>
            <a:off x="1390650" y="2400300"/>
            <a:ext cx="1981200" cy="704850"/>
          </a:xfrm>
          <a:prstGeom prst="rect">
            <a:avLst/>
          </a:prstGeom>
          <a:noFill/>
          <a:ln w="0">
            <a:noFill/>
            <a:prstDash val="solid"/>
          </a:ln>
        </p:spPr>
        <p:txBody>
          <a:bodyPr lIns="0" tIns="0" rIns="0" bIns="0" anchor="ctr"/>
          <a:lstStyle/>
          <a:p>
            <a:pPr algn="ctr">
              <a:defRPr sz="2025" b="1">
                <a:solidFill>
                  <a:srgbClr val="003359"/>
                </a:solidFill>
                <a:latin typeface="Arial"/>
                <a:ea typeface="Arial"/>
                <a:cs typeface="Arial"/>
              </a:defRPr>
            </a:pPr>
            <a:r>
              <a:rPr sz="2025" b="1">
                <a:solidFill>
                  <a:srgbClr val="003359"/>
                </a:solidFill>
                <a:latin typeface="Arial"/>
                <a:ea typeface="Arial"/>
                <a:cs typeface="Arial"/>
              </a:rPr>
              <a:t>APOLLON</a:t>
            </a:r>
          </a:p>
          <a:p>
            <a:pPr algn="ctr">
              <a:defRPr sz="2025" b="1">
                <a:solidFill>
                  <a:srgbClr val="003359"/>
                </a:solidFill>
                <a:latin typeface="Arial"/>
                <a:ea typeface="Arial"/>
                <a:cs typeface="Arial"/>
              </a:defRPr>
            </a:pPr>
            <a:r>
              <a:rPr sz="2025" b="1">
                <a:solidFill>
                  <a:srgbClr val="003359"/>
                </a:solidFill>
                <a:latin typeface="Arial"/>
                <a:ea typeface="Arial"/>
                <a:cs typeface="Arial"/>
              </a:rPr>
              <a:t>MOBILE</a:t>
            </a:r>
          </a:p>
        </p:txBody>
      </p:sp>
      <p:sp>
        <p:nvSpPr>
          <p:cNvPr id="11" name="Straight Connector 10">
            <a:extLst>
              <a:ext uri="{FF2B5EF4-FFF2-40B4-BE49-F238E27FC236}">
                <a16:creationId xmlns:a16="http://schemas.microsoft.com/office/drawing/2014/main" id="{AB298F10-03D3-470B-978E-C932EC5DACEB}"/>
              </a:ext>
            </a:extLst>
          </p:cNvPr>
          <p:cNvSpPr>
            <a:spLocks noGrp="1"/>
          </p:cNvSpPr>
          <p:nvPr/>
        </p:nvSpPr>
        <p:spPr>
          <a:xfrm>
            <a:off x="1866900" y="3314700"/>
            <a:ext cx="1028700" cy="9525"/>
          </a:xfrm>
          <a:prstGeom prst="line">
            <a:avLst/>
          </a:prstGeom>
          <a:noFill/>
          <a:ln w="47625">
            <a:solidFill>
              <a:srgbClr val="0065BD"/>
            </a:solidFill>
            <a:prstDash val="solid"/>
          </a:ln>
        </p:spPr>
        <p:txBody>
          <a:bodyPr/>
          <a:lstStyle/>
          <a:p>
            <a:endParaRPr lang="de-DE"/>
          </a:p>
        </p:txBody>
      </p:sp>
      <p:sp>
        <p:nvSpPr>
          <p:cNvPr id="12" name="Rectangle 11">
            <a:extLst>
              <a:ext uri="{FF2B5EF4-FFF2-40B4-BE49-F238E27FC236}">
                <a16:creationId xmlns:a16="http://schemas.microsoft.com/office/drawing/2014/main" id="{3F20828C-042C-4636-828D-FBF455BEA0EC}"/>
              </a:ext>
            </a:extLst>
          </p:cNvPr>
          <p:cNvSpPr>
            <a:spLocks noGrp="1"/>
          </p:cNvSpPr>
          <p:nvPr/>
        </p:nvSpPr>
        <p:spPr>
          <a:xfrm>
            <a:off x="1562100" y="3638550"/>
            <a:ext cx="1638300" cy="266700"/>
          </a:xfrm>
          <a:prstGeom prst="rect">
            <a:avLst/>
          </a:prstGeom>
          <a:noFill/>
          <a:ln w="0">
            <a:noFill/>
            <a:prstDash val="solid"/>
          </a:ln>
        </p:spPr>
        <p:txBody>
          <a:bodyPr lIns="0" tIns="0" rIns="0" bIns="0" anchor="t"/>
          <a:lstStyle/>
          <a:p>
            <a:pPr algn="ctr">
              <a:defRPr sz="1500" b="1">
                <a:solidFill>
                  <a:srgbClr val="003359"/>
                </a:solidFill>
                <a:latin typeface="Arial"/>
                <a:ea typeface="Arial"/>
                <a:cs typeface="Arial"/>
              </a:defRPr>
            </a:pPr>
            <a:r>
              <a:rPr sz="1500" b="1">
                <a:solidFill>
                  <a:srgbClr val="003359"/>
                </a:solidFill>
                <a:latin typeface="Arial"/>
                <a:ea typeface="Arial"/>
                <a:cs typeface="Arial"/>
              </a:rPr>
              <a:t>Capacitor</a:t>
            </a:r>
          </a:p>
        </p:txBody>
      </p:sp>
      <p:sp>
        <p:nvSpPr>
          <p:cNvPr id="13" name="Rectangle 12">
            <a:extLst>
              <a:ext uri="{FF2B5EF4-FFF2-40B4-BE49-F238E27FC236}">
                <a16:creationId xmlns:a16="http://schemas.microsoft.com/office/drawing/2014/main" id="{B5586116-7CAF-456F-B37F-F20DBDA116F1}"/>
              </a:ext>
            </a:extLst>
          </p:cNvPr>
          <p:cNvSpPr>
            <a:spLocks noGrp="1"/>
          </p:cNvSpPr>
          <p:nvPr/>
        </p:nvSpPr>
        <p:spPr>
          <a:xfrm>
            <a:off x="1390650" y="4038600"/>
            <a:ext cx="1981200" cy="419100"/>
          </a:xfrm>
          <a:prstGeom prst="rect">
            <a:avLst/>
          </a:prstGeom>
          <a:noFill/>
          <a:ln w="0">
            <a:noFill/>
            <a:prstDash val="solid"/>
          </a:ln>
        </p:spPr>
        <p:txBody>
          <a:bodyPr lIns="0" tIns="0" rIns="0" bIns="0" anchor="t"/>
          <a:lstStyle/>
          <a:p>
            <a:pPr algn="ctr">
              <a:defRPr sz="1200" b="0">
                <a:solidFill>
                  <a:srgbClr val="56616B"/>
                </a:solidFill>
                <a:latin typeface="Arial"/>
                <a:ea typeface="Arial"/>
                <a:cs typeface="Arial"/>
              </a:defRPr>
            </a:pPr>
            <a:r>
              <a:rPr sz="1200" b="0">
                <a:solidFill>
                  <a:srgbClr val="56616B"/>
                </a:solidFill>
                <a:latin typeface="Arial"/>
                <a:ea typeface="Arial"/>
                <a:cs typeface="Arial"/>
              </a:rPr>
              <a:t>Native file handling</a:t>
            </a:r>
          </a:p>
        </p:txBody>
      </p:sp>
      <p:sp>
        <p:nvSpPr>
          <p:cNvPr id="14" name="Rectangle 13">
            <a:extLst>
              <a:ext uri="{FF2B5EF4-FFF2-40B4-BE49-F238E27FC236}">
                <a16:creationId xmlns:a16="http://schemas.microsoft.com/office/drawing/2014/main" id="{C9D53592-42AD-4A8C-8A85-EECBBF38F506}"/>
              </a:ext>
            </a:extLst>
          </p:cNvPr>
          <p:cNvSpPr>
            <a:spLocks noGrp="1"/>
          </p:cNvSpPr>
          <p:nvPr/>
        </p:nvSpPr>
        <p:spPr>
          <a:xfrm>
            <a:off x="4953000" y="1562100"/>
            <a:ext cx="5905500" cy="400050"/>
          </a:xfrm>
          <a:prstGeom prst="rect">
            <a:avLst/>
          </a:prstGeom>
          <a:noFill/>
          <a:ln w="0">
            <a:noFill/>
            <a:prstDash val="solid"/>
          </a:ln>
        </p:spPr>
        <p:txBody>
          <a:bodyPr lIns="0" tIns="0" rIns="0" bIns="0" anchor="t"/>
          <a:lstStyle/>
          <a:p>
            <a:pPr algn="l">
              <a:defRPr sz="2175" b="1">
                <a:solidFill>
                  <a:srgbClr val="003359"/>
                </a:solidFill>
                <a:latin typeface="Arial"/>
                <a:ea typeface="Arial"/>
                <a:cs typeface="Arial"/>
              </a:defRPr>
            </a:pPr>
            <a:r>
              <a:rPr sz="2175" b="1">
                <a:solidFill>
                  <a:srgbClr val="003359"/>
                </a:solidFill>
                <a:latin typeface="Arial"/>
                <a:ea typeface="Arial"/>
                <a:cs typeface="Arial"/>
              </a:rPr>
              <a:t>One model, five export paths</a:t>
            </a:r>
          </a:p>
        </p:txBody>
      </p:sp>
      <p:sp>
        <p:nvSpPr>
          <p:cNvPr id="15" name="Rectangle: Rounded Corners 14">
            <a:extLst>
              <a:ext uri="{FF2B5EF4-FFF2-40B4-BE49-F238E27FC236}">
                <a16:creationId xmlns:a16="http://schemas.microsoft.com/office/drawing/2014/main" id="{D285842C-551A-4189-9281-8A5D6B6968EF}"/>
              </a:ext>
            </a:extLst>
          </p:cNvPr>
          <p:cNvSpPr>
            <a:spLocks noGrp="1"/>
          </p:cNvSpPr>
          <p:nvPr/>
        </p:nvSpPr>
        <p:spPr>
          <a:xfrm>
            <a:off x="4953000" y="2266950"/>
            <a:ext cx="1619250" cy="876300"/>
          </a:xfrm>
          <a:prstGeom prst="roundRect">
            <a:avLst>
              <a:gd name="adj" fmla="val 13043"/>
            </a:avLst>
          </a:prstGeom>
          <a:solidFill>
            <a:srgbClr val="FFFFFF"/>
          </a:solidFill>
          <a:ln w="11430">
            <a:solidFill>
              <a:srgbClr val="0065BD"/>
            </a:solidFill>
            <a:prstDash val="solid"/>
          </a:ln>
        </p:spPr>
        <p:txBody>
          <a:bodyPr/>
          <a:lstStyle/>
          <a:p>
            <a:endParaRPr lang="de-DE"/>
          </a:p>
        </p:txBody>
      </p:sp>
      <p:sp>
        <p:nvSpPr>
          <p:cNvPr id="16" name="Rectangle 15">
            <a:extLst>
              <a:ext uri="{FF2B5EF4-FFF2-40B4-BE49-F238E27FC236}">
                <a16:creationId xmlns:a16="http://schemas.microsoft.com/office/drawing/2014/main" id="{BCD493BC-B72E-4D92-87C7-6CEE97B5C7BD}"/>
              </a:ext>
            </a:extLst>
          </p:cNvPr>
          <p:cNvSpPr>
            <a:spLocks noGrp="1"/>
          </p:cNvSpPr>
          <p:nvPr/>
        </p:nvSpPr>
        <p:spPr>
          <a:xfrm>
            <a:off x="5124450" y="2524125"/>
            <a:ext cx="1276350" cy="342900"/>
          </a:xfrm>
          <a:prstGeom prst="rect">
            <a:avLst/>
          </a:prstGeom>
          <a:noFill/>
          <a:ln w="0">
            <a:noFill/>
            <a:prstDash val="solid"/>
          </a:ln>
        </p:spPr>
        <p:txBody>
          <a:bodyPr lIns="0" tIns="0" rIns="0" bIns="0" anchor="ctr"/>
          <a:lstStyle/>
          <a:p>
            <a:pPr algn="ctr">
              <a:defRPr sz="1875" b="1">
                <a:solidFill>
                  <a:srgbClr val="0065BD"/>
                </a:solidFill>
                <a:latin typeface="Arial"/>
                <a:ea typeface="Arial"/>
                <a:cs typeface="Arial"/>
              </a:defRPr>
            </a:pPr>
            <a:r>
              <a:rPr sz="1875" b="1">
                <a:solidFill>
                  <a:srgbClr val="0065BD"/>
                </a:solidFill>
                <a:latin typeface="Arial"/>
                <a:ea typeface="Arial"/>
                <a:cs typeface="Arial"/>
              </a:rPr>
              <a:t>PNG</a:t>
            </a:r>
          </a:p>
        </p:txBody>
      </p:sp>
      <p:sp>
        <p:nvSpPr>
          <p:cNvPr id="17" name="Rectangle: Rounded Corners 16">
            <a:extLst>
              <a:ext uri="{FF2B5EF4-FFF2-40B4-BE49-F238E27FC236}">
                <a16:creationId xmlns:a16="http://schemas.microsoft.com/office/drawing/2014/main" id="{157F7F1D-A847-49E8-934B-961EDC471359}"/>
              </a:ext>
            </a:extLst>
          </p:cNvPr>
          <p:cNvSpPr>
            <a:spLocks noGrp="1"/>
          </p:cNvSpPr>
          <p:nvPr/>
        </p:nvSpPr>
        <p:spPr>
          <a:xfrm>
            <a:off x="6953250" y="2266950"/>
            <a:ext cx="1619250" cy="876300"/>
          </a:xfrm>
          <a:prstGeom prst="roundRect">
            <a:avLst>
              <a:gd name="adj" fmla="val 13043"/>
            </a:avLst>
          </a:prstGeom>
          <a:solidFill>
            <a:srgbClr val="FFFFFF"/>
          </a:solidFill>
          <a:ln w="11430">
            <a:solidFill>
              <a:srgbClr val="E37222"/>
            </a:solidFill>
            <a:prstDash val="solid"/>
          </a:ln>
        </p:spPr>
        <p:txBody>
          <a:bodyPr/>
          <a:lstStyle/>
          <a:p>
            <a:endParaRPr lang="de-DE"/>
          </a:p>
        </p:txBody>
      </p:sp>
      <p:sp>
        <p:nvSpPr>
          <p:cNvPr id="18" name="Rectangle 17">
            <a:extLst>
              <a:ext uri="{FF2B5EF4-FFF2-40B4-BE49-F238E27FC236}">
                <a16:creationId xmlns:a16="http://schemas.microsoft.com/office/drawing/2014/main" id="{FCEE449A-DF17-4E8D-965B-A03BB2BE81FA}"/>
              </a:ext>
            </a:extLst>
          </p:cNvPr>
          <p:cNvSpPr>
            <a:spLocks noGrp="1"/>
          </p:cNvSpPr>
          <p:nvPr/>
        </p:nvSpPr>
        <p:spPr>
          <a:xfrm>
            <a:off x="7124700" y="2524125"/>
            <a:ext cx="1276350" cy="342900"/>
          </a:xfrm>
          <a:prstGeom prst="rect">
            <a:avLst/>
          </a:prstGeom>
          <a:noFill/>
          <a:ln w="0">
            <a:noFill/>
            <a:prstDash val="solid"/>
          </a:ln>
        </p:spPr>
        <p:txBody>
          <a:bodyPr lIns="0" tIns="0" rIns="0" bIns="0" anchor="ctr"/>
          <a:lstStyle/>
          <a:p>
            <a:pPr algn="ctr">
              <a:defRPr sz="1875" b="1">
                <a:solidFill>
                  <a:srgbClr val="E37222"/>
                </a:solidFill>
                <a:latin typeface="Arial"/>
                <a:ea typeface="Arial"/>
                <a:cs typeface="Arial"/>
              </a:defRPr>
            </a:pPr>
            <a:r>
              <a:rPr sz="1875" b="1">
                <a:solidFill>
                  <a:srgbClr val="E37222"/>
                </a:solidFill>
                <a:latin typeface="Arial"/>
                <a:ea typeface="Arial"/>
                <a:cs typeface="Arial"/>
              </a:rPr>
              <a:t>PDF</a:t>
            </a:r>
          </a:p>
        </p:txBody>
      </p:sp>
      <p:sp>
        <p:nvSpPr>
          <p:cNvPr id="19" name="Rectangle: Rounded Corners 18">
            <a:extLst>
              <a:ext uri="{FF2B5EF4-FFF2-40B4-BE49-F238E27FC236}">
                <a16:creationId xmlns:a16="http://schemas.microsoft.com/office/drawing/2014/main" id="{F9BF151D-F226-48F3-BF64-46C687EEB86E}"/>
              </a:ext>
            </a:extLst>
          </p:cNvPr>
          <p:cNvSpPr>
            <a:spLocks noGrp="1"/>
          </p:cNvSpPr>
          <p:nvPr/>
        </p:nvSpPr>
        <p:spPr>
          <a:xfrm>
            <a:off x="8953500" y="2266950"/>
            <a:ext cx="1619250" cy="876300"/>
          </a:xfrm>
          <a:prstGeom prst="roundRect">
            <a:avLst>
              <a:gd name="adj" fmla="val 13043"/>
            </a:avLst>
          </a:prstGeom>
          <a:solidFill>
            <a:srgbClr val="FFFFFF"/>
          </a:solidFill>
          <a:ln w="11430">
            <a:solidFill>
              <a:srgbClr val="A2AD00"/>
            </a:solidFill>
            <a:prstDash val="solid"/>
          </a:ln>
        </p:spPr>
        <p:txBody>
          <a:bodyPr/>
          <a:lstStyle/>
          <a:p>
            <a:endParaRPr lang="de-DE"/>
          </a:p>
        </p:txBody>
      </p:sp>
      <p:sp>
        <p:nvSpPr>
          <p:cNvPr id="20" name="Rectangle 19">
            <a:extLst>
              <a:ext uri="{FF2B5EF4-FFF2-40B4-BE49-F238E27FC236}">
                <a16:creationId xmlns:a16="http://schemas.microsoft.com/office/drawing/2014/main" id="{D28DCD99-0352-48B8-BC1B-4E2AD6EE8598}"/>
              </a:ext>
            </a:extLst>
          </p:cNvPr>
          <p:cNvSpPr>
            <a:spLocks noGrp="1"/>
          </p:cNvSpPr>
          <p:nvPr/>
        </p:nvSpPr>
        <p:spPr>
          <a:xfrm>
            <a:off x="9124950" y="2524125"/>
            <a:ext cx="1276350" cy="342900"/>
          </a:xfrm>
          <a:prstGeom prst="rect">
            <a:avLst/>
          </a:prstGeom>
          <a:noFill/>
          <a:ln w="0">
            <a:noFill/>
            <a:prstDash val="solid"/>
          </a:ln>
        </p:spPr>
        <p:txBody>
          <a:bodyPr lIns="0" tIns="0" rIns="0" bIns="0" anchor="ctr"/>
          <a:lstStyle/>
          <a:p>
            <a:pPr algn="ctr">
              <a:defRPr sz="1875" b="1">
                <a:solidFill>
                  <a:srgbClr val="A2AD00"/>
                </a:solidFill>
                <a:latin typeface="Arial"/>
                <a:ea typeface="Arial"/>
                <a:cs typeface="Arial"/>
              </a:defRPr>
            </a:pPr>
            <a:r>
              <a:rPr sz="1875" b="1">
                <a:solidFill>
                  <a:srgbClr val="A2AD00"/>
                </a:solidFill>
                <a:latin typeface="Arial"/>
                <a:ea typeface="Arial"/>
                <a:cs typeface="Arial"/>
              </a:rPr>
              <a:t>JSON</a:t>
            </a:r>
          </a:p>
        </p:txBody>
      </p:sp>
      <p:sp>
        <p:nvSpPr>
          <p:cNvPr id="21" name="Rectangle: Rounded Corners 20">
            <a:extLst>
              <a:ext uri="{FF2B5EF4-FFF2-40B4-BE49-F238E27FC236}">
                <a16:creationId xmlns:a16="http://schemas.microsoft.com/office/drawing/2014/main" id="{81931285-C908-4625-BB70-1F28E84DC5F5}"/>
              </a:ext>
            </a:extLst>
          </p:cNvPr>
          <p:cNvSpPr>
            <a:spLocks noGrp="1"/>
          </p:cNvSpPr>
          <p:nvPr/>
        </p:nvSpPr>
        <p:spPr>
          <a:xfrm>
            <a:off x="5953125" y="3524250"/>
            <a:ext cx="1619250" cy="876300"/>
          </a:xfrm>
          <a:prstGeom prst="roundRect">
            <a:avLst>
              <a:gd name="adj" fmla="val 13043"/>
            </a:avLst>
          </a:prstGeom>
          <a:solidFill>
            <a:srgbClr val="FFFFFF"/>
          </a:solidFill>
          <a:ln w="11430">
            <a:solidFill>
              <a:srgbClr val="64A0C8"/>
            </a:solidFill>
            <a:prstDash val="solid"/>
          </a:ln>
        </p:spPr>
        <p:txBody>
          <a:bodyPr/>
          <a:lstStyle/>
          <a:p>
            <a:endParaRPr lang="de-DE"/>
          </a:p>
        </p:txBody>
      </p:sp>
      <p:sp>
        <p:nvSpPr>
          <p:cNvPr id="22" name="Rectangle 21">
            <a:extLst>
              <a:ext uri="{FF2B5EF4-FFF2-40B4-BE49-F238E27FC236}">
                <a16:creationId xmlns:a16="http://schemas.microsoft.com/office/drawing/2014/main" id="{A331DEC1-290D-4DC6-A1A0-AF888DD82241}"/>
              </a:ext>
            </a:extLst>
          </p:cNvPr>
          <p:cNvSpPr>
            <a:spLocks noGrp="1"/>
          </p:cNvSpPr>
          <p:nvPr/>
        </p:nvSpPr>
        <p:spPr>
          <a:xfrm>
            <a:off x="6124575" y="3781425"/>
            <a:ext cx="1276350" cy="342900"/>
          </a:xfrm>
          <a:prstGeom prst="rect">
            <a:avLst/>
          </a:prstGeom>
          <a:noFill/>
          <a:ln w="0">
            <a:noFill/>
            <a:prstDash val="solid"/>
          </a:ln>
        </p:spPr>
        <p:txBody>
          <a:bodyPr lIns="0" tIns="0" rIns="0" bIns="0" anchor="ctr"/>
          <a:lstStyle/>
          <a:p>
            <a:pPr algn="ctr">
              <a:defRPr sz="1875" b="1">
                <a:solidFill>
                  <a:srgbClr val="64A0C8"/>
                </a:solidFill>
                <a:latin typeface="Arial"/>
                <a:ea typeface="Arial"/>
                <a:cs typeface="Arial"/>
              </a:defRPr>
            </a:pPr>
            <a:r>
              <a:rPr sz="1875" b="1">
                <a:solidFill>
                  <a:srgbClr val="64A0C8"/>
                </a:solidFill>
                <a:latin typeface="Arial"/>
                <a:ea typeface="Arial"/>
                <a:cs typeface="Arial"/>
              </a:rPr>
              <a:t>SVG</a:t>
            </a:r>
          </a:p>
        </p:txBody>
      </p:sp>
      <p:sp>
        <p:nvSpPr>
          <p:cNvPr id="23" name="Rectangle: Rounded Corners 22">
            <a:extLst>
              <a:ext uri="{FF2B5EF4-FFF2-40B4-BE49-F238E27FC236}">
                <a16:creationId xmlns:a16="http://schemas.microsoft.com/office/drawing/2014/main" id="{F4D60082-0429-4C80-86BB-A1EC1543469C}"/>
              </a:ext>
            </a:extLst>
          </p:cNvPr>
          <p:cNvSpPr>
            <a:spLocks noGrp="1"/>
          </p:cNvSpPr>
          <p:nvPr/>
        </p:nvSpPr>
        <p:spPr>
          <a:xfrm>
            <a:off x="7953375" y="3524250"/>
            <a:ext cx="1619250" cy="876300"/>
          </a:xfrm>
          <a:prstGeom prst="roundRect">
            <a:avLst>
              <a:gd name="adj" fmla="val 13043"/>
            </a:avLst>
          </a:prstGeom>
          <a:solidFill>
            <a:srgbClr val="FFFFFF"/>
          </a:solidFill>
          <a:ln w="11430">
            <a:solidFill>
              <a:srgbClr val="0065BD"/>
            </a:solidFill>
            <a:prstDash val="solid"/>
          </a:ln>
        </p:spPr>
        <p:txBody>
          <a:bodyPr/>
          <a:lstStyle/>
          <a:p>
            <a:endParaRPr lang="de-DE"/>
          </a:p>
        </p:txBody>
      </p:sp>
      <p:sp>
        <p:nvSpPr>
          <p:cNvPr id="24" name="Rectangle 23">
            <a:extLst>
              <a:ext uri="{FF2B5EF4-FFF2-40B4-BE49-F238E27FC236}">
                <a16:creationId xmlns:a16="http://schemas.microsoft.com/office/drawing/2014/main" id="{AB0F0E97-092E-4C9F-9822-B0948585C319}"/>
              </a:ext>
            </a:extLst>
          </p:cNvPr>
          <p:cNvSpPr>
            <a:spLocks noGrp="1"/>
          </p:cNvSpPr>
          <p:nvPr/>
        </p:nvSpPr>
        <p:spPr>
          <a:xfrm>
            <a:off x="8124825" y="3781425"/>
            <a:ext cx="1276350" cy="342900"/>
          </a:xfrm>
          <a:prstGeom prst="rect">
            <a:avLst/>
          </a:prstGeom>
          <a:noFill/>
          <a:ln w="0">
            <a:noFill/>
            <a:prstDash val="solid"/>
          </a:ln>
        </p:spPr>
        <p:txBody>
          <a:bodyPr lIns="0" tIns="0" rIns="0" bIns="0" anchor="ctr"/>
          <a:lstStyle/>
          <a:p>
            <a:pPr algn="ctr">
              <a:defRPr sz="1875" b="1">
                <a:solidFill>
                  <a:srgbClr val="0065BD"/>
                </a:solidFill>
                <a:latin typeface="Arial"/>
                <a:ea typeface="Arial"/>
                <a:cs typeface="Arial"/>
              </a:defRPr>
            </a:pPr>
            <a:r>
              <a:rPr sz="1875" b="1">
                <a:solidFill>
                  <a:srgbClr val="0065BD"/>
                </a:solidFill>
                <a:latin typeface="Arial"/>
                <a:ea typeface="Arial"/>
                <a:cs typeface="Arial"/>
              </a:rPr>
              <a:t>PPTX</a:t>
            </a:r>
          </a:p>
        </p:txBody>
      </p:sp>
      <p:sp>
        <p:nvSpPr>
          <p:cNvPr id="25" name="Rectangle 24">
            <a:extLst>
              <a:ext uri="{FF2B5EF4-FFF2-40B4-BE49-F238E27FC236}">
                <a16:creationId xmlns:a16="http://schemas.microsoft.com/office/drawing/2014/main" id="{E01A5ABC-AAE5-450F-8825-1366ED08FDD3}"/>
              </a:ext>
            </a:extLst>
          </p:cNvPr>
          <p:cNvSpPr>
            <a:spLocks noGrp="1"/>
          </p:cNvSpPr>
          <p:nvPr/>
        </p:nvSpPr>
        <p:spPr>
          <a:xfrm>
            <a:off x="4953000" y="4838700"/>
            <a:ext cx="5619750" cy="590550"/>
          </a:xfrm>
          <a:prstGeom prst="rect">
            <a:avLst/>
          </a:prstGeom>
          <a:noFill/>
          <a:ln w="0">
            <a:noFill/>
            <a:prstDash val="solid"/>
          </a:ln>
        </p:spPr>
        <p:txBody>
          <a:bodyPr lIns="0" tIns="0" rIns="0" bIns="0" anchor="t"/>
          <a:lstStyle/>
          <a:p>
            <a:pPr algn="ctr">
              <a:defRPr sz="1500" b="0">
                <a:solidFill>
                  <a:srgbClr val="56616B"/>
                </a:solidFill>
                <a:latin typeface="Arial"/>
                <a:ea typeface="Arial"/>
                <a:cs typeface="Arial"/>
              </a:defRPr>
            </a:pPr>
            <a:r>
              <a:rPr sz="1500" b="0">
                <a:solidFill>
                  <a:srgbClr val="56616B"/>
                </a:solidFill>
                <a:latin typeface="Arial"/>
                <a:ea typeface="Arial"/>
                <a:cs typeface="Arial"/>
              </a:rPr>
              <a:t>PPTX keeps diagram elements separately editable and ready for later animation.</a:t>
            </a:r>
          </a:p>
        </p:txBody>
      </p:sp>
    </p:spTree>
    <p:extLst>
      <p:ext uri="{BB962C8B-B14F-4D97-AF65-F5344CB8AC3E}">
        <p14:creationId xmlns:p14="http://schemas.microsoft.com/office/powerpoint/2010/main" val="1101529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3558"/>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93371BD-746B-442F-B897-F05DA4742F65}"/>
              </a:ext>
            </a:extLst>
          </p:cNvPr>
          <p:cNvSpPr>
            <a:spLocks noGrp="1"/>
          </p:cNvSpPr>
          <p:nvPr/>
        </p:nvSpPr>
        <p:spPr>
          <a:xfrm>
            <a:off x="495300" y="285750"/>
            <a:ext cx="6667500" cy="171450"/>
          </a:xfrm>
          <a:prstGeom prst="rect">
            <a:avLst/>
          </a:prstGeom>
          <a:noFill/>
          <a:ln w="0">
            <a:noFill/>
            <a:prstDash val="solid"/>
          </a:ln>
        </p:spPr>
        <p:txBody>
          <a:bodyPr lIns="0" tIns="0" rIns="0" bIns="0" anchor="t"/>
          <a:lstStyle/>
          <a:p>
            <a:pPr algn="l">
              <a:defRPr sz="900" b="1">
                <a:solidFill>
                  <a:srgbClr val="98C6EA"/>
                </a:solidFill>
                <a:latin typeface="Arial"/>
                <a:ea typeface="Arial"/>
                <a:cs typeface="Arial"/>
              </a:defRPr>
            </a:pPr>
            <a:r>
              <a:rPr sz="900" b="1">
                <a:solidFill>
                  <a:srgbClr val="98C6EA"/>
                </a:solidFill>
                <a:latin typeface="Arial"/>
                <a:ea typeface="Arial"/>
                <a:cs typeface="Arial"/>
              </a:rPr>
              <a:t>MASTER'S THESIS · APOLLON</a:t>
            </a:r>
          </a:p>
        </p:txBody>
      </p:sp>
      <p:pic>
        <p:nvPicPr>
          <p:cNvPr id="11" name="Picture 10"/>
          <p:cNvPicPr>
            <a:picLocks noChangeAspect="1"/>
          </p:cNvPicPr>
          <p:nvPr/>
        </p:nvPicPr>
        <p:blipFill>
          <a:blip r:embed="rId3"/>
          <a:stretch/>
        </p:blipFill>
        <p:spPr>
          <a:xfrm>
            <a:off x="10993315" y="266700"/>
            <a:ext cx="759069" cy="400050"/>
          </a:xfrm>
          <a:prstGeom prst="rect">
            <a:avLst/>
          </a:prstGeom>
        </p:spPr>
      </p:pic>
      <p:sp>
        <p:nvSpPr>
          <p:cNvPr id="3" name="Rectangle 2">
            <a:extLst>
              <a:ext uri="{FF2B5EF4-FFF2-40B4-BE49-F238E27FC236}">
                <a16:creationId xmlns:a16="http://schemas.microsoft.com/office/drawing/2014/main" id="{34724324-32AF-4222-93E2-CA495017D41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98C6EA"/>
                </a:solidFill>
                <a:latin typeface="Arial"/>
                <a:ea typeface="Arial"/>
                <a:cs typeface="Arial"/>
              </a:defRPr>
            </a:pPr>
            <a:r>
              <a:rPr sz="825" b="0">
                <a:solidFill>
                  <a:srgbClr val="98C6EA"/>
                </a:solidFill>
                <a:latin typeface="Arial"/>
                <a:ea typeface="Arial"/>
                <a:cs typeface="Arial"/>
              </a:rPr>
              <a:t>11</a:t>
            </a:r>
          </a:p>
        </p:txBody>
      </p:sp>
      <p:sp>
        <p:nvSpPr>
          <p:cNvPr id="4" name="Rectangle 3">
            <a:extLst>
              <a:ext uri="{FF2B5EF4-FFF2-40B4-BE49-F238E27FC236}">
                <a16:creationId xmlns:a16="http://schemas.microsoft.com/office/drawing/2014/main" id="{0C9DCD1E-3C0E-4AE4-9C46-BD7E37108CDB}"/>
              </a:ext>
            </a:extLst>
          </p:cNvPr>
          <p:cNvSpPr>
            <a:spLocks noGrp="1"/>
          </p:cNvSpPr>
          <p:nvPr/>
        </p:nvSpPr>
        <p:spPr>
          <a:xfrm>
            <a:off x="685800" y="1981200"/>
            <a:ext cx="6667500" cy="781050"/>
          </a:xfrm>
          <a:prstGeom prst="rect">
            <a:avLst/>
          </a:prstGeom>
          <a:noFill/>
          <a:ln w="0">
            <a:noFill/>
            <a:prstDash val="solid"/>
          </a:ln>
        </p:spPr>
        <p:txBody>
          <a:bodyPr lIns="0" tIns="0" rIns="0" bIns="0" anchor="t"/>
          <a:lstStyle/>
          <a:p>
            <a:pPr algn="l">
              <a:defRPr sz="4200" b="1">
                <a:solidFill>
                  <a:srgbClr val="FFFFFF"/>
                </a:solidFill>
                <a:latin typeface="Arial"/>
                <a:ea typeface="Arial"/>
                <a:cs typeface="Arial"/>
              </a:defRPr>
            </a:pPr>
            <a:r>
              <a:rPr sz="4200" b="1">
                <a:solidFill>
                  <a:srgbClr val="FFFFFF"/>
                </a:solidFill>
                <a:latin typeface="Arial"/>
                <a:ea typeface="Arial"/>
                <a:cs typeface="Arial"/>
              </a:rPr>
              <a:t>Live Demo</a:t>
            </a:r>
          </a:p>
        </p:txBody>
      </p:sp>
      <p:sp>
        <p:nvSpPr>
          <p:cNvPr id="5" name="Rectangle 4">
            <a:extLst>
              <a:ext uri="{FF2B5EF4-FFF2-40B4-BE49-F238E27FC236}">
                <a16:creationId xmlns:a16="http://schemas.microsoft.com/office/drawing/2014/main" id="{3E7CB5D3-E174-45AF-A921-B87ABC0F2C9A}"/>
              </a:ext>
            </a:extLst>
          </p:cNvPr>
          <p:cNvSpPr>
            <a:spLocks noGrp="1"/>
          </p:cNvSpPr>
          <p:nvPr/>
        </p:nvSpPr>
        <p:spPr>
          <a:xfrm>
            <a:off x="723900" y="3067050"/>
            <a:ext cx="8191500" cy="457200"/>
          </a:xfrm>
          <a:prstGeom prst="rect">
            <a:avLst/>
          </a:prstGeom>
          <a:noFill/>
          <a:ln w="0">
            <a:noFill/>
            <a:prstDash val="solid"/>
          </a:ln>
        </p:spPr>
        <p:txBody>
          <a:bodyPr lIns="0" tIns="0" rIns="0" bIns="0" anchor="t"/>
          <a:lstStyle/>
          <a:p>
            <a:pPr algn="l">
              <a:defRPr sz="1950" b="0">
                <a:solidFill>
                  <a:srgbClr val="98C6EA"/>
                </a:solidFill>
                <a:latin typeface="Arial"/>
                <a:ea typeface="Arial"/>
                <a:cs typeface="Arial"/>
              </a:defRPr>
            </a:pPr>
            <a:r>
              <a:rPr sz="1950" b="0">
                <a:solidFill>
                  <a:srgbClr val="98C6EA"/>
                </a:solidFill>
                <a:latin typeface="Arial"/>
                <a:ea typeface="Arial"/>
                <a:cs typeface="Arial"/>
              </a:rPr>
              <a:t>Home  →  edit  →  collaborate  →  export</a:t>
            </a:r>
          </a:p>
        </p:txBody>
      </p:sp>
      <p:sp>
        <p:nvSpPr>
          <p:cNvPr id="6" name="Oval 5">
            <a:extLst>
              <a:ext uri="{FF2B5EF4-FFF2-40B4-BE49-F238E27FC236}">
                <a16:creationId xmlns:a16="http://schemas.microsoft.com/office/drawing/2014/main" id="{569FE742-4247-4CAF-91B5-3C35A02B0A1F}"/>
              </a:ext>
            </a:extLst>
          </p:cNvPr>
          <p:cNvSpPr>
            <a:spLocks noGrp="1"/>
          </p:cNvSpPr>
          <p:nvPr/>
        </p:nvSpPr>
        <p:spPr>
          <a:xfrm>
            <a:off x="9391650" y="2152650"/>
            <a:ext cx="1524000" cy="1524000"/>
          </a:xfrm>
          <a:prstGeom prst="ellipse">
            <a:avLst/>
          </a:prstGeom>
          <a:solidFill>
            <a:srgbClr val="0A3558"/>
          </a:solidFill>
          <a:ln w="11430">
            <a:solidFill>
              <a:srgbClr val="98C6EA"/>
            </a:solidFill>
            <a:prstDash val="solid"/>
          </a:ln>
        </p:spPr>
        <p:txBody>
          <a:bodyPr/>
          <a:lstStyle/>
          <a:p>
            <a:endParaRPr lang="de-DE"/>
          </a:p>
        </p:txBody>
      </p:sp>
      <p:sp>
        <p:nvSpPr>
          <p:cNvPr id="7" name="Rectangle 6">
            <a:extLst>
              <a:ext uri="{FF2B5EF4-FFF2-40B4-BE49-F238E27FC236}">
                <a16:creationId xmlns:a16="http://schemas.microsoft.com/office/drawing/2014/main" id="{EFE35913-B217-471D-A77B-98543C1E8790}"/>
              </a:ext>
            </a:extLst>
          </p:cNvPr>
          <p:cNvSpPr>
            <a:spLocks noGrp="1"/>
          </p:cNvSpPr>
          <p:nvPr/>
        </p:nvSpPr>
        <p:spPr>
          <a:xfrm>
            <a:off x="9544050" y="2543175"/>
            <a:ext cx="1219200" cy="438150"/>
          </a:xfrm>
          <a:prstGeom prst="rect">
            <a:avLst/>
          </a:prstGeom>
          <a:noFill/>
          <a:ln w="0">
            <a:noFill/>
            <a:prstDash val="solid"/>
          </a:ln>
        </p:spPr>
        <p:txBody>
          <a:bodyPr lIns="0" tIns="0" rIns="0" bIns="0" anchor="ctr"/>
          <a:lstStyle/>
          <a:p>
            <a:pPr algn="ctr">
              <a:defRPr sz="2550" b="1">
                <a:solidFill>
                  <a:srgbClr val="FFFFFF"/>
                </a:solidFill>
                <a:latin typeface="Arial"/>
                <a:ea typeface="Arial"/>
                <a:cs typeface="Arial"/>
              </a:defRPr>
            </a:pPr>
            <a:r>
              <a:rPr sz="2550" b="1">
                <a:solidFill>
                  <a:srgbClr val="FFFFFF"/>
                </a:solidFill>
                <a:latin typeface="Arial"/>
                <a:ea typeface="Arial"/>
                <a:cs typeface="Arial"/>
              </a:rPr>
              <a:t>3 min</a:t>
            </a:r>
          </a:p>
        </p:txBody>
      </p:sp>
      <p:sp>
        <p:nvSpPr>
          <p:cNvPr id="8" name="Rectangle 7">
            <a:extLst>
              <a:ext uri="{FF2B5EF4-FFF2-40B4-BE49-F238E27FC236}">
                <a16:creationId xmlns:a16="http://schemas.microsoft.com/office/drawing/2014/main" id="{5FC714C2-4374-447B-A944-08CE987981CC}"/>
              </a:ext>
            </a:extLst>
          </p:cNvPr>
          <p:cNvSpPr>
            <a:spLocks noGrp="1"/>
          </p:cNvSpPr>
          <p:nvPr/>
        </p:nvSpPr>
        <p:spPr>
          <a:xfrm>
            <a:off x="9544050" y="3067050"/>
            <a:ext cx="1219200" cy="266700"/>
          </a:xfrm>
          <a:prstGeom prst="rect">
            <a:avLst/>
          </a:prstGeom>
          <a:noFill/>
          <a:ln w="0">
            <a:noFill/>
            <a:prstDash val="solid"/>
          </a:ln>
        </p:spPr>
        <p:txBody>
          <a:bodyPr lIns="0" tIns="0" rIns="0" bIns="0" anchor="t"/>
          <a:lstStyle/>
          <a:p>
            <a:pPr algn="ctr">
              <a:defRPr sz="1200" b="0">
                <a:solidFill>
                  <a:srgbClr val="98C6EA"/>
                </a:solidFill>
                <a:latin typeface="Arial"/>
                <a:ea typeface="Arial"/>
                <a:cs typeface="Arial"/>
              </a:defRPr>
            </a:pPr>
            <a:r>
              <a:rPr sz="1200" b="0">
                <a:solidFill>
                  <a:srgbClr val="98C6EA"/>
                </a:solidFill>
                <a:latin typeface="Arial"/>
                <a:ea typeface="Arial"/>
                <a:cs typeface="Arial"/>
              </a:rPr>
              <a:t>current app</a:t>
            </a:r>
          </a:p>
        </p:txBody>
      </p:sp>
      <p:sp>
        <p:nvSpPr>
          <p:cNvPr id="9" name="Rectangle 8">
            <a:extLst>
              <a:ext uri="{FF2B5EF4-FFF2-40B4-BE49-F238E27FC236}">
                <a16:creationId xmlns:a16="http://schemas.microsoft.com/office/drawing/2014/main" id="{6463E6C0-D67C-4CFF-85D5-D84E4BF14818}"/>
              </a:ext>
            </a:extLst>
          </p:cNvPr>
          <p:cNvSpPr>
            <a:spLocks noGrp="1"/>
          </p:cNvSpPr>
          <p:nvPr/>
        </p:nvSpPr>
        <p:spPr>
          <a:xfrm>
            <a:off x="723900" y="4953000"/>
            <a:ext cx="6191250" cy="285750"/>
          </a:xfrm>
          <a:prstGeom prst="rect">
            <a:avLst/>
          </a:prstGeom>
          <a:noFill/>
          <a:ln w="0">
            <a:noFill/>
            <a:prstDash val="solid"/>
          </a:ln>
        </p:spPr>
        <p:txBody>
          <a:bodyPr lIns="0" tIns="0" rIns="0" bIns="0" anchor="t"/>
          <a:lstStyle/>
          <a:p>
            <a:pPr algn="l">
              <a:defRPr sz="1350" b="0">
                <a:solidFill>
                  <a:srgbClr val="98C6EA"/>
                </a:solidFill>
                <a:latin typeface="Arial"/>
                <a:ea typeface="Arial"/>
                <a:cs typeface="Arial"/>
              </a:defRPr>
            </a:pPr>
            <a:r>
              <a:rPr sz="1350" b="0">
                <a:solidFill>
                  <a:srgbClr val="98C6EA"/>
                </a:solidFill>
                <a:latin typeface="Arial"/>
                <a:ea typeface="Arial"/>
                <a:cs typeface="Arial"/>
              </a:rPr>
              <a:t>Current standalone application · realistic thesis diagram</a:t>
            </a:r>
          </a:p>
        </p:txBody>
      </p:sp>
    </p:spTree>
    <p:extLst>
      <p:ext uri="{BB962C8B-B14F-4D97-AF65-F5344CB8AC3E}">
        <p14:creationId xmlns:p14="http://schemas.microsoft.com/office/powerpoint/2010/main" val="1679559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ode · Rect 1">
            <a:extLst>
              <a:ext uri="{FF2B5EF4-FFF2-40B4-BE49-F238E27FC236}">
                <a16:creationId xmlns:a16="http://schemas.microsoft.com/office/drawing/2014/main" id="{3A96362B-3988-4FCF-B36C-3AF5D082A926}"/>
              </a:ext>
            </a:extLst>
          </p:cNvPr>
          <p:cNvSpPr>
            <a:spLocks noGrp="1"/>
          </p:cNvSpPr>
          <p:nvPr/>
        </p:nvSpPr>
        <p:spPr>
          <a:xfrm>
            <a:off x="3916543" y="1783020"/>
            <a:ext cx="2404215" cy="3683877"/>
          </a:xfrm>
          <a:prstGeom prst="rect">
            <a:avLst/>
          </a:prstGeom>
          <a:solidFill>
            <a:srgbClr val="FFFFFF"/>
          </a:solidFill>
          <a:ln w="15511">
            <a:solidFill>
              <a:srgbClr val="000000"/>
            </a:solidFill>
            <a:prstDash val="solid"/>
          </a:ln>
        </p:spPr>
        <p:txBody>
          <a:bodyPr/>
          <a:lstStyle/>
          <a:p>
            <a:endParaRPr lang="de-DE"/>
          </a:p>
        </p:txBody>
      </p:sp>
      <p:sp>
        <p:nvSpPr>
          <p:cNvPr id="3" name="Node · Path 2">
            <a:extLst>
              <a:ext uri="{FF2B5EF4-FFF2-40B4-BE49-F238E27FC236}">
                <a16:creationId xmlns:a16="http://schemas.microsoft.com/office/drawing/2014/main" id="{F9FDEBD5-E253-4379-B5CA-3FE672C5BF6D}"/>
              </a:ext>
            </a:extLst>
          </p:cNvPr>
          <p:cNvSpPr>
            <a:spLocks noGrp="1"/>
          </p:cNvSpPr>
          <p:nvPr/>
        </p:nvSpPr>
        <p:spPr>
          <a:xfrm>
            <a:off x="6066764" y="1839248"/>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000000"/>
            </a:solidFill>
            <a:prstDash val="solid"/>
          </a:ln>
        </p:spPr>
        <p:txBody>
          <a:bodyPr/>
          <a:lstStyle/>
          <a:p>
            <a:endParaRPr lang="de-DE"/>
          </a:p>
        </p:txBody>
      </p:sp>
      <p:sp>
        <p:nvSpPr>
          <p:cNvPr id="4" name="Node · Path 3">
            <a:extLst>
              <a:ext uri="{FF2B5EF4-FFF2-40B4-BE49-F238E27FC236}">
                <a16:creationId xmlns:a16="http://schemas.microsoft.com/office/drawing/2014/main" id="{DB68CE7A-BC9F-4807-9E69-A23A24214518}"/>
              </a:ext>
            </a:extLst>
          </p:cNvPr>
          <p:cNvSpPr>
            <a:spLocks noGrp="1"/>
          </p:cNvSpPr>
          <p:nvPr/>
        </p:nvSpPr>
        <p:spPr>
          <a:xfrm>
            <a:off x="6103991" y="1876475"/>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000000"/>
            </a:solidFill>
            <a:prstDash val="solid"/>
          </a:ln>
        </p:spPr>
        <p:txBody>
          <a:bodyPr/>
          <a:lstStyle/>
          <a:p>
            <a:endParaRPr lang="de-DE"/>
          </a:p>
        </p:txBody>
      </p:sp>
      <p:sp>
        <p:nvSpPr>
          <p:cNvPr id="5" name="Node · &quot;«subsystem»&quot;">
            <a:extLst>
              <a:ext uri="{FF2B5EF4-FFF2-40B4-BE49-F238E27FC236}">
                <a16:creationId xmlns:a16="http://schemas.microsoft.com/office/drawing/2014/main" id="{CEAEB980-0F6B-4545-8C85-97E6EE03BCA3}"/>
              </a:ext>
            </a:extLst>
          </p:cNvPr>
          <p:cNvSpPr>
            <a:spLocks noGrp="1"/>
          </p:cNvSpPr>
          <p:nvPr/>
        </p:nvSpPr>
        <p:spPr>
          <a:xfrm>
            <a:off x="4765236" y="1890512"/>
            <a:ext cx="706829"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«subsystem»</a:t>
            </a:r>
          </a:p>
        </p:txBody>
      </p:sp>
      <p:sp>
        <p:nvSpPr>
          <p:cNvPr id="6" name="Node · &quot;Standalone Web Application&quot;">
            <a:extLst>
              <a:ext uri="{FF2B5EF4-FFF2-40B4-BE49-F238E27FC236}">
                <a16:creationId xmlns:a16="http://schemas.microsoft.com/office/drawing/2014/main" id="{9F5E1150-57A1-4992-92B1-6D20C807F815}"/>
              </a:ext>
            </a:extLst>
          </p:cNvPr>
          <p:cNvSpPr>
            <a:spLocks noGrp="1"/>
          </p:cNvSpPr>
          <p:nvPr/>
        </p:nvSpPr>
        <p:spPr>
          <a:xfrm>
            <a:off x="4235696" y="2017237"/>
            <a:ext cx="1765910"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Standalone Web Application</a:t>
            </a:r>
          </a:p>
        </p:txBody>
      </p:sp>
      <p:sp>
        <p:nvSpPr>
          <p:cNvPr id="7" name="Node · Rect 1">
            <a:extLst>
              <a:ext uri="{FF2B5EF4-FFF2-40B4-BE49-F238E27FC236}">
                <a16:creationId xmlns:a16="http://schemas.microsoft.com/office/drawing/2014/main" id="{A7AEF9AA-DDC8-4060-84E9-A35E42A2BB4E}"/>
              </a:ext>
            </a:extLst>
          </p:cNvPr>
          <p:cNvSpPr>
            <a:spLocks noGrp="1"/>
          </p:cNvSpPr>
          <p:nvPr/>
        </p:nvSpPr>
        <p:spPr>
          <a:xfrm>
            <a:off x="4226765" y="2481018"/>
            <a:ext cx="1938883" cy="620443"/>
          </a:xfrm>
          <a:prstGeom prst="rect">
            <a:avLst/>
          </a:prstGeom>
          <a:solidFill>
            <a:srgbClr val="FFE0AD"/>
          </a:solidFill>
          <a:ln w="15511">
            <a:solidFill>
              <a:srgbClr val="D08A00"/>
            </a:solidFill>
            <a:prstDash val="solid"/>
          </a:ln>
        </p:spPr>
        <p:txBody>
          <a:bodyPr/>
          <a:lstStyle/>
          <a:p>
            <a:endParaRPr lang="de-DE"/>
          </a:p>
        </p:txBody>
      </p:sp>
      <p:sp>
        <p:nvSpPr>
          <p:cNvPr id="8" name="Node · Path 2">
            <a:extLst>
              <a:ext uri="{FF2B5EF4-FFF2-40B4-BE49-F238E27FC236}">
                <a16:creationId xmlns:a16="http://schemas.microsoft.com/office/drawing/2014/main" id="{48ECA777-3226-4572-8687-43DF8D5B2BAF}"/>
              </a:ext>
            </a:extLst>
          </p:cNvPr>
          <p:cNvSpPr>
            <a:spLocks noGrp="1"/>
          </p:cNvSpPr>
          <p:nvPr/>
        </p:nvSpPr>
        <p:spPr>
          <a:xfrm>
            <a:off x="5911654" y="2537246"/>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9" name="Node · Path 3">
            <a:extLst>
              <a:ext uri="{FF2B5EF4-FFF2-40B4-BE49-F238E27FC236}">
                <a16:creationId xmlns:a16="http://schemas.microsoft.com/office/drawing/2014/main" id="{09987FF5-CDF9-4F4B-8273-39901777E13C}"/>
              </a:ext>
            </a:extLst>
          </p:cNvPr>
          <p:cNvSpPr>
            <a:spLocks noGrp="1"/>
          </p:cNvSpPr>
          <p:nvPr/>
        </p:nvSpPr>
        <p:spPr>
          <a:xfrm>
            <a:off x="5948880" y="2574472"/>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10" name="Node · &quot;«component»&quot;">
            <a:extLst>
              <a:ext uri="{FF2B5EF4-FFF2-40B4-BE49-F238E27FC236}">
                <a16:creationId xmlns:a16="http://schemas.microsoft.com/office/drawing/2014/main" id="{233B5707-600E-4781-8C85-ABC7B3997914}"/>
              </a:ext>
            </a:extLst>
          </p:cNvPr>
          <p:cNvSpPr>
            <a:spLocks noGrp="1"/>
          </p:cNvSpPr>
          <p:nvPr/>
        </p:nvSpPr>
        <p:spPr>
          <a:xfrm>
            <a:off x="4834600" y="2635043"/>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11" name="Node · &quot;Diagram Overview&quot;">
            <a:extLst>
              <a:ext uri="{FF2B5EF4-FFF2-40B4-BE49-F238E27FC236}">
                <a16:creationId xmlns:a16="http://schemas.microsoft.com/office/drawing/2014/main" id="{F311D9F7-807A-471E-A432-59F23AF4BFF9}"/>
              </a:ext>
            </a:extLst>
          </p:cNvPr>
          <p:cNvSpPr>
            <a:spLocks noGrp="1"/>
          </p:cNvSpPr>
          <p:nvPr/>
        </p:nvSpPr>
        <p:spPr>
          <a:xfrm>
            <a:off x="4612839" y="2781157"/>
            <a:ext cx="1166735"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Diagram Overview</a:t>
            </a:r>
          </a:p>
        </p:txBody>
      </p:sp>
      <p:sp>
        <p:nvSpPr>
          <p:cNvPr id="12" name="Node · Rect 1">
            <a:extLst>
              <a:ext uri="{FF2B5EF4-FFF2-40B4-BE49-F238E27FC236}">
                <a16:creationId xmlns:a16="http://schemas.microsoft.com/office/drawing/2014/main" id="{6F559FC1-4E8A-43C9-90C2-8A207581BC6E}"/>
              </a:ext>
            </a:extLst>
          </p:cNvPr>
          <p:cNvSpPr>
            <a:spLocks noGrp="1"/>
          </p:cNvSpPr>
          <p:nvPr/>
        </p:nvSpPr>
        <p:spPr>
          <a:xfrm>
            <a:off x="4226765" y="3372904"/>
            <a:ext cx="1938883" cy="620443"/>
          </a:xfrm>
          <a:prstGeom prst="rect">
            <a:avLst/>
          </a:prstGeom>
          <a:solidFill>
            <a:srgbClr val="FFE0AD"/>
          </a:solidFill>
          <a:ln w="15511">
            <a:solidFill>
              <a:srgbClr val="D08A00"/>
            </a:solidFill>
            <a:prstDash val="solid"/>
          </a:ln>
        </p:spPr>
        <p:txBody>
          <a:bodyPr/>
          <a:lstStyle/>
          <a:p>
            <a:endParaRPr lang="de-DE"/>
          </a:p>
        </p:txBody>
      </p:sp>
      <p:sp>
        <p:nvSpPr>
          <p:cNvPr id="13" name="Node · Path 2">
            <a:extLst>
              <a:ext uri="{FF2B5EF4-FFF2-40B4-BE49-F238E27FC236}">
                <a16:creationId xmlns:a16="http://schemas.microsoft.com/office/drawing/2014/main" id="{C68BD9A3-5BF8-41BC-B28C-6C3743275F2C}"/>
              </a:ext>
            </a:extLst>
          </p:cNvPr>
          <p:cNvSpPr>
            <a:spLocks noGrp="1"/>
          </p:cNvSpPr>
          <p:nvPr/>
        </p:nvSpPr>
        <p:spPr>
          <a:xfrm>
            <a:off x="5911654" y="3429132"/>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14" name="Node · Path 3">
            <a:extLst>
              <a:ext uri="{FF2B5EF4-FFF2-40B4-BE49-F238E27FC236}">
                <a16:creationId xmlns:a16="http://schemas.microsoft.com/office/drawing/2014/main" id="{D5F78A68-122D-40C7-AAA2-D809D5379266}"/>
              </a:ext>
            </a:extLst>
          </p:cNvPr>
          <p:cNvSpPr>
            <a:spLocks noGrp="1"/>
          </p:cNvSpPr>
          <p:nvPr/>
        </p:nvSpPr>
        <p:spPr>
          <a:xfrm>
            <a:off x="5948880" y="3466358"/>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15" name="Node · &quot;«component»&quot;">
            <a:extLst>
              <a:ext uri="{FF2B5EF4-FFF2-40B4-BE49-F238E27FC236}">
                <a16:creationId xmlns:a16="http://schemas.microsoft.com/office/drawing/2014/main" id="{AB48A9B0-D178-41BB-A94C-0A54A665FD1A}"/>
              </a:ext>
            </a:extLst>
          </p:cNvPr>
          <p:cNvSpPr>
            <a:spLocks noGrp="1"/>
          </p:cNvSpPr>
          <p:nvPr/>
        </p:nvSpPr>
        <p:spPr>
          <a:xfrm>
            <a:off x="4834600" y="3526929"/>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16" name="Node · &quot;Apollon Diagram Editor&quot;">
            <a:extLst>
              <a:ext uri="{FF2B5EF4-FFF2-40B4-BE49-F238E27FC236}">
                <a16:creationId xmlns:a16="http://schemas.microsoft.com/office/drawing/2014/main" id="{6B31A060-55C1-4958-A628-357E505E54F2}"/>
              </a:ext>
            </a:extLst>
          </p:cNvPr>
          <p:cNvSpPr>
            <a:spLocks noGrp="1"/>
          </p:cNvSpPr>
          <p:nvPr/>
        </p:nvSpPr>
        <p:spPr>
          <a:xfrm>
            <a:off x="4475269" y="3673043"/>
            <a:ext cx="1441874"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Apollon Diagram Editor</a:t>
            </a:r>
          </a:p>
        </p:txBody>
      </p:sp>
      <p:sp>
        <p:nvSpPr>
          <p:cNvPr id="17" name="Node · Rect 1">
            <a:extLst>
              <a:ext uri="{FF2B5EF4-FFF2-40B4-BE49-F238E27FC236}">
                <a16:creationId xmlns:a16="http://schemas.microsoft.com/office/drawing/2014/main" id="{A4649B92-0845-41BC-85BA-9E16868C8877}"/>
              </a:ext>
            </a:extLst>
          </p:cNvPr>
          <p:cNvSpPr>
            <a:spLocks noGrp="1"/>
          </p:cNvSpPr>
          <p:nvPr/>
        </p:nvSpPr>
        <p:spPr>
          <a:xfrm>
            <a:off x="4226765" y="4497456"/>
            <a:ext cx="1938883" cy="620443"/>
          </a:xfrm>
          <a:prstGeom prst="rect">
            <a:avLst/>
          </a:prstGeom>
          <a:solidFill>
            <a:srgbClr val="FFE0AD"/>
          </a:solidFill>
          <a:ln w="15511">
            <a:solidFill>
              <a:srgbClr val="D08A00"/>
            </a:solidFill>
            <a:prstDash val="solid"/>
          </a:ln>
        </p:spPr>
        <p:txBody>
          <a:bodyPr/>
          <a:lstStyle/>
          <a:p>
            <a:endParaRPr lang="de-DE"/>
          </a:p>
        </p:txBody>
      </p:sp>
      <p:sp>
        <p:nvSpPr>
          <p:cNvPr id="18" name="Node · Path 2">
            <a:extLst>
              <a:ext uri="{FF2B5EF4-FFF2-40B4-BE49-F238E27FC236}">
                <a16:creationId xmlns:a16="http://schemas.microsoft.com/office/drawing/2014/main" id="{BA3BB6F2-CF53-4D95-8319-16E99861076F}"/>
              </a:ext>
            </a:extLst>
          </p:cNvPr>
          <p:cNvSpPr>
            <a:spLocks noGrp="1"/>
          </p:cNvSpPr>
          <p:nvPr/>
        </p:nvSpPr>
        <p:spPr>
          <a:xfrm>
            <a:off x="5911654" y="4553684"/>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19" name="Node · Path 3">
            <a:extLst>
              <a:ext uri="{FF2B5EF4-FFF2-40B4-BE49-F238E27FC236}">
                <a16:creationId xmlns:a16="http://schemas.microsoft.com/office/drawing/2014/main" id="{7147D1EA-D963-4F7C-953A-DC58AABDC2A5}"/>
              </a:ext>
            </a:extLst>
          </p:cNvPr>
          <p:cNvSpPr>
            <a:spLocks noGrp="1"/>
          </p:cNvSpPr>
          <p:nvPr/>
        </p:nvSpPr>
        <p:spPr>
          <a:xfrm>
            <a:off x="5948880" y="4590910"/>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20" name="Node · &quot;«component»&quot;">
            <a:extLst>
              <a:ext uri="{FF2B5EF4-FFF2-40B4-BE49-F238E27FC236}">
                <a16:creationId xmlns:a16="http://schemas.microsoft.com/office/drawing/2014/main" id="{E3401E7D-F57D-4455-94E7-2BE25AB80D56}"/>
              </a:ext>
            </a:extLst>
          </p:cNvPr>
          <p:cNvSpPr>
            <a:spLocks noGrp="1"/>
          </p:cNvSpPr>
          <p:nvPr/>
        </p:nvSpPr>
        <p:spPr>
          <a:xfrm>
            <a:off x="4834600" y="4651481"/>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21" name="Node · &quot;Version History&quot;">
            <a:extLst>
              <a:ext uri="{FF2B5EF4-FFF2-40B4-BE49-F238E27FC236}">
                <a16:creationId xmlns:a16="http://schemas.microsoft.com/office/drawing/2014/main" id="{7E7A9775-5594-4681-B405-DFC4743F88C8}"/>
              </a:ext>
            </a:extLst>
          </p:cNvPr>
          <p:cNvSpPr>
            <a:spLocks noGrp="1"/>
          </p:cNvSpPr>
          <p:nvPr/>
        </p:nvSpPr>
        <p:spPr>
          <a:xfrm>
            <a:off x="4702027" y="4797595"/>
            <a:ext cx="988358"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Version History</a:t>
            </a:r>
          </a:p>
        </p:txBody>
      </p:sp>
      <p:sp>
        <p:nvSpPr>
          <p:cNvPr id="22" name="Node · Rect 1">
            <a:extLst>
              <a:ext uri="{FF2B5EF4-FFF2-40B4-BE49-F238E27FC236}">
                <a16:creationId xmlns:a16="http://schemas.microsoft.com/office/drawing/2014/main" id="{B7AA2C35-793D-4A76-AEBE-206BADC5A314}"/>
              </a:ext>
            </a:extLst>
          </p:cNvPr>
          <p:cNvSpPr>
            <a:spLocks noGrp="1"/>
          </p:cNvSpPr>
          <p:nvPr/>
        </p:nvSpPr>
        <p:spPr>
          <a:xfrm>
            <a:off x="465332" y="2830017"/>
            <a:ext cx="2171549" cy="2326659"/>
          </a:xfrm>
          <a:prstGeom prst="rect">
            <a:avLst/>
          </a:prstGeom>
          <a:solidFill>
            <a:srgbClr val="FFFFFF"/>
          </a:solidFill>
          <a:ln w="15511">
            <a:solidFill>
              <a:srgbClr val="000000"/>
            </a:solidFill>
            <a:prstDash val="solid"/>
          </a:ln>
        </p:spPr>
        <p:txBody>
          <a:bodyPr/>
          <a:lstStyle/>
          <a:p>
            <a:endParaRPr lang="de-DE"/>
          </a:p>
        </p:txBody>
      </p:sp>
      <p:sp>
        <p:nvSpPr>
          <p:cNvPr id="23" name="Node · Path 2">
            <a:extLst>
              <a:ext uri="{FF2B5EF4-FFF2-40B4-BE49-F238E27FC236}">
                <a16:creationId xmlns:a16="http://schemas.microsoft.com/office/drawing/2014/main" id="{8EBF7AFF-18B6-456F-80A1-BB931AD7CC92}"/>
              </a:ext>
            </a:extLst>
          </p:cNvPr>
          <p:cNvSpPr>
            <a:spLocks noGrp="1"/>
          </p:cNvSpPr>
          <p:nvPr/>
        </p:nvSpPr>
        <p:spPr>
          <a:xfrm>
            <a:off x="2382887" y="2886245"/>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000000"/>
            </a:solidFill>
            <a:prstDash val="solid"/>
          </a:ln>
        </p:spPr>
        <p:txBody>
          <a:bodyPr/>
          <a:lstStyle/>
          <a:p>
            <a:endParaRPr lang="de-DE"/>
          </a:p>
        </p:txBody>
      </p:sp>
      <p:sp>
        <p:nvSpPr>
          <p:cNvPr id="24" name="Node · Path 3">
            <a:extLst>
              <a:ext uri="{FF2B5EF4-FFF2-40B4-BE49-F238E27FC236}">
                <a16:creationId xmlns:a16="http://schemas.microsoft.com/office/drawing/2014/main" id="{E14C61BB-D02E-4F1E-9516-12CA34310910}"/>
              </a:ext>
            </a:extLst>
          </p:cNvPr>
          <p:cNvSpPr>
            <a:spLocks noGrp="1"/>
          </p:cNvSpPr>
          <p:nvPr/>
        </p:nvSpPr>
        <p:spPr>
          <a:xfrm>
            <a:off x="2420114" y="2923471"/>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000000"/>
            </a:solidFill>
            <a:prstDash val="solid"/>
          </a:ln>
        </p:spPr>
        <p:txBody>
          <a:bodyPr/>
          <a:lstStyle/>
          <a:p>
            <a:endParaRPr lang="de-DE"/>
          </a:p>
        </p:txBody>
      </p:sp>
      <p:sp>
        <p:nvSpPr>
          <p:cNvPr id="25" name="Node · &quot;«subsystem»&quot;">
            <a:extLst>
              <a:ext uri="{FF2B5EF4-FFF2-40B4-BE49-F238E27FC236}">
                <a16:creationId xmlns:a16="http://schemas.microsoft.com/office/drawing/2014/main" id="{1D3509C2-DB7B-419E-8EC2-2EE261272EBC}"/>
              </a:ext>
            </a:extLst>
          </p:cNvPr>
          <p:cNvSpPr>
            <a:spLocks noGrp="1"/>
          </p:cNvSpPr>
          <p:nvPr/>
        </p:nvSpPr>
        <p:spPr>
          <a:xfrm>
            <a:off x="1197692" y="2937509"/>
            <a:ext cx="706829"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«subsystem»</a:t>
            </a:r>
          </a:p>
        </p:txBody>
      </p:sp>
      <p:sp>
        <p:nvSpPr>
          <p:cNvPr id="26" name="Node · &quot;Apollon Library (npm)&quot;">
            <a:extLst>
              <a:ext uri="{FF2B5EF4-FFF2-40B4-BE49-F238E27FC236}">
                <a16:creationId xmlns:a16="http://schemas.microsoft.com/office/drawing/2014/main" id="{E6D93EF9-CE54-4AF1-B905-083493E74521}"/>
              </a:ext>
            </a:extLst>
          </p:cNvPr>
          <p:cNvSpPr>
            <a:spLocks noGrp="1"/>
          </p:cNvSpPr>
          <p:nvPr/>
        </p:nvSpPr>
        <p:spPr>
          <a:xfrm>
            <a:off x="865826" y="3064234"/>
            <a:ext cx="1370560"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Apollon Library (npm)</a:t>
            </a:r>
          </a:p>
        </p:txBody>
      </p:sp>
      <p:sp>
        <p:nvSpPr>
          <p:cNvPr id="27" name="Node · Rect 1">
            <a:extLst>
              <a:ext uri="{FF2B5EF4-FFF2-40B4-BE49-F238E27FC236}">
                <a16:creationId xmlns:a16="http://schemas.microsoft.com/office/drawing/2014/main" id="{2FB7348B-50CB-4B96-A04D-2E28F9254DFB}"/>
              </a:ext>
            </a:extLst>
          </p:cNvPr>
          <p:cNvSpPr>
            <a:spLocks noGrp="1"/>
          </p:cNvSpPr>
          <p:nvPr/>
        </p:nvSpPr>
        <p:spPr>
          <a:xfrm>
            <a:off x="736775" y="3372904"/>
            <a:ext cx="1706217" cy="620443"/>
          </a:xfrm>
          <a:prstGeom prst="rect">
            <a:avLst/>
          </a:prstGeom>
          <a:solidFill>
            <a:srgbClr val="FFE0AD"/>
          </a:solidFill>
          <a:ln w="15511">
            <a:solidFill>
              <a:srgbClr val="D08A00"/>
            </a:solidFill>
            <a:prstDash val="solid"/>
          </a:ln>
        </p:spPr>
        <p:txBody>
          <a:bodyPr/>
          <a:lstStyle/>
          <a:p>
            <a:endParaRPr lang="de-DE"/>
          </a:p>
        </p:txBody>
      </p:sp>
      <p:sp>
        <p:nvSpPr>
          <p:cNvPr id="28" name="Node · Path 2">
            <a:extLst>
              <a:ext uri="{FF2B5EF4-FFF2-40B4-BE49-F238E27FC236}">
                <a16:creationId xmlns:a16="http://schemas.microsoft.com/office/drawing/2014/main" id="{26579888-8CFC-42F1-B347-C8447ED97CFF}"/>
              </a:ext>
            </a:extLst>
          </p:cNvPr>
          <p:cNvSpPr>
            <a:spLocks noGrp="1"/>
          </p:cNvSpPr>
          <p:nvPr/>
        </p:nvSpPr>
        <p:spPr>
          <a:xfrm>
            <a:off x="2188999" y="3429132"/>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29" name="Node · Path 3">
            <a:extLst>
              <a:ext uri="{FF2B5EF4-FFF2-40B4-BE49-F238E27FC236}">
                <a16:creationId xmlns:a16="http://schemas.microsoft.com/office/drawing/2014/main" id="{7BDB5746-3FC6-4105-8B20-37039149C50A}"/>
              </a:ext>
            </a:extLst>
          </p:cNvPr>
          <p:cNvSpPr>
            <a:spLocks noGrp="1"/>
          </p:cNvSpPr>
          <p:nvPr/>
        </p:nvSpPr>
        <p:spPr>
          <a:xfrm>
            <a:off x="2226225" y="3466358"/>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30" name="Node · &quot;«component»&quot;">
            <a:extLst>
              <a:ext uri="{FF2B5EF4-FFF2-40B4-BE49-F238E27FC236}">
                <a16:creationId xmlns:a16="http://schemas.microsoft.com/office/drawing/2014/main" id="{EB6A6137-179F-45A9-B5E2-6D58D3874438}"/>
              </a:ext>
            </a:extLst>
          </p:cNvPr>
          <p:cNvSpPr>
            <a:spLocks noGrp="1"/>
          </p:cNvSpPr>
          <p:nvPr/>
        </p:nvSpPr>
        <p:spPr>
          <a:xfrm>
            <a:off x="1228278" y="3526929"/>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31" name="Node · &quot;Diagram Editor&quot;">
            <a:extLst>
              <a:ext uri="{FF2B5EF4-FFF2-40B4-BE49-F238E27FC236}">
                <a16:creationId xmlns:a16="http://schemas.microsoft.com/office/drawing/2014/main" id="{B8A1EFCE-4FD3-43C6-B0EB-593F19D3AE4C}"/>
              </a:ext>
            </a:extLst>
          </p:cNvPr>
          <p:cNvSpPr>
            <a:spLocks noGrp="1"/>
          </p:cNvSpPr>
          <p:nvPr/>
        </p:nvSpPr>
        <p:spPr>
          <a:xfrm>
            <a:off x="1117427" y="3673043"/>
            <a:ext cx="944915"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Diagram Editor</a:t>
            </a:r>
          </a:p>
        </p:txBody>
      </p:sp>
      <p:sp>
        <p:nvSpPr>
          <p:cNvPr id="32" name="Node · Rect 1">
            <a:extLst>
              <a:ext uri="{FF2B5EF4-FFF2-40B4-BE49-F238E27FC236}">
                <a16:creationId xmlns:a16="http://schemas.microsoft.com/office/drawing/2014/main" id="{EAA9A8F9-39EB-482A-8028-AD2886583399}"/>
              </a:ext>
            </a:extLst>
          </p:cNvPr>
          <p:cNvSpPr>
            <a:spLocks noGrp="1"/>
          </p:cNvSpPr>
          <p:nvPr/>
        </p:nvSpPr>
        <p:spPr>
          <a:xfrm>
            <a:off x="8996416" y="1783020"/>
            <a:ext cx="2326659" cy="3722655"/>
          </a:xfrm>
          <a:prstGeom prst="rect">
            <a:avLst/>
          </a:prstGeom>
          <a:solidFill>
            <a:srgbClr val="FFFFFF"/>
          </a:solidFill>
          <a:ln w="15511">
            <a:solidFill>
              <a:srgbClr val="000000"/>
            </a:solidFill>
            <a:prstDash val="solid"/>
          </a:ln>
        </p:spPr>
        <p:txBody>
          <a:bodyPr/>
          <a:lstStyle/>
          <a:p>
            <a:endParaRPr lang="de-DE"/>
          </a:p>
        </p:txBody>
      </p:sp>
      <p:sp>
        <p:nvSpPr>
          <p:cNvPr id="33" name="Node · Path 2">
            <a:extLst>
              <a:ext uri="{FF2B5EF4-FFF2-40B4-BE49-F238E27FC236}">
                <a16:creationId xmlns:a16="http://schemas.microsoft.com/office/drawing/2014/main" id="{BEEAADFD-1908-44C5-B506-3B64A2A022D7}"/>
              </a:ext>
            </a:extLst>
          </p:cNvPr>
          <p:cNvSpPr>
            <a:spLocks noGrp="1"/>
          </p:cNvSpPr>
          <p:nvPr/>
        </p:nvSpPr>
        <p:spPr>
          <a:xfrm>
            <a:off x="11069082" y="1839248"/>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000000"/>
            </a:solidFill>
            <a:prstDash val="solid"/>
          </a:ln>
        </p:spPr>
        <p:txBody>
          <a:bodyPr/>
          <a:lstStyle/>
          <a:p>
            <a:endParaRPr lang="de-DE"/>
          </a:p>
        </p:txBody>
      </p:sp>
      <p:sp>
        <p:nvSpPr>
          <p:cNvPr id="34" name="Node · Path 3">
            <a:extLst>
              <a:ext uri="{FF2B5EF4-FFF2-40B4-BE49-F238E27FC236}">
                <a16:creationId xmlns:a16="http://schemas.microsoft.com/office/drawing/2014/main" id="{FA227C0C-22F5-4C44-8894-7FDE131DB230}"/>
              </a:ext>
            </a:extLst>
          </p:cNvPr>
          <p:cNvSpPr>
            <a:spLocks noGrp="1"/>
          </p:cNvSpPr>
          <p:nvPr/>
        </p:nvSpPr>
        <p:spPr>
          <a:xfrm>
            <a:off x="11106309" y="1876475"/>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000000"/>
            </a:solidFill>
            <a:prstDash val="solid"/>
          </a:ln>
        </p:spPr>
        <p:txBody>
          <a:bodyPr/>
          <a:lstStyle/>
          <a:p>
            <a:endParaRPr lang="de-DE"/>
          </a:p>
        </p:txBody>
      </p:sp>
      <p:sp>
        <p:nvSpPr>
          <p:cNvPr id="35" name="Node · &quot;«subsystem»&quot;">
            <a:extLst>
              <a:ext uri="{FF2B5EF4-FFF2-40B4-BE49-F238E27FC236}">
                <a16:creationId xmlns:a16="http://schemas.microsoft.com/office/drawing/2014/main" id="{A162842B-2E22-434B-96CD-74EFB33B41DE}"/>
              </a:ext>
            </a:extLst>
          </p:cNvPr>
          <p:cNvSpPr>
            <a:spLocks noGrp="1"/>
          </p:cNvSpPr>
          <p:nvPr/>
        </p:nvSpPr>
        <p:spPr>
          <a:xfrm>
            <a:off x="9806331" y="1890512"/>
            <a:ext cx="706829"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«subsystem»</a:t>
            </a:r>
          </a:p>
        </p:txBody>
      </p:sp>
      <p:sp>
        <p:nvSpPr>
          <p:cNvPr id="36" name="Node · &quot;Standalone Server&quot;">
            <a:extLst>
              <a:ext uri="{FF2B5EF4-FFF2-40B4-BE49-F238E27FC236}">
                <a16:creationId xmlns:a16="http://schemas.microsoft.com/office/drawing/2014/main" id="{F475B4F8-3673-438C-89FA-C5B4FC6FF1F7}"/>
              </a:ext>
            </a:extLst>
          </p:cNvPr>
          <p:cNvSpPr>
            <a:spLocks noGrp="1"/>
          </p:cNvSpPr>
          <p:nvPr/>
        </p:nvSpPr>
        <p:spPr>
          <a:xfrm>
            <a:off x="9574228" y="2017237"/>
            <a:ext cx="1171037"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Standalone Server</a:t>
            </a:r>
          </a:p>
        </p:txBody>
      </p:sp>
      <p:sp>
        <p:nvSpPr>
          <p:cNvPr id="37" name="Node · Rect 1">
            <a:extLst>
              <a:ext uri="{FF2B5EF4-FFF2-40B4-BE49-F238E27FC236}">
                <a16:creationId xmlns:a16="http://schemas.microsoft.com/office/drawing/2014/main" id="{DB1EB05E-4A82-4012-A9B2-B4556657F4AC}"/>
              </a:ext>
            </a:extLst>
          </p:cNvPr>
          <p:cNvSpPr>
            <a:spLocks noGrp="1"/>
          </p:cNvSpPr>
          <p:nvPr/>
        </p:nvSpPr>
        <p:spPr>
          <a:xfrm>
            <a:off x="9345415" y="2442241"/>
            <a:ext cx="1706217" cy="581665"/>
          </a:xfrm>
          <a:prstGeom prst="rect">
            <a:avLst/>
          </a:prstGeom>
          <a:solidFill>
            <a:srgbClr val="FFE0AD"/>
          </a:solidFill>
          <a:ln w="15511">
            <a:solidFill>
              <a:srgbClr val="D08A00"/>
            </a:solidFill>
            <a:prstDash val="solid"/>
          </a:ln>
        </p:spPr>
        <p:txBody>
          <a:bodyPr/>
          <a:lstStyle/>
          <a:p>
            <a:endParaRPr lang="de-DE"/>
          </a:p>
        </p:txBody>
      </p:sp>
      <p:sp>
        <p:nvSpPr>
          <p:cNvPr id="38" name="Node · Path 2">
            <a:extLst>
              <a:ext uri="{FF2B5EF4-FFF2-40B4-BE49-F238E27FC236}">
                <a16:creationId xmlns:a16="http://schemas.microsoft.com/office/drawing/2014/main" id="{6697D3DC-25DB-4328-9526-1D0D45050351}"/>
              </a:ext>
            </a:extLst>
          </p:cNvPr>
          <p:cNvSpPr>
            <a:spLocks noGrp="1"/>
          </p:cNvSpPr>
          <p:nvPr/>
        </p:nvSpPr>
        <p:spPr>
          <a:xfrm>
            <a:off x="10797638" y="2498468"/>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39" name="Node · Path 3">
            <a:extLst>
              <a:ext uri="{FF2B5EF4-FFF2-40B4-BE49-F238E27FC236}">
                <a16:creationId xmlns:a16="http://schemas.microsoft.com/office/drawing/2014/main" id="{DE660799-A335-4858-8AB6-C8D19C7C1BF8}"/>
              </a:ext>
            </a:extLst>
          </p:cNvPr>
          <p:cNvSpPr>
            <a:spLocks noGrp="1"/>
          </p:cNvSpPr>
          <p:nvPr/>
        </p:nvSpPr>
        <p:spPr>
          <a:xfrm>
            <a:off x="10834865" y="2535695"/>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40" name="Node · &quot;«component»&quot;">
            <a:extLst>
              <a:ext uri="{FF2B5EF4-FFF2-40B4-BE49-F238E27FC236}">
                <a16:creationId xmlns:a16="http://schemas.microsoft.com/office/drawing/2014/main" id="{54897AD8-BC25-45E7-BDE6-E9B33797FC2A}"/>
              </a:ext>
            </a:extLst>
          </p:cNvPr>
          <p:cNvSpPr>
            <a:spLocks noGrp="1"/>
          </p:cNvSpPr>
          <p:nvPr/>
        </p:nvSpPr>
        <p:spPr>
          <a:xfrm>
            <a:off x="9836917" y="2576877"/>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41" name="Node · &quot;Diagram Service&quot;">
            <a:extLst>
              <a:ext uri="{FF2B5EF4-FFF2-40B4-BE49-F238E27FC236}">
                <a16:creationId xmlns:a16="http://schemas.microsoft.com/office/drawing/2014/main" id="{F512FF1C-5055-4ACE-A4EB-6B86D0D67B76}"/>
              </a:ext>
            </a:extLst>
          </p:cNvPr>
          <p:cNvSpPr>
            <a:spLocks noGrp="1"/>
          </p:cNvSpPr>
          <p:nvPr/>
        </p:nvSpPr>
        <p:spPr>
          <a:xfrm>
            <a:off x="9673807" y="2722991"/>
            <a:ext cx="1049432"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Diagram Service</a:t>
            </a:r>
          </a:p>
        </p:txBody>
      </p:sp>
      <p:sp>
        <p:nvSpPr>
          <p:cNvPr id="42" name="Node · Rect 1">
            <a:extLst>
              <a:ext uri="{FF2B5EF4-FFF2-40B4-BE49-F238E27FC236}">
                <a16:creationId xmlns:a16="http://schemas.microsoft.com/office/drawing/2014/main" id="{2E79BA89-91BA-4EB0-B2CF-7CE913628855}"/>
              </a:ext>
            </a:extLst>
          </p:cNvPr>
          <p:cNvSpPr>
            <a:spLocks noGrp="1"/>
          </p:cNvSpPr>
          <p:nvPr/>
        </p:nvSpPr>
        <p:spPr>
          <a:xfrm>
            <a:off x="9345415" y="4536234"/>
            <a:ext cx="1706217" cy="581665"/>
          </a:xfrm>
          <a:prstGeom prst="rect">
            <a:avLst/>
          </a:prstGeom>
          <a:solidFill>
            <a:srgbClr val="FFE0AD"/>
          </a:solidFill>
          <a:ln w="15511">
            <a:solidFill>
              <a:srgbClr val="D08A00"/>
            </a:solidFill>
            <a:prstDash val="solid"/>
          </a:ln>
        </p:spPr>
        <p:txBody>
          <a:bodyPr/>
          <a:lstStyle/>
          <a:p>
            <a:endParaRPr lang="de-DE"/>
          </a:p>
        </p:txBody>
      </p:sp>
      <p:sp>
        <p:nvSpPr>
          <p:cNvPr id="43" name="Node · Path 2">
            <a:extLst>
              <a:ext uri="{FF2B5EF4-FFF2-40B4-BE49-F238E27FC236}">
                <a16:creationId xmlns:a16="http://schemas.microsoft.com/office/drawing/2014/main" id="{B34993AE-D641-41AA-BECC-BAEC49374AD3}"/>
              </a:ext>
            </a:extLst>
          </p:cNvPr>
          <p:cNvSpPr>
            <a:spLocks noGrp="1"/>
          </p:cNvSpPr>
          <p:nvPr/>
        </p:nvSpPr>
        <p:spPr>
          <a:xfrm>
            <a:off x="10797638" y="4592462"/>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44" name="Node · Path 3">
            <a:extLst>
              <a:ext uri="{FF2B5EF4-FFF2-40B4-BE49-F238E27FC236}">
                <a16:creationId xmlns:a16="http://schemas.microsoft.com/office/drawing/2014/main" id="{568B9BAD-769A-42FD-8B8A-34DE3D7CE77B}"/>
              </a:ext>
            </a:extLst>
          </p:cNvPr>
          <p:cNvSpPr>
            <a:spLocks noGrp="1"/>
          </p:cNvSpPr>
          <p:nvPr/>
        </p:nvSpPr>
        <p:spPr>
          <a:xfrm>
            <a:off x="10834865" y="4629688"/>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45" name="Node · &quot;«component»&quot;">
            <a:extLst>
              <a:ext uri="{FF2B5EF4-FFF2-40B4-BE49-F238E27FC236}">
                <a16:creationId xmlns:a16="http://schemas.microsoft.com/office/drawing/2014/main" id="{11F98E3E-694C-458D-9F6C-826ACB81C535}"/>
              </a:ext>
            </a:extLst>
          </p:cNvPr>
          <p:cNvSpPr>
            <a:spLocks noGrp="1"/>
          </p:cNvSpPr>
          <p:nvPr/>
        </p:nvSpPr>
        <p:spPr>
          <a:xfrm>
            <a:off x="9836917" y="4670870"/>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46" name="Node · &quot;Version Service&quot;">
            <a:extLst>
              <a:ext uri="{FF2B5EF4-FFF2-40B4-BE49-F238E27FC236}">
                <a16:creationId xmlns:a16="http://schemas.microsoft.com/office/drawing/2014/main" id="{58C384E4-67A8-40CD-8E50-235EC3409B79}"/>
              </a:ext>
            </a:extLst>
          </p:cNvPr>
          <p:cNvSpPr>
            <a:spLocks noGrp="1"/>
          </p:cNvSpPr>
          <p:nvPr/>
        </p:nvSpPr>
        <p:spPr>
          <a:xfrm>
            <a:off x="9694711" y="4816984"/>
            <a:ext cx="1007625"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Version Service</a:t>
            </a:r>
          </a:p>
        </p:txBody>
      </p:sp>
      <p:sp>
        <p:nvSpPr>
          <p:cNvPr id="47" name="Node · Rect 1">
            <a:extLst>
              <a:ext uri="{FF2B5EF4-FFF2-40B4-BE49-F238E27FC236}">
                <a16:creationId xmlns:a16="http://schemas.microsoft.com/office/drawing/2014/main" id="{50DF01AE-8694-4FF6-805B-E0B6F91D744E}"/>
              </a:ext>
            </a:extLst>
          </p:cNvPr>
          <p:cNvSpPr>
            <a:spLocks noGrp="1"/>
          </p:cNvSpPr>
          <p:nvPr/>
        </p:nvSpPr>
        <p:spPr>
          <a:xfrm>
            <a:off x="10004635" y="6126118"/>
            <a:ext cx="1473551" cy="620443"/>
          </a:xfrm>
          <a:prstGeom prst="rect">
            <a:avLst/>
          </a:prstGeom>
          <a:solidFill>
            <a:srgbClr val="FFFFFF"/>
          </a:solidFill>
          <a:ln w="15511">
            <a:solidFill>
              <a:srgbClr val="000000"/>
            </a:solidFill>
            <a:prstDash val="solid"/>
          </a:ln>
        </p:spPr>
        <p:txBody>
          <a:bodyPr/>
          <a:lstStyle/>
          <a:p>
            <a:endParaRPr lang="de-DE"/>
          </a:p>
        </p:txBody>
      </p:sp>
      <p:sp>
        <p:nvSpPr>
          <p:cNvPr id="48" name="Node · Path 2">
            <a:extLst>
              <a:ext uri="{FF2B5EF4-FFF2-40B4-BE49-F238E27FC236}">
                <a16:creationId xmlns:a16="http://schemas.microsoft.com/office/drawing/2014/main" id="{9719B41D-CA05-4661-AC55-1CB7D40B3C44}"/>
              </a:ext>
            </a:extLst>
          </p:cNvPr>
          <p:cNvSpPr>
            <a:spLocks noGrp="1"/>
          </p:cNvSpPr>
          <p:nvPr/>
        </p:nvSpPr>
        <p:spPr>
          <a:xfrm>
            <a:off x="11224193" y="6182346"/>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000000"/>
            </a:solidFill>
            <a:prstDash val="solid"/>
          </a:ln>
        </p:spPr>
        <p:txBody>
          <a:bodyPr/>
          <a:lstStyle/>
          <a:p>
            <a:endParaRPr lang="de-DE"/>
          </a:p>
        </p:txBody>
      </p:sp>
      <p:sp>
        <p:nvSpPr>
          <p:cNvPr id="49" name="Node · Path 3">
            <a:extLst>
              <a:ext uri="{FF2B5EF4-FFF2-40B4-BE49-F238E27FC236}">
                <a16:creationId xmlns:a16="http://schemas.microsoft.com/office/drawing/2014/main" id="{6B20EDCA-3D5D-4FDD-B15A-7D27FE29E536}"/>
              </a:ext>
            </a:extLst>
          </p:cNvPr>
          <p:cNvSpPr>
            <a:spLocks noGrp="1"/>
          </p:cNvSpPr>
          <p:nvPr/>
        </p:nvSpPr>
        <p:spPr>
          <a:xfrm>
            <a:off x="11261419" y="6219572"/>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000000"/>
            </a:solidFill>
            <a:prstDash val="solid"/>
          </a:ln>
        </p:spPr>
        <p:txBody>
          <a:bodyPr/>
          <a:lstStyle/>
          <a:p>
            <a:endParaRPr lang="de-DE"/>
          </a:p>
        </p:txBody>
      </p:sp>
      <p:sp>
        <p:nvSpPr>
          <p:cNvPr id="50" name="Node · &quot;«component»&quot;">
            <a:extLst>
              <a:ext uri="{FF2B5EF4-FFF2-40B4-BE49-F238E27FC236}">
                <a16:creationId xmlns:a16="http://schemas.microsoft.com/office/drawing/2014/main" id="{2A0CB890-819D-413E-9E9D-7FE2DD37EECA}"/>
              </a:ext>
            </a:extLst>
          </p:cNvPr>
          <p:cNvSpPr>
            <a:spLocks noGrp="1"/>
          </p:cNvSpPr>
          <p:nvPr/>
        </p:nvSpPr>
        <p:spPr>
          <a:xfrm>
            <a:off x="10379805" y="6280143"/>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51" name="Node · &quot;Redis Stack&quot;">
            <a:extLst>
              <a:ext uri="{FF2B5EF4-FFF2-40B4-BE49-F238E27FC236}">
                <a16:creationId xmlns:a16="http://schemas.microsoft.com/office/drawing/2014/main" id="{F1E4FDF8-BDD1-4357-8BC4-F2652226F4C1}"/>
              </a:ext>
            </a:extLst>
          </p:cNvPr>
          <p:cNvSpPr>
            <a:spLocks noGrp="1"/>
          </p:cNvSpPr>
          <p:nvPr/>
        </p:nvSpPr>
        <p:spPr>
          <a:xfrm>
            <a:off x="10362111" y="6426257"/>
            <a:ext cx="758600"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Redis Stack</a:t>
            </a:r>
          </a:p>
        </p:txBody>
      </p:sp>
      <p:sp>
        <p:nvSpPr>
          <p:cNvPr id="52" name="Node · Path 1">
            <a:extLst>
              <a:ext uri="{FF2B5EF4-FFF2-40B4-BE49-F238E27FC236}">
                <a16:creationId xmlns:a16="http://schemas.microsoft.com/office/drawing/2014/main" id="{BC084F0B-6F7F-4991-BA91-1A3BEB27DC6F}"/>
              </a:ext>
            </a:extLst>
          </p:cNvPr>
          <p:cNvSpPr>
            <a:spLocks noGrp="1"/>
          </p:cNvSpPr>
          <p:nvPr/>
        </p:nvSpPr>
        <p:spPr>
          <a:xfrm>
            <a:off x="8755995" y="960934"/>
            <a:ext cx="946175" cy="356754"/>
          </a:xfrm>
          <a:custGeom>
            <a:avLst/>
            <a:gdLst/>
            <a:ahLst/>
            <a:cxnLst/>
            <a:rect l="l" t="t" r="r" b="b"/>
            <a:pathLst>
              <a:path w="946175" h="356754">
                <a:moveTo>
                  <a:pt x="7756" y="7756"/>
                </a:moveTo>
                <a:lnTo>
                  <a:pt x="822086" y="7756"/>
                </a:lnTo>
                <a:lnTo>
                  <a:pt x="822086" y="124089"/>
                </a:lnTo>
                <a:lnTo>
                  <a:pt x="938419" y="124089"/>
                </a:lnTo>
                <a:lnTo>
                  <a:pt x="938419" y="348999"/>
                </a:lnTo>
                <a:lnTo>
                  <a:pt x="7756" y="348999"/>
                </a:lnTo>
                <a:lnTo>
                  <a:pt x="7756" y="7756"/>
                </a:lnTo>
                <a:close/>
              </a:path>
            </a:pathLst>
          </a:custGeom>
          <a:solidFill>
            <a:srgbClr val="FFFFFF"/>
          </a:solidFill>
          <a:ln w="15511">
            <a:solidFill>
              <a:srgbClr val="000000"/>
            </a:solidFill>
            <a:prstDash val="solid"/>
          </a:ln>
        </p:spPr>
        <p:txBody>
          <a:bodyPr/>
          <a:lstStyle/>
          <a:p>
            <a:endParaRPr lang="de-DE"/>
          </a:p>
        </p:txBody>
      </p:sp>
      <p:sp>
        <p:nvSpPr>
          <p:cNvPr id="53" name="Node · Path 2">
            <a:extLst>
              <a:ext uri="{FF2B5EF4-FFF2-40B4-BE49-F238E27FC236}">
                <a16:creationId xmlns:a16="http://schemas.microsoft.com/office/drawing/2014/main" id="{06B8DB5D-5569-4BB0-9EC1-CABB47DE0D2D}"/>
              </a:ext>
            </a:extLst>
          </p:cNvPr>
          <p:cNvSpPr>
            <a:spLocks noGrp="1"/>
          </p:cNvSpPr>
          <p:nvPr/>
        </p:nvSpPr>
        <p:spPr>
          <a:xfrm>
            <a:off x="9570326" y="960934"/>
            <a:ext cx="131844" cy="131844"/>
          </a:xfrm>
          <a:custGeom>
            <a:avLst/>
            <a:gdLst/>
            <a:ahLst/>
            <a:cxnLst/>
            <a:rect l="l" t="t" r="r" b="b"/>
            <a:pathLst>
              <a:path w="131844" h="131844">
                <a:moveTo>
                  <a:pt x="7756" y="7756"/>
                </a:moveTo>
                <a:lnTo>
                  <a:pt x="7756" y="124089"/>
                </a:lnTo>
                <a:lnTo>
                  <a:pt x="124089" y="124089"/>
                </a:lnTo>
                <a:lnTo>
                  <a:pt x="7756" y="7756"/>
                </a:lnTo>
                <a:close/>
              </a:path>
            </a:pathLst>
          </a:custGeom>
          <a:solidFill>
            <a:srgbClr val="FFFFFF"/>
          </a:solidFill>
          <a:ln w="15511">
            <a:solidFill>
              <a:srgbClr val="000000"/>
            </a:solidFill>
            <a:prstDash val="solid"/>
          </a:ln>
        </p:spPr>
        <p:txBody>
          <a:bodyPr/>
          <a:lstStyle/>
          <a:p>
            <a:endParaRPr lang="de-DE"/>
          </a:p>
        </p:txBody>
      </p:sp>
      <p:sp>
        <p:nvSpPr>
          <p:cNvPr id="54" name="Node · &quot;Existing&quot;">
            <a:extLst>
              <a:ext uri="{FF2B5EF4-FFF2-40B4-BE49-F238E27FC236}">
                <a16:creationId xmlns:a16="http://schemas.microsoft.com/office/drawing/2014/main" id="{49EAF0BF-0AD9-476B-9DDB-09B661CFF0C8}"/>
              </a:ext>
            </a:extLst>
          </p:cNvPr>
          <p:cNvSpPr>
            <a:spLocks noGrp="1"/>
          </p:cNvSpPr>
          <p:nvPr/>
        </p:nvSpPr>
        <p:spPr>
          <a:xfrm>
            <a:off x="8961662" y="1055552"/>
            <a:ext cx="534841"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Existing</a:t>
            </a:r>
          </a:p>
        </p:txBody>
      </p:sp>
      <p:sp>
        <p:nvSpPr>
          <p:cNvPr id="55" name="Node · Path 1">
            <a:extLst>
              <a:ext uri="{FF2B5EF4-FFF2-40B4-BE49-F238E27FC236}">
                <a16:creationId xmlns:a16="http://schemas.microsoft.com/office/drawing/2014/main" id="{4DAA3B56-2F81-47E5-884E-9EB37DCCA716}"/>
              </a:ext>
            </a:extLst>
          </p:cNvPr>
          <p:cNvSpPr>
            <a:spLocks noGrp="1"/>
          </p:cNvSpPr>
          <p:nvPr/>
        </p:nvSpPr>
        <p:spPr>
          <a:xfrm>
            <a:off x="9686659" y="960934"/>
            <a:ext cx="946175" cy="356754"/>
          </a:xfrm>
          <a:custGeom>
            <a:avLst/>
            <a:gdLst/>
            <a:ahLst/>
            <a:cxnLst/>
            <a:rect l="l" t="t" r="r" b="b"/>
            <a:pathLst>
              <a:path w="946175" h="356754">
                <a:moveTo>
                  <a:pt x="7756" y="7756"/>
                </a:moveTo>
                <a:lnTo>
                  <a:pt x="822086" y="7756"/>
                </a:lnTo>
                <a:lnTo>
                  <a:pt x="822086" y="124089"/>
                </a:lnTo>
                <a:lnTo>
                  <a:pt x="938419" y="124089"/>
                </a:lnTo>
                <a:lnTo>
                  <a:pt x="938419" y="348999"/>
                </a:lnTo>
                <a:lnTo>
                  <a:pt x="7756" y="348999"/>
                </a:lnTo>
                <a:lnTo>
                  <a:pt x="7756" y="7756"/>
                </a:lnTo>
                <a:close/>
              </a:path>
            </a:pathLst>
          </a:custGeom>
          <a:solidFill>
            <a:srgbClr val="FFE0AD"/>
          </a:solidFill>
          <a:ln w="15511">
            <a:solidFill>
              <a:srgbClr val="D08A00"/>
            </a:solidFill>
            <a:prstDash val="solid"/>
          </a:ln>
        </p:spPr>
        <p:txBody>
          <a:bodyPr/>
          <a:lstStyle/>
          <a:p>
            <a:endParaRPr lang="de-DE"/>
          </a:p>
        </p:txBody>
      </p:sp>
      <p:sp>
        <p:nvSpPr>
          <p:cNvPr id="56" name="Node · Path 2">
            <a:extLst>
              <a:ext uri="{FF2B5EF4-FFF2-40B4-BE49-F238E27FC236}">
                <a16:creationId xmlns:a16="http://schemas.microsoft.com/office/drawing/2014/main" id="{2F14A67E-D01A-4E78-B660-EAED4EACD45C}"/>
              </a:ext>
            </a:extLst>
          </p:cNvPr>
          <p:cNvSpPr>
            <a:spLocks noGrp="1"/>
          </p:cNvSpPr>
          <p:nvPr/>
        </p:nvSpPr>
        <p:spPr>
          <a:xfrm>
            <a:off x="10500989" y="960934"/>
            <a:ext cx="131844" cy="131844"/>
          </a:xfrm>
          <a:custGeom>
            <a:avLst/>
            <a:gdLst/>
            <a:ahLst/>
            <a:cxnLst/>
            <a:rect l="l" t="t" r="r" b="b"/>
            <a:pathLst>
              <a:path w="131844" h="131844">
                <a:moveTo>
                  <a:pt x="7756" y="7756"/>
                </a:moveTo>
                <a:lnTo>
                  <a:pt x="7756" y="124089"/>
                </a:lnTo>
                <a:lnTo>
                  <a:pt x="124089" y="124089"/>
                </a:lnTo>
                <a:lnTo>
                  <a:pt x="7756" y="7756"/>
                </a:lnTo>
                <a:close/>
              </a:path>
            </a:pathLst>
          </a:custGeom>
          <a:solidFill>
            <a:srgbClr val="FFE0AD"/>
          </a:solidFill>
          <a:ln w="15511">
            <a:solidFill>
              <a:srgbClr val="D08A00"/>
            </a:solidFill>
            <a:prstDash val="solid"/>
          </a:ln>
        </p:spPr>
        <p:txBody>
          <a:bodyPr/>
          <a:lstStyle/>
          <a:p>
            <a:endParaRPr lang="de-DE"/>
          </a:p>
        </p:txBody>
      </p:sp>
      <p:sp>
        <p:nvSpPr>
          <p:cNvPr id="57" name="Node · &quot;Modified&quot;">
            <a:extLst>
              <a:ext uri="{FF2B5EF4-FFF2-40B4-BE49-F238E27FC236}">
                <a16:creationId xmlns:a16="http://schemas.microsoft.com/office/drawing/2014/main" id="{D4FAD17A-4FB5-4CFA-AF29-F8F7699B15D1}"/>
              </a:ext>
            </a:extLst>
          </p:cNvPr>
          <p:cNvSpPr>
            <a:spLocks noGrp="1"/>
          </p:cNvSpPr>
          <p:nvPr/>
        </p:nvSpPr>
        <p:spPr>
          <a:xfrm>
            <a:off x="9865060" y="1055552"/>
            <a:ext cx="589372"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Modified</a:t>
            </a:r>
          </a:p>
        </p:txBody>
      </p:sp>
      <p:sp>
        <p:nvSpPr>
          <p:cNvPr id="58" name="Node · Path 1">
            <a:extLst>
              <a:ext uri="{FF2B5EF4-FFF2-40B4-BE49-F238E27FC236}">
                <a16:creationId xmlns:a16="http://schemas.microsoft.com/office/drawing/2014/main" id="{CF51E968-0722-4830-AB1F-3B9F33799C60}"/>
              </a:ext>
            </a:extLst>
          </p:cNvPr>
          <p:cNvSpPr>
            <a:spLocks noGrp="1"/>
          </p:cNvSpPr>
          <p:nvPr/>
        </p:nvSpPr>
        <p:spPr>
          <a:xfrm>
            <a:off x="10617322" y="960934"/>
            <a:ext cx="946175" cy="356754"/>
          </a:xfrm>
          <a:custGeom>
            <a:avLst/>
            <a:gdLst/>
            <a:ahLst/>
            <a:cxnLst/>
            <a:rect l="l" t="t" r="r" b="b"/>
            <a:pathLst>
              <a:path w="946175" h="356754">
                <a:moveTo>
                  <a:pt x="7756" y="7756"/>
                </a:moveTo>
                <a:lnTo>
                  <a:pt x="822086" y="7756"/>
                </a:lnTo>
                <a:lnTo>
                  <a:pt x="822086" y="124089"/>
                </a:lnTo>
                <a:lnTo>
                  <a:pt x="938419" y="124089"/>
                </a:lnTo>
                <a:lnTo>
                  <a:pt x="938419" y="348999"/>
                </a:lnTo>
                <a:lnTo>
                  <a:pt x="7756" y="348999"/>
                </a:lnTo>
                <a:lnTo>
                  <a:pt x="7756" y="7756"/>
                </a:lnTo>
                <a:close/>
              </a:path>
            </a:pathLst>
          </a:custGeom>
          <a:solidFill>
            <a:srgbClr val="D9E8FF"/>
          </a:solidFill>
          <a:ln w="15511">
            <a:solidFill>
              <a:srgbClr val="4A86D9"/>
            </a:solidFill>
            <a:prstDash val="solid"/>
          </a:ln>
        </p:spPr>
        <p:txBody>
          <a:bodyPr/>
          <a:lstStyle/>
          <a:p>
            <a:endParaRPr lang="de-DE"/>
          </a:p>
        </p:txBody>
      </p:sp>
      <p:sp>
        <p:nvSpPr>
          <p:cNvPr id="59" name="Node · Path 2">
            <a:extLst>
              <a:ext uri="{FF2B5EF4-FFF2-40B4-BE49-F238E27FC236}">
                <a16:creationId xmlns:a16="http://schemas.microsoft.com/office/drawing/2014/main" id="{866C40A7-5D7E-40BE-BEFB-280542FC1685}"/>
              </a:ext>
            </a:extLst>
          </p:cNvPr>
          <p:cNvSpPr>
            <a:spLocks noGrp="1"/>
          </p:cNvSpPr>
          <p:nvPr/>
        </p:nvSpPr>
        <p:spPr>
          <a:xfrm>
            <a:off x="11431653" y="960934"/>
            <a:ext cx="131844" cy="131844"/>
          </a:xfrm>
          <a:custGeom>
            <a:avLst/>
            <a:gdLst/>
            <a:ahLst/>
            <a:cxnLst/>
            <a:rect l="l" t="t" r="r" b="b"/>
            <a:pathLst>
              <a:path w="131844" h="131844">
                <a:moveTo>
                  <a:pt x="7756" y="7756"/>
                </a:moveTo>
                <a:lnTo>
                  <a:pt x="7756" y="124089"/>
                </a:lnTo>
                <a:lnTo>
                  <a:pt x="124089" y="124089"/>
                </a:lnTo>
                <a:lnTo>
                  <a:pt x="7756" y="7756"/>
                </a:lnTo>
                <a:close/>
              </a:path>
            </a:pathLst>
          </a:custGeom>
          <a:solidFill>
            <a:srgbClr val="D9E8FF"/>
          </a:solidFill>
          <a:ln w="15511">
            <a:solidFill>
              <a:srgbClr val="4A86D9"/>
            </a:solidFill>
            <a:prstDash val="solid"/>
          </a:ln>
        </p:spPr>
        <p:txBody>
          <a:bodyPr/>
          <a:lstStyle/>
          <a:p>
            <a:endParaRPr lang="de-DE"/>
          </a:p>
        </p:txBody>
      </p:sp>
      <p:sp>
        <p:nvSpPr>
          <p:cNvPr id="60" name="Node · &quot;Added&quot;">
            <a:extLst>
              <a:ext uri="{FF2B5EF4-FFF2-40B4-BE49-F238E27FC236}">
                <a16:creationId xmlns:a16="http://schemas.microsoft.com/office/drawing/2014/main" id="{DAB29DAF-BEF7-413F-91E1-E94F449DCE61}"/>
              </a:ext>
            </a:extLst>
          </p:cNvPr>
          <p:cNvSpPr>
            <a:spLocks noGrp="1"/>
          </p:cNvSpPr>
          <p:nvPr/>
        </p:nvSpPr>
        <p:spPr>
          <a:xfrm>
            <a:off x="10866402" y="1055552"/>
            <a:ext cx="448015"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Added</a:t>
            </a:r>
          </a:p>
        </p:txBody>
      </p:sp>
      <p:sp>
        <p:nvSpPr>
          <p:cNvPr id="61" name="Node · Rect 1">
            <a:extLst>
              <a:ext uri="{FF2B5EF4-FFF2-40B4-BE49-F238E27FC236}">
                <a16:creationId xmlns:a16="http://schemas.microsoft.com/office/drawing/2014/main" id="{90868949-E843-43EF-A8C3-A19712717A87}"/>
              </a:ext>
            </a:extLst>
          </p:cNvPr>
          <p:cNvSpPr>
            <a:spLocks noGrp="1"/>
          </p:cNvSpPr>
          <p:nvPr/>
        </p:nvSpPr>
        <p:spPr>
          <a:xfrm>
            <a:off x="736775" y="4226013"/>
            <a:ext cx="1706217" cy="620443"/>
          </a:xfrm>
          <a:prstGeom prst="rect">
            <a:avLst/>
          </a:prstGeom>
          <a:solidFill>
            <a:srgbClr val="FFE0AD"/>
          </a:solidFill>
          <a:ln w="15511">
            <a:solidFill>
              <a:srgbClr val="D08A00"/>
            </a:solidFill>
            <a:prstDash val="solid"/>
          </a:ln>
        </p:spPr>
        <p:txBody>
          <a:bodyPr/>
          <a:lstStyle/>
          <a:p>
            <a:endParaRPr lang="de-DE"/>
          </a:p>
        </p:txBody>
      </p:sp>
      <p:sp>
        <p:nvSpPr>
          <p:cNvPr id="62" name="Node · Path 2">
            <a:extLst>
              <a:ext uri="{FF2B5EF4-FFF2-40B4-BE49-F238E27FC236}">
                <a16:creationId xmlns:a16="http://schemas.microsoft.com/office/drawing/2014/main" id="{13A078EE-240B-446B-BDE4-42C22244F5D3}"/>
              </a:ext>
            </a:extLst>
          </p:cNvPr>
          <p:cNvSpPr>
            <a:spLocks noGrp="1"/>
          </p:cNvSpPr>
          <p:nvPr/>
        </p:nvSpPr>
        <p:spPr>
          <a:xfrm>
            <a:off x="2188999" y="4282240"/>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63" name="Node · Path 3">
            <a:extLst>
              <a:ext uri="{FF2B5EF4-FFF2-40B4-BE49-F238E27FC236}">
                <a16:creationId xmlns:a16="http://schemas.microsoft.com/office/drawing/2014/main" id="{B27581C2-B6CA-4D5E-9794-789780F70E8B}"/>
              </a:ext>
            </a:extLst>
          </p:cNvPr>
          <p:cNvSpPr>
            <a:spLocks noGrp="1"/>
          </p:cNvSpPr>
          <p:nvPr/>
        </p:nvSpPr>
        <p:spPr>
          <a:xfrm>
            <a:off x="2226225" y="4319467"/>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64" name="Node · &quot;«component»&quot;">
            <a:extLst>
              <a:ext uri="{FF2B5EF4-FFF2-40B4-BE49-F238E27FC236}">
                <a16:creationId xmlns:a16="http://schemas.microsoft.com/office/drawing/2014/main" id="{2FB67801-9ED7-4875-B5AD-A9FAF3BFCB9C}"/>
              </a:ext>
            </a:extLst>
          </p:cNvPr>
          <p:cNvSpPr>
            <a:spLocks noGrp="1"/>
          </p:cNvSpPr>
          <p:nvPr/>
        </p:nvSpPr>
        <p:spPr>
          <a:xfrm>
            <a:off x="1228278" y="4380038"/>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65" name="Node · &quot;State Synchronization&quot;">
            <a:extLst>
              <a:ext uri="{FF2B5EF4-FFF2-40B4-BE49-F238E27FC236}">
                <a16:creationId xmlns:a16="http://schemas.microsoft.com/office/drawing/2014/main" id="{0D33CD8E-CC35-4AA3-8D18-6566A126EDCE}"/>
              </a:ext>
            </a:extLst>
          </p:cNvPr>
          <p:cNvSpPr>
            <a:spLocks noGrp="1"/>
          </p:cNvSpPr>
          <p:nvPr/>
        </p:nvSpPr>
        <p:spPr>
          <a:xfrm>
            <a:off x="894879" y="4526152"/>
            <a:ext cx="1390009"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State Synchronization</a:t>
            </a:r>
          </a:p>
        </p:txBody>
      </p:sp>
      <p:sp>
        <p:nvSpPr>
          <p:cNvPr id="66" name="Node · Rect 1">
            <a:extLst>
              <a:ext uri="{FF2B5EF4-FFF2-40B4-BE49-F238E27FC236}">
                <a16:creationId xmlns:a16="http://schemas.microsoft.com/office/drawing/2014/main" id="{4E6DA735-330F-40BA-9D2B-FAA1DEAF424E}"/>
              </a:ext>
            </a:extLst>
          </p:cNvPr>
          <p:cNvSpPr>
            <a:spLocks noGrp="1"/>
          </p:cNvSpPr>
          <p:nvPr/>
        </p:nvSpPr>
        <p:spPr>
          <a:xfrm>
            <a:off x="9306638" y="3372904"/>
            <a:ext cx="1744995" cy="620443"/>
          </a:xfrm>
          <a:prstGeom prst="rect">
            <a:avLst/>
          </a:prstGeom>
          <a:solidFill>
            <a:srgbClr val="FFE0AD"/>
          </a:solidFill>
          <a:ln w="15511">
            <a:solidFill>
              <a:srgbClr val="D08A00"/>
            </a:solidFill>
            <a:prstDash val="solid"/>
          </a:ln>
        </p:spPr>
        <p:txBody>
          <a:bodyPr/>
          <a:lstStyle/>
          <a:p>
            <a:endParaRPr lang="de-DE"/>
          </a:p>
        </p:txBody>
      </p:sp>
      <p:sp>
        <p:nvSpPr>
          <p:cNvPr id="67" name="Node · Path 2">
            <a:extLst>
              <a:ext uri="{FF2B5EF4-FFF2-40B4-BE49-F238E27FC236}">
                <a16:creationId xmlns:a16="http://schemas.microsoft.com/office/drawing/2014/main" id="{6363DD77-4270-4816-A6B3-23624B301392}"/>
              </a:ext>
            </a:extLst>
          </p:cNvPr>
          <p:cNvSpPr>
            <a:spLocks noGrp="1"/>
          </p:cNvSpPr>
          <p:nvPr/>
        </p:nvSpPr>
        <p:spPr>
          <a:xfrm>
            <a:off x="10797638" y="3429132"/>
            <a:ext cx="197766" cy="197766"/>
          </a:xfrm>
          <a:custGeom>
            <a:avLst/>
            <a:gdLst/>
            <a:ahLst/>
            <a:cxnLst/>
            <a:rect l="l" t="t" r="r" b="b"/>
            <a:pathLst>
              <a:path w="197766" h="197766">
                <a:moveTo>
                  <a:pt x="43043" y="5817"/>
                </a:moveTo>
                <a:lnTo>
                  <a:pt x="191949" y="5817"/>
                </a:lnTo>
                <a:lnTo>
                  <a:pt x="191949" y="191949"/>
                </a:lnTo>
                <a:lnTo>
                  <a:pt x="43043" y="191949"/>
                </a:lnTo>
                <a:lnTo>
                  <a:pt x="43043" y="154723"/>
                </a:lnTo>
                <a:lnTo>
                  <a:pt x="5817" y="154723"/>
                </a:lnTo>
                <a:lnTo>
                  <a:pt x="5817" y="117496"/>
                </a:lnTo>
                <a:lnTo>
                  <a:pt x="43043" y="117496"/>
                </a:lnTo>
                <a:lnTo>
                  <a:pt x="43043" y="80270"/>
                </a:lnTo>
                <a:lnTo>
                  <a:pt x="5817" y="80270"/>
                </a:lnTo>
                <a:lnTo>
                  <a:pt x="5817" y="43043"/>
                </a:lnTo>
                <a:lnTo>
                  <a:pt x="43043" y="43043"/>
                </a:lnTo>
                <a:close/>
              </a:path>
            </a:pathLst>
          </a:custGeom>
          <a:ln w="11633">
            <a:solidFill>
              <a:srgbClr val="D08A00"/>
            </a:solidFill>
            <a:prstDash val="solid"/>
          </a:ln>
        </p:spPr>
        <p:txBody>
          <a:bodyPr/>
          <a:lstStyle/>
          <a:p>
            <a:endParaRPr lang="de-DE"/>
          </a:p>
        </p:txBody>
      </p:sp>
      <p:sp>
        <p:nvSpPr>
          <p:cNvPr id="68" name="Node · Path 3">
            <a:extLst>
              <a:ext uri="{FF2B5EF4-FFF2-40B4-BE49-F238E27FC236}">
                <a16:creationId xmlns:a16="http://schemas.microsoft.com/office/drawing/2014/main" id="{15BA35BD-B814-4F5C-B0D6-044AD339A9C1}"/>
              </a:ext>
            </a:extLst>
          </p:cNvPr>
          <p:cNvSpPr>
            <a:spLocks noGrp="1"/>
          </p:cNvSpPr>
          <p:nvPr/>
        </p:nvSpPr>
        <p:spPr>
          <a:xfrm>
            <a:off x="10834865" y="3466358"/>
            <a:ext cx="48860" cy="123313"/>
          </a:xfrm>
          <a:custGeom>
            <a:avLst/>
            <a:gdLst/>
            <a:ahLst/>
            <a:cxnLst/>
            <a:rect l="l" t="t" r="r" b="b"/>
            <a:pathLst>
              <a:path w="48860" h="123313">
                <a:moveTo>
                  <a:pt x="5817" y="5817"/>
                </a:moveTo>
                <a:lnTo>
                  <a:pt x="43043" y="5817"/>
                </a:lnTo>
                <a:lnTo>
                  <a:pt x="43043" y="43043"/>
                </a:lnTo>
                <a:lnTo>
                  <a:pt x="5817" y="43043"/>
                </a:lnTo>
                <a:moveTo>
                  <a:pt x="5817" y="80270"/>
                </a:moveTo>
                <a:lnTo>
                  <a:pt x="43043" y="80270"/>
                </a:lnTo>
                <a:lnTo>
                  <a:pt x="43043" y="117496"/>
                </a:lnTo>
                <a:lnTo>
                  <a:pt x="5817" y="117496"/>
                </a:lnTo>
              </a:path>
            </a:pathLst>
          </a:custGeom>
          <a:ln w="11633">
            <a:solidFill>
              <a:srgbClr val="D08A00"/>
            </a:solidFill>
            <a:prstDash val="solid"/>
          </a:ln>
        </p:spPr>
        <p:txBody>
          <a:bodyPr/>
          <a:lstStyle/>
          <a:p>
            <a:endParaRPr lang="de-DE"/>
          </a:p>
        </p:txBody>
      </p:sp>
      <p:sp>
        <p:nvSpPr>
          <p:cNvPr id="69" name="Node · &quot;«component»&quot;">
            <a:extLst>
              <a:ext uri="{FF2B5EF4-FFF2-40B4-BE49-F238E27FC236}">
                <a16:creationId xmlns:a16="http://schemas.microsoft.com/office/drawing/2014/main" id="{ABF40417-551F-49D9-AE68-E3022EABB199}"/>
              </a:ext>
            </a:extLst>
          </p:cNvPr>
          <p:cNvSpPr>
            <a:spLocks noGrp="1"/>
          </p:cNvSpPr>
          <p:nvPr/>
        </p:nvSpPr>
        <p:spPr>
          <a:xfrm>
            <a:off x="9817528" y="3526929"/>
            <a:ext cx="723213" cy="134016"/>
          </a:xfrm>
          <a:prstGeom prst="rect">
            <a:avLst/>
          </a:prstGeom>
        </p:spPr>
        <p:txBody>
          <a:bodyPr wrap="none" lIns="0" tIns="0" rIns="0" bIns="0" anchor="ctr"/>
          <a:lstStyle/>
          <a:p>
            <a:pPr marL="0" indent="0" algn="ctr">
              <a:buNone/>
            </a:pPr>
            <a:r>
              <a:rPr sz="782" b="1">
                <a:solidFill>
                  <a:srgbClr val="000000"/>
                </a:solidFill>
                <a:latin typeface="Inter"/>
                <a:ea typeface="Inter"/>
                <a:cs typeface="Inter"/>
              </a:rPr>
              <a:t>«component»</a:t>
            </a:r>
          </a:p>
        </p:txBody>
      </p:sp>
      <p:sp>
        <p:nvSpPr>
          <p:cNvPr id="70" name="Node · &quot;WebSocket Relay&quot;">
            <a:extLst>
              <a:ext uri="{FF2B5EF4-FFF2-40B4-BE49-F238E27FC236}">
                <a16:creationId xmlns:a16="http://schemas.microsoft.com/office/drawing/2014/main" id="{90FE014B-71F7-450E-8807-91CB1A7ADF1E}"/>
              </a:ext>
            </a:extLst>
          </p:cNvPr>
          <p:cNvSpPr>
            <a:spLocks noGrp="1"/>
          </p:cNvSpPr>
          <p:nvPr/>
        </p:nvSpPr>
        <p:spPr>
          <a:xfrm>
            <a:off x="9626729" y="3673043"/>
            <a:ext cx="1104812"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WebSocket Relay</a:t>
            </a:r>
          </a:p>
        </p:txBody>
      </p:sp>
      <p:sp>
        <p:nvSpPr>
          <p:cNvPr id="71" name="Node · Circle 1">
            <a:extLst>
              <a:ext uri="{FF2B5EF4-FFF2-40B4-BE49-F238E27FC236}">
                <a16:creationId xmlns:a16="http://schemas.microsoft.com/office/drawing/2014/main" id="{8E442546-DD6D-4856-B19E-BE599B853825}"/>
              </a:ext>
            </a:extLst>
          </p:cNvPr>
          <p:cNvSpPr>
            <a:spLocks noGrp="1"/>
          </p:cNvSpPr>
          <p:nvPr/>
        </p:nvSpPr>
        <p:spPr>
          <a:xfrm>
            <a:off x="7677976" y="2636129"/>
            <a:ext cx="232666" cy="232666"/>
          </a:xfrm>
          <a:prstGeom prst="ellipse">
            <a:avLst/>
          </a:prstGeom>
          <a:solidFill>
            <a:srgbClr val="FFFFFF"/>
          </a:solidFill>
          <a:ln w="15511">
            <a:solidFill>
              <a:srgbClr val="000000"/>
            </a:solidFill>
            <a:prstDash val="solid"/>
          </a:ln>
        </p:spPr>
        <p:txBody>
          <a:bodyPr/>
          <a:lstStyle/>
          <a:p>
            <a:endParaRPr lang="de-DE"/>
          </a:p>
        </p:txBody>
      </p:sp>
      <p:sp>
        <p:nvSpPr>
          <p:cNvPr id="72" name="Node · &quot;Diagram API&quot;">
            <a:extLst>
              <a:ext uri="{FF2B5EF4-FFF2-40B4-BE49-F238E27FC236}">
                <a16:creationId xmlns:a16="http://schemas.microsoft.com/office/drawing/2014/main" id="{2EC229BE-76FA-4C7B-BB8E-2233A87FE3D8}"/>
              </a:ext>
            </a:extLst>
          </p:cNvPr>
          <p:cNvSpPr>
            <a:spLocks noGrp="1"/>
          </p:cNvSpPr>
          <p:nvPr/>
        </p:nvSpPr>
        <p:spPr>
          <a:xfrm>
            <a:off x="7396953" y="2897490"/>
            <a:ext cx="794712"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Diagram API</a:t>
            </a:r>
          </a:p>
        </p:txBody>
      </p:sp>
      <p:sp>
        <p:nvSpPr>
          <p:cNvPr id="73" name="Node · Circle 1">
            <a:extLst>
              <a:ext uri="{FF2B5EF4-FFF2-40B4-BE49-F238E27FC236}">
                <a16:creationId xmlns:a16="http://schemas.microsoft.com/office/drawing/2014/main" id="{45DFA4B1-95B5-40D5-AE76-1E9FE95C6A39}"/>
              </a:ext>
            </a:extLst>
          </p:cNvPr>
          <p:cNvSpPr>
            <a:spLocks noGrp="1"/>
          </p:cNvSpPr>
          <p:nvPr/>
        </p:nvSpPr>
        <p:spPr>
          <a:xfrm>
            <a:off x="7677976" y="3760681"/>
            <a:ext cx="232666" cy="232666"/>
          </a:xfrm>
          <a:prstGeom prst="ellipse">
            <a:avLst/>
          </a:prstGeom>
          <a:solidFill>
            <a:srgbClr val="FFFFFF"/>
          </a:solidFill>
          <a:ln w="15511">
            <a:solidFill>
              <a:srgbClr val="000000"/>
            </a:solidFill>
            <a:prstDash val="solid"/>
          </a:ln>
        </p:spPr>
        <p:txBody>
          <a:bodyPr/>
          <a:lstStyle/>
          <a:p>
            <a:endParaRPr lang="de-DE"/>
          </a:p>
        </p:txBody>
      </p:sp>
      <p:sp>
        <p:nvSpPr>
          <p:cNvPr id="74" name="Node · &quot;Collaboration WebSocket&quot;">
            <a:extLst>
              <a:ext uri="{FF2B5EF4-FFF2-40B4-BE49-F238E27FC236}">
                <a16:creationId xmlns:a16="http://schemas.microsoft.com/office/drawing/2014/main" id="{E1CD30C0-0C66-469B-9206-BCF7C869E129}"/>
              </a:ext>
            </a:extLst>
          </p:cNvPr>
          <p:cNvSpPr>
            <a:spLocks noGrp="1"/>
          </p:cNvSpPr>
          <p:nvPr/>
        </p:nvSpPr>
        <p:spPr>
          <a:xfrm>
            <a:off x="7000573" y="4022042"/>
            <a:ext cx="1587472"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Collaboration WebSocket</a:t>
            </a:r>
          </a:p>
        </p:txBody>
      </p:sp>
      <p:sp>
        <p:nvSpPr>
          <p:cNvPr id="75" name="Node · Circle 1">
            <a:extLst>
              <a:ext uri="{FF2B5EF4-FFF2-40B4-BE49-F238E27FC236}">
                <a16:creationId xmlns:a16="http://schemas.microsoft.com/office/drawing/2014/main" id="{230211D0-15AD-4CE3-BABD-F49955CED515}"/>
              </a:ext>
            </a:extLst>
          </p:cNvPr>
          <p:cNvSpPr>
            <a:spLocks noGrp="1"/>
          </p:cNvSpPr>
          <p:nvPr/>
        </p:nvSpPr>
        <p:spPr>
          <a:xfrm>
            <a:off x="7677976" y="4691345"/>
            <a:ext cx="232666" cy="232666"/>
          </a:xfrm>
          <a:prstGeom prst="ellipse">
            <a:avLst/>
          </a:prstGeom>
          <a:solidFill>
            <a:srgbClr val="FFFFFF"/>
          </a:solidFill>
          <a:ln w="15511">
            <a:solidFill>
              <a:srgbClr val="000000"/>
            </a:solidFill>
            <a:prstDash val="solid"/>
          </a:ln>
        </p:spPr>
        <p:txBody>
          <a:bodyPr/>
          <a:lstStyle/>
          <a:p>
            <a:endParaRPr lang="de-DE"/>
          </a:p>
        </p:txBody>
      </p:sp>
      <p:sp>
        <p:nvSpPr>
          <p:cNvPr id="76" name="Node · &quot;Version API&quot;">
            <a:extLst>
              <a:ext uri="{FF2B5EF4-FFF2-40B4-BE49-F238E27FC236}">
                <a16:creationId xmlns:a16="http://schemas.microsoft.com/office/drawing/2014/main" id="{519BD878-BE3D-4C97-9C33-EA54DFCB2A9A}"/>
              </a:ext>
            </a:extLst>
          </p:cNvPr>
          <p:cNvSpPr>
            <a:spLocks noGrp="1"/>
          </p:cNvSpPr>
          <p:nvPr/>
        </p:nvSpPr>
        <p:spPr>
          <a:xfrm>
            <a:off x="7417857" y="4952706"/>
            <a:ext cx="752905"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Version API</a:t>
            </a:r>
          </a:p>
        </p:txBody>
      </p:sp>
      <p:sp>
        <p:nvSpPr>
          <p:cNvPr id="77" name="Node · Circle 1">
            <a:extLst>
              <a:ext uri="{FF2B5EF4-FFF2-40B4-BE49-F238E27FC236}">
                <a16:creationId xmlns:a16="http://schemas.microsoft.com/office/drawing/2014/main" id="{8935F6E5-9CE7-4F11-8CB8-AB95C00440D4}"/>
              </a:ext>
            </a:extLst>
          </p:cNvPr>
          <p:cNvSpPr>
            <a:spLocks noGrp="1"/>
          </p:cNvSpPr>
          <p:nvPr/>
        </p:nvSpPr>
        <p:spPr>
          <a:xfrm>
            <a:off x="3218545" y="3566793"/>
            <a:ext cx="232666" cy="232666"/>
          </a:xfrm>
          <a:prstGeom prst="ellipse">
            <a:avLst/>
          </a:prstGeom>
          <a:solidFill>
            <a:srgbClr val="FFFFFF"/>
          </a:solidFill>
          <a:ln w="15511">
            <a:solidFill>
              <a:srgbClr val="000000"/>
            </a:solidFill>
            <a:prstDash val="solid"/>
          </a:ln>
        </p:spPr>
        <p:txBody>
          <a:bodyPr/>
          <a:lstStyle/>
          <a:p>
            <a:endParaRPr lang="de-DE"/>
          </a:p>
        </p:txBody>
      </p:sp>
      <p:sp>
        <p:nvSpPr>
          <p:cNvPr id="78" name="Node · &quot;Apollon Editor API&quot;">
            <a:extLst>
              <a:ext uri="{FF2B5EF4-FFF2-40B4-BE49-F238E27FC236}">
                <a16:creationId xmlns:a16="http://schemas.microsoft.com/office/drawing/2014/main" id="{44D5684B-9B59-4006-856E-45ED0C70927E}"/>
              </a:ext>
            </a:extLst>
          </p:cNvPr>
          <p:cNvSpPr>
            <a:spLocks noGrp="1"/>
          </p:cNvSpPr>
          <p:nvPr/>
        </p:nvSpPr>
        <p:spPr>
          <a:xfrm>
            <a:off x="2763902" y="3828154"/>
            <a:ext cx="1141954" cy="167519"/>
          </a:xfrm>
          <a:prstGeom prst="rect">
            <a:avLst/>
          </a:prstGeom>
        </p:spPr>
        <p:txBody>
          <a:bodyPr wrap="none" lIns="0" tIns="0" rIns="0" bIns="0" anchor="ctr"/>
          <a:lstStyle/>
          <a:p>
            <a:pPr marL="0" indent="0" algn="ctr">
              <a:buNone/>
            </a:pPr>
            <a:r>
              <a:rPr sz="977" b="1">
                <a:solidFill>
                  <a:srgbClr val="000000"/>
                </a:solidFill>
                <a:latin typeface="Inter"/>
                <a:ea typeface="Inter"/>
                <a:cs typeface="Inter"/>
              </a:rPr>
              <a:t>Apollon Editor API</a:t>
            </a:r>
          </a:p>
        </p:txBody>
      </p:sp>
      <p:sp>
        <p:nvSpPr>
          <p:cNvPr id="79" name="Edge · Path 1">
            <a:extLst>
              <a:ext uri="{FF2B5EF4-FFF2-40B4-BE49-F238E27FC236}">
                <a16:creationId xmlns:a16="http://schemas.microsoft.com/office/drawing/2014/main" id="{CC49C624-5746-4BF1-8102-2E6CE5C2F7DC}"/>
              </a:ext>
            </a:extLst>
          </p:cNvPr>
          <p:cNvSpPr>
            <a:spLocks noGrp="1"/>
          </p:cNvSpPr>
          <p:nvPr/>
        </p:nvSpPr>
        <p:spPr>
          <a:xfrm>
            <a:off x="7902886" y="2744706"/>
            <a:ext cx="1442529" cy="15511"/>
          </a:xfrm>
          <a:custGeom>
            <a:avLst/>
            <a:gdLst/>
            <a:ahLst/>
            <a:cxnLst/>
            <a:rect l="l" t="t" r="r" b="b"/>
            <a:pathLst>
              <a:path w="1442529" h="15511">
                <a:moveTo>
                  <a:pt x="1434773" y="7756"/>
                </a:moveTo>
                <a:lnTo>
                  <a:pt x="7756" y="7756"/>
                </a:lnTo>
              </a:path>
            </a:pathLst>
          </a:custGeom>
          <a:ln w="15511">
            <a:solidFill>
              <a:srgbClr val="000000"/>
            </a:solidFill>
            <a:prstDash val="solid"/>
          </a:ln>
        </p:spPr>
        <p:txBody>
          <a:bodyPr/>
          <a:lstStyle/>
          <a:p>
            <a:endParaRPr lang="de-DE"/>
          </a:p>
        </p:txBody>
      </p:sp>
      <p:sp>
        <p:nvSpPr>
          <p:cNvPr id="80" name="Edge · Path 1">
            <a:extLst>
              <a:ext uri="{FF2B5EF4-FFF2-40B4-BE49-F238E27FC236}">
                <a16:creationId xmlns:a16="http://schemas.microsoft.com/office/drawing/2014/main" id="{9AB9EE2F-9584-45F0-95D5-495E8EE89B45}"/>
              </a:ext>
            </a:extLst>
          </p:cNvPr>
          <p:cNvSpPr>
            <a:spLocks noGrp="1"/>
          </p:cNvSpPr>
          <p:nvPr/>
        </p:nvSpPr>
        <p:spPr>
          <a:xfrm>
            <a:off x="7902886" y="3869258"/>
            <a:ext cx="1411507" cy="15511"/>
          </a:xfrm>
          <a:custGeom>
            <a:avLst/>
            <a:gdLst/>
            <a:ahLst/>
            <a:cxnLst/>
            <a:rect l="l" t="t" r="r" b="b"/>
            <a:pathLst>
              <a:path w="1411507" h="15511">
                <a:moveTo>
                  <a:pt x="1403751" y="7756"/>
                </a:moveTo>
                <a:lnTo>
                  <a:pt x="7756" y="7756"/>
                </a:lnTo>
              </a:path>
            </a:pathLst>
          </a:custGeom>
          <a:ln w="15511">
            <a:solidFill>
              <a:srgbClr val="000000"/>
            </a:solidFill>
            <a:prstDash val="solid"/>
          </a:ln>
        </p:spPr>
        <p:txBody>
          <a:bodyPr/>
          <a:lstStyle/>
          <a:p>
            <a:endParaRPr lang="de-DE"/>
          </a:p>
        </p:txBody>
      </p:sp>
      <p:sp>
        <p:nvSpPr>
          <p:cNvPr id="81" name="Edge · Path 1">
            <a:extLst>
              <a:ext uri="{FF2B5EF4-FFF2-40B4-BE49-F238E27FC236}">
                <a16:creationId xmlns:a16="http://schemas.microsoft.com/office/drawing/2014/main" id="{3E149AE9-62B8-46E9-8915-F643AA75BB11}"/>
              </a:ext>
            </a:extLst>
          </p:cNvPr>
          <p:cNvSpPr>
            <a:spLocks noGrp="1"/>
          </p:cNvSpPr>
          <p:nvPr/>
        </p:nvSpPr>
        <p:spPr>
          <a:xfrm>
            <a:off x="1582128" y="3993347"/>
            <a:ext cx="15511" cy="232666"/>
          </a:xfrm>
          <a:custGeom>
            <a:avLst/>
            <a:gdLst/>
            <a:ahLst/>
            <a:cxnLst/>
            <a:rect l="l" t="t" r="r" b="b"/>
            <a:pathLst>
              <a:path w="15511" h="232666">
                <a:moveTo>
                  <a:pt x="7756" y="7756"/>
                </a:moveTo>
                <a:lnTo>
                  <a:pt x="7756" y="224910"/>
                </a:lnTo>
              </a:path>
            </a:pathLst>
          </a:custGeom>
          <a:ln w="15511">
            <a:solidFill>
              <a:srgbClr val="000000"/>
            </a:solidFill>
            <a:prstDash val="dash"/>
          </a:ln>
        </p:spPr>
        <p:txBody>
          <a:bodyPr/>
          <a:lstStyle/>
          <a:p>
            <a:endParaRPr lang="de-DE"/>
          </a:p>
        </p:txBody>
      </p:sp>
      <p:sp>
        <p:nvSpPr>
          <p:cNvPr id="82" name="Edge · Arrowhead 1">
            <a:extLst>
              <a:ext uri="{FF2B5EF4-FFF2-40B4-BE49-F238E27FC236}">
                <a16:creationId xmlns:a16="http://schemas.microsoft.com/office/drawing/2014/main" id="{0E01E476-6DF0-4A0D-8866-855FDB8A6F6B}"/>
              </a:ext>
            </a:extLst>
          </p:cNvPr>
          <p:cNvSpPr>
            <a:spLocks noGrp="1"/>
          </p:cNvSpPr>
          <p:nvPr/>
        </p:nvSpPr>
        <p:spPr>
          <a:xfrm>
            <a:off x="1522023" y="4072841"/>
            <a:ext cx="135722" cy="151233"/>
          </a:xfrm>
          <a:custGeom>
            <a:avLst/>
            <a:gdLst/>
            <a:ahLst/>
            <a:cxnLst/>
            <a:rect l="l" t="t" r="r" b="b"/>
            <a:pathLst>
              <a:path w="135722" h="151233">
                <a:moveTo>
                  <a:pt x="129905" y="5817"/>
                </a:moveTo>
                <a:lnTo>
                  <a:pt x="67861" y="145416"/>
                </a:lnTo>
                <a:lnTo>
                  <a:pt x="5817" y="5817"/>
                </a:lnTo>
              </a:path>
            </a:pathLst>
          </a:custGeom>
          <a:ln w="11633">
            <a:solidFill>
              <a:srgbClr val="000000"/>
            </a:solidFill>
            <a:prstDash val="solid"/>
          </a:ln>
        </p:spPr>
        <p:txBody>
          <a:bodyPr/>
          <a:lstStyle/>
          <a:p>
            <a:endParaRPr lang="de-DE"/>
          </a:p>
        </p:txBody>
      </p:sp>
      <p:sp>
        <p:nvSpPr>
          <p:cNvPr id="83" name="Edge · Path 1">
            <a:extLst>
              <a:ext uri="{FF2B5EF4-FFF2-40B4-BE49-F238E27FC236}">
                <a16:creationId xmlns:a16="http://schemas.microsoft.com/office/drawing/2014/main" id="{8439F6FA-7D63-42CD-9D48-2603528912F9}"/>
              </a:ext>
            </a:extLst>
          </p:cNvPr>
          <p:cNvSpPr>
            <a:spLocks noGrp="1"/>
          </p:cNvSpPr>
          <p:nvPr/>
        </p:nvSpPr>
        <p:spPr>
          <a:xfrm>
            <a:off x="6165647" y="2744706"/>
            <a:ext cx="1481306" cy="946175"/>
          </a:xfrm>
          <a:custGeom>
            <a:avLst/>
            <a:gdLst/>
            <a:ahLst/>
            <a:cxnLst/>
            <a:rect l="l" t="t" r="r" b="b"/>
            <a:pathLst>
              <a:path w="1481306" h="946175">
                <a:moveTo>
                  <a:pt x="7756" y="938419"/>
                </a:moveTo>
                <a:lnTo>
                  <a:pt x="744531" y="938419"/>
                </a:lnTo>
                <a:lnTo>
                  <a:pt x="744531" y="7756"/>
                </a:lnTo>
                <a:lnTo>
                  <a:pt x="1473551" y="7756"/>
                </a:lnTo>
              </a:path>
            </a:pathLst>
          </a:custGeom>
          <a:ln w="15511">
            <a:solidFill>
              <a:srgbClr val="000000"/>
            </a:solidFill>
            <a:prstDash val="solid"/>
          </a:ln>
        </p:spPr>
        <p:txBody>
          <a:bodyPr/>
          <a:lstStyle/>
          <a:p>
            <a:endParaRPr lang="de-DE"/>
          </a:p>
        </p:txBody>
      </p:sp>
      <p:sp>
        <p:nvSpPr>
          <p:cNvPr id="84" name="Edge · Arrowhead 1">
            <a:extLst>
              <a:ext uri="{FF2B5EF4-FFF2-40B4-BE49-F238E27FC236}">
                <a16:creationId xmlns:a16="http://schemas.microsoft.com/office/drawing/2014/main" id="{9AA412D9-BA7C-4374-9B62-DAAA15F082A3}"/>
              </a:ext>
            </a:extLst>
          </p:cNvPr>
          <p:cNvSpPr>
            <a:spLocks noGrp="1"/>
          </p:cNvSpPr>
          <p:nvPr/>
        </p:nvSpPr>
        <p:spPr>
          <a:xfrm>
            <a:off x="7631443" y="2602372"/>
            <a:ext cx="124728" cy="300179"/>
          </a:xfrm>
          <a:custGeom>
            <a:avLst/>
            <a:gdLst/>
            <a:ahLst/>
            <a:cxnLst/>
            <a:rect l="l" t="t" r="r" b="b"/>
            <a:pathLst>
              <a:path w="124728" h="300179">
                <a:moveTo>
                  <a:pt x="116972" y="7756"/>
                </a:moveTo>
                <a:cubicBezTo>
                  <a:pt x="52551" y="25017"/>
                  <a:pt x="7756" y="83396"/>
                  <a:pt x="7756" y="150090"/>
                </a:cubicBezTo>
                <a:cubicBezTo>
                  <a:pt x="7756" y="216783"/>
                  <a:pt x="52551" y="275162"/>
                  <a:pt x="116972" y="292424"/>
                </a:cubicBezTo>
              </a:path>
            </a:pathLst>
          </a:custGeom>
          <a:ln w="15511">
            <a:solidFill>
              <a:srgbClr val="000000"/>
            </a:solidFill>
            <a:prstDash val="solid"/>
          </a:ln>
        </p:spPr>
        <p:txBody>
          <a:bodyPr/>
          <a:lstStyle/>
          <a:p>
            <a:endParaRPr lang="de-DE"/>
          </a:p>
        </p:txBody>
      </p:sp>
      <p:sp>
        <p:nvSpPr>
          <p:cNvPr id="85" name="Edge · Path 1">
            <a:extLst>
              <a:ext uri="{FF2B5EF4-FFF2-40B4-BE49-F238E27FC236}">
                <a16:creationId xmlns:a16="http://schemas.microsoft.com/office/drawing/2014/main" id="{C928FC71-38B3-4BD6-965F-B9F03856F603}"/>
              </a:ext>
            </a:extLst>
          </p:cNvPr>
          <p:cNvSpPr>
            <a:spLocks noGrp="1"/>
          </p:cNvSpPr>
          <p:nvPr/>
        </p:nvSpPr>
        <p:spPr>
          <a:xfrm>
            <a:off x="6157892" y="3869258"/>
            <a:ext cx="1489062" cy="15511"/>
          </a:xfrm>
          <a:custGeom>
            <a:avLst/>
            <a:gdLst/>
            <a:ahLst/>
            <a:cxnLst/>
            <a:rect l="l" t="t" r="r" b="b"/>
            <a:pathLst>
              <a:path w="1489062" h="15511">
                <a:moveTo>
                  <a:pt x="7756" y="7756"/>
                </a:moveTo>
                <a:lnTo>
                  <a:pt x="1481306" y="7756"/>
                </a:lnTo>
              </a:path>
            </a:pathLst>
          </a:custGeom>
          <a:ln w="15511">
            <a:solidFill>
              <a:srgbClr val="000000"/>
            </a:solidFill>
            <a:prstDash val="solid"/>
          </a:ln>
        </p:spPr>
        <p:txBody>
          <a:bodyPr/>
          <a:lstStyle/>
          <a:p>
            <a:endParaRPr lang="de-DE"/>
          </a:p>
        </p:txBody>
      </p:sp>
      <p:sp>
        <p:nvSpPr>
          <p:cNvPr id="86" name="Edge · Arrowhead 1">
            <a:extLst>
              <a:ext uri="{FF2B5EF4-FFF2-40B4-BE49-F238E27FC236}">
                <a16:creationId xmlns:a16="http://schemas.microsoft.com/office/drawing/2014/main" id="{4EC27375-FB3B-4C8A-9A80-8E79849ECB8D}"/>
              </a:ext>
            </a:extLst>
          </p:cNvPr>
          <p:cNvSpPr>
            <a:spLocks noGrp="1"/>
          </p:cNvSpPr>
          <p:nvPr/>
        </p:nvSpPr>
        <p:spPr>
          <a:xfrm>
            <a:off x="7631443" y="3726924"/>
            <a:ext cx="124728" cy="300179"/>
          </a:xfrm>
          <a:custGeom>
            <a:avLst/>
            <a:gdLst/>
            <a:ahLst/>
            <a:cxnLst/>
            <a:rect l="l" t="t" r="r" b="b"/>
            <a:pathLst>
              <a:path w="124728" h="300179">
                <a:moveTo>
                  <a:pt x="116972" y="7756"/>
                </a:moveTo>
                <a:cubicBezTo>
                  <a:pt x="52551" y="25017"/>
                  <a:pt x="7756" y="83396"/>
                  <a:pt x="7756" y="150090"/>
                </a:cubicBezTo>
                <a:cubicBezTo>
                  <a:pt x="7756" y="216783"/>
                  <a:pt x="52551" y="275162"/>
                  <a:pt x="116972" y="292424"/>
                </a:cubicBezTo>
              </a:path>
            </a:pathLst>
          </a:custGeom>
          <a:ln w="15511">
            <a:solidFill>
              <a:srgbClr val="000000"/>
            </a:solidFill>
            <a:prstDash val="solid"/>
          </a:ln>
        </p:spPr>
        <p:txBody>
          <a:bodyPr/>
          <a:lstStyle/>
          <a:p>
            <a:endParaRPr lang="de-DE"/>
          </a:p>
        </p:txBody>
      </p:sp>
      <p:sp>
        <p:nvSpPr>
          <p:cNvPr id="87" name="Edge · Path 1">
            <a:extLst>
              <a:ext uri="{FF2B5EF4-FFF2-40B4-BE49-F238E27FC236}">
                <a16:creationId xmlns:a16="http://schemas.microsoft.com/office/drawing/2014/main" id="{7CA385C5-CC2B-443C-AB1C-22E3E0743614}"/>
              </a:ext>
            </a:extLst>
          </p:cNvPr>
          <p:cNvSpPr>
            <a:spLocks noGrp="1"/>
          </p:cNvSpPr>
          <p:nvPr/>
        </p:nvSpPr>
        <p:spPr>
          <a:xfrm>
            <a:off x="6165647" y="4799922"/>
            <a:ext cx="1481306" cy="15511"/>
          </a:xfrm>
          <a:custGeom>
            <a:avLst/>
            <a:gdLst/>
            <a:ahLst/>
            <a:cxnLst/>
            <a:rect l="l" t="t" r="r" b="b"/>
            <a:pathLst>
              <a:path w="1481306" h="15511">
                <a:moveTo>
                  <a:pt x="7756" y="7756"/>
                </a:moveTo>
                <a:lnTo>
                  <a:pt x="1473551" y="7756"/>
                </a:lnTo>
              </a:path>
            </a:pathLst>
          </a:custGeom>
          <a:ln w="15511">
            <a:solidFill>
              <a:srgbClr val="000000"/>
            </a:solidFill>
            <a:prstDash val="solid"/>
          </a:ln>
        </p:spPr>
        <p:txBody>
          <a:bodyPr/>
          <a:lstStyle/>
          <a:p>
            <a:endParaRPr lang="de-DE"/>
          </a:p>
        </p:txBody>
      </p:sp>
      <p:sp>
        <p:nvSpPr>
          <p:cNvPr id="88" name="Edge · Arrowhead 1">
            <a:extLst>
              <a:ext uri="{FF2B5EF4-FFF2-40B4-BE49-F238E27FC236}">
                <a16:creationId xmlns:a16="http://schemas.microsoft.com/office/drawing/2014/main" id="{B7E7CBDD-E434-4CAD-9F03-120DA5C0F462}"/>
              </a:ext>
            </a:extLst>
          </p:cNvPr>
          <p:cNvSpPr>
            <a:spLocks noGrp="1"/>
          </p:cNvSpPr>
          <p:nvPr/>
        </p:nvSpPr>
        <p:spPr>
          <a:xfrm>
            <a:off x="7631443" y="4657588"/>
            <a:ext cx="124728" cy="300179"/>
          </a:xfrm>
          <a:custGeom>
            <a:avLst/>
            <a:gdLst/>
            <a:ahLst/>
            <a:cxnLst/>
            <a:rect l="l" t="t" r="r" b="b"/>
            <a:pathLst>
              <a:path w="124728" h="300179">
                <a:moveTo>
                  <a:pt x="116972" y="7756"/>
                </a:moveTo>
                <a:cubicBezTo>
                  <a:pt x="52551" y="25017"/>
                  <a:pt x="7756" y="83396"/>
                  <a:pt x="7756" y="150090"/>
                </a:cubicBezTo>
                <a:cubicBezTo>
                  <a:pt x="7756" y="216783"/>
                  <a:pt x="52551" y="275162"/>
                  <a:pt x="116972" y="292424"/>
                </a:cubicBezTo>
              </a:path>
            </a:pathLst>
          </a:custGeom>
          <a:ln w="15511">
            <a:solidFill>
              <a:srgbClr val="000000"/>
            </a:solidFill>
            <a:prstDash val="solid"/>
          </a:ln>
        </p:spPr>
        <p:txBody>
          <a:bodyPr/>
          <a:lstStyle/>
          <a:p>
            <a:endParaRPr lang="de-DE"/>
          </a:p>
        </p:txBody>
      </p:sp>
      <p:sp>
        <p:nvSpPr>
          <p:cNvPr id="89" name="Edge · Path 1">
            <a:extLst>
              <a:ext uri="{FF2B5EF4-FFF2-40B4-BE49-F238E27FC236}">
                <a16:creationId xmlns:a16="http://schemas.microsoft.com/office/drawing/2014/main" id="{CFB3F51B-A878-4BD4-957F-16BCDDA75FC3}"/>
              </a:ext>
            </a:extLst>
          </p:cNvPr>
          <p:cNvSpPr>
            <a:spLocks noGrp="1"/>
          </p:cNvSpPr>
          <p:nvPr/>
        </p:nvSpPr>
        <p:spPr>
          <a:xfrm>
            <a:off x="7910642" y="4799922"/>
            <a:ext cx="1442529" cy="15511"/>
          </a:xfrm>
          <a:custGeom>
            <a:avLst/>
            <a:gdLst/>
            <a:ahLst/>
            <a:cxnLst/>
            <a:rect l="l" t="t" r="r" b="b"/>
            <a:pathLst>
              <a:path w="1442529" h="15511">
                <a:moveTo>
                  <a:pt x="7756" y="7756"/>
                </a:moveTo>
                <a:lnTo>
                  <a:pt x="1434773" y="7756"/>
                </a:lnTo>
              </a:path>
            </a:pathLst>
          </a:custGeom>
          <a:ln w="15511">
            <a:solidFill>
              <a:srgbClr val="000000"/>
            </a:solidFill>
            <a:prstDash val="solid"/>
          </a:ln>
        </p:spPr>
        <p:txBody>
          <a:bodyPr/>
          <a:lstStyle/>
          <a:p>
            <a:endParaRPr lang="de-DE"/>
          </a:p>
        </p:txBody>
      </p:sp>
      <p:sp>
        <p:nvSpPr>
          <p:cNvPr id="90" name="Edge · Path 1">
            <a:extLst>
              <a:ext uri="{FF2B5EF4-FFF2-40B4-BE49-F238E27FC236}">
                <a16:creationId xmlns:a16="http://schemas.microsoft.com/office/drawing/2014/main" id="{ABFF0034-C5BA-4692-8C4A-BDD6B7473E10}"/>
              </a:ext>
            </a:extLst>
          </p:cNvPr>
          <p:cNvSpPr>
            <a:spLocks noGrp="1"/>
          </p:cNvSpPr>
          <p:nvPr/>
        </p:nvSpPr>
        <p:spPr>
          <a:xfrm>
            <a:off x="3482234" y="3675370"/>
            <a:ext cx="744531" cy="15511"/>
          </a:xfrm>
          <a:custGeom>
            <a:avLst/>
            <a:gdLst/>
            <a:ahLst/>
            <a:cxnLst/>
            <a:rect l="l" t="t" r="r" b="b"/>
            <a:pathLst>
              <a:path w="744531" h="15511">
                <a:moveTo>
                  <a:pt x="736775" y="7756"/>
                </a:moveTo>
                <a:lnTo>
                  <a:pt x="7756" y="7756"/>
                </a:lnTo>
              </a:path>
            </a:pathLst>
          </a:custGeom>
          <a:ln w="15511">
            <a:solidFill>
              <a:srgbClr val="000000"/>
            </a:solidFill>
            <a:prstDash val="solid"/>
          </a:ln>
        </p:spPr>
        <p:txBody>
          <a:bodyPr/>
          <a:lstStyle/>
          <a:p>
            <a:endParaRPr lang="de-DE"/>
          </a:p>
        </p:txBody>
      </p:sp>
      <p:sp>
        <p:nvSpPr>
          <p:cNvPr id="91" name="Edge · Arrowhead 1">
            <a:extLst>
              <a:ext uri="{FF2B5EF4-FFF2-40B4-BE49-F238E27FC236}">
                <a16:creationId xmlns:a16="http://schemas.microsoft.com/office/drawing/2014/main" id="{B1BC7199-A2EA-41BE-B9F6-CCFE72FD7F2C}"/>
              </a:ext>
            </a:extLst>
          </p:cNvPr>
          <p:cNvSpPr>
            <a:spLocks noGrp="1"/>
          </p:cNvSpPr>
          <p:nvPr/>
        </p:nvSpPr>
        <p:spPr>
          <a:xfrm>
            <a:off x="3373017" y="3533036"/>
            <a:ext cx="124728" cy="300179"/>
          </a:xfrm>
          <a:custGeom>
            <a:avLst/>
            <a:gdLst/>
            <a:ahLst/>
            <a:cxnLst/>
            <a:rect l="l" t="t" r="r" b="b"/>
            <a:pathLst>
              <a:path w="124728" h="300179">
                <a:moveTo>
                  <a:pt x="7756" y="292424"/>
                </a:moveTo>
                <a:cubicBezTo>
                  <a:pt x="72177" y="275162"/>
                  <a:pt x="116972" y="216783"/>
                  <a:pt x="116972" y="150090"/>
                </a:cubicBezTo>
                <a:cubicBezTo>
                  <a:pt x="116972" y="83396"/>
                  <a:pt x="72177" y="25017"/>
                  <a:pt x="7756" y="7756"/>
                </a:cubicBezTo>
              </a:path>
            </a:pathLst>
          </a:custGeom>
          <a:ln w="15511">
            <a:solidFill>
              <a:srgbClr val="000000"/>
            </a:solidFill>
            <a:prstDash val="solid"/>
          </a:ln>
        </p:spPr>
        <p:txBody>
          <a:bodyPr/>
          <a:lstStyle/>
          <a:p>
            <a:endParaRPr lang="de-DE"/>
          </a:p>
        </p:txBody>
      </p:sp>
      <p:sp>
        <p:nvSpPr>
          <p:cNvPr id="92" name="Edge · Path 1">
            <a:extLst>
              <a:ext uri="{FF2B5EF4-FFF2-40B4-BE49-F238E27FC236}">
                <a16:creationId xmlns:a16="http://schemas.microsoft.com/office/drawing/2014/main" id="{F506406F-467E-4922-A9E6-E89DBCB58C2E}"/>
              </a:ext>
            </a:extLst>
          </p:cNvPr>
          <p:cNvSpPr>
            <a:spLocks noGrp="1"/>
          </p:cNvSpPr>
          <p:nvPr/>
        </p:nvSpPr>
        <p:spPr>
          <a:xfrm>
            <a:off x="2442992" y="3675370"/>
            <a:ext cx="775553" cy="15511"/>
          </a:xfrm>
          <a:custGeom>
            <a:avLst/>
            <a:gdLst/>
            <a:ahLst/>
            <a:cxnLst/>
            <a:rect l="l" t="t" r="r" b="b"/>
            <a:pathLst>
              <a:path w="775553" h="15511">
                <a:moveTo>
                  <a:pt x="7756" y="7756"/>
                </a:moveTo>
                <a:lnTo>
                  <a:pt x="767798" y="7756"/>
                </a:lnTo>
              </a:path>
            </a:pathLst>
          </a:custGeom>
          <a:ln w="15511">
            <a:solidFill>
              <a:srgbClr val="000000"/>
            </a:solidFill>
            <a:prstDash val="solid"/>
          </a:ln>
        </p:spPr>
        <p:txBody>
          <a:bodyPr/>
          <a:lstStyle/>
          <a:p>
            <a:endParaRPr lang="de-DE"/>
          </a:p>
        </p:txBody>
      </p:sp>
      <p:sp>
        <p:nvSpPr>
          <p:cNvPr id="93" name="Edge · Path 1">
            <a:extLst>
              <a:ext uri="{FF2B5EF4-FFF2-40B4-BE49-F238E27FC236}">
                <a16:creationId xmlns:a16="http://schemas.microsoft.com/office/drawing/2014/main" id="{D2F88983-AD66-47AC-BB56-4A7B7CA319BC}"/>
              </a:ext>
            </a:extLst>
          </p:cNvPr>
          <p:cNvSpPr>
            <a:spLocks noGrp="1"/>
          </p:cNvSpPr>
          <p:nvPr/>
        </p:nvSpPr>
        <p:spPr>
          <a:xfrm>
            <a:off x="11051632" y="2744706"/>
            <a:ext cx="674731" cy="3699388"/>
          </a:xfrm>
          <a:custGeom>
            <a:avLst/>
            <a:gdLst/>
            <a:ahLst/>
            <a:cxnLst/>
            <a:rect l="l" t="t" r="r" b="b"/>
            <a:pathLst>
              <a:path w="674731" h="3699388">
                <a:moveTo>
                  <a:pt x="7756" y="7756"/>
                </a:moveTo>
                <a:lnTo>
                  <a:pt x="666976" y="7756"/>
                </a:lnTo>
                <a:lnTo>
                  <a:pt x="666976" y="3691633"/>
                </a:lnTo>
                <a:lnTo>
                  <a:pt x="434310" y="3691633"/>
                </a:lnTo>
              </a:path>
            </a:pathLst>
          </a:custGeom>
          <a:ln w="15511">
            <a:solidFill>
              <a:srgbClr val="000000"/>
            </a:solidFill>
            <a:prstDash val="dash"/>
          </a:ln>
        </p:spPr>
        <p:txBody>
          <a:bodyPr/>
          <a:lstStyle/>
          <a:p>
            <a:endParaRPr lang="de-DE"/>
          </a:p>
        </p:txBody>
      </p:sp>
      <p:sp>
        <p:nvSpPr>
          <p:cNvPr id="94" name="Edge · Arrowhead 1">
            <a:extLst>
              <a:ext uri="{FF2B5EF4-FFF2-40B4-BE49-F238E27FC236}">
                <a16:creationId xmlns:a16="http://schemas.microsoft.com/office/drawing/2014/main" id="{1711582E-33BD-476E-AA4B-1423D83049F7}"/>
              </a:ext>
            </a:extLst>
          </p:cNvPr>
          <p:cNvSpPr>
            <a:spLocks noGrp="1"/>
          </p:cNvSpPr>
          <p:nvPr/>
        </p:nvSpPr>
        <p:spPr>
          <a:xfrm>
            <a:off x="11480125" y="6368478"/>
            <a:ext cx="151233" cy="135722"/>
          </a:xfrm>
          <a:custGeom>
            <a:avLst/>
            <a:gdLst/>
            <a:ahLst/>
            <a:cxnLst/>
            <a:rect l="l" t="t" r="r" b="b"/>
            <a:pathLst>
              <a:path w="151233" h="135722">
                <a:moveTo>
                  <a:pt x="145416" y="129905"/>
                </a:moveTo>
                <a:lnTo>
                  <a:pt x="5817" y="67861"/>
                </a:lnTo>
                <a:lnTo>
                  <a:pt x="145416" y="5817"/>
                </a:lnTo>
              </a:path>
            </a:pathLst>
          </a:custGeom>
          <a:ln w="11633">
            <a:solidFill>
              <a:srgbClr val="000000"/>
            </a:solidFill>
            <a:prstDash val="solid"/>
          </a:ln>
        </p:spPr>
        <p:txBody>
          <a:bodyPr/>
          <a:lstStyle/>
          <a:p>
            <a:endParaRPr lang="de-DE"/>
          </a:p>
        </p:txBody>
      </p:sp>
      <p:sp>
        <p:nvSpPr>
          <p:cNvPr id="95" name="Edge · Path 1">
            <a:extLst>
              <a:ext uri="{FF2B5EF4-FFF2-40B4-BE49-F238E27FC236}">
                <a16:creationId xmlns:a16="http://schemas.microsoft.com/office/drawing/2014/main" id="{46ADFFC7-CACE-4467-8135-E2C7B9A5C456}"/>
              </a:ext>
            </a:extLst>
          </p:cNvPr>
          <p:cNvSpPr>
            <a:spLocks noGrp="1"/>
          </p:cNvSpPr>
          <p:nvPr/>
        </p:nvSpPr>
        <p:spPr>
          <a:xfrm>
            <a:off x="10694878" y="5117899"/>
            <a:ext cx="15511" cy="1015975"/>
          </a:xfrm>
          <a:custGeom>
            <a:avLst/>
            <a:gdLst/>
            <a:ahLst/>
            <a:cxnLst/>
            <a:rect l="l" t="t" r="r" b="b"/>
            <a:pathLst>
              <a:path w="15511" h="1015975">
                <a:moveTo>
                  <a:pt x="7756" y="7756"/>
                </a:moveTo>
                <a:lnTo>
                  <a:pt x="7756" y="1008219"/>
                </a:lnTo>
              </a:path>
            </a:pathLst>
          </a:custGeom>
          <a:ln w="15511">
            <a:solidFill>
              <a:srgbClr val="000000"/>
            </a:solidFill>
            <a:prstDash val="dash"/>
          </a:ln>
        </p:spPr>
        <p:txBody>
          <a:bodyPr/>
          <a:lstStyle/>
          <a:p>
            <a:endParaRPr lang="de-DE"/>
          </a:p>
        </p:txBody>
      </p:sp>
      <p:sp>
        <p:nvSpPr>
          <p:cNvPr id="96" name="Edge · Arrowhead 1">
            <a:extLst>
              <a:ext uri="{FF2B5EF4-FFF2-40B4-BE49-F238E27FC236}">
                <a16:creationId xmlns:a16="http://schemas.microsoft.com/office/drawing/2014/main" id="{9AC524E0-5131-4A06-89A5-FBA812D82D4B}"/>
              </a:ext>
            </a:extLst>
          </p:cNvPr>
          <p:cNvSpPr>
            <a:spLocks noGrp="1"/>
          </p:cNvSpPr>
          <p:nvPr/>
        </p:nvSpPr>
        <p:spPr>
          <a:xfrm>
            <a:off x="10634772" y="5980702"/>
            <a:ext cx="135722" cy="151233"/>
          </a:xfrm>
          <a:custGeom>
            <a:avLst/>
            <a:gdLst/>
            <a:ahLst/>
            <a:cxnLst/>
            <a:rect l="l" t="t" r="r" b="b"/>
            <a:pathLst>
              <a:path w="135722" h="151233">
                <a:moveTo>
                  <a:pt x="129905" y="5817"/>
                </a:moveTo>
                <a:lnTo>
                  <a:pt x="67861" y="145416"/>
                </a:lnTo>
                <a:lnTo>
                  <a:pt x="5817" y="5817"/>
                </a:lnTo>
              </a:path>
            </a:pathLst>
          </a:custGeom>
          <a:ln w="11633">
            <a:solidFill>
              <a:srgbClr val="000000"/>
            </a:solidFill>
            <a:prstDash val="solid"/>
          </a:ln>
        </p:spPr>
        <p:txBody>
          <a:bodyPr/>
          <a:lstStyle/>
          <a:p>
            <a:endParaRPr lang="de-DE"/>
          </a:p>
        </p:txBody>
      </p:sp>
      <p:sp>
        <p:nvSpPr>
          <p:cNvPr id="97" name="Architecture title band">
            <a:extLst>
              <a:ext uri="{FF2B5EF4-FFF2-40B4-BE49-F238E27FC236}">
                <a16:creationId xmlns:a16="http://schemas.microsoft.com/office/drawing/2014/main" id="{55991146-990E-4D25-B4D4-FA45F6B2C512}"/>
              </a:ext>
            </a:extLst>
          </p:cNvPr>
          <p:cNvSpPr>
            <a:spLocks noGrp="1"/>
          </p:cNvSpPr>
          <p:nvPr/>
        </p:nvSpPr>
        <p:spPr>
          <a:xfrm>
            <a:off x="0" y="0"/>
            <a:ext cx="12192000" cy="838200"/>
          </a:xfrm>
          <a:prstGeom prst="rect">
            <a:avLst/>
          </a:prstGeom>
          <a:solidFill>
            <a:srgbClr val="FFFFFF"/>
          </a:solidFill>
          <a:ln w="0">
            <a:noFill/>
            <a:prstDash val="solid"/>
          </a:ln>
        </p:spPr>
        <p:txBody>
          <a:bodyPr/>
          <a:lstStyle/>
          <a:p>
            <a:endParaRPr lang="de-DE"/>
          </a:p>
        </p:txBody>
      </p:sp>
      <p:sp>
        <p:nvSpPr>
          <p:cNvPr id="98" name="Rectangle 97">
            <a:extLst>
              <a:ext uri="{FF2B5EF4-FFF2-40B4-BE49-F238E27FC236}">
                <a16:creationId xmlns:a16="http://schemas.microsoft.com/office/drawing/2014/main" id="{591D93FF-586B-4D38-8F2B-5B3D55A4D02B}"/>
              </a:ext>
            </a:extLst>
          </p:cNvPr>
          <p:cNvSpPr>
            <a:spLocks noGrp="1"/>
          </p:cNvSpPr>
          <p:nvPr/>
        </p:nvSpPr>
        <p:spPr>
          <a:xfrm>
            <a:off x="495300" y="142875"/>
            <a:ext cx="4953000" cy="17145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ARCHITECTURE · STANDALONE</a:t>
            </a:r>
          </a:p>
        </p:txBody>
      </p:sp>
      <p:sp>
        <p:nvSpPr>
          <p:cNvPr id="99" name="Rectangle 98">
            <a:extLst>
              <a:ext uri="{FF2B5EF4-FFF2-40B4-BE49-F238E27FC236}">
                <a16:creationId xmlns:a16="http://schemas.microsoft.com/office/drawing/2014/main" id="{B23C4646-F6BA-4674-8306-7C4734E04D13}"/>
              </a:ext>
            </a:extLst>
          </p:cNvPr>
          <p:cNvSpPr>
            <a:spLocks noGrp="1"/>
          </p:cNvSpPr>
          <p:nvPr/>
        </p:nvSpPr>
        <p:spPr>
          <a:xfrm>
            <a:off x="495300" y="352425"/>
            <a:ext cx="9858375" cy="400050"/>
          </a:xfrm>
          <a:prstGeom prst="rect">
            <a:avLst/>
          </a:prstGeom>
          <a:noFill/>
          <a:ln w="0">
            <a:noFill/>
            <a:prstDash val="solid"/>
          </a:ln>
        </p:spPr>
        <p:txBody>
          <a:bodyPr lIns="0" tIns="0" rIns="0" bIns="0" anchor="t"/>
          <a:lstStyle/>
          <a:p>
            <a:pPr algn="l">
              <a:defRPr sz="2475" b="1">
                <a:solidFill>
                  <a:srgbClr val="111820"/>
                </a:solidFill>
                <a:latin typeface="Arial"/>
                <a:ea typeface="Arial"/>
                <a:cs typeface="Arial"/>
              </a:defRPr>
            </a:pPr>
            <a:r>
              <a:rPr sz="2475" b="1">
                <a:solidFill>
                  <a:srgbClr val="111820"/>
                </a:solidFill>
                <a:latin typeface="Arial"/>
                <a:ea typeface="Arial"/>
                <a:cs typeface="Arial"/>
              </a:rPr>
              <a:t>The library owns behavior; hosts own workflows and data</a:t>
            </a:r>
          </a:p>
        </p:txBody>
      </p:sp>
      <p:pic>
        <p:nvPicPr>
          <p:cNvPr id="200" name="Picture 199"/>
          <p:cNvPicPr>
            <a:picLocks noChangeAspect="1"/>
          </p:cNvPicPr>
          <p:nvPr/>
        </p:nvPicPr>
        <p:blipFill>
          <a:blip r:embed="rId3"/>
          <a:stretch/>
        </p:blipFill>
        <p:spPr>
          <a:xfrm>
            <a:off x="11106150" y="191272"/>
            <a:ext cx="647700" cy="341355"/>
          </a:xfrm>
          <a:prstGeom prst="rect">
            <a:avLst/>
          </a:prstGeom>
        </p:spPr>
      </p:pic>
      <p:sp>
        <p:nvSpPr>
          <p:cNvPr id="101" name="Rectangle 100">
            <a:extLst>
              <a:ext uri="{FF2B5EF4-FFF2-40B4-BE49-F238E27FC236}">
                <a16:creationId xmlns:a16="http://schemas.microsoft.com/office/drawing/2014/main" id="{1B1A2435-5543-4A74-B6C5-79BDE56A2976}"/>
              </a:ext>
            </a:extLst>
          </p:cNvPr>
          <p:cNvSpPr>
            <a:spLocks noGrp="1"/>
          </p:cNvSpPr>
          <p:nvPr/>
        </p:nvSpPr>
        <p:spPr>
          <a:xfrm>
            <a:off x="11315700" y="590550"/>
            <a:ext cx="438150" cy="152400"/>
          </a:xfrm>
          <a:prstGeom prst="rect">
            <a:avLst/>
          </a:prstGeom>
          <a:noFill/>
          <a:ln w="0">
            <a:noFill/>
            <a:prstDash val="solid"/>
          </a:ln>
        </p:spPr>
        <p:txBody>
          <a:bodyPr lIns="0" tIns="0" rIns="0" bIns="0" anchor="t"/>
          <a:lstStyle/>
          <a:p>
            <a:pPr algn="r">
              <a:defRPr sz="750" b="0">
                <a:solidFill>
                  <a:srgbClr val="8A949E"/>
                </a:solidFill>
                <a:latin typeface="Arial"/>
                <a:ea typeface="Arial"/>
                <a:cs typeface="Arial"/>
              </a:defRPr>
            </a:pPr>
            <a:r>
              <a:rPr sz="750" b="0">
                <a:solidFill>
                  <a:srgbClr val="8A949E"/>
                </a:solidFill>
                <a:latin typeface="Arial"/>
                <a:ea typeface="Arial"/>
                <a:cs typeface="Arial"/>
              </a:rPr>
              <a:t>12</a:t>
            </a:r>
          </a:p>
        </p:txBody>
      </p:sp>
    </p:spTree>
    <p:extLst>
      <p:ext uri="{BB962C8B-B14F-4D97-AF65-F5344CB8AC3E}">
        <p14:creationId xmlns:p14="http://schemas.microsoft.com/office/powerpoint/2010/main" val="160340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ction label">
            <a:extLst>
              <a:ext uri="{FF2B5EF4-FFF2-40B4-BE49-F238E27FC236}">
                <a16:creationId xmlns:a16="http://schemas.microsoft.com/office/drawing/2014/main" id="{E67D1988-C017-48CF-BFAC-3FF3FA3E15A8}"/>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ARCHITECTURE · ARTEMIS</a:t>
            </a:r>
          </a:p>
        </p:txBody>
      </p:sp>
      <p:sp>
        <p:nvSpPr>
          <p:cNvPr id="2" name="Slide title">
            <a:extLst>
              <a:ext uri="{FF2B5EF4-FFF2-40B4-BE49-F238E27FC236}">
                <a16:creationId xmlns:a16="http://schemas.microsoft.com/office/drawing/2014/main" id="{766DC256-2599-4143-A6D8-ED082B63A420}"/>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Artemis keeps the teaching workflow around the editor</a:t>
            </a:r>
          </a:p>
        </p:txBody>
      </p:sp>
      <p:pic>
        <p:nvPicPr>
          <p:cNvPr id="11" name="Picture 10"/>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03BD9734-E543-4C7B-B5BF-6CEFC5DE8755}"/>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5A11EE0D-E7DC-4862-979B-26E7B0A660F9}"/>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13</a:t>
            </a:r>
          </a:p>
        </p:txBody>
      </p:sp>
      <p:sp>
        <p:nvSpPr>
          <p:cNvPr id="6" name="Footer">
            <a:extLst>
              <a:ext uri="{FF2B5EF4-FFF2-40B4-BE49-F238E27FC236}">
                <a16:creationId xmlns:a16="http://schemas.microsoft.com/office/drawing/2014/main" id="{22A9252B-2FCC-44DB-90A6-9711CBA49508}"/>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15" name="Picture 14"/>
          <p:cNvPicPr>
            <a:picLocks noChangeAspect="1"/>
          </p:cNvPicPr>
          <p:nvPr/>
        </p:nvPicPr>
        <p:blipFill>
          <a:blip r:embed="rId4"/>
          <a:stretch/>
        </p:blipFill>
        <p:spPr>
          <a:xfrm>
            <a:off x="2234101" y="1352550"/>
            <a:ext cx="7723797" cy="4781550"/>
          </a:xfrm>
          <a:prstGeom prst="rect">
            <a:avLst/>
          </a:prstGeom>
        </p:spPr>
      </p:pic>
      <p:sp>
        <p:nvSpPr>
          <p:cNvPr id="8" name="Rectangle 7">
            <a:extLst>
              <a:ext uri="{FF2B5EF4-FFF2-40B4-BE49-F238E27FC236}">
                <a16:creationId xmlns:a16="http://schemas.microsoft.com/office/drawing/2014/main" id="{5AEF1D42-15AB-4038-93ED-55A9C033AC19}"/>
              </a:ext>
            </a:extLst>
          </p:cNvPr>
          <p:cNvSpPr>
            <a:spLocks noGrp="1"/>
          </p:cNvSpPr>
          <p:nvPr/>
        </p:nvSpPr>
        <p:spPr>
          <a:xfrm>
            <a:off x="8915400" y="6019800"/>
            <a:ext cx="2381250" cy="190500"/>
          </a:xfrm>
          <a:prstGeom prst="rect">
            <a:avLst/>
          </a:prstGeom>
          <a:noFill/>
          <a:ln w="0">
            <a:noFill/>
            <a:prstDash val="solid"/>
          </a:ln>
        </p:spPr>
        <p:txBody>
          <a:bodyPr lIns="0" tIns="0" rIns="0" bIns="0" anchor="t"/>
          <a:lstStyle/>
          <a:p>
            <a:pPr algn="r">
              <a:defRPr sz="1050" b="1">
                <a:solidFill>
                  <a:srgbClr val="0065BD"/>
                </a:solidFill>
                <a:latin typeface="Arial"/>
                <a:ea typeface="Arial"/>
                <a:cs typeface="Arial"/>
              </a:defRPr>
            </a:pPr>
            <a:r>
              <a:rPr sz="1050" b="1">
                <a:solidFill>
                  <a:srgbClr val="0065BD"/>
                </a:solidFill>
                <a:latin typeface="Arial"/>
                <a:ea typeface="Arial"/>
                <a:cs typeface="Arial"/>
              </a:rPr>
              <a:t>Shared editor API</a:t>
            </a:r>
          </a:p>
        </p:txBody>
      </p:sp>
    </p:spTree>
    <p:extLst>
      <p:ext uri="{BB962C8B-B14F-4D97-AF65-F5344CB8AC3E}">
        <p14:creationId xmlns:p14="http://schemas.microsoft.com/office/powerpoint/2010/main" val="30851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 label">
            <a:extLst>
              <a:ext uri="{FF2B5EF4-FFF2-40B4-BE49-F238E27FC236}">
                <a16:creationId xmlns:a16="http://schemas.microsoft.com/office/drawing/2014/main" id="{22B1F8EF-9725-4D1A-BB7A-D7E93BB37652}"/>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3 · ARTEMIS</a:t>
            </a:r>
          </a:p>
        </p:txBody>
      </p:sp>
      <p:sp>
        <p:nvSpPr>
          <p:cNvPr id="2" name="Slide title">
            <a:extLst>
              <a:ext uri="{FF2B5EF4-FFF2-40B4-BE49-F238E27FC236}">
                <a16:creationId xmlns:a16="http://schemas.microsoft.com/office/drawing/2014/main" id="{7B287241-9609-432D-98A1-F7D0FE966FAC}"/>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Artemis adopted maintained Apollon without losing workflows</a:t>
            </a:r>
          </a:p>
        </p:txBody>
      </p:sp>
      <p:pic>
        <p:nvPicPr>
          <p:cNvPr id="28" name="Picture 27"/>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BCA318B2-D5DB-4188-85E6-C784800E49BB}"/>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A0971583-AE9E-49CF-AA75-1912B792722C}"/>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14</a:t>
            </a:r>
          </a:p>
        </p:txBody>
      </p:sp>
      <p:sp>
        <p:nvSpPr>
          <p:cNvPr id="6" name="Footer">
            <a:extLst>
              <a:ext uri="{FF2B5EF4-FFF2-40B4-BE49-F238E27FC236}">
                <a16:creationId xmlns:a16="http://schemas.microsoft.com/office/drawing/2014/main" id="{5B15BD5E-43D0-4911-8FC0-1D946D4329EA}"/>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Oval 6">
            <a:extLst>
              <a:ext uri="{FF2B5EF4-FFF2-40B4-BE49-F238E27FC236}">
                <a16:creationId xmlns:a16="http://schemas.microsoft.com/office/drawing/2014/main" id="{25F28170-FBBD-4E2F-8F88-C11224E37479}"/>
              </a:ext>
            </a:extLst>
          </p:cNvPr>
          <p:cNvSpPr>
            <a:spLocks noGrp="1"/>
          </p:cNvSpPr>
          <p:nvPr/>
        </p:nvSpPr>
        <p:spPr>
          <a:xfrm>
            <a:off x="1409700" y="1676400"/>
            <a:ext cx="647700" cy="647700"/>
          </a:xfrm>
          <a:prstGeom prst="ellipse">
            <a:avLst/>
          </a:prstGeom>
          <a:solidFill>
            <a:srgbClr val="0065BD"/>
          </a:solidFill>
          <a:ln w="0">
            <a:noFill/>
            <a:prstDash val="solid"/>
          </a:ln>
        </p:spPr>
        <p:txBody>
          <a:bodyPr/>
          <a:lstStyle/>
          <a:p>
            <a:endParaRPr lang="de-DE"/>
          </a:p>
        </p:txBody>
      </p:sp>
      <p:sp>
        <p:nvSpPr>
          <p:cNvPr id="8" name="Rectangle 7">
            <a:extLst>
              <a:ext uri="{FF2B5EF4-FFF2-40B4-BE49-F238E27FC236}">
                <a16:creationId xmlns:a16="http://schemas.microsoft.com/office/drawing/2014/main" id="{36E06612-A0EC-4C8B-97BE-F3FE2DF8671B}"/>
              </a:ext>
            </a:extLst>
          </p:cNvPr>
          <p:cNvSpPr>
            <a:spLocks noGrp="1"/>
          </p:cNvSpPr>
          <p:nvPr/>
        </p:nvSpPr>
        <p:spPr>
          <a:xfrm>
            <a:off x="1581150" y="1847850"/>
            <a:ext cx="304800" cy="28575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126B5FBE-4520-4E83-B1DC-58E55C80D97D}"/>
              </a:ext>
            </a:extLst>
          </p:cNvPr>
          <p:cNvSpPr>
            <a:spLocks noGrp="1"/>
          </p:cNvSpPr>
          <p:nvPr/>
        </p:nvSpPr>
        <p:spPr>
          <a:xfrm>
            <a:off x="609600" y="2571750"/>
            <a:ext cx="2247900" cy="361950"/>
          </a:xfrm>
          <a:prstGeom prst="rect">
            <a:avLst/>
          </a:prstGeom>
          <a:noFill/>
          <a:ln w="0">
            <a:noFill/>
            <a:prstDash val="solid"/>
          </a:ln>
        </p:spPr>
        <p:txBody>
          <a:bodyPr lIns="0" tIns="0" rIns="0" bIns="0" anchor="t"/>
          <a:lstStyle/>
          <a:p>
            <a:pPr algn="ctr">
              <a:defRPr sz="1875" b="1">
                <a:solidFill>
                  <a:srgbClr val="003359"/>
                </a:solidFill>
                <a:latin typeface="Arial"/>
                <a:ea typeface="Arial"/>
                <a:cs typeface="Arial"/>
              </a:defRPr>
            </a:pPr>
            <a:r>
              <a:rPr sz="1875" b="1">
                <a:solidFill>
                  <a:srgbClr val="003359"/>
                </a:solidFill>
                <a:latin typeface="Arial"/>
                <a:ea typeface="Arial"/>
                <a:cs typeface="Arial"/>
              </a:rPr>
              <a:t>Model</a:t>
            </a:r>
          </a:p>
        </p:txBody>
      </p:sp>
      <p:sp>
        <p:nvSpPr>
          <p:cNvPr id="10" name="Rectangle 9">
            <a:extLst>
              <a:ext uri="{FF2B5EF4-FFF2-40B4-BE49-F238E27FC236}">
                <a16:creationId xmlns:a16="http://schemas.microsoft.com/office/drawing/2014/main" id="{282AD38F-5550-46F4-B092-D909F0C69504}"/>
              </a:ext>
            </a:extLst>
          </p:cNvPr>
          <p:cNvSpPr>
            <a:spLocks noGrp="1"/>
          </p:cNvSpPr>
          <p:nvPr/>
        </p:nvSpPr>
        <p:spPr>
          <a:xfrm>
            <a:off x="609600" y="3086100"/>
            <a:ext cx="2247900" cy="1143000"/>
          </a:xfrm>
          <a:prstGeom prst="rect">
            <a:avLst/>
          </a:prstGeom>
          <a:noFill/>
          <a:ln w="0">
            <a:noFill/>
            <a:prstDash val="solid"/>
          </a:ln>
        </p:spPr>
        <p:txBody>
          <a:bodyPr lIns="0" tIns="0" rIns="0" bIns="0" anchor="t"/>
          <a:lstStyle/>
          <a:p>
            <a:pPr algn="ctr">
              <a:defRPr sz="1275" b="0">
                <a:solidFill>
                  <a:srgbClr val="56616B"/>
                </a:solidFill>
                <a:latin typeface="Arial"/>
                <a:ea typeface="Arial"/>
                <a:cs typeface="Arial"/>
              </a:defRPr>
            </a:pPr>
            <a:r>
              <a:rPr sz="1275" b="0">
                <a:solidFill>
                  <a:srgbClr val="56616B"/>
                </a:solidFill>
                <a:latin typeface="Arial"/>
                <a:ea typeface="Arial"/>
                <a:cs typeface="Arial"/>
              </a:rPr>
              <a:t>Modeling exercises use the maintained editor.</a:t>
            </a:r>
          </a:p>
        </p:txBody>
      </p:sp>
      <p:sp>
        <p:nvSpPr>
          <p:cNvPr id="11" name="Oval 10">
            <a:extLst>
              <a:ext uri="{FF2B5EF4-FFF2-40B4-BE49-F238E27FC236}">
                <a16:creationId xmlns:a16="http://schemas.microsoft.com/office/drawing/2014/main" id="{6EB48861-F460-4629-9C65-C4357F7065AC}"/>
              </a:ext>
            </a:extLst>
          </p:cNvPr>
          <p:cNvSpPr>
            <a:spLocks noGrp="1"/>
          </p:cNvSpPr>
          <p:nvPr/>
        </p:nvSpPr>
        <p:spPr>
          <a:xfrm>
            <a:off x="4171950" y="1676400"/>
            <a:ext cx="647700" cy="647700"/>
          </a:xfrm>
          <a:prstGeom prst="ellipse">
            <a:avLst/>
          </a:prstGeom>
          <a:solidFill>
            <a:srgbClr val="E37222"/>
          </a:solidFill>
          <a:ln w="0">
            <a:noFill/>
            <a:prstDash val="solid"/>
          </a:ln>
        </p:spPr>
        <p:txBody>
          <a:bodyPr/>
          <a:lstStyle/>
          <a:p>
            <a:endParaRPr lang="de-DE"/>
          </a:p>
        </p:txBody>
      </p:sp>
      <p:sp>
        <p:nvSpPr>
          <p:cNvPr id="12" name="Rectangle 11">
            <a:extLst>
              <a:ext uri="{FF2B5EF4-FFF2-40B4-BE49-F238E27FC236}">
                <a16:creationId xmlns:a16="http://schemas.microsoft.com/office/drawing/2014/main" id="{5FE93BBF-13D0-4AA1-A305-540FA445C7CF}"/>
              </a:ext>
            </a:extLst>
          </p:cNvPr>
          <p:cNvSpPr>
            <a:spLocks noGrp="1"/>
          </p:cNvSpPr>
          <p:nvPr/>
        </p:nvSpPr>
        <p:spPr>
          <a:xfrm>
            <a:off x="4343400" y="1847850"/>
            <a:ext cx="304800" cy="28575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3" name="Rectangle 12">
            <a:extLst>
              <a:ext uri="{FF2B5EF4-FFF2-40B4-BE49-F238E27FC236}">
                <a16:creationId xmlns:a16="http://schemas.microsoft.com/office/drawing/2014/main" id="{3111FC49-BE8A-46C4-B2E4-C5D635AAB7EA}"/>
              </a:ext>
            </a:extLst>
          </p:cNvPr>
          <p:cNvSpPr>
            <a:spLocks noGrp="1"/>
          </p:cNvSpPr>
          <p:nvPr/>
        </p:nvSpPr>
        <p:spPr>
          <a:xfrm>
            <a:off x="3371850" y="2571750"/>
            <a:ext cx="2247900" cy="361950"/>
          </a:xfrm>
          <a:prstGeom prst="rect">
            <a:avLst/>
          </a:prstGeom>
          <a:noFill/>
          <a:ln w="0">
            <a:noFill/>
            <a:prstDash val="solid"/>
          </a:ln>
        </p:spPr>
        <p:txBody>
          <a:bodyPr lIns="0" tIns="0" rIns="0" bIns="0" anchor="t"/>
          <a:lstStyle/>
          <a:p>
            <a:pPr algn="ctr">
              <a:defRPr sz="1875" b="1">
                <a:solidFill>
                  <a:srgbClr val="003359"/>
                </a:solidFill>
                <a:latin typeface="Arial"/>
                <a:ea typeface="Arial"/>
                <a:cs typeface="Arial"/>
              </a:defRPr>
            </a:pPr>
            <a:r>
              <a:rPr sz="1875" b="1">
                <a:solidFill>
                  <a:srgbClr val="003359"/>
                </a:solidFill>
                <a:latin typeface="Arial"/>
                <a:ea typeface="Arial"/>
                <a:cs typeface="Arial"/>
              </a:rPr>
              <a:t>Quiz</a:t>
            </a:r>
          </a:p>
        </p:txBody>
      </p:sp>
      <p:sp>
        <p:nvSpPr>
          <p:cNvPr id="14" name="Rectangle 13">
            <a:extLst>
              <a:ext uri="{FF2B5EF4-FFF2-40B4-BE49-F238E27FC236}">
                <a16:creationId xmlns:a16="http://schemas.microsoft.com/office/drawing/2014/main" id="{E9EB3C77-BB9F-4DBF-A970-0111D73AD184}"/>
              </a:ext>
            </a:extLst>
          </p:cNvPr>
          <p:cNvSpPr>
            <a:spLocks noGrp="1"/>
          </p:cNvSpPr>
          <p:nvPr/>
        </p:nvSpPr>
        <p:spPr>
          <a:xfrm>
            <a:off x="3371850" y="3086100"/>
            <a:ext cx="2247900" cy="1143000"/>
          </a:xfrm>
          <a:prstGeom prst="rect">
            <a:avLst/>
          </a:prstGeom>
          <a:noFill/>
          <a:ln w="0">
            <a:noFill/>
            <a:prstDash val="solid"/>
          </a:ln>
        </p:spPr>
        <p:txBody>
          <a:bodyPr lIns="0" tIns="0" rIns="0" bIns="0" anchor="t"/>
          <a:lstStyle/>
          <a:p>
            <a:pPr algn="ctr">
              <a:defRPr sz="1275" b="0">
                <a:solidFill>
                  <a:srgbClr val="56616B"/>
                </a:solidFill>
                <a:latin typeface="Arial"/>
                <a:ea typeface="Arial"/>
                <a:cs typeface="Arial"/>
              </a:defRPr>
            </a:pPr>
            <a:r>
              <a:rPr sz="1275" b="0">
                <a:solidFill>
                  <a:srgbClr val="56616B"/>
                </a:solidFill>
                <a:latin typeface="Arial"/>
                <a:ea typeface="Arial"/>
                <a:cs typeface="Arial"/>
              </a:rPr>
              <a:t>Selected and nested elements become aligned cut-outs and drop locations.</a:t>
            </a:r>
          </a:p>
        </p:txBody>
      </p:sp>
      <p:sp>
        <p:nvSpPr>
          <p:cNvPr id="15" name="Oval 14">
            <a:extLst>
              <a:ext uri="{FF2B5EF4-FFF2-40B4-BE49-F238E27FC236}">
                <a16:creationId xmlns:a16="http://schemas.microsoft.com/office/drawing/2014/main" id="{A0112BB0-2A7B-444C-9FF6-FB42E020EB5C}"/>
              </a:ext>
            </a:extLst>
          </p:cNvPr>
          <p:cNvSpPr>
            <a:spLocks noGrp="1"/>
          </p:cNvSpPr>
          <p:nvPr/>
        </p:nvSpPr>
        <p:spPr>
          <a:xfrm>
            <a:off x="6934200" y="1676400"/>
            <a:ext cx="647700" cy="647700"/>
          </a:xfrm>
          <a:prstGeom prst="ellipse">
            <a:avLst/>
          </a:prstGeom>
          <a:solidFill>
            <a:srgbClr val="A2AD00"/>
          </a:solidFill>
          <a:ln w="0">
            <a:noFill/>
            <a:prstDash val="solid"/>
          </a:ln>
        </p:spPr>
        <p:txBody>
          <a:bodyPr/>
          <a:lstStyle/>
          <a:p>
            <a:endParaRPr lang="de-DE"/>
          </a:p>
        </p:txBody>
      </p:sp>
      <p:sp>
        <p:nvSpPr>
          <p:cNvPr id="16" name="Rectangle 15">
            <a:extLst>
              <a:ext uri="{FF2B5EF4-FFF2-40B4-BE49-F238E27FC236}">
                <a16:creationId xmlns:a16="http://schemas.microsoft.com/office/drawing/2014/main" id="{431998E1-CE17-4A3E-9BA8-1E7690F836C5}"/>
              </a:ext>
            </a:extLst>
          </p:cNvPr>
          <p:cNvSpPr>
            <a:spLocks noGrp="1"/>
          </p:cNvSpPr>
          <p:nvPr/>
        </p:nvSpPr>
        <p:spPr>
          <a:xfrm>
            <a:off x="7105650" y="1847850"/>
            <a:ext cx="304800" cy="28575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7" name="Rectangle 16">
            <a:extLst>
              <a:ext uri="{FF2B5EF4-FFF2-40B4-BE49-F238E27FC236}">
                <a16:creationId xmlns:a16="http://schemas.microsoft.com/office/drawing/2014/main" id="{6BD0BC75-42F4-4043-A7B5-DC6FB0D3ADD0}"/>
              </a:ext>
            </a:extLst>
          </p:cNvPr>
          <p:cNvSpPr>
            <a:spLocks noGrp="1"/>
          </p:cNvSpPr>
          <p:nvPr/>
        </p:nvSpPr>
        <p:spPr>
          <a:xfrm>
            <a:off x="6134100" y="2571750"/>
            <a:ext cx="2247900" cy="361950"/>
          </a:xfrm>
          <a:prstGeom prst="rect">
            <a:avLst/>
          </a:prstGeom>
          <a:noFill/>
          <a:ln w="0">
            <a:noFill/>
            <a:prstDash val="solid"/>
          </a:ln>
        </p:spPr>
        <p:txBody>
          <a:bodyPr lIns="0" tIns="0" rIns="0" bIns="0" anchor="t"/>
          <a:lstStyle/>
          <a:p>
            <a:pPr algn="ctr">
              <a:defRPr sz="1875" b="1">
                <a:solidFill>
                  <a:srgbClr val="003359"/>
                </a:solidFill>
                <a:latin typeface="Arial"/>
                <a:ea typeface="Arial"/>
                <a:cs typeface="Arial"/>
              </a:defRPr>
            </a:pPr>
            <a:r>
              <a:rPr sz="1875" b="1">
                <a:solidFill>
                  <a:srgbClr val="003359"/>
                </a:solidFill>
                <a:latin typeface="Arial"/>
                <a:ea typeface="Arial"/>
                <a:cs typeface="Arial"/>
              </a:rPr>
              <a:t>Assess</a:t>
            </a:r>
          </a:p>
        </p:txBody>
      </p:sp>
      <p:sp>
        <p:nvSpPr>
          <p:cNvPr id="18" name="Rectangle 17">
            <a:extLst>
              <a:ext uri="{FF2B5EF4-FFF2-40B4-BE49-F238E27FC236}">
                <a16:creationId xmlns:a16="http://schemas.microsoft.com/office/drawing/2014/main" id="{A8134AB2-E9D4-423F-8707-6BEC5A8462FC}"/>
              </a:ext>
            </a:extLst>
          </p:cNvPr>
          <p:cNvSpPr>
            <a:spLocks noGrp="1"/>
          </p:cNvSpPr>
          <p:nvPr/>
        </p:nvSpPr>
        <p:spPr>
          <a:xfrm>
            <a:off x="6134100" y="3086100"/>
            <a:ext cx="2247900" cy="1143000"/>
          </a:xfrm>
          <a:prstGeom prst="rect">
            <a:avLst/>
          </a:prstGeom>
          <a:noFill/>
          <a:ln w="0">
            <a:noFill/>
            <a:prstDash val="solid"/>
          </a:ln>
        </p:spPr>
        <p:txBody>
          <a:bodyPr lIns="0" tIns="0" rIns="0" bIns="0" anchor="t"/>
          <a:lstStyle/>
          <a:p>
            <a:pPr algn="ctr">
              <a:defRPr sz="1275" b="0">
                <a:solidFill>
                  <a:srgbClr val="56616B"/>
                </a:solidFill>
                <a:latin typeface="Arial"/>
                <a:ea typeface="Arial"/>
                <a:cs typeface="Arial"/>
              </a:defRPr>
            </a:pPr>
            <a:r>
              <a:rPr sz="1275" b="0">
                <a:solidFill>
                  <a:srgbClr val="56616B"/>
                </a:solidFill>
                <a:latin typeface="Arial"/>
                <a:ea typeface="Arial"/>
                <a:cs typeface="Arial"/>
              </a:rPr>
              <a:t>Element interaction and structured-grading compatibility remain intact.</a:t>
            </a:r>
          </a:p>
        </p:txBody>
      </p:sp>
      <p:sp>
        <p:nvSpPr>
          <p:cNvPr id="19" name="Oval 18">
            <a:extLst>
              <a:ext uri="{FF2B5EF4-FFF2-40B4-BE49-F238E27FC236}">
                <a16:creationId xmlns:a16="http://schemas.microsoft.com/office/drawing/2014/main" id="{C1DCAAF5-34BC-4499-BD27-BE9F4C3946D4}"/>
              </a:ext>
            </a:extLst>
          </p:cNvPr>
          <p:cNvSpPr>
            <a:spLocks noGrp="1"/>
          </p:cNvSpPr>
          <p:nvPr/>
        </p:nvSpPr>
        <p:spPr>
          <a:xfrm>
            <a:off x="9696450" y="1676400"/>
            <a:ext cx="647700" cy="647700"/>
          </a:xfrm>
          <a:prstGeom prst="ellipse">
            <a:avLst/>
          </a:prstGeom>
          <a:solidFill>
            <a:srgbClr val="64A0C8"/>
          </a:solidFill>
          <a:ln w="0">
            <a:noFill/>
            <a:prstDash val="solid"/>
          </a:ln>
        </p:spPr>
        <p:txBody>
          <a:bodyPr/>
          <a:lstStyle/>
          <a:p>
            <a:endParaRPr lang="de-DE"/>
          </a:p>
        </p:txBody>
      </p:sp>
      <p:sp>
        <p:nvSpPr>
          <p:cNvPr id="20" name="Rectangle 19">
            <a:extLst>
              <a:ext uri="{FF2B5EF4-FFF2-40B4-BE49-F238E27FC236}">
                <a16:creationId xmlns:a16="http://schemas.microsoft.com/office/drawing/2014/main" id="{FBCBA5E0-C332-45FB-9704-8272ECE5313F}"/>
              </a:ext>
            </a:extLst>
          </p:cNvPr>
          <p:cNvSpPr>
            <a:spLocks noGrp="1"/>
          </p:cNvSpPr>
          <p:nvPr/>
        </p:nvSpPr>
        <p:spPr>
          <a:xfrm>
            <a:off x="9867900" y="1847850"/>
            <a:ext cx="304800" cy="28575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1" name="Rectangle 20">
            <a:extLst>
              <a:ext uri="{FF2B5EF4-FFF2-40B4-BE49-F238E27FC236}">
                <a16:creationId xmlns:a16="http://schemas.microsoft.com/office/drawing/2014/main" id="{C0541407-A486-4643-A14E-1BB1C7161F84}"/>
              </a:ext>
            </a:extLst>
          </p:cNvPr>
          <p:cNvSpPr>
            <a:spLocks noGrp="1"/>
          </p:cNvSpPr>
          <p:nvPr/>
        </p:nvSpPr>
        <p:spPr>
          <a:xfrm>
            <a:off x="8896350" y="2571750"/>
            <a:ext cx="2247900" cy="361950"/>
          </a:xfrm>
          <a:prstGeom prst="rect">
            <a:avLst/>
          </a:prstGeom>
          <a:noFill/>
          <a:ln w="0">
            <a:noFill/>
            <a:prstDash val="solid"/>
          </a:ln>
        </p:spPr>
        <p:txBody>
          <a:bodyPr lIns="0" tIns="0" rIns="0" bIns="0" anchor="t"/>
          <a:lstStyle/>
          <a:p>
            <a:pPr algn="ctr">
              <a:defRPr sz="1875" b="1">
                <a:solidFill>
                  <a:srgbClr val="003359"/>
                </a:solidFill>
                <a:latin typeface="Arial"/>
                <a:ea typeface="Arial"/>
                <a:cs typeface="Arial"/>
              </a:defRPr>
            </a:pPr>
            <a:r>
              <a:rPr sz="1875" b="1">
                <a:solidFill>
                  <a:srgbClr val="003359"/>
                </a:solidFill>
                <a:latin typeface="Arial"/>
                <a:ea typeface="Arial"/>
                <a:cs typeface="Arial"/>
              </a:rPr>
              <a:t>Collaborate</a:t>
            </a:r>
          </a:p>
        </p:txBody>
      </p:sp>
      <p:sp>
        <p:nvSpPr>
          <p:cNvPr id="22" name="Rectangle 21">
            <a:extLst>
              <a:ext uri="{FF2B5EF4-FFF2-40B4-BE49-F238E27FC236}">
                <a16:creationId xmlns:a16="http://schemas.microsoft.com/office/drawing/2014/main" id="{C6B68162-3D1F-4EA6-B8FD-7B26BC12FC58}"/>
              </a:ext>
            </a:extLst>
          </p:cNvPr>
          <p:cNvSpPr>
            <a:spLocks noGrp="1"/>
          </p:cNvSpPr>
          <p:nvPr/>
        </p:nvSpPr>
        <p:spPr>
          <a:xfrm>
            <a:off x="8896350" y="3086100"/>
            <a:ext cx="2247900" cy="1143000"/>
          </a:xfrm>
          <a:prstGeom prst="rect">
            <a:avLst/>
          </a:prstGeom>
          <a:noFill/>
          <a:ln w="0">
            <a:noFill/>
            <a:prstDash val="solid"/>
          </a:ln>
        </p:spPr>
        <p:txBody>
          <a:bodyPr lIns="0" tIns="0" rIns="0" bIns="0" anchor="t"/>
          <a:lstStyle/>
          <a:p>
            <a:pPr algn="ctr">
              <a:defRPr sz="1275" b="0">
                <a:solidFill>
                  <a:srgbClr val="56616B"/>
                </a:solidFill>
                <a:latin typeface="Arial"/>
                <a:ea typeface="Arial"/>
                <a:cs typeface="Arial"/>
              </a:defRPr>
            </a:pPr>
            <a:r>
              <a:rPr sz="1275" b="0">
                <a:solidFill>
                  <a:srgbClr val="56616B"/>
                </a:solidFill>
                <a:latin typeface="Arial"/>
                <a:ea typeface="Arial"/>
                <a:cs typeface="Arial"/>
              </a:rPr>
              <a:t>Team modeling reuses the same awareness surface.</a:t>
            </a:r>
          </a:p>
        </p:txBody>
      </p:sp>
      <p:sp>
        <p:nvSpPr>
          <p:cNvPr id="23" name="Rectangle: Rounded Corners 22">
            <a:extLst>
              <a:ext uri="{FF2B5EF4-FFF2-40B4-BE49-F238E27FC236}">
                <a16:creationId xmlns:a16="http://schemas.microsoft.com/office/drawing/2014/main" id="{51810E42-97E8-411C-BDDC-4C88534CD752}"/>
              </a:ext>
            </a:extLst>
          </p:cNvPr>
          <p:cNvSpPr>
            <a:spLocks noGrp="1"/>
          </p:cNvSpPr>
          <p:nvPr/>
        </p:nvSpPr>
        <p:spPr>
          <a:xfrm>
            <a:off x="1295400" y="4762500"/>
            <a:ext cx="9601200" cy="876300"/>
          </a:xfrm>
          <a:prstGeom prst="roundRect">
            <a:avLst>
              <a:gd name="adj" fmla="val 13043"/>
            </a:avLst>
          </a:prstGeom>
          <a:solidFill>
            <a:srgbClr val="F7F9FB"/>
          </a:solidFill>
          <a:ln w="11430">
            <a:solidFill>
              <a:srgbClr val="DDE3E8"/>
            </a:solidFill>
            <a:prstDash val="solid"/>
          </a:ln>
        </p:spPr>
        <p:txBody>
          <a:bodyPr/>
          <a:lstStyle/>
          <a:p>
            <a:endParaRPr lang="de-DE"/>
          </a:p>
        </p:txBody>
      </p:sp>
      <p:sp>
        <p:nvSpPr>
          <p:cNvPr id="24" name="Rectangle 23">
            <a:extLst>
              <a:ext uri="{FF2B5EF4-FFF2-40B4-BE49-F238E27FC236}">
                <a16:creationId xmlns:a16="http://schemas.microsoft.com/office/drawing/2014/main" id="{CD8EC036-C4FB-48AC-B36C-DEEAF8022C6C}"/>
              </a:ext>
            </a:extLst>
          </p:cNvPr>
          <p:cNvSpPr>
            <a:spLocks noGrp="1"/>
          </p:cNvSpPr>
          <p:nvPr/>
        </p:nvSpPr>
        <p:spPr>
          <a:xfrm>
            <a:off x="1619250" y="4953000"/>
            <a:ext cx="2190750" cy="266700"/>
          </a:xfrm>
          <a:prstGeom prst="rect">
            <a:avLst/>
          </a:prstGeom>
          <a:noFill/>
          <a:ln w="0">
            <a:noFill/>
            <a:prstDash val="solid"/>
          </a:ln>
        </p:spPr>
        <p:txBody>
          <a:bodyPr lIns="0" tIns="0" rIns="0" bIns="0" anchor="t"/>
          <a:lstStyle/>
          <a:p>
            <a:pPr algn="l">
              <a:defRPr sz="1425" b="1">
                <a:solidFill>
                  <a:srgbClr val="E37222"/>
                </a:solidFill>
                <a:latin typeface="Arial"/>
                <a:ea typeface="Arial"/>
                <a:cs typeface="Arial"/>
              </a:defRPr>
            </a:pPr>
            <a:r>
              <a:rPr sz="1425" b="1">
                <a:solidFill>
                  <a:srgbClr val="E37222"/>
                </a:solidFill>
                <a:latin typeface="Arial"/>
                <a:ea typeface="Arial"/>
                <a:cs typeface="Arial"/>
              </a:rPr>
              <a:t>Migration constraint</a:t>
            </a:r>
          </a:p>
        </p:txBody>
      </p:sp>
      <p:sp>
        <p:nvSpPr>
          <p:cNvPr id="25" name="Rectangle 24">
            <a:extLst>
              <a:ext uri="{FF2B5EF4-FFF2-40B4-BE49-F238E27FC236}">
                <a16:creationId xmlns:a16="http://schemas.microsoft.com/office/drawing/2014/main" id="{8652183C-8AA6-4DF9-A913-D02E55CCDA79}"/>
              </a:ext>
            </a:extLst>
          </p:cNvPr>
          <p:cNvSpPr>
            <a:spLocks noGrp="1"/>
          </p:cNvSpPr>
          <p:nvPr/>
        </p:nvSpPr>
        <p:spPr>
          <a:xfrm>
            <a:off x="3905250" y="4933950"/>
            <a:ext cx="6610350" cy="457200"/>
          </a:xfrm>
          <a:prstGeom prst="rect">
            <a:avLst/>
          </a:prstGeom>
          <a:noFill/>
          <a:ln w="0">
            <a:noFill/>
            <a:prstDash val="solid"/>
          </a:ln>
        </p:spPr>
        <p:txBody>
          <a:bodyPr lIns="0" tIns="0" rIns="0" bIns="0" anchor="t"/>
          <a:lstStyle/>
          <a:p>
            <a:pPr algn="l">
              <a:defRPr sz="1350" b="0">
                <a:solidFill>
                  <a:srgbClr val="56616B"/>
                </a:solidFill>
                <a:latin typeface="Arial"/>
                <a:ea typeface="Arial"/>
                <a:cs typeface="Arial"/>
              </a:defRPr>
            </a:pPr>
            <a:r>
              <a:rPr sz="1350" b="0">
                <a:solidFill>
                  <a:srgbClr val="56616B"/>
                </a:solidFill>
                <a:latin typeface="Arial"/>
                <a:ea typeface="Arial"/>
                <a:cs typeface="Arial"/>
              </a:rPr>
              <a:t>Existing courses, exercises, serialized models, assessment, and feedback workflows had to continue working.</a:t>
            </a:r>
          </a:p>
        </p:txBody>
      </p:sp>
    </p:spTree>
    <p:extLst>
      <p:ext uri="{BB962C8B-B14F-4D97-AF65-F5344CB8AC3E}">
        <p14:creationId xmlns:p14="http://schemas.microsoft.com/office/powerpoint/2010/main" val="845742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ection label">
            <a:extLst>
              <a:ext uri="{FF2B5EF4-FFF2-40B4-BE49-F238E27FC236}">
                <a16:creationId xmlns:a16="http://schemas.microsoft.com/office/drawing/2014/main" id="{60A59482-6E93-422B-AFDE-F158667E2505}"/>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3 · INTEGRATIONS</a:t>
            </a:r>
          </a:p>
        </p:txBody>
      </p:sp>
      <p:sp>
        <p:nvSpPr>
          <p:cNvPr id="2" name="Slide title">
            <a:extLst>
              <a:ext uri="{FF2B5EF4-FFF2-40B4-BE49-F238E27FC236}">
                <a16:creationId xmlns:a16="http://schemas.microsoft.com/office/drawing/2014/main" id="{E2D1A5F6-0643-4109-8023-2F87F14DC2B7}"/>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Athena and VS Code stayed on the same model foundation</a:t>
            </a:r>
          </a:p>
        </p:txBody>
      </p:sp>
      <p:pic>
        <p:nvPicPr>
          <p:cNvPr id="22" name="Picture 21"/>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F8D06CEB-7274-4324-8A68-06A7773512C4}"/>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E2DEF467-76E1-45A7-AADA-A8145C5A0CF0}"/>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15</a:t>
            </a:r>
          </a:p>
        </p:txBody>
      </p:sp>
      <p:sp>
        <p:nvSpPr>
          <p:cNvPr id="6" name="Footer">
            <a:extLst>
              <a:ext uri="{FF2B5EF4-FFF2-40B4-BE49-F238E27FC236}">
                <a16:creationId xmlns:a16="http://schemas.microsoft.com/office/drawing/2014/main" id="{F4303B00-657D-4108-8640-FB5512467DFC}"/>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710745C2-EAD6-42EB-90DF-0F5F6CF271A7}"/>
              </a:ext>
            </a:extLst>
          </p:cNvPr>
          <p:cNvSpPr>
            <a:spLocks noGrp="1"/>
          </p:cNvSpPr>
          <p:nvPr/>
        </p:nvSpPr>
        <p:spPr>
          <a:xfrm>
            <a:off x="609600" y="1466850"/>
            <a:ext cx="5219700" cy="4133850"/>
          </a:xfrm>
          <a:prstGeom prst="roundRect">
            <a:avLst>
              <a:gd name="adj" fmla="val 2765"/>
            </a:avLst>
          </a:prstGeom>
          <a:solidFill>
            <a:srgbClr val="EAF4FB"/>
          </a:solidFill>
          <a:ln w="11430">
            <a:solidFill>
              <a:srgbClr val="98C6EA"/>
            </a:solidFill>
            <a:prstDash val="solid"/>
          </a:ln>
        </p:spPr>
        <p:txBody>
          <a:bodyPr/>
          <a:lstStyle/>
          <a:p>
            <a:endParaRPr lang="de-DE"/>
          </a:p>
        </p:txBody>
      </p:sp>
      <p:sp>
        <p:nvSpPr>
          <p:cNvPr id="8" name="Rectangle: Rounded Corners 7">
            <a:extLst>
              <a:ext uri="{FF2B5EF4-FFF2-40B4-BE49-F238E27FC236}">
                <a16:creationId xmlns:a16="http://schemas.microsoft.com/office/drawing/2014/main" id="{88E21DB6-5CE4-4DB9-96D8-D38268DC4D12}"/>
              </a:ext>
            </a:extLst>
          </p:cNvPr>
          <p:cNvSpPr>
            <a:spLocks noGrp="1"/>
          </p:cNvSpPr>
          <p:nvPr/>
        </p:nvSpPr>
        <p:spPr>
          <a:xfrm>
            <a:off x="6362700" y="1466850"/>
            <a:ext cx="5219700" cy="4133850"/>
          </a:xfrm>
          <a:prstGeom prst="roundRect">
            <a:avLst>
              <a:gd name="adj" fmla="val 2765"/>
            </a:avLst>
          </a:prstGeom>
          <a:solidFill>
            <a:srgbClr val="F7F9FB"/>
          </a:solidFill>
          <a:ln w="11430">
            <a:solidFill>
              <a:srgbClr val="DDE3E8"/>
            </a:solidFill>
            <a:prstDash val="solid"/>
          </a:ln>
        </p:spPr>
        <p:txBody>
          <a:bodyPr/>
          <a:lstStyle/>
          <a:p>
            <a:endParaRPr lang="de-DE"/>
          </a:p>
        </p:txBody>
      </p:sp>
      <p:sp>
        <p:nvSpPr>
          <p:cNvPr id="9" name="Rectangle 8">
            <a:extLst>
              <a:ext uri="{FF2B5EF4-FFF2-40B4-BE49-F238E27FC236}">
                <a16:creationId xmlns:a16="http://schemas.microsoft.com/office/drawing/2014/main" id="{0464C136-BB70-44CE-8695-3C1BA842587B}"/>
              </a:ext>
            </a:extLst>
          </p:cNvPr>
          <p:cNvSpPr>
            <a:spLocks noGrp="1"/>
          </p:cNvSpPr>
          <p:nvPr/>
        </p:nvSpPr>
        <p:spPr>
          <a:xfrm>
            <a:off x="952500" y="1790700"/>
            <a:ext cx="4476750" cy="361950"/>
          </a:xfrm>
          <a:prstGeom prst="rect">
            <a:avLst/>
          </a:prstGeom>
          <a:noFill/>
          <a:ln w="0">
            <a:noFill/>
            <a:prstDash val="solid"/>
          </a:ln>
        </p:spPr>
        <p:txBody>
          <a:bodyPr lIns="0" tIns="0" rIns="0" bIns="0" anchor="t"/>
          <a:lstStyle/>
          <a:p>
            <a:pPr algn="l">
              <a:defRPr sz="2325" b="1">
                <a:solidFill>
                  <a:srgbClr val="003359"/>
                </a:solidFill>
                <a:latin typeface="Arial"/>
                <a:ea typeface="Arial"/>
                <a:cs typeface="Arial"/>
              </a:defRPr>
            </a:pPr>
            <a:r>
              <a:rPr sz="2325" b="1">
                <a:solidFill>
                  <a:srgbClr val="003359"/>
                </a:solidFill>
                <a:latin typeface="Arial"/>
                <a:ea typeface="Arial"/>
                <a:cs typeface="Arial"/>
              </a:rPr>
              <a:t>Athena</a:t>
            </a:r>
          </a:p>
        </p:txBody>
      </p:sp>
      <p:sp>
        <p:nvSpPr>
          <p:cNvPr id="10" name="Rectangle 9">
            <a:extLst>
              <a:ext uri="{FF2B5EF4-FFF2-40B4-BE49-F238E27FC236}">
                <a16:creationId xmlns:a16="http://schemas.microsoft.com/office/drawing/2014/main" id="{2344BE68-51FE-4BA3-A3C4-E4FEAD3A03FB}"/>
              </a:ext>
            </a:extLst>
          </p:cNvPr>
          <p:cNvSpPr>
            <a:spLocks noGrp="1"/>
          </p:cNvSpPr>
          <p:nvPr/>
        </p:nvSpPr>
        <p:spPr>
          <a:xfrm>
            <a:off x="990600" y="2571750"/>
            <a:ext cx="1619250" cy="304800"/>
          </a:xfrm>
          <a:prstGeom prst="rect">
            <a:avLst/>
          </a:prstGeom>
          <a:noFill/>
          <a:ln w="0">
            <a:noFill/>
            <a:prstDash val="solid"/>
          </a:ln>
        </p:spPr>
        <p:txBody>
          <a:bodyPr lIns="0" tIns="0" rIns="0" bIns="0" anchor="t"/>
          <a:lstStyle/>
          <a:p>
            <a:pPr algn="ctr">
              <a:defRPr sz="1350" b="1">
                <a:solidFill>
                  <a:srgbClr val="0065BD"/>
                </a:solidFill>
                <a:latin typeface="Arial"/>
                <a:ea typeface="Arial"/>
                <a:cs typeface="Arial"/>
              </a:defRPr>
            </a:pPr>
            <a:r>
              <a:rPr sz="1350" b="1">
                <a:solidFill>
                  <a:srgbClr val="0065BD"/>
                </a:solidFill>
                <a:latin typeface="Arial"/>
                <a:ea typeface="Arial"/>
                <a:cs typeface="Arial"/>
              </a:rPr>
              <a:t>Serialized model</a:t>
            </a:r>
          </a:p>
        </p:txBody>
      </p:sp>
      <p:sp>
        <p:nvSpPr>
          <p:cNvPr id="11" name="Rectangle 10">
            <a:extLst>
              <a:ext uri="{FF2B5EF4-FFF2-40B4-BE49-F238E27FC236}">
                <a16:creationId xmlns:a16="http://schemas.microsoft.com/office/drawing/2014/main" id="{74D72C3A-6CCB-4501-B80D-DEB038ACB95A}"/>
              </a:ext>
            </a:extLst>
          </p:cNvPr>
          <p:cNvSpPr>
            <a:spLocks noGrp="1"/>
          </p:cNvSpPr>
          <p:nvPr/>
        </p:nvSpPr>
        <p:spPr>
          <a:xfrm>
            <a:off x="2705100" y="2552700"/>
            <a:ext cx="438150" cy="323850"/>
          </a:xfrm>
          <a:prstGeom prst="rect">
            <a:avLst/>
          </a:prstGeom>
          <a:noFill/>
          <a:ln w="0">
            <a:noFill/>
            <a:prstDash val="solid"/>
          </a:ln>
        </p:spPr>
        <p:txBody>
          <a:bodyPr lIns="0" tIns="0" rIns="0" bIns="0" anchor="t"/>
          <a:lstStyle/>
          <a:p>
            <a:pPr algn="ctr">
              <a:defRPr sz="2100" b="1">
                <a:solidFill>
                  <a:srgbClr val="64A0C8"/>
                </a:solidFill>
                <a:latin typeface="Arial"/>
                <a:ea typeface="Arial"/>
                <a:cs typeface="Arial"/>
              </a:defRPr>
            </a:pPr>
            <a:r>
              <a:rPr sz="2100" b="1">
                <a:solidFill>
                  <a:srgbClr val="64A0C8"/>
                </a:solidFill>
                <a:latin typeface="Arial"/>
                <a:ea typeface="Arial"/>
                <a:cs typeface="Arial"/>
              </a:rPr>
              <a:t>→</a:t>
            </a:r>
          </a:p>
        </p:txBody>
      </p:sp>
      <p:sp>
        <p:nvSpPr>
          <p:cNvPr id="12" name="Rectangle 11">
            <a:extLst>
              <a:ext uri="{FF2B5EF4-FFF2-40B4-BE49-F238E27FC236}">
                <a16:creationId xmlns:a16="http://schemas.microsoft.com/office/drawing/2014/main" id="{0FC78B5A-D828-4441-A338-A25DBD8C0C91}"/>
              </a:ext>
            </a:extLst>
          </p:cNvPr>
          <p:cNvSpPr>
            <a:spLocks noGrp="1"/>
          </p:cNvSpPr>
          <p:nvPr/>
        </p:nvSpPr>
        <p:spPr>
          <a:xfrm>
            <a:off x="3219450" y="2571750"/>
            <a:ext cx="2000250" cy="304800"/>
          </a:xfrm>
          <a:prstGeom prst="rect">
            <a:avLst/>
          </a:prstGeom>
          <a:noFill/>
          <a:ln w="0">
            <a:noFill/>
            <a:prstDash val="solid"/>
          </a:ln>
        </p:spPr>
        <p:txBody>
          <a:bodyPr lIns="0" tIns="0" rIns="0" bIns="0" anchor="t"/>
          <a:lstStyle/>
          <a:p>
            <a:pPr algn="ctr">
              <a:defRPr sz="1350" b="1">
                <a:solidFill>
                  <a:srgbClr val="0065BD"/>
                </a:solidFill>
                <a:latin typeface="Arial"/>
                <a:ea typeface="Arial"/>
                <a:cs typeface="Arial"/>
              </a:defRPr>
            </a:pPr>
            <a:r>
              <a:rPr sz="1350" b="1">
                <a:solidFill>
                  <a:srgbClr val="0065BD"/>
                </a:solidFill>
                <a:latin typeface="Arial"/>
                <a:ea typeface="Arial"/>
                <a:cs typeface="Arial"/>
              </a:rPr>
              <a:t>Version-aware parser</a:t>
            </a:r>
          </a:p>
        </p:txBody>
      </p:sp>
      <p:sp>
        <p:nvSpPr>
          <p:cNvPr id="13" name="Rectangle 12">
            <a:extLst>
              <a:ext uri="{FF2B5EF4-FFF2-40B4-BE49-F238E27FC236}">
                <a16:creationId xmlns:a16="http://schemas.microsoft.com/office/drawing/2014/main" id="{895F4C3F-9DE1-4E27-BE5F-B0B308598C4E}"/>
              </a:ext>
            </a:extLst>
          </p:cNvPr>
          <p:cNvSpPr>
            <a:spLocks noGrp="1"/>
          </p:cNvSpPr>
          <p:nvPr/>
        </p:nvSpPr>
        <p:spPr>
          <a:xfrm>
            <a:off x="971550" y="3333750"/>
            <a:ext cx="4457700" cy="876300"/>
          </a:xfrm>
          <a:prstGeom prst="rect">
            <a:avLst/>
          </a:prstGeom>
          <a:noFill/>
          <a:ln w="0">
            <a:noFill/>
            <a:prstDash val="solid"/>
          </a:ln>
        </p:spPr>
        <p:txBody>
          <a:bodyPr lIns="0" tIns="0" rIns="0" bIns="0" anchor="t"/>
          <a:lstStyle/>
          <a:p>
            <a:pPr algn="ctr">
              <a:defRPr sz="1500" b="0">
                <a:solidFill>
                  <a:srgbClr val="56616B"/>
                </a:solidFill>
                <a:latin typeface="Arial"/>
                <a:ea typeface="Arial"/>
                <a:cs typeface="Arial"/>
              </a:defRPr>
            </a:pPr>
            <a:r>
              <a:rPr sz="1500" b="0">
                <a:solidFill>
                  <a:srgbClr val="56616B"/>
                </a:solidFill>
                <a:latin typeface="Arial"/>
                <a:ea typeface="Arial"/>
                <a:cs typeface="Arial"/>
              </a:rPr>
              <a:t>Earlier and current supported Apollon formats remain usable for feedback generation.</a:t>
            </a:r>
          </a:p>
        </p:txBody>
      </p:sp>
      <p:sp>
        <p:nvSpPr>
          <p:cNvPr id="14" name="Rectangle 13">
            <a:extLst>
              <a:ext uri="{FF2B5EF4-FFF2-40B4-BE49-F238E27FC236}">
                <a16:creationId xmlns:a16="http://schemas.microsoft.com/office/drawing/2014/main" id="{7220D1E0-A10B-48F4-9CEC-31025BEFA863}"/>
              </a:ext>
            </a:extLst>
          </p:cNvPr>
          <p:cNvSpPr>
            <a:spLocks noGrp="1"/>
          </p:cNvSpPr>
          <p:nvPr/>
        </p:nvSpPr>
        <p:spPr>
          <a:xfrm>
            <a:off x="6705600" y="1790700"/>
            <a:ext cx="4476750" cy="361950"/>
          </a:xfrm>
          <a:prstGeom prst="rect">
            <a:avLst/>
          </a:prstGeom>
          <a:noFill/>
          <a:ln w="0">
            <a:noFill/>
            <a:prstDash val="solid"/>
          </a:ln>
        </p:spPr>
        <p:txBody>
          <a:bodyPr lIns="0" tIns="0" rIns="0" bIns="0" anchor="t"/>
          <a:lstStyle/>
          <a:p>
            <a:pPr algn="l">
              <a:defRPr sz="2325" b="1">
                <a:solidFill>
                  <a:srgbClr val="003359"/>
                </a:solidFill>
                <a:latin typeface="Arial"/>
                <a:ea typeface="Arial"/>
                <a:cs typeface="Arial"/>
              </a:defRPr>
            </a:pPr>
            <a:r>
              <a:rPr sz="2325" b="1">
                <a:solidFill>
                  <a:srgbClr val="003359"/>
                </a:solidFill>
                <a:latin typeface="Arial"/>
                <a:ea typeface="Arial"/>
                <a:cs typeface="Arial"/>
              </a:rPr>
              <a:t>VS Code</a:t>
            </a:r>
          </a:p>
        </p:txBody>
      </p:sp>
      <p:sp>
        <p:nvSpPr>
          <p:cNvPr id="15" name="Rectangle 14">
            <a:extLst>
              <a:ext uri="{FF2B5EF4-FFF2-40B4-BE49-F238E27FC236}">
                <a16:creationId xmlns:a16="http://schemas.microsoft.com/office/drawing/2014/main" id="{845CA042-35D8-4229-9751-DCCE1A92FD3E}"/>
              </a:ext>
            </a:extLst>
          </p:cNvPr>
          <p:cNvSpPr>
            <a:spLocks noGrp="1"/>
          </p:cNvSpPr>
          <p:nvPr/>
        </p:nvSpPr>
        <p:spPr>
          <a:xfrm>
            <a:off x="6934200" y="2571750"/>
            <a:ext cx="1619250" cy="304800"/>
          </a:xfrm>
          <a:prstGeom prst="rect">
            <a:avLst/>
          </a:prstGeom>
          <a:noFill/>
          <a:ln w="0">
            <a:noFill/>
            <a:prstDash val="solid"/>
          </a:ln>
        </p:spPr>
        <p:txBody>
          <a:bodyPr lIns="0" tIns="0" rIns="0" bIns="0" anchor="t"/>
          <a:lstStyle/>
          <a:p>
            <a:pPr algn="ctr">
              <a:defRPr sz="1350" b="1">
                <a:solidFill>
                  <a:srgbClr val="0065BD"/>
                </a:solidFill>
                <a:latin typeface="Arial"/>
                <a:ea typeface="Arial"/>
                <a:cs typeface="Arial"/>
              </a:defRPr>
            </a:pPr>
            <a:r>
              <a:rPr sz="1350" b="1">
                <a:solidFill>
                  <a:srgbClr val="0065BD"/>
                </a:solidFill>
                <a:latin typeface="Arial"/>
                <a:ea typeface="Arial"/>
                <a:cs typeface="Arial"/>
              </a:rPr>
              <a:t>.apollon file</a:t>
            </a:r>
          </a:p>
        </p:txBody>
      </p:sp>
      <p:sp>
        <p:nvSpPr>
          <p:cNvPr id="16" name="Rectangle 15">
            <a:extLst>
              <a:ext uri="{FF2B5EF4-FFF2-40B4-BE49-F238E27FC236}">
                <a16:creationId xmlns:a16="http://schemas.microsoft.com/office/drawing/2014/main" id="{5CC5AE91-F756-44D9-9789-FF951B6B1138}"/>
              </a:ext>
            </a:extLst>
          </p:cNvPr>
          <p:cNvSpPr>
            <a:spLocks noGrp="1"/>
          </p:cNvSpPr>
          <p:nvPr/>
        </p:nvSpPr>
        <p:spPr>
          <a:xfrm>
            <a:off x="8648700" y="2552700"/>
            <a:ext cx="438150" cy="323850"/>
          </a:xfrm>
          <a:prstGeom prst="rect">
            <a:avLst/>
          </a:prstGeom>
          <a:noFill/>
          <a:ln w="0">
            <a:noFill/>
            <a:prstDash val="solid"/>
          </a:ln>
        </p:spPr>
        <p:txBody>
          <a:bodyPr lIns="0" tIns="0" rIns="0" bIns="0" anchor="t"/>
          <a:lstStyle/>
          <a:p>
            <a:pPr algn="ctr">
              <a:defRPr sz="2100" b="1">
                <a:solidFill>
                  <a:srgbClr val="64A0C8"/>
                </a:solidFill>
                <a:latin typeface="Arial"/>
                <a:ea typeface="Arial"/>
                <a:cs typeface="Arial"/>
              </a:defRPr>
            </a:pPr>
            <a:r>
              <a:rPr sz="2100" b="1">
                <a:solidFill>
                  <a:srgbClr val="64A0C8"/>
                </a:solidFill>
                <a:latin typeface="Arial"/>
                <a:ea typeface="Arial"/>
                <a:cs typeface="Arial"/>
              </a:rPr>
              <a:t>→</a:t>
            </a:r>
          </a:p>
        </p:txBody>
      </p:sp>
      <p:sp>
        <p:nvSpPr>
          <p:cNvPr id="17" name="Rectangle 16">
            <a:extLst>
              <a:ext uri="{FF2B5EF4-FFF2-40B4-BE49-F238E27FC236}">
                <a16:creationId xmlns:a16="http://schemas.microsoft.com/office/drawing/2014/main" id="{780CF334-BC3A-4C66-87D2-2BF9E28518F0}"/>
              </a:ext>
            </a:extLst>
          </p:cNvPr>
          <p:cNvSpPr>
            <a:spLocks noGrp="1"/>
          </p:cNvSpPr>
          <p:nvPr/>
        </p:nvSpPr>
        <p:spPr>
          <a:xfrm>
            <a:off x="9163050" y="2571750"/>
            <a:ext cx="2000250" cy="304800"/>
          </a:xfrm>
          <a:prstGeom prst="rect">
            <a:avLst/>
          </a:prstGeom>
          <a:noFill/>
          <a:ln w="0">
            <a:noFill/>
            <a:prstDash val="solid"/>
          </a:ln>
        </p:spPr>
        <p:txBody>
          <a:bodyPr lIns="0" tIns="0" rIns="0" bIns="0" anchor="t"/>
          <a:lstStyle/>
          <a:p>
            <a:pPr algn="ctr">
              <a:defRPr sz="1350" b="1">
                <a:solidFill>
                  <a:srgbClr val="0065BD"/>
                </a:solidFill>
                <a:latin typeface="Arial"/>
                <a:ea typeface="Arial"/>
                <a:cs typeface="Arial"/>
              </a:defRPr>
            </a:pPr>
            <a:r>
              <a:rPr sz="1350" b="1">
                <a:solidFill>
                  <a:srgbClr val="0065BD"/>
                </a:solidFill>
                <a:latin typeface="Arial"/>
                <a:ea typeface="Arial"/>
                <a:cs typeface="Arial"/>
              </a:rPr>
              <a:t>Maintained renderer</a:t>
            </a:r>
          </a:p>
        </p:txBody>
      </p:sp>
      <p:sp>
        <p:nvSpPr>
          <p:cNvPr id="18" name="Rectangle 17">
            <a:extLst>
              <a:ext uri="{FF2B5EF4-FFF2-40B4-BE49-F238E27FC236}">
                <a16:creationId xmlns:a16="http://schemas.microsoft.com/office/drawing/2014/main" id="{A05F95DE-C4D6-48C9-AFD8-6C568B264F10}"/>
              </a:ext>
            </a:extLst>
          </p:cNvPr>
          <p:cNvSpPr>
            <a:spLocks noGrp="1"/>
          </p:cNvSpPr>
          <p:nvPr/>
        </p:nvSpPr>
        <p:spPr>
          <a:xfrm>
            <a:off x="6724650" y="3333750"/>
            <a:ext cx="4457700" cy="876300"/>
          </a:xfrm>
          <a:prstGeom prst="rect">
            <a:avLst/>
          </a:prstGeom>
          <a:noFill/>
          <a:ln w="0">
            <a:noFill/>
            <a:prstDash val="solid"/>
          </a:ln>
        </p:spPr>
        <p:txBody>
          <a:bodyPr lIns="0" tIns="0" rIns="0" bIns="0" anchor="t"/>
          <a:lstStyle/>
          <a:p>
            <a:pPr algn="ctr">
              <a:defRPr sz="1500" b="0">
                <a:solidFill>
                  <a:srgbClr val="56616B"/>
                </a:solidFill>
                <a:latin typeface="Arial"/>
                <a:ea typeface="Arial"/>
                <a:cs typeface="Arial"/>
              </a:defRPr>
            </a:pPr>
            <a:r>
              <a:rPr sz="1500" b="0">
                <a:solidFill>
                  <a:srgbClr val="56616B"/>
                </a:solidFill>
                <a:latin typeface="Arial"/>
                <a:ea typeface="Arial"/>
                <a:cs typeface="Arial"/>
              </a:rPr>
              <a:t>The extension moved into the Apollon monorepo and now follows the maintained release path.</a:t>
            </a:r>
          </a:p>
        </p:txBody>
      </p:sp>
      <p:sp>
        <p:nvSpPr>
          <p:cNvPr id="19" name="Rectangle 18">
            <a:extLst>
              <a:ext uri="{FF2B5EF4-FFF2-40B4-BE49-F238E27FC236}">
                <a16:creationId xmlns:a16="http://schemas.microsoft.com/office/drawing/2014/main" id="{5719D076-D957-4C0C-B8E4-742A69D77997}"/>
              </a:ext>
            </a:extLst>
          </p:cNvPr>
          <p:cNvSpPr>
            <a:spLocks noGrp="1"/>
          </p:cNvSpPr>
          <p:nvPr/>
        </p:nvSpPr>
        <p:spPr>
          <a:xfrm>
            <a:off x="2286000" y="5867400"/>
            <a:ext cx="7620000" cy="247650"/>
          </a:xfrm>
          <a:prstGeom prst="rect">
            <a:avLst/>
          </a:prstGeom>
          <a:noFill/>
          <a:ln w="0">
            <a:noFill/>
            <a:prstDash val="solid"/>
          </a:ln>
        </p:spPr>
        <p:txBody>
          <a:bodyPr lIns="0" tIns="0" rIns="0" bIns="0" anchor="t"/>
          <a:lstStyle/>
          <a:p>
            <a:pPr algn="ctr">
              <a:defRPr sz="1500" b="1">
                <a:solidFill>
                  <a:srgbClr val="E37222"/>
                </a:solidFill>
                <a:latin typeface="Arial"/>
                <a:ea typeface="Arial"/>
                <a:cs typeface="Arial"/>
              </a:defRPr>
            </a:pPr>
            <a:r>
              <a:rPr sz="1500" b="1">
                <a:solidFill>
                  <a:srgbClr val="E37222"/>
                </a:solidFill>
                <a:latin typeface="Arial"/>
                <a:ea typeface="Arial"/>
                <a:cs typeface="Arial"/>
              </a:rPr>
              <a:t>Same model definitions - different host responsibilities</a:t>
            </a:r>
          </a:p>
        </p:txBody>
      </p:sp>
    </p:spTree>
    <p:extLst>
      <p:ext uri="{BB962C8B-B14F-4D97-AF65-F5344CB8AC3E}">
        <p14:creationId xmlns:p14="http://schemas.microsoft.com/office/powerpoint/2010/main" val="67765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 label">
            <a:extLst>
              <a:ext uri="{FF2B5EF4-FFF2-40B4-BE49-F238E27FC236}">
                <a16:creationId xmlns:a16="http://schemas.microsoft.com/office/drawing/2014/main" id="{9A84D17F-760C-489D-965C-54E376EC77B9}"/>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OBJECTIVE 4 · PORTABILITY</a:t>
            </a:r>
          </a:p>
        </p:txBody>
      </p:sp>
      <p:sp>
        <p:nvSpPr>
          <p:cNvPr id="2" name="Slide title">
            <a:extLst>
              <a:ext uri="{FF2B5EF4-FFF2-40B4-BE49-F238E27FC236}">
                <a16:creationId xmlns:a16="http://schemas.microsoft.com/office/drawing/2014/main" id="{720D60D8-DC2D-4B23-B5B9-E7BD4FAF79FA}"/>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Export now works beyond the browser</a:t>
            </a:r>
          </a:p>
        </p:txBody>
      </p:sp>
      <p:pic>
        <p:nvPicPr>
          <p:cNvPr id="27" name="Picture 26"/>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769419B4-9D28-4CAC-A6EA-72C8AAF2D41E}"/>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72BC1D16-A97D-48BF-B721-C236800FEAE0}"/>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16</a:t>
            </a:r>
          </a:p>
        </p:txBody>
      </p:sp>
      <p:sp>
        <p:nvSpPr>
          <p:cNvPr id="6" name="Footer">
            <a:extLst>
              <a:ext uri="{FF2B5EF4-FFF2-40B4-BE49-F238E27FC236}">
                <a16:creationId xmlns:a16="http://schemas.microsoft.com/office/drawing/2014/main" id="{FD01CB70-2F4A-4B80-B78D-5D399CEADC42}"/>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Straight Connector 6">
            <a:extLst>
              <a:ext uri="{FF2B5EF4-FFF2-40B4-BE49-F238E27FC236}">
                <a16:creationId xmlns:a16="http://schemas.microsoft.com/office/drawing/2014/main" id="{5DBCD820-2E0B-482D-88FC-2DE6CC35E420}"/>
              </a:ext>
            </a:extLst>
          </p:cNvPr>
          <p:cNvSpPr>
            <a:spLocks noGrp="1"/>
          </p:cNvSpPr>
          <p:nvPr/>
        </p:nvSpPr>
        <p:spPr>
          <a:xfrm>
            <a:off x="2762250" y="2886075"/>
            <a:ext cx="1257300" cy="0"/>
          </a:xfrm>
          <a:prstGeom prst="line">
            <a:avLst/>
          </a:prstGeom>
          <a:noFill/>
          <a:ln w="28575">
            <a:solidFill>
              <a:srgbClr val="98C6EA"/>
            </a:solidFill>
            <a:prstDash val="solid"/>
          </a:ln>
        </p:spPr>
        <p:txBody>
          <a:bodyPr/>
          <a:lstStyle/>
          <a:p>
            <a:endParaRPr lang="de-DE"/>
          </a:p>
        </p:txBody>
      </p:sp>
      <p:sp>
        <p:nvSpPr>
          <p:cNvPr id="8" name="Straight Connector 7">
            <a:extLst>
              <a:ext uri="{FF2B5EF4-FFF2-40B4-BE49-F238E27FC236}">
                <a16:creationId xmlns:a16="http://schemas.microsoft.com/office/drawing/2014/main" id="{12282A86-EFE1-4C66-902F-CAF94F5DEBF2}"/>
              </a:ext>
            </a:extLst>
          </p:cNvPr>
          <p:cNvSpPr>
            <a:spLocks noGrp="1"/>
          </p:cNvSpPr>
          <p:nvPr/>
        </p:nvSpPr>
        <p:spPr>
          <a:xfrm>
            <a:off x="5734050" y="2886075"/>
            <a:ext cx="1257300" cy="0"/>
          </a:xfrm>
          <a:prstGeom prst="line">
            <a:avLst/>
          </a:prstGeom>
          <a:noFill/>
          <a:ln w="28575">
            <a:solidFill>
              <a:srgbClr val="98C6EA"/>
            </a:solidFill>
            <a:prstDash val="solid"/>
          </a:ln>
        </p:spPr>
        <p:txBody>
          <a:bodyPr/>
          <a:lstStyle/>
          <a:p>
            <a:endParaRPr lang="de-DE"/>
          </a:p>
        </p:txBody>
      </p:sp>
      <p:sp>
        <p:nvSpPr>
          <p:cNvPr id="9" name="Straight Connector 8">
            <a:extLst>
              <a:ext uri="{FF2B5EF4-FFF2-40B4-BE49-F238E27FC236}">
                <a16:creationId xmlns:a16="http://schemas.microsoft.com/office/drawing/2014/main" id="{2C953F9C-8998-409C-9A9E-C3A75481FDF7}"/>
              </a:ext>
            </a:extLst>
          </p:cNvPr>
          <p:cNvSpPr>
            <a:spLocks noGrp="1"/>
          </p:cNvSpPr>
          <p:nvPr/>
        </p:nvSpPr>
        <p:spPr>
          <a:xfrm>
            <a:off x="8715375" y="2886075"/>
            <a:ext cx="1257300" cy="0"/>
          </a:xfrm>
          <a:prstGeom prst="line">
            <a:avLst/>
          </a:prstGeom>
          <a:noFill/>
          <a:ln w="28575">
            <a:solidFill>
              <a:srgbClr val="98C6EA"/>
            </a:solidFill>
            <a:prstDash val="solid"/>
          </a:ln>
        </p:spPr>
        <p:txBody>
          <a:bodyPr/>
          <a:lstStyle/>
          <a:p>
            <a:endParaRPr lang="de-DE"/>
          </a:p>
        </p:txBody>
      </p:sp>
      <p:sp>
        <p:nvSpPr>
          <p:cNvPr id="10" name="Rectangle: Rounded Corners 9">
            <a:extLst>
              <a:ext uri="{FF2B5EF4-FFF2-40B4-BE49-F238E27FC236}">
                <a16:creationId xmlns:a16="http://schemas.microsoft.com/office/drawing/2014/main" id="{9EE3A065-650F-4831-952E-DA320BAE1174}"/>
              </a:ext>
            </a:extLst>
          </p:cNvPr>
          <p:cNvSpPr>
            <a:spLocks noGrp="1"/>
          </p:cNvSpPr>
          <p:nvPr/>
        </p:nvSpPr>
        <p:spPr>
          <a:xfrm>
            <a:off x="723900" y="2152650"/>
            <a:ext cx="2038350" cy="1466850"/>
          </a:xfrm>
          <a:prstGeom prst="roundRect">
            <a:avLst>
              <a:gd name="adj" fmla="val 7792"/>
            </a:avLst>
          </a:prstGeom>
          <a:solidFill>
            <a:srgbClr val="EAF4FB"/>
          </a:solidFill>
          <a:ln w="11430">
            <a:solidFill>
              <a:srgbClr val="0065BD"/>
            </a:solidFill>
            <a:prstDash val="solid"/>
          </a:ln>
        </p:spPr>
        <p:txBody>
          <a:bodyPr/>
          <a:lstStyle/>
          <a:p>
            <a:endParaRPr lang="de-DE"/>
          </a:p>
        </p:txBody>
      </p:sp>
      <p:sp>
        <p:nvSpPr>
          <p:cNvPr id="11" name="Rectangle 10">
            <a:extLst>
              <a:ext uri="{FF2B5EF4-FFF2-40B4-BE49-F238E27FC236}">
                <a16:creationId xmlns:a16="http://schemas.microsoft.com/office/drawing/2014/main" id="{5940A7F1-1675-41A2-A5B3-EE9177AE8F3B}"/>
              </a:ext>
            </a:extLst>
          </p:cNvPr>
          <p:cNvSpPr>
            <a:spLocks noGrp="1"/>
          </p:cNvSpPr>
          <p:nvPr/>
        </p:nvSpPr>
        <p:spPr>
          <a:xfrm>
            <a:off x="933450" y="2571750"/>
            <a:ext cx="1619250" cy="323850"/>
          </a:xfrm>
          <a:prstGeom prst="rect">
            <a:avLst/>
          </a:prstGeom>
          <a:noFill/>
          <a:ln w="0">
            <a:noFill/>
            <a:prstDash val="solid"/>
          </a:ln>
        </p:spPr>
        <p:txBody>
          <a:bodyPr lIns="0" tIns="0" rIns="0" bIns="0" anchor="t"/>
          <a:lstStyle/>
          <a:p>
            <a:pPr algn="ctr">
              <a:defRPr sz="1800" b="1">
                <a:solidFill>
                  <a:srgbClr val="003359"/>
                </a:solidFill>
                <a:latin typeface="Arial"/>
                <a:ea typeface="Arial"/>
                <a:cs typeface="Arial"/>
              </a:defRPr>
            </a:pPr>
            <a:r>
              <a:rPr sz="1800" b="1">
                <a:solidFill>
                  <a:srgbClr val="003359"/>
                </a:solidFill>
                <a:latin typeface="Arial"/>
                <a:ea typeface="Arial"/>
                <a:cs typeface="Arial"/>
              </a:rPr>
              <a:t>Diagram model</a:t>
            </a:r>
          </a:p>
        </p:txBody>
      </p:sp>
      <p:sp>
        <p:nvSpPr>
          <p:cNvPr id="12" name="Rectangle 11">
            <a:extLst>
              <a:ext uri="{FF2B5EF4-FFF2-40B4-BE49-F238E27FC236}">
                <a16:creationId xmlns:a16="http://schemas.microsoft.com/office/drawing/2014/main" id="{86225CE4-0A6F-4687-8D5D-8B15CA440897}"/>
              </a:ext>
            </a:extLst>
          </p:cNvPr>
          <p:cNvSpPr>
            <a:spLocks noGrp="1"/>
          </p:cNvSpPr>
          <p:nvPr/>
        </p:nvSpPr>
        <p:spPr>
          <a:xfrm>
            <a:off x="933450" y="3048000"/>
            <a:ext cx="1619250" cy="247650"/>
          </a:xfrm>
          <a:prstGeom prst="rect">
            <a:avLst/>
          </a:prstGeom>
          <a:noFill/>
          <a:ln w="0">
            <a:noFill/>
            <a:prstDash val="solid"/>
          </a:ln>
        </p:spPr>
        <p:txBody>
          <a:bodyPr lIns="0" tIns="0" rIns="0" bIns="0" anchor="t"/>
          <a:lstStyle/>
          <a:p>
            <a:pPr algn="ctr">
              <a:defRPr sz="1200" b="0">
                <a:solidFill>
                  <a:srgbClr val="56616B"/>
                </a:solidFill>
                <a:latin typeface="Arial"/>
                <a:ea typeface="Arial"/>
                <a:cs typeface="Arial"/>
              </a:defRPr>
            </a:pPr>
            <a:r>
              <a:rPr sz="1200" b="0">
                <a:solidFill>
                  <a:srgbClr val="56616B"/>
                </a:solidFill>
                <a:latin typeface="Arial"/>
                <a:ea typeface="Arial"/>
                <a:cs typeface="Arial"/>
              </a:rPr>
              <a:t>Editable source</a:t>
            </a:r>
          </a:p>
        </p:txBody>
      </p:sp>
      <p:sp>
        <p:nvSpPr>
          <p:cNvPr id="13" name="Rectangle: Rounded Corners 12">
            <a:extLst>
              <a:ext uri="{FF2B5EF4-FFF2-40B4-BE49-F238E27FC236}">
                <a16:creationId xmlns:a16="http://schemas.microsoft.com/office/drawing/2014/main" id="{A159657B-CF77-4A5D-8244-5E498C156546}"/>
              </a:ext>
            </a:extLst>
          </p:cNvPr>
          <p:cNvSpPr>
            <a:spLocks noGrp="1"/>
          </p:cNvSpPr>
          <p:nvPr/>
        </p:nvSpPr>
        <p:spPr>
          <a:xfrm>
            <a:off x="4019550" y="2152650"/>
            <a:ext cx="1714500" cy="1466850"/>
          </a:xfrm>
          <a:prstGeom prst="roundRect">
            <a:avLst>
              <a:gd name="adj" fmla="val 7792"/>
            </a:avLst>
          </a:prstGeom>
          <a:solidFill>
            <a:srgbClr val="FFFFFF"/>
          </a:solidFill>
          <a:ln w="11430">
            <a:solidFill>
              <a:srgbClr val="64A0C8"/>
            </a:solidFill>
            <a:prstDash val="solid"/>
          </a:ln>
        </p:spPr>
        <p:txBody>
          <a:bodyPr/>
          <a:lstStyle/>
          <a:p>
            <a:endParaRPr lang="de-DE"/>
          </a:p>
        </p:txBody>
      </p:sp>
      <p:sp>
        <p:nvSpPr>
          <p:cNvPr id="14" name="Rectangle 13">
            <a:extLst>
              <a:ext uri="{FF2B5EF4-FFF2-40B4-BE49-F238E27FC236}">
                <a16:creationId xmlns:a16="http://schemas.microsoft.com/office/drawing/2014/main" id="{E3287EC2-7C5D-46FC-8953-BF172D547E4B}"/>
              </a:ext>
            </a:extLst>
          </p:cNvPr>
          <p:cNvSpPr>
            <a:spLocks noGrp="1"/>
          </p:cNvSpPr>
          <p:nvPr/>
        </p:nvSpPr>
        <p:spPr>
          <a:xfrm>
            <a:off x="4229100" y="2571750"/>
            <a:ext cx="1295400" cy="323850"/>
          </a:xfrm>
          <a:prstGeom prst="rect">
            <a:avLst/>
          </a:prstGeom>
          <a:noFill/>
          <a:ln w="0">
            <a:noFill/>
            <a:prstDash val="solid"/>
          </a:ln>
        </p:spPr>
        <p:txBody>
          <a:bodyPr lIns="0" tIns="0" rIns="0" bIns="0" anchor="t"/>
          <a:lstStyle/>
          <a:p>
            <a:pPr algn="ctr">
              <a:defRPr sz="1800" b="1">
                <a:solidFill>
                  <a:srgbClr val="003359"/>
                </a:solidFill>
                <a:latin typeface="Arial"/>
                <a:ea typeface="Arial"/>
                <a:cs typeface="Arial"/>
              </a:defRPr>
            </a:pPr>
            <a:r>
              <a:rPr sz="1800" b="1">
                <a:solidFill>
                  <a:srgbClr val="003359"/>
                </a:solidFill>
                <a:latin typeface="Arial"/>
                <a:ea typeface="Arial"/>
                <a:cs typeface="Arial"/>
              </a:rPr>
              <a:t>Renderer</a:t>
            </a:r>
          </a:p>
        </p:txBody>
      </p:sp>
      <p:sp>
        <p:nvSpPr>
          <p:cNvPr id="15" name="Rectangle 14">
            <a:extLst>
              <a:ext uri="{FF2B5EF4-FFF2-40B4-BE49-F238E27FC236}">
                <a16:creationId xmlns:a16="http://schemas.microsoft.com/office/drawing/2014/main" id="{2E074F59-E904-4500-A160-11C6F941F939}"/>
              </a:ext>
            </a:extLst>
          </p:cNvPr>
          <p:cNvSpPr>
            <a:spLocks noGrp="1"/>
          </p:cNvSpPr>
          <p:nvPr/>
        </p:nvSpPr>
        <p:spPr>
          <a:xfrm>
            <a:off x="4210050" y="3028950"/>
            <a:ext cx="1333500" cy="342900"/>
          </a:xfrm>
          <a:prstGeom prst="rect">
            <a:avLst/>
          </a:prstGeom>
          <a:noFill/>
          <a:ln w="0">
            <a:noFill/>
            <a:prstDash val="solid"/>
          </a:ln>
        </p:spPr>
        <p:txBody>
          <a:bodyPr lIns="0" tIns="0" rIns="0" bIns="0" anchor="t"/>
          <a:lstStyle/>
          <a:p>
            <a:pPr algn="ctr">
              <a:defRPr sz="1050" b="0">
                <a:solidFill>
                  <a:srgbClr val="56616B"/>
                </a:solidFill>
                <a:latin typeface="Arial"/>
                <a:ea typeface="Arial"/>
                <a:cs typeface="Arial"/>
              </a:defRPr>
            </a:pPr>
            <a:r>
              <a:rPr sz="1050" b="0">
                <a:solidFill>
                  <a:srgbClr val="56616B"/>
                </a:solidFill>
                <a:latin typeface="Arial"/>
                <a:ea typeface="Arial"/>
                <a:cs typeface="Arial"/>
              </a:rPr>
              <a:t>Bounds · labels · shapes</a:t>
            </a:r>
          </a:p>
        </p:txBody>
      </p:sp>
      <p:sp>
        <p:nvSpPr>
          <p:cNvPr id="16" name="Rectangle: Rounded Corners 15">
            <a:extLst>
              <a:ext uri="{FF2B5EF4-FFF2-40B4-BE49-F238E27FC236}">
                <a16:creationId xmlns:a16="http://schemas.microsoft.com/office/drawing/2014/main" id="{B3EC4945-39C1-4ABB-A56A-28CF492473C5}"/>
              </a:ext>
            </a:extLst>
          </p:cNvPr>
          <p:cNvSpPr>
            <a:spLocks noGrp="1"/>
          </p:cNvSpPr>
          <p:nvPr/>
        </p:nvSpPr>
        <p:spPr>
          <a:xfrm>
            <a:off x="6991350" y="2152650"/>
            <a:ext cx="1724025" cy="1466850"/>
          </a:xfrm>
          <a:prstGeom prst="roundRect">
            <a:avLst>
              <a:gd name="adj" fmla="val 7792"/>
            </a:avLst>
          </a:prstGeom>
          <a:solidFill>
            <a:srgbClr val="FFF1E7"/>
          </a:solidFill>
          <a:ln w="11430">
            <a:solidFill>
              <a:srgbClr val="E37222"/>
            </a:solidFill>
            <a:prstDash val="solid"/>
          </a:ln>
        </p:spPr>
        <p:txBody>
          <a:bodyPr/>
          <a:lstStyle/>
          <a:p>
            <a:endParaRPr lang="de-DE"/>
          </a:p>
        </p:txBody>
      </p:sp>
      <p:sp>
        <p:nvSpPr>
          <p:cNvPr id="17" name="Rectangle 16">
            <a:extLst>
              <a:ext uri="{FF2B5EF4-FFF2-40B4-BE49-F238E27FC236}">
                <a16:creationId xmlns:a16="http://schemas.microsoft.com/office/drawing/2014/main" id="{72FA2825-D999-4889-BA60-F6FC647B7042}"/>
              </a:ext>
            </a:extLst>
          </p:cNvPr>
          <p:cNvSpPr>
            <a:spLocks noGrp="1"/>
          </p:cNvSpPr>
          <p:nvPr/>
        </p:nvSpPr>
        <p:spPr>
          <a:xfrm>
            <a:off x="7181850" y="2571750"/>
            <a:ext cx="1343025" cy="323850"/>
          </a:xfrm>
          <a:prstGeom prst="rect">
            <a:avLst/>
          </a:prstGeom>
          <a:noFill/>
          <a:ln w="0">
            <a:noFill/>
            <a:prstDash val="solid"/>
          </a:ln>
        </p:spPr>
        <p:txBody>
          <a:bodyPr lIns="0" tIns="0" rIns="0" bIns="0" anchor="t"/>
          <a:lstStyle/>
          <a:p>
            <a:pPr algn="ctr">
              <a:defRPr sz="1800" b="1">
                <a:solidFill>
                  <a:srgbClr val="003359"/>
                </a:solidFill>
                <a:latin typeface="Arial"/>
                <a:ea typeface="Arial"/>
                <a:cs typeface="Arial"/>
              </a:defRPr>
            </a:pPr>
            <a:r>
              <a:rPr sz="1800" b="1">
                <a:solidFill>
                  <a:srgbClr val="003359"/>
                </a:solidFill>
                <a:latin typeface="Arial"/>
                <a:ea typeface="Arial"/>
                <a:cs typeface="Arial"/>
              </a:rPr>
              <a:t>Server path</a:t>
            </a:r>
          </a:p>
        </p:txBody>
      </p:sp>
      <p:sp>
        <p:nvSpPr>
          <p:cNvPr id="18" name="Rectangle 17">
            <a:extLst>
              <a:ext uri="{FF2B5EF4-FFF2-40B4-BE49-F238E27FC236}">
                <a16:creationId xmlns:a16="http://schemas.microsoft.com/office/drawing/2014/main" id="{CDFF7118-F1A2-4A96-A2B7-77AE3DB75A8C}"/>
              </a:ext>
            </a:extLst>
          </p:cNvPr>
          <p:cNvSpPr>
            <a:spLocks noGrp="1"/>
          </p:cNvSpPr>
          <p:nvPr/>
        </p:nvSpPr>
        <p:spPr>
          <a:xfrm>
            <a:off x="7162800" y="3028950"/>
            <a:ext cx="1381125" cy="342900"/>
          </a:xfrm>
          <a:prstGeom prst="rect">
            <a:avLst/>
          </a:prstGeom>
          <a:noFill/>
          <a:ln w="0">
            <a:noFill/>
            <a:prstDash val="solid"/>
          </a:ln>
        </p:spPr>
        <p:txBody>
          <a:bodyPr lIns="0" tIns="0" rIns="0" bIns="0" anchor="t"/>
          <a:lstStyle/>
          <a:p>
            <a:pPr algn="ctr">
              <a:defRPr sz="1050" b="0">
                <a:solidFill>
                  <a:srgbClr val="56616B"/>
                </a:solidFill>
                <a:latin typeface="Arial"/>
                <a:ea typeface="Arial"/>
                <a:cs typeface="Arial"/>
              </a:defRPr>
            </a:pPr>
            <a:r>
              <a:rPr sz="1050" b="0">
                <a:solidFill>
                  <a:srgbClr val="56616B"/>
                </a:solidFill>
                <a:latin typeface="Arial"/>
                <a:ea typeface="Arial"/>
                <a:cs typeface="Arial"/>
              </a:rPr>
              <a:t>JSDOM + React Flow</a:t>
            </a:r>
          </a:p>
        </p:txBody>
      </p:sp>
      <p:sp>
        <p:nvSpPr>
          <p:cNvPr id="19" name="Rectangle: Rounded Corners 18">
            <a:extLst>
              <a:ext uri="{FF2B5EF4-FFF2-40B4-BE49-F238E27FC236}">
                <a16:creationId xmlns:a16="http://schemas.microsoft.com/office/drawing/2014/main" id="{3709166E-F7C7-4BA3-AA40-D725EB37CB0A}"/>
              </a:ext>
            </a:extLst>
          </p:cNvPr>
          <p:cNvSpPr>
            <a:spLocks noGrp="1"/>
          </p:cNvSpPr>
          <p:nvPr/>
        </p:nvSpPr>
        <p:spPr>
          <a:xfrm>
            <a:off x="9972675" y="2000250"/>
            <a:ext cx="1600200" cy="1771650"/>
          </a:xfrm>
          <a:prstGeom prst="roundRect">
            <a:avLst>
              <a:gd name="adj" fmla="val 7143"/>
            </a:avLst>
          </a:prstGeom>
          <a:solidFill>
            <a:srgbClr val="F1F5DA"/>
          </a:solidFill>
          <a:ln w="11430">
            <a:solidFill>
              <a:srgbClr val="A2AD00"/>
            </a:solidFill>
            <a:prstDash val="solid"/>
          </a:ln>
        </p:spPr>
        <p:txBody>
          <a:bodyPr/>
          <a:lstStyle/>
          <a:p>
            <a:endParaRPr lang="de-DE"/>
          </a:p>
        </p:txBody>
      </p:sp>
      <p:sp>
        <p:nvSpPr>
          <p:cNvPr id="20" name="Rectangle 19">
            <a:extLst>
              <a:ext uri="{FF2B5EF4-FFF2-40B4-BE49-F238E27FC236}">
                <a16:creationId xmlns:a16="http://schemas.microsoft.com/office/drawing/2014/main" id="{7ACB749C-CBB5-4DF5-A6C8-5D2CEAA712CD}"/>
              </a:ext>
            </a:extLst>
          </p:cNvPr>
          <p:cNvSpPr>
            <a:spLocks noGrp="1"/>
          </p:cNvSpPr>
          <p:nvPr/>
        </p:nvSpPr>
        <p:spPr>
          <a:xfrm>
            <a:off x="10201275" y="2209800"/>
            <a:ext cx="1143000" cy="1381125"/>
          </a:xfrm>
          <a:prstGeom prst="rect">
            <a:avLst/>
          </a:prstGeom>
          <a:noFill/>
          <a:ln w="0">
            <a:noFill/>
            <a:prstDash val="solid"/>
          </a:ln>
        </p:spPr>
        <p:txBody>
          <a:bodyPr lIns="0" tIns="0" rIns="0" bIns="0" anchor="ctr"/>
          <a:lstStyle/>
          <a:p>
            <a:pPr algn="ctr">
              <a:defRPr sz="1650" b="1">
                <a:solidFill>
                  <a:srgbClr val="003359"/>
                </a:solidFill>
                <a:latin typeface="Arial"/>
                <a:ea typeface="Arial"/>
                <a:cs typeface="Arial"/>
              </a:defRPr>
            </a:pPr>
            <a:r>
              <a:rPr sz="1650" b="1">
                <a:solidFill>
                  <a:srgbClr val="003359"/>
                </a:solidFill>
                <a:latin typeface="Arial"/>
                <a:ea typeface="Arial"/>
                <a:cs typeface="Arial"/>
              </a:rPr>
              <a:t>SVG</a:t>
            </a:r>
          </a:p>
          <a:p>
            <a:pPr algn="ctr">
              <a:defRPr sz="1650" b="1">
                <a:solidFill>
                  <a:srgbClr val="003359"/>
                </a:solidFill>
                <a:latin typeface="Arial"/>
                <a:ea typeface="Arial"/>
                <a:cs typeface="Arial"/>
              </a:defRPr>
            </a:pPr>
            <a:r>
              <a:rPr sz="1650" b="1">
                <a:solidFill>
                  <a:srgbClr val="003359"/>
                </a:solidFill>
                <a:latin typeface="Arial"/>
                <a:ea typeface="Arial"/>
                <a:cs typeface="Arial"/>
              </a:rPr>
              <a:t>PNG</a:t>
            </a:r>
          </a:p>
          <a:p>
            <a:pPr algn="ctr">
              <a:defRPr sz="1650" b="1">
                <a:solidFill>
                  <a:srgbClr val="003359"/>
                </a:solidFill>
                <a:latin typeface="Arial"/>
                <a:ea typeface="Arial"/>
                <a:cs typeface="Arial"/>
              </a:defRPr>
            </a:pPr>
            <a:r>
              <a:rPr sz="1650" b="1">
                <a:solidFill>
                  <a:srgbClr val="003359"/>
                </a:solidFill>
                <a:latin typeface="Arial"/>
                <a:ea typeface="Arial"/>
                <a:cs typeface="Arial"/>
              </a:rPr>
              <a:t>PDF</a:t>
            </a:r>
          </a:p>
          <a:p>
            <a:pPr algn="ctr">
              <a:defRPr sz="1650" b="1">
                <a:solidFill>
                  <a:srgbClr val="003359"/>
                </a:solidFill>
                <a:latin typeface="Arial"/>
                <a:ea typeface="Arial"/>
                <a:cs typeface="Arial"/>
              </a:defRPr>
            </a:pPr>
            <a:r>
              <a:rPr sz="1650" b="1">
                <a:solidFill>
                  <a:srgbClr val="003359"/>
                </a:solidFill>
                <a:latin typeface="Arial"/>
                <a:ea typeface="Arial"/>
                <a:cs typeface="Arial"/>
              </a:rPr>
              <a:t>PPTX</a:t>
            </a:r>
          </a:p>
          <a:p>
            <a:pPr algn="ctr">
              <a:defRPr sz="1650" b="1">
                <a:solidFill>
                  <a:srgbClr val="003359"/>
                </a:solidFill>
                <a:latin typeface="Arial"/>
                <a:ea typeface="Arial"/>
                <a:cs typeface="Arial"/>
              </a:defRPr>
            </a:pPr>
            <a:r>
              <a:rPr sz="1650" b="1">
                <a:solidFill>
                  <a:srgbClr val="003359"/>
                </a:solidFill>
                <a:latin typeface="Arial"/>
                <a:ea typeface="Arial"/>
                <a:cs typeface="Arial"/>
              </a:rPr>
              <a:t>JSON</a:t>
            </a:r>
          </a:p>
        </p:txBody>
      </p:sp>
      <p:sp>
        <p:nvSpPr>
          <p:cNvPr id="21" name="Rectangle 20">
            <a:extLst>
              <a:ext uri="{FF2B5EF4-FFF2-40B4-BE49-F238E27FC236}">
                <a16:creationId xmlns:a16="http://schemas.microsoft.com/office/drawing/2014/main" id="{9BDBA914-C41C-4036-97BC-F2BE3E8AB018}"/>
              </a:ext>
            </a:extLst>
          </p:cNvPr>
          <p:cNvSpPr>
            <a:spLocks noGrp="1"/>
          </p:cNvSpPr>
          <p:nvPr/>
        </p:nvSpPr>
        <p:spPr>
          <a:xfrm>
            <a:off x="990600" y="4476750"/>
            <a:ext cx="2571750" cy="285750"/>
          </a:xfrm>
          <a:prstGeom prst="rect">
            <a:avLst/>
          </a:prstGeom>
          <a:noFill/>
          <a:ln w="0">
            <a:noFill/>
            <a:prstDash val="solid"/>
          </a:ln>
        </p:spPr>
        <p:txBody>
          <a:bodyPr lIns="0" tIns="0" rIns="0" bIns="0" anchor="t"/>
          <a:lstStyle/>
          <a:p>
            <a:pPr algn="l">
              <a:defRPr sz="1725" b="1">
                <a:solidFill>
                  <a:srgbClr val="003359"/>
                </a:solidFill>
                <a:latin typeface="Arial"/>
                <a:ea typeface="Arial"/>
                <a:cs typeface="Arial"/>
              </a:defRPr>
            </a:pPr>
            <a:r>
              <a:rPr sz="1725" b="1">
                <a:solidFill>
                  <a:srgbClr val="003359"/>
                </a:solidFill>
                <a:latin typeface="Arial"/>
                <a:ea typeface="Arial"/>
                <a:cs typeface="Arial"/>
              </a:rPr>
              <a:t>Compatibility work</a:t>
            </a:r>
          </a:p>
        </p:txBody>
      </p:sp>
      <p:sp>
        <p:nvSpPr>
          <p:cNvPr id="22" name="Rectangle 21">
            <a:extLst>
              <a:ext uri="{FF2B5EF4-FFF2-40B4-BE49-F238E27FC236}">
                <a16:creationId xmlns:a16="http://schemas.microsoft.com/office/drawing/2014/main" id="{B4E0817A-BF11-4BDB-AB7B-BE3CCEF6F3FA}"/>
              </a:ext>
            </a:extLst>
          </p:cNvPr>
          <p:cNvSpPr>
            <a:spLocks noGrp="1"/>
          </p:cNvSpPr>
          <p:nvPr/>
        </p:nvSpPr>
        <p:spPr>
          <a:xfrm>
            <a:off x="990600" y="4895850"/>
            <a:ext cx="4095750" cy="55245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Web/compat SVG modes · CSS variables · fallback colors</a:t>
            </a:r>
          </a:p>
        </p:txBody>
      </p:sp>
      <p:sp>
        <p:nvSpPr>
          <p:cNvPr id="23" name="Rectangle 22">
            <a:extLst>
              <a:ext uri="{FF2B5EF4-FFF2-40B4-BE49-F238E27FC236}">
                <a16:creationId xmlns:a16="http://schemas.microsoft.com/office/drawing/2014/main" id="{826F48D4-7F2C-4CA4-99E0-47063158B079}"/>
              </a:ext>
            </a:extLst>
          </p:cNvPr>
          <p:cNvSpPr>
            <a:spLocks noGrp="1"/>
          </p:cNvSpPr>
          <p:nvPr/>
        </p:nvSpPr>
        <p:spPr>
          <a:xfrm>
            <a:off x="5753100" y="4476750"/>
            <a:ext cx="2571750" cy="285750"/>
          </a:xfrm>
          <a:prstGeom prst="rect">
            <a:avLst/>
          </a:prstGeom>
          <a:noFill/>
          <a:ln w="0">
            <a:noFill/>
            <a:prstDash val="solid"/>
          </a:ln>
        </p:spPr>
        <p:txBody>
          <a:bodyPr lIns="0" tIns="0" rIns="0" bIns="0" anchor="t"/>
          <a:lstStyle/>
          <a:p>
            <a:pPr algn="l">
              <a:defRPr sz="1725" b="1">
                <a:solidFill>
                  <a:srgbClr val="003359"/>
                </a:solidFill>
                <a:latin typeface="Arial"/>
                <a:ea typeface="Arial"/>
                <a:cs typeface="Arial"/>
              </a:defRPr>
            </a:pPr>
            <a:r>
              <a:rPr sz="1725" b="1">
                <a:solidFill>
                  <a:srgbClr val="003359"/>
                </a:solidFill>
                <a:latin typeface="Arial"/>
                <a:ea typeface="Arial"/>
                <a:cs typeface="Arial"/>
              </a:rPr>
              <a:t>Rendering correctness</a:t>
            </a:r>
          </a:p>
        </p:txBody>
      </p:sp>
      <p:sp>
        <p:nvSpPr>
          <p:cNvPr id="24" name="Rectangle 23">
            <a:extLst>
              <a:ext uri="{FF2B5EF4-FFF2-40B4-BE49-F238E27FC236}">
                <a16:creationId xmlns:a16="http://schemas.microsoft.com/office/drawing/2014/main" id="{EC35FF58-EEF9-461C-ADC4-86E6ECE69A50}"/>
              </a:ext>
            </a:extLst>
          </p:cNvPr>
          <p:cNvSpPr>
            <a:spLocks noGrp="1"/>
          </p:cNvSpPr>
          <p:nvPr/>
        </p:nvSpPr>
        <p:spPr>
          <a:xfrm>
            <a:off x="5753100" y="4895850"/>
            <a:ext cx="4953000" cy="55245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Text bounds · clipping · markers · class/SFC/Petri-net fixes · visual snapshots</a:t>
            </a:r>
          </a:p>
        </p:txBody>
      </p:sp>
    </p:spTree>
    <p:extLst>
      <p:ext uri="{BB962C8B-B14F-4D97-AF65-F5344CB8AC3E}">
        <p14:creationId xmlns:p14="http://schemas.microsoft.com/office/powerpoint/2010/main" val="454718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ection label">
            <a:extLst>
              <a:ext uri="{FF2B5EF4-FFF2-40B4-BE49-F238E27FC236}">
                <a16:creationId xmlns:a16="http://schemas.microsoft.com/office/drawing/2014/main" id="{BA0CEBF7-8FA8-48E1-8484-7817071121A6}"/>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EVALUATION</a:t>
            </a:r>
          </a:p>
        </p:txBody>
      </p:sp>
      <p:sp>
        <p:nvSpPr>
          <p:cNvPr id="2" name="Slide title">
            <a:extLst>
              <a:ext uri="{FF2B5EF4-FFF2-40B4-BE49-F238E27FC236}">
                <a16:creationId xmlns:a16="http://schemas.microsoft.com/office/drawing/2014/main" id="{1A7D2DD2-06A5-410C-809F-87F1CF8537F8}"/>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Feedback supports the direction - not a measured gain</a:t>
            </a:r>
          </a:p>
        </p:txBody>
      </p:sp>
      <p:pic>
        <p:nvPicPr>
          <p:cNvPr id="17" name="Picture 16"/>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C2842FA8-9967-4C3C-A1E8-28B666DA332E}"/>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0F1DF4B3-E8B9-49B7-85FE-3189061ABAC7}"/>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17</a:t>
            </a:r>
          </a:p>
        </p:txBody>
      </p:sp>
      <p:sp>
        <p:nvSpPr>
          <p:cNvPr id="6" name="Footer">
            <a:extLst>
              <a:ext uri="{FF2B5EF4-FFF2-40B4-BE49-F238E27FC236}">
                <a16:creationId xmlns:a16="http://schemas.microsoft.com/office/drawing/2014/main" id="{E96228BD-1216-4C3A-9159-47BDF818FAB5}"/>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9C2BCA55-1094-487D-B5AA-1B127AAFED90}"/>
              </a:ext>
            </a:extLst>
          </p:cNvPr>
          <p:cNvSpPr>
            <a:spLocks noGrp="1"/>
          </p:cNvSpPr>
          <p:nvPr/>
        </p:nvSpPr>
        <p:spPr>
          <a:xfrm>
            <a:off x="628650" y="1485900"/>
            <a:ext cx="5219700" cy="3962400"/>
          </a:xfrm>
          <a:prstGeom prst="roundRect">
            <a:avLst>
              <a:gd name="adj" fmla="val 2885"/>
            </a:avLst>
          </a:prstGeom>
          <a:solidFill>
            <a:srgbClr val="F1F5DA"/>
          </a:solidFill>
          <a:ln w="11430">
            <a:solidFill>
              <a:srgbClr val="A2AD00"/>
            </a:solidFill>
            <a:prstDash val="solid"/>
          </a:ln>
        </p:spPr>
        <p:txBody>
          <a:bodyPr/>
          <a:lstStyle/>
          <a:p>
            <a:endParaRPr lang="de-DE"/>
          </a:p>
        </p:txBody>
      </p:sp>
      <p:sp>
        <p:nvSpPr>
          <p:cNvPr id="8" name="Rectangle: Rounded Corners 7">
            <a:extLst>
              <a:ext uri="{FF2B5EF4-FFF2-40B4-BE49-F238E27FC236}">
                <a16:creationId xmlns:a16="http://schemas.microsoft.com/office/drawing/2014/main" id="{FD06B351-E766-408A-9767-04CB37269EC9}"/>
              </a:ext>
            </a:extLst>
          </p:cNvPr>
          <p:cNvSpPr>
            <a:spLocks noGrp="1"/>
          </p:cNvSpPr>
          <p:nvPr/>
        </p:nvSpPr>
        <p:spPr>
          <a:xfrm>
            <a:off x="6343650" y="1485900"/>
            <a:ext cx="5219700" cy="3962400"/>
          </a:xfrm>
          <a:prstGeom prst="roundRect">
            <a:avLst>
              <a:gd name="adj" fmla="val 2885"/>
            </a:avLst>
          </a:prstGeom>
          <a:solidFill>
            <a:srgbClr val="FFF1E7"/>
          </a:solidFill>
          <a:ln w="11430">
            <a:solidFill>
              <a:srgbClr val="E37222"/>
            </a:solidFill>
            <a:prstDash val="solid"/>
          </a:ln>
        </p:spPr>
        <p:txBody>
          <a:bodyPr/>
          <a:lstStyle/>
          <a:p>
            <a:endParaRPr lang="de-DE"/>
          </a:p>
        </p:txBody>
      </p:sp>
      <p:sp>
        <p:nvSpPr>
          <p:cNvPr id="9" name="Rectangle 8">
            <a:extLst>
              <a:ext uri="{FF2B5EF4-FFF2-40B4-BE49-F238E27FC236}">
                <a16:creationId xmlns:a16="http://schemas.microsoft.com/office/drawing/2014/main" id="{A5C258FE-CC88-48BE-8F42-5DE3A195269E}"/>
              </a:ext>
            </a:extLst>
          </p:cNvPr>
          <p:cNvSpPr>
            <a:spLocks noGrp="1"/>
          </p:cNvSpPr>
          <p:nvPr/>
        </p:nvSpPr>
        <p:spPr>
          <a:xfrm>
            <a:off x="971550" y="1809750"/>
            <a:ext cx="4476750" cy="342900"/>
          </a:xfrm>
          <a:prstGeom prst="rect">
            <a:avLst/>
          </a:prstGeom>
          <a:noFill/>
          <a:ln w="0">
            <a:noFill/>
            <a:prstDash val="solid"/>
          </a:ln>
        </p:spPr>
        <p:txBody>
          <a:bodyPr lIns="0" tIns="0" rIns="0" bIns="0" anchor="t"/>
          <a:lstStyle/>
          <a:p>
            <a:pPr algn="l">
              <a:defRPr sz="2100" b="1">
                <a:solidFill>
                  <a:srgbClr val="003359"/>
                </a:solidFill>
                <a:latin typeface="Arial"/>
                <a:ea typeface="Arial"/>
                <a:cs typeface="Arial"/>
              </a:defRPr>
            </a:pPr>
            <a:r>
              <a:rPr sz="2100" b="1">
                <a:solidFill>
                  <a:srgbClr val="003359"/>
                </a:solidFill>
                <a:latin typeface="Arial"/>
                <a:ea typeface="Arial"/>
                <a:cs typeface="Arial"/>
              </a:rPr>
              <a:t>What users valued</a:t>
            </a:r>
          </a:p>
        </p:txBody>
      </p:sp>
      <p:sp>
        <p:nvSpPr>
          <p:cNvPr id="10" name="Rectangle 9">
            <a:extLst>
              <a:ext uri="{FF2B5EF4-FFF2-40B4-BE49-F238E27FC236}">
                <a16:creationId xmlns:a16="http://schemas.microsoft.com/office/drawing/2014/main" id="{632FBF76-0E9C-4617-A7F8-4D92EBF7A7EA}"/>
              </a:ext>
            </a:extLst>
          </p:cNvPr>
          <p:cNvSpPr>
            <a:spLocks noGrp="1"/>
          </p:cNvSpPr>
          <p:nvPr/>
        </p:nvSpPr>
        <p:spPr>
          <a:xfrm>
            <a:off x="990600" y="2419350"/>
            <a:ext cx="4286250" cy="1885950"/>
          </a:xfrm>
          <a:prstGeom prst="rect">
            <a:avLst/>
          </a:prstGeom>
          <a:noFill/>
          <a:ln w="0">
            <a:noFill/>
            <a:prstDash val="solid"/>
          </a:ln>
        </p:spPr>
        <p:txBody>
          <a:bodyPr lIns="0" tIns="0" rIns="0" bIns="0" anchor="t"/>
          <a:lstStyle/>
          <a:p>
            <a:pPr algn="l">
              <a:defRPr sz="1575" b="0">
                <a:solidFill>
                  <a:srgbClr val="56616B"/>
                </a:solidFill>
                <a:latin typeface="Arial"/>
                <a:ea typeface="Arial"/>
                <a:cs typeface="Arial"/>
              </a:defRPr>
            </a:pPr>
            <a:r>
              <a:rPr sz="1575" b="0">
                <a:solidFill>
                  <a:srgbClr val="56616B"/>
                </a:solidFill>
                <a:latin typeface="Arial"/>
                <a:ea typeface="Arial"/>
                <a:cs typeface="Arial"/>
              </a:rPr>
              <a:t>Line jumps and edge readability</a:t>
            </a:r>
          </a:p>
          <a:p>
            <a:pPr algn="l">
              <a:defRPr sz="1575" b="0">
                <a:solidFill>
                  <a:srgbClr val="56616B"/>
                </a:solidFill>
                <a:latin typeface="Arial"/>
                <a:ea typeface="Arial"/>
                <a:cs typeface="Arial"/>
              </a:defRPr>
            </a:pPr>
            <a:r>
              <a:rPr sz="1575" b="0">
                <a:solidFill>
                  <a:srgbClr val="56616B"/>
                </a:solidFill>
                <a:latin typeface="Arial"/>
                <a:ea typeface="Arial"/>
                <a:cs typeface="Arial"/>
              </a:rPr>
              <a:t>Collaboration awareness</a:t>
            </a:r>
          </a:p>
          <a:p>
            <a:pPr algn="l">
              <a:defRPr sz="1575" b="0">
                <a:solidFill>
                  <a:srgbClr val="56616B"/>
                </a:solidFill>
                <a:latin typeface="Arial"/>
                <a:ea typeface="Arial"/>
                <a:cs typeface="Arial"/>
              </a:defRPr>
            </a:pPr>
            <a:r>
              <a:rPr sz="1575" b="0">
                <a:solidFill>
                  <a:srgbClr val="56616B"/>
                </a:solidFill>
                <a:latin typeface="Arial"/>
                <a:ea typeface="Arial"/>
                <a:cs typeface="Arial"/>
              </a:rPr>
              <a:t>Export reliability</a:t>
            </a:r>
          </a:p>
          <a:p>
            <a:pPr algn="l">
              <a:defRPr sz="1575" b="0">
                <a:solidFill>
                  <a:srgbClr val="56616B"/>
                </a:solidFill>
                <a:latin typeface="Arial"/>
                <a:ea typeface="Arial"/>
                <a:cs typeface="Arial"/>
              </a:defRPr>
            </a:pPr>
            <a:r>
              <a:rPr sz="1575" b="0">
                <a:solidFill>
                  <a:srgbClr val="56616B"/>
                </a:solidFill>
                <a:latin typeface="Arial"/>
                <a:ea typeface="Arial"/>
                <a:cs typeface="Arial"/>
              </a:rPr>
              <a:t>Standalone navigation and diagram management</a:t>
            </a:r>
          </a:p>
        </p:txBody>
      </p:sp>
      <p:sp>
        <p:nvSpPr>
          <p:cNvPr id="11" name="Rectangle 10">
            <a:extLst>
              <a:ext uri="{FF2B5EF4-FFF2-40B4-BE49-F238E27FC236}">
                <a16:creationId xmlns:a16="http://schemas.microsoft.com/office/drawing/2014/main" id="{3F88FCD2-3D8C-403B-B32B-903396700658}"/>
              </a:ext>
            </a:extLst>
          </p:cNvPr>
          <p:cNvSpPr>
            <a:spLocks noGrp="1"/>
          </p:cNvSpPr>
          <p:nvPr/>
        </p:nvSpPr>
        <p:spPr>
          <a:xfrm>
            <a:off x="6686550" y="1809750"/>
            <a:ext cx="4476750" cy="342900"/>
          </a:xfrm>
          <a:prstGeom prst="rect">
            <a:avLst/>
          </a:prstGeom>
          <a:noFill/>
          <a:ln w="0">
            <a:noFill/>
            <a:prstDash val="solid"/>
          </a:ln>
        </p:spPr>
        <p:txBody>
          <a:bodyPr lIns="0" tIns="0" rIns="0" bIns="0" anchor="t"/>
          <a:lstStyle/>
          <a:p>
            <a:pPr algn="l">
              <a:defRPr sz="2100" b="1">
                <a:solidFill>
                  <a:srgbClr val="003359"/>
                </a:solidFill>
                <a:latin typeface="Arial"/>
                <a:ea typeface="Arial"/>
                <a:cs typeface="Arial"/>
              </a:defRPr>
            </a:pPr>
            <a:r>
              <a:rPr sz="2100" b="1">
                <a:solidFill>
                  <a:srgbClr val="003359"/>
                </a:solidFill>
                <a:latin typeface="Arial"/>
                <a:ea typeface="Arial"/>
                <a:cs typeface="Arial"/>
              </a:rPr>
              <a:t>What still interrupted the flow</a:t>
            </a:r>
          </a:p>
        </p:txBody>
      </p:sp>
      <p:sp>
        <p:nvSpPr>
          <p:cNvPr id="12" name="Rectangle 11">
            <a:extLst>
              <a:ext uri="{FF2B5EF4-FFF2-40B4-BE49-F238E27FC236}">
                <a16:creationId xmlns:a16="http://schemas.microsoft.com/office/drawing/2014/main" id="{19566C50-28CC-44E2-9B69-CFCE0A3A2DA1}"/>
              </a:ext>
            </a:extLst>
          </p:cNvPr>
          <p:cNvSpPr>
            <a:spLocks noGrp="1"/>
          </p:cNvSpPr>
          <p:nvPr/>
        </p:nvSpPr>
        <p:spPr>
          <a:xfrm>
            <a:off x="6705600" y="2419350"/>
            <a:ext cx="4286250" cy="1885950"/>
          </a:xfrm>
          <a:prstGeom prst="rect">
            <a:avLst/>
          </a:prstGeom>
          <a:noFill/>
          <a:ln w="0">
            <a:noFill/>
            <a:prstDash val="solid"/>
          </a:ln>
        </p:spPr>
        <p:txBody>
          <a:bodyPr lIns="0" tIns="0" rIns="0" bIns="0" anchor="t"/>
          <a:lstStyle/>
          <a:p>
            <a:pPr algn="l">
              <a:defRPr sz="1575" b="0">
                <a:solidFill>
                  <a:srgbClr val="56616B"/>
                </a:solidFill>
                <a:latin typeface="Arial"/>
                <a:ea typeface="Arial"/>
                <a:cs typeface="Arial"/>
              </a:defRPr>
            </a:pPr>
            <a:r>
              <a:rPr sz="1575" b="0">
                <a:solidFill>
                  <a:srgbClr val="56616B"/>
                </a:solidFill>
                <a:latin typeface="Arial"/>
                <a:ea typeface="Arial"/>
                <a:cs typeface="Arial"/>
              </a:rPr>
              <a:t>Precise layout control</a:t>
            </a:r>
          </a:p>
          <a:p>
            <a:pPr algn="l">
              <a:defRPr sz="1575" b="0">
                <a:solidFill>
                  <a:srgbClr val="56616B"/>
                </a:solidFill>
                <a:latin typeface="Arial"/>
                <a:ea typeface="Arial"/>
                <a:cs typeface="Arial"/>
              </a:defRPr>
            </a:pPr>
            <a:r>
              <a:rPr sz="1575" b="0">
                <a:solidFill>
                  <a:srgbClr val="56616B"/>
                </a:solidFill>
                <a:latin typeface="Arial"/>
                <a:ea typeface="Arial"/>
                <a:cs typeface="Arial"/>
              </a:rPr>
              <a:t>Shortcuts and discoverability</a:t>
            </a:r>
          </a:p>
          <a:p>
            <a:pPr algn="l">
              <a:defRPr sz="1575" b="0">
                <a:solidFill>
                  <a:srgbClr val="56616B"/>
                </a:solidFill>
                <a:latin typeface="Arial"/>
                <a:ea typeface="Arial"/>
                <a:cs typeface="Arial"/>
              </a:defRPr>
            </a:pPr>
            <a:r>
              <a:rPr sz="1575" b="0">
                <a:solidFill>
                  <a:srgbClr val="56616B"/>
                </a:solidFill>
                <a:latin typeface="Arial"/>
                <a:ea typeface="Arial"/>
                <a:cs typeface="Arial"/>
              </a:rPr>
              <a:t>Selection and styling flexibility</a:t>
            </a:r>
          </a:p>
          <a:p>
            <a:pPr algn="l">
              <a:defRPr sz="1575" b="0">
                <a:solidFill>
                  <a:srgbClr val="56616B"/>
                </a:solidFill>
                <a:latin typeface="Arial"/>
                <a:ea typeface="Arial"/>
                <a:cs typeface="Arial"/>
              </a:defRPr>
            </a:pPr>
            <a:r>
              <a:rPr sz="1575" b="0">
                <a:solidFill>
                  <a:srgbClr val="56616B"/>
                </a:solidFill>
                <a:latin typeface="Arial"/>
                <a:ea typeface="Arial"/>
                <a:cs typeface="Arial"/>
              </a:rPr>
              <a:t>Sharing semantics and notation coverage</a:t>
            </a:r>
          </a:p>
        </p:txBody>
      </p:sp>
      <p:sp>
        <p:nvSpPr>
          <p:cNvPr id="13" name="Rectangle: Rounded Corners 12">
            <a:extLst>
              <a:ext uri="{FF2B5EF4-FFF2-40B4-BE49-F238E27FC236}">
                <a16:creationId xmlns:a16="http://schemas.microsoft.com/office/drawing/2014/main" id="{4C32AC6B-7637-4596-B137-41DF60C2F463}"/>
              </a:ext>
            </a:extLst>
          </p:cNvPr>
          <p:cNvSpPr>
            <a:spLocks noGrp="1"/>
          </p:cNvSpPr>
          <p:nvPr/>
        </p:nvSpPr>
        <p:spPr>
          <a:xfrm>
            <a:off x="1447800" y="5772150"/>
            <a:ext cx="9296400" cy="457200"/>
          </a:xfrm>
          <a:prstGeom prst="roundRect">
            <a:avLst>
              <a:gd name="adj" fmla="val 25000"/>
            </a:avLst>
          </a:prstGeom>
          <a:solidFill>
            <a:srgbClr val="FBECEC"/>
          </a:solidFill>
          <a:ln w="11430">
            <a:solidFill>
              <a:srgbClr val="C84A4A"/>
            </a:solidFill>
            <a:prstDash val="solid"/>
          </a:ln>
        </p:spPr>
        <p:txBody>
          <a:bodyPr/>
          <a:lstStyle/>
          <a:p>
            <a:endParaRPr lang="de-DE"/>
          </a:p>
        </p:txBody>
      </p:sp>
      <p:sp>
        <p:nvSpPr>
          <p:cNvPr id="14" name="Rectangle 13">
            <a:extLst>
              <a:ext uri="{FF2B5EF4-FFF2-40B4-BE49-F238E27FC236}">
                <a16:creationId xmlns:a16="http://schemas.microsoft.com/office/drawing/2014/main" id="{37EA5B8A-5986-4FF6-BF59-ECB62046BB0F}"/>
              </a:ext>
            </a:extLst>
          </p:cNvPr>
          <p:cNvSpPr>
            <a:spLocks noGrp="1"/>
          </p:cNvSpPr>
          <p:nvPr/>
        </p:nvSpPr>
        <p:spPr>
          <a:xfrm>
            <a:off x="1714500" y="5876925"/>
            <a:ext cx="8763000" cy="228600"/>
          </a:xfrm>
          <a:prstGeom prst="rect">
            <a:avLst/>
          </a:prstGeom>
          <a:noFill/>
          <a:ln w="0">
            <a:noFill/>
            <a:prstDash val="solid"/>
          </a:ln>
        </p:spPr>
        <p:txBody>
          <a:bodyPr lIns="0" tIns="0" rIns="0" bIns="0" anchor="t"/>
          <a:lstStyle/>
          <a:p>
            <a:pPr algn="ctr">
              <a:defRPr sz="1275" b="1">
                <a:solidFill>
                  <a:srgbClr val="C84A4A"/>
                </a:solidFill>
                <a:latin typeface="Arial"/>
                <a:ea typeface="Arial"/>
                <a:cs typeface="Arial"/>
              </a:defRPr>
            </a:pPr>
            <a:r>
              <a:rPr sz="1275" b="1">
                <a:solidFill>
                  <a:srgbClr val="C84A4A"/>
                </a:solidFill>
                <a:latin typeface="Arial"/>
                <a:ea typeface="Arial"/>
                <a:cs typeface="Arial"/>
              </a:rPr>
              <a:t>Qualitative and formative: no controlled comparison of task time, errors, or satisfaction.</a:t>
            </a:r>
          </a:p>
        </p:txBody>
      </p:sp>
    </p:spTree>
    <p:extLst>
      <p:ext uri="{BB962C8B-B14F-4D97-AF65-F5344CB8AC3E}">
        <p14:creationId xmlns:p14="http://schemas.microsoft.com/office/powerpoint/2010/main" val="135781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ection label">
            <a:extLst>
              <a:ext uri="{FF2B5EF4-FFF2-40B4-BE49-F238E27FC236}">
                <a16:creationId xmlns:a16="http://schemas.microsoft.com/office/drawing/2014/main" id="{B33B4D3B-E9A0-47FB-BDE7-5CCD48051DA3}"/>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STATUS</a:t>
            </a:r>
          </a:p>
        </p:txBody>
      </p:sp>
      <p:sp>
        <p:nvSpPr>
          <p:cNvPr id="2" name="Slide title">
            <a:extLst>
              <a:ext uri="{FF2B5EF4-FFF2-40B4-BE49-F238E27FC236}">
                <a16:creationId xmlns:a16="http://schemas.microsoft.com/office/drawing/2014/main" id="{45C2D57C-D642-4CD2-99AD-E9D84F770C2F}"/>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All four objectives are realized within scope</a:t>
            </a:r>
          </a:p>
        </p:txBody>
      </p:sp>
      <p:pic>
        <p:nvPicPr>
          <p:cNvPr id="34" name="Picture 33"/>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D68872A6-D00D-48BD-9CD5-7473D28A63FD}"/>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17588A46-246F-412F-AE70-D810064B3E8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18</a:t>
            </a:r>
          </a:p>
        </p:txBody>
      </p:sp>
      <p:sp>
        <p:nvSpPr>
          <p:cNvPr id="6" name="Footer">
            <a:extLst>
              <a:ext uri="{FF2B5EF4-FFF2-40B4-BE49-F238E27FC236}">
                <a16:creationId xmlns:a16="http://schemas.microsoft.com/office/drawing/2014/main" id="{9C003283-26B3-4FB8-85CD-8DA0509130CD}"/>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433F9944-3007-497F-83C4-5FC56E47D8FA}"/>
              </a:ext>
            </a:extLst>
          </p:cNvPr>
          <p:cNvSpPr>
            <a:spLocks noGrp="1"/>
          </p:cNvSpPr>
          <p:nvPr/>
        </p:nvSpPr>
        <p:spPr>
          <a:xfrm>
            <a:off x="666750" y="1428750"/>
            <a:ext cx="723900" cy="685800"/>
          </a:xfrm>
          <a:prstGeom prst="roundRect">
            <a:avLst>
              <a:gd name="adj" fmla="val 16667"/>
            </a:avLst>
          </a:prstGeom>
          <a:solidFill>
            <a:srgbClr val="F1F5DA"/>
          </a:solidFill>
          <a:ln w="11430">
            <a:solidFill>
              <a:srgbClr val="A2AD00"/>
            </a:solidFill>
            <a:prstDash val="solid"/>
          </a:ln>
        </p:spPr>
        <p:txBody>
          <a:bodyPr/>
          <a:lstStyle/>
          <a:p>
            <a:endParaRPr lang="de-DE"/>
          </a:p>
        </p:txBody>
      </p:sp>
      <p:sp>
        <p:nvSpPr>
          <p:cNvPr id="8" name="Rectangle 7">
            <a:extLst>
              <a:ext uri="{FF2B5EF4-FFF2-40B4-BE49-F238E27FC236}">
                <a16:creationId xmlns:a16="http://schemas.microsoft.com/office/drawing/2014/main" id="{7E0490BA-D64C-477B-8A2B-DC05DD68E977}"/>
              </a:ext>
            </a:extLst>
          </p:cNvPr>
          <p:cNvSpPr>
            <a:spLocks noGrp="1"/>
          </p:cNvSpPr>
          <p:nvPr/>
        </p:nvSpPr>
        <p:spPr>
          <a:xfrm>
            <a:off x="742950" y="1628775"/>
            <a:ext cx="571500" cy="266700"/>
          </a:xfrm>
          <a:prstGeom prst="rect">
            <a:avLst/>
          </a:prstGeom>
          <a:noFill/>
          <a:ln w="0">
            <a:noFill/>
            <a:prstDash val="solid"/>
          </a:ln>
        </p:spPr>
        <p:txBody>
          <a:bodyPr lIns="0" tIns="0" rIns="0" bIns="0" anchor="ctr"/>
          <a:lstStyle/>
          <a:p>
            <a:pPr algn="ctr">
              <a:defRPr sz="1050" b="1">
                <a:solidFill>
                  <a:srgbClr val="003359"/>
                </a:solidFill>
                <a:latin typeface="Arial"/>
                <a:ea typeface="Arial"/>
                <a:cs typeface="Arial"/>
              </a:defRPr>
            </a:pPr>
            <a:r>
              <a:rPr sz="1050" b="1">
                <a:solidFill>
                  <a:srgbClr val="003359"/>
                </a:solidFill>
                <a:latin typeface="Arial"/>
                <a:ea typeface="Arial"/>
                <a:cs typeface="Arial"/>
              </a:rPr>
              <a:t>DONE</a:t>
            </a:r>
          </a:p>
        </p:txBody>
      </p:sp>
      <p:sp>
        <p:nvSpPr>
          <p:cNvPr id="9" name="Rectangle 8">
            <a:extLst>
              <a:ext uri="{FF2B5EF4-FFF2-40B4-BE49-F238E27FC236}">
                <a16:creationId xmlns:a16="http://schemas.microsoft.com/office/drawing/2014/main" id="{92338B76-21A3-42F7-B54D-4B3807EC64C3}"/>
              </a:ext>
            </a:extLst>
          </p:cNvPr>
          <p:cNvSpPr>
            <a:spLocks noGrp="1"/>
          </p:cNvSpPr>
          <p:nvPr/>
        </p:nvSpPr>
        <p:spPr>
          <a:xfrm>
            <a:off x="1676400" y="14478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Improve modeling and application usability</a:t>
            </a:r>
          </a:p>
        </p:txBody>
      </p:sp>
      <p:sp>
        <p:nvSpPr>
          <p:cNvPr id="10" name="Rectangle 9">
            <a:extLst>
              <a:ext uri="{FF2B5EF4-FFF2-40B4-BE49-F238E27FC236}">
                <a16:creationId xmlns:a16="http://schemas.microsoft.com/office/drawing/2014/main" id="{73C064A5-55E6-4414-B99C-257D0EABADC8}"/>
              </a:ext>
            </a:extLst>
          </p:cNvPr>
          <p:cNvSpPr>
            <a:spLocks noGrp="1"/>
          </p:cNvSpPr>
          <p:nvPr/>
        </p:nvSpPr>
        <p:spPr>
          <a:xfrm>
            <a:off x="1676400" y="18097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Edges, editing controls, standalone management, and mobile use</a:t>
            </a:r>
          </a:p>
        </p:txBody>
      </p:sp>
      <p:sp>
        <p:nvSpPr>
          <p:cNvPr id="11" name="Oval 10">
            <a:extLst>
              <a:ext uri="{FF2B5EF4-FFF2-40B4-BE49-F238E27FC236}">
                <a16:creationId xmlns:a16="http://schemas.microsoft.com/office/drawing/2014/main" id="{272FCA2D-8D24-4A6A-96DF-03B117DD9C67}"/>
              </a:ext>
            </a:extLst>
          </p:cNvPr>
          <p:cNvSpPr>
            <a:spLocks noGrp="1"/>
          </p:cNvSpPr>
          <p:nvPr/>
        </p:nvSpPr>
        <p:spPr>
          <a:xfrm>
            <a:off x="10839450" y="1600200"/>
            <a:ext cx="342900" cy="342900"/>
          </a:xfrm>
          <a:prstGeom prst="ellipse">
            <a:avLst/>
          </a:prstGeom>
          <a:solidFill>
            <a:srgbClr val="A2AD00"/>
          </a:solidFill>
          <a:ln w="0">
            <a:noFill/>
            <a:prstDash val="solid"/>
          </a:ln>
        </p:spPr>
        <p:txBody>
          <a:bodyPr/>
          <a:lstStyle/>
          <a:p>
            <a:endParaRPr lang="de-DE"/>
          </a:p>
        </p:txBody>
      </p:sp>
      <p:sp>
        <p:nvSpPr>
          <p:cNvPr id="12" name="Rectangle 11">
            <a:extLst>
              <a:ext uri="{FF2B5EF4-FFF2-40B4-BE49-F238E27FC236}">
                <a16:creationId xmlns:a16="http://schemas.microsoft.com/office/drawing/2014/main" id="{0B091AD4-0ECD-4B15-A904-1755BB737493}"/>
              </a:ext>
            </a:extLst>
          </p:cNvPr>
          <p:cNvSpPr>
            <a:spLocks noGrp="1"/>
          </p:cNvSpPr>
          <p:nvPr/>
        </p:nvSpPr>
        <p:spPr>
          <a:xfrm>
            <a:off x="10887075" y="1619250"/>
            <a:ext cx="247650" cy="257175"/>
          </a:xfrm>
          <a:prstGeom prst="rect">
            <a:avLst/>
          </a:prstGeom>
          <a:noFill/>
          <a:ln w="0">
            <a:noFill/>
            <a:prstDash val="solid"/>
          </a:ln>
        </p:spPr>
        <p:txBody>
          <a:bodyPr lIns="0" tIns="0" rIns="0" bIns="0" anchor="ct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a:t>
            </a:r>
          </a:p>
        </p:txBody>
      </p:sp>
      <p:sp>
        <p:nvSpPr>
          <p:cNvPr id="13" name="Rectangle: Rounded Corners 12">
            <a:extLst>
              <a:ext uri="{FF2B5EF4-FFF2-40B4-BE49-F238E27FC236}">
                <a16:creationId xmlns:a16="http://schemas.microsoft.com/office/drawing/2014/main" id="{3C906440-37C9-472A-898E-BD689A4B2DBB}"/>
              </a:ext>
            </a:extLst>
          </p:cNvPr>
          <p:cNvSpPr>
            <a:spLocks noGrp="1"/>
          </p:cNvSpPr>
          <p:nvPr/>
        </p:nvSpPr>
        <p:spPr>
          <a:xfrm>
            <a:off x="666750" y="2457450"/>
            <a:ext cx="723900" cy="685800"/>
          </a:xfrm>
          <a:prstGeom prst="roundRect">
            <a:avLst>
              <a:gd name="adj" fmla="val 16667"/>
            </a:avLst>
          </a:prstGeom>
          <a:solidFill>
            <a:srgbClr val="F1F5DA"/>
          </a:solidFill>
          <a:ln w="11430">
            <a:solidFill>
              <a:srgbClr val="A2AD00"/>
            </a:solidFill>
            <a:prstDash val="solid"/>
          </a:ln>
        </p:spPr>
        <p:txBody>
          <a:bodyPr/>
          <a:lstStyle/>
          <a:p>
            <a:endParaRPr lang="de-DE"/>
          </a:p>
        </p:txBody>
      </p:sp>
      <p:sp>
        <p:nvSpPr>
          <p:cNvPr id="14" name="Rectangle 13">
            <a:extLst>
              <a:ext uri="{FF2B5EF4-FFF2-40B4-BE49-F238E27FC236}">
                <a16:creationId xmlns:a16="http://schemas.microsoft.com/office/drawing/2014/main" id="{CB8C0B1A-C0D0-4120-9EF9-A3C04996AE55}"/>
              </a:ext>
            </a:extLst>
          </p:cNvPr>
          <p:cNvSpPr>
            <a:spLocks noGrp="1"/>
          </p:cNvSpPr>
          <p:nvPr/>
        </p:nvSpPr>
        <p:spPr>
          <a:xfrm>
            <a:off x="742950" y="2657475"/>
            <a:ext cx="571500" cy="266700"/>
          </a:xfrm>
          <a:prstGeom prst="rect">
            <a:avLst/>
          </a:prstGeom>
          <a:noFill/>
          <a:ln w="0">
            <a:noFill/>
            <a:prstDash val="solid"/>
          </a:ln>
        </p:spPr>
        <p:txBody>
          <a:bodyPr lIns="0" tIns="0" rIns="0" bIns="0" anchor="ctr"/>
          <a:lstStyle/>
          <a:p>
            <a:pPr algn="ctr">
              <a:defRPr sz="1050" b="1">
                <a:solidFill>
                  <a:srgbClr val="003359"/>
                </a:solidFill>
                <a:latin typeface="Arial"/>
                <a:ea typeface="Arial"/>
                <a:cs typeface="Arial"/>
              </a:defRPr>
            </a:pPr>
            <a:r>
              <a:rPr sz="1050" b="1">
                <a:solidFill>
                  <a:srgbClr val="003359"/>
                </a:solidFill>
                <a:latin typeface="Arial"/>
                <a:ea typeface="Arial"/>
                <a:cs typeface="Arial"/>
              </a:rPr>
              <a:t>DONE</a:t>
            </a:r>
          </a:p>
        </p:txBody>
      </p:sp>
      <p:sp>
        <p:nvSpPr>
          <p:cNvPr id="15" name="Rectangle 14">
            <a:extLst>
              <a:ext uri="{FF2B5EF4-FFF2-40B4-BE49-F238E27FC236}">
                <a16:creationId xmlns:a16="http://schemas.microsoft.com/office/drawing/2014/main" id="{4B0D5005-3E12-44B6-9CCA-EC88BF3A2810}"/>
              </a:ext>
            </a:extLst>
          </p:cNvPr>
          <p:cNvSpPr>
            <a:spLocks noGrp="1"/>
          </p:cNvSpPr>
          <p:nvPr/>
        </p:nvSpPr>
        <p:spPr>
          <a:xfrm>
            <a:off x="1676400" y="24765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Support collaborative modeling</a:t>
            </a:r>
          </a:p>
        </p:txBody>
      </p:sp>
      <p:sp>
        <p:nvSpPr>
          <p:cNvPr id="16" name="Rectangle 15">
            <a:extLst>
              <a:ext uri="{FF2B5EF4-FFF2-40B4-BE49-F238E27FC236}">
                <a16:creationId xmlns:a16="http://schemas.microsoft.com/office/drawing/2014/main" id="{47B05601-AFEB-4A91-A1F7-CB69C62C4D9B}"/>
              </a:ext>
            </a:extLst>
          </p:cNvPr>
          <p:cNvSpPr>
            <a:spLocks noGrp="1"/>
          </p:cNvSpPr>
          <p:nvPr/>
        </p:nvSpPr>
        <p:spPr>
          <a:xfrm>
            <a:off x="1676400" y="28384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Named cursors, selections, viewport following, and library reuse</a:t>
            </a:r>
          </a:p>
        </p:txBody>
      </p:sp>
      <p:sp>
        <p:nvSpPr>
          <p:cNvPr id="17" name="Oval 16">
            <a:extLst>
              <a:ext uri="{FF2B5EF4-FFF2-40B4-BE49-F238E27FC236}">
                <a16:creationId xmlns:a16="http://schemas.microsoft.com/office/drawing/2014/main" id="{CDCD6FD4-DD7E-4D2E-8224-6AA1F9F8CF80}"/>
              </a:ext>
            </a:extLst>
          </p:cNvPr>
          <p:cNvSpPr>
            <a:spLocks noGrp="1"/>
          </p:cNvSpPr>
          <p:nvPr/>
        </p:nvSpPr>
        <p:spPr>
          <a:xfrm>
            <a:off x="10839450" y="2628900"/>
            <a:ext cx="342900" cy="342900"/>
          </a:xfrm>
          <a:prstGeom prst="ellipse">
            <a:avLst/>
          </a:prstGeom>
          <a:solidFill>
            <a:srgbClr val="A2AD00"/>
          </a:solidFill>
          <a:ln w="0">
            <a:noFill/>
            <a:prstDash val="solid"/>
          </a:ln>
        </p:spPr>
        <p:txBody>
          <a:bodyPr/>
          <a:lstStyle/>
          <a:p>
            <a:endParaRPr lang="de-DE"/>
          </a:p>
        </p:txBody>
      </p:sp>
      <p:sp>
        <p:nvSpPr>
          <p:cNvPr id="18" name="Rectangle 17">
            <a:extLst>
              <a:ext uri="{FF2B5EF4-FFF2-40B4-BE49-F238E27FC236}">
                <a16:creationId xmlns:a16="http://schemas.microsoft.com/office/drawing/2014/main" id="{0D434606-E2D0-40C7-BBEE-F6F6721EFC31}"/>
              </a:ext>
            </a:extLst>
          </p:cNvPr>
          <p:cNvSpPr>
            <a:spLocks noGrp="1"/>
          </p:cNvSpPr>
          <p:nvPr/>
        </p:nvSpPr>
        <p:spPr>
          <a:xfrm>
            <a:off x="10887075" y="2647950"/>
            <a:ext cx="247650" cy="257175"/>
          </a:xfrm>
          <a:prstGeom prst="rect">
            <a:avLst/>
          </a:prstGeom>
          <a:noFill/>
          <a:ln w="0">
            <a:noFill/>
            <a:prstDash val="solid"/>
          </a:ln>
        </p:spPr>
        <p:txBody>
          <a:bodyPr lIns="0" tIns="0" rIns="0" bIns="0" anchor="ct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a:t>
            </a:r>
          </a:p>
        </p:txBody>
      </p:sp>
      <p:sp>
        <p:nvSpPr>
          <p:cNvPr id="19" name="Rectangle: Rounded Corners 18">
            <a:extLst>
              <a:ext uri="{FF2B5EF4-FFF2-40B4-BE49-F238E27FC236}">
                <a16:creationId xmlns:a16="http://schemas.microsoft.com/office/drawing/2014/main" id="{CB327E6B-D2D6-46D0-AAF5-73E26073A65F}"/>
              </a:ext>
            </a:extLst>
          </p:cNvPr>
          <p:cNvSpPr>
            <a:spLocks noGrp="1"/>
          </p:cNvSpPr>
          <p:nvPr/>
        </p:nvSpPr>
        <p:spPr>
          <a:xfrm>
            <a:off x="666750" y="3486150"/>
            <a:ext cx="723900" cy="685800"/>
          </a:xfrm>
          <a:prstGeom prst="roundRect">
            <a:avLst>
              <a:gd name="adj" fmla="val 16667"/>
            </a:avLst>
          </a:prstGeom>
          <a:solidFill>
            <a:srgbClr val="F1F5DA"/>
          </a:solidFill>
          <a:ln w="11430">
            <a:solidFill>
              <a:srgbClr val="A2AD00"/>
            </a:solidFill>
            <a:prstDash val="solid"/>
          </a:ln>
        </p:spPr>
        <p:txBody>
          <a:bodyPr/>
          <a:lstStyle/>
          <a:p>
            <a:endParaRPr lang="de-DE"/>
          </a:p>
        </p:txBody>
      </p:sp>
      <p:sp>
        <p:nvSpPr>
          <p:cNvPr id="20" name="Rectangle 19">
            <a:extLst>
              <a:ext uri="{FF2B5EF4-FFF2-40B4-BE49-F238E27FC236}">
                <a16:creationId xmlns:a16="http://schemas.microsoft.com/office/drawing/2014/main" id="{40566C8D-F9F9-4F9D-95A9-60DC1707E338}"/>
              </a:ext>
            </a:extLst>
          </p:cNvPr>
          <p:cNvSpPr>
            <a:spLocks noGrp="1"/>
          </p:cNvSpPr>
          <p:nvPr/>
        </p:nvSpPr>
        <p:spPr>
          <a:xfrm>
            <a:off x="742950" y="3686175"/>
            <a:ext cx="571500" cy="266700"/>
          </a:xfrm>
          <a:prstGeom prst="rect">
            <a:avLst/>
          </a:prstGeom>
          <a:noFill/>
          <a:ln w="0">
            <a:noFill/>
            <a:prstDash val="solid"/>
          </a:ln>
        </p:spPr>
        <p:txBody>
          <a:bodyPr lIns="0" tIns="0" rIns="0" bIns="0" anchor="ctr"/>
          <a:lstStyle/>
          <a:p>
            <a:pPr algn="ctr">
              <a:defRPr sz="1050" b="1">
                <a:solidFill>
                  <a:srgbClr val="003359"/>
                </a:solidFill>
                <a:latin typeface="Arial"/>
                <a:ea typeface="Arial"/>
                <a:cs typeface="Arial"/>
              </a:defRPr>
            </a:pPr>
            <a:r>
              <a:rPr sz="1050" b="1">
                <a:solidFill>
                  <a:srgbClr val="003359"/>
                </a:solidFill>
                <a:latin typeface="Arial"/>
                <a:ea typeface="Arial"/>
                <a:cs typeface="Arial"/>
              </a:rPr>
              <a:t>DONE</a:t>
            </a:r>
          </a:p>
        </p:txBody>
      </p:sp>
      <p:sp>
        <p:nvSpPr>
          <p:cNvPr id="21" name="Rectangle 20">
            <a:extLst>
              <a:ext uri="{FF2B5EF4-FFF2-40B4-BE49-F238E27FC236}">
                <a16:creationId xmlns:a16="http://schemas.microsoft.com/office/drawing/2014/main" id="{FFA6F507-F66F-4ACC-8DE9-E8364D0F58E5}"/>
              </a:ext>
            </a:extLst>
          </p:cNvPr>
          <p:cNvSpPr>
            <a:spLocks noGrp="1"/>
          </p:cNvSpPr>
          <p:nvPr/>
        </p:nvSpPr>
        <p:spPr>
          <a:xfrm>
            <a:off x="1676400" y="3505200"/>
            <a:ext cx="8858250" cy="304800"/>
          </a:xfrm>
          <a:prstGeom prst="rect">
            <a:avLst/>
          </a:prstGeom>
          <a:noFill/>
          <a:ln w="0">
            <a:noFill/>
            <a:prstDash val="solid"/>
          </a:ln>
        </p:spPr>
        <p:txBody>
          <a:bodyPr lIns="0" tIns="0" rIns="0" bIns="0" anchor="t"/>
          <a:lstStyle/>
          <a:p>
            <a:pPr algn="l">
              <a:defRPr sz="1500" b="1">
                <a:solidFill>
                  <a:srgbClr val="111820"/>
                </a:solidFill>
                <a:latin typeface="Arial"/>
                <a:ea typeface="Arial"/>
                <a:cs typeface="Arial"/>
              </a:defRPr>
            </a:pPr>
            <a:r>
              <a:rPr sz="1500" b="1">
                <a:solidFill>
                  <a:srgbClr val="111820"/>
                </a:solidFill>
                <a:latin typeface="Arial"/>
                <a:ea typeface="Arial"/>
                <a:cs typeface="Arial"/>
              </a:rPr>
              <a:t>Preserve Artemis, Athena, and VS Code workflows while adopting maintained Apollon</a:t>
            </a:r>
          </a:p>
        </p:txBody>
      </p:sp>
      <p:sp>
        <p:nvSpPr>
          <p:cNvPr id="22" name="Rectangle 21">
            <a:extLst>
              <a:ext uri="{FF2B5EF4-FFF2-40B4-BE49-F238E27FC236}">
                <a16:creationId xmlns:a16="http://schemas.microsoft.com/office/drawing/2014/main" id="{E4AC1AAA-0DBF-4A60-9516-A405A87D81DA}"/>
              </a:ext>
            </a:extLst>
          </p:cNvPr>
          <p:cNvSpPr>
            <a:spLocks noGrp="1"/>
          </p:cNvSpPr>
          <p:nvPr/>
        </p:nvSpPr>
        <p:spPr>
          <a:xfrm>
            <a:off x="1676400" y="38671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Exercises, quizzes, assessment, model compatibility, team modeling, and IDE editing</a:t>
            </a:r>
          </a:p>
        </p:txBody>
      </p:sp>
      <p:sp>
        <p:nvSpPr>
          <p:cNvPr id="23" name="Oval 22">
            <a:extLst>
              <a:ext uri="{FF2B5EF4-FFF2-40B4-BE49-F238E27FC236}">
                <a16:creationId xmlns:a16="http://schemas.microsoft.com/office/drawing/2014/main" id="{6502DF97-CA7D-458B-B886-B744FD0B1ED5}"/>
              </a:ext>
            </a:extLst>
          </p:cNvPr>
          <p:cNvSpPr>
            <a:spLocks noGrp="1"/>
          </p:cNvSpPr>
          <p:nvPr/>
        </p:nvSpPr>
        <p:spPr>
          <a:xfrm>
            <a:off x="10839450" y="3657600"/>
            <a:ext cx="342900" cy="342900"/>
          </a:xfrm>
          <a:prstGeom prst="ellipse">
            <a:avLst/>
          </a:prstGeom>
          <a:solidFill>
            <a:srgbClr val="A2AD00"/>
          </a:solidFill>
          <a:ln w="0">
            <a:noFill/>
            <a:prstDash val="solid"/>
          </a:ln>
        </p:spPr>
        <p:txBody>
          <a:bodyPr/>
          <a:lstStyle/>
          <a:p>
            <a:endParaRPr lang="de-DE"/>
          </a:p>
        </p:txBody>
      </p:sp>
      <p:sp>
        <p:nvSpPr>
          <p:cNvPr id="24" name="Rectangle 23">
            <a:extLst>
              <a:ext uri="{FF2B5EF4-FFF2-40B4-BE49-F238E27FC236}">
                <a16:creationId xmlns:a16="http://schemas.microsoft.com/office/drawing/2014/main" id="{225CAF4E-5A85-46B7-B833-049076EC3678}"/>
              </a:ext>
            </a:extLst>
          </p:cNvPr>
          <p:cNvSpPr>
            <a:spLocks noGrp="1"/>
          </p:cNvSpPr>
          <p:nvPr/>
        </p:nvSpPr>
        <p:spPr>
          <a:xfrm>
            <a:off x="10887075" y="3676650"/>
            <a:ext cx="247650" cy="257175"/>
          </a:xfrm>
          <a:prstGeom prst="rect">
            <a:avLst/>
          </a:prstGeom>
          <a:noFill/>
          <a:ln w="0">
            <a:noFill/>
            <a:prstDash val="solid"/>
          </a:ln>
        </p:spPr>
        <p:txBody>
          <a:bodyPr lIns="0" tIns="0" rIns="0" bIns="0" anchor="ct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a:t>
            </a:r>
          </a:p>
        </p:txBody>
      </p:sp>
      <p:sp>
        <p:nvSpPr>
          <p:cNvPr id="25" name="Rectangle: Rounded Corners 24">
            <a:extLst>
              <a:ext uri="{FF2B5EF4-FFF2-40B4-BE49-F238E27FC236}">
                <a16:creationId xmlns:a16="http://schemas.microsoft.com/office/drawing/2014/main" id="{508DED32-1CD8-4F46-973A-A943F87B7C55}"/>
              </a:ext>
            </a:extLst>
          </p:cNvPr>
          <p:cNvSpPr>
            <a:spLocks noGrp="1"/>
          </p:cNvSpPr>
          <p:nvPr/>
        </p:nvSpPr>
        <p:spPr>
          <a:xfrm>
            <a:off x="666750" y="4514850"/>
            <a:ext cx="723900" cy="685800"/>
          </a:xfrm>
          <a:prstGeom prst="roundRect">
            <a:avLst>
              <a:gd name="adj" fmla="val 16667"/>
            </a:avLst>
          </a:prstGeom>
          <a:solidFill>
            <a:srgbClr val="F1F5DA"/>
          </a:solidFill>
          <a:ln w="11430">
            <a:solidFill>
              <a:srgbClr val="A2AD00"/>
            </a:solidFill>
            <a:prstDash val="solid"/>
          </a:ln>
        </p:spPr>
        <p:txBody>
          <a:bodyPr/>
          <a:lstStyle/>
          <a:p>
            <a:endParaRPr lang="de-DE"/>
          </a:p>
        </p:txBody>
      </p:sp>
      <p:sp>
        <p:nvSpPr>
          <p:cNvPr id="26" name="Rectangle 25">
            <a:extLst>
              <a:ext uri="{FF2B5EF4-FFF2-40B4-BE49-F238E27FC236}">
                <a16:creationId xmlns:a16="http://schemas.microsoft.com/office/drawing/2014/main" id="{8A607197-07BF-4858-9B2B-3BC09CDC40FB}"/>
              </a:ext>
            </a:extLst>
          </p:cNvPr>
          <p:cNvSpPr>
            <a:spLocks noGrp="1"/>
          </p:cNvSpPr>
          <p:nvPr/>
        </p:nvSpPr>
        <p:spPr>
          <a:xfrm>
            <a:off x="742950" y="4714875"/>
            <a:ext cx="571500" cy="266700"/>
          </a:xfrm>
          <a:prstGeom prst="rect">
            <a:avLst/>
          </a:prstGeom>
          <a:noFill/>
          <a:ln w="0">
            <a:noFill/>
            <a:prstDash val="solid"/>
          </a:ln>
        </p:spPr>
        <p:txBody>
          <a:bodyPr lIns="0" tIns="0" rIns="0" bIns="0" anchor="ctr"/>
          <a:lstStyle/>
          <a:p>
            <a:pPr algn="ctr">
              <a:defRPr sz="1050" b="1">
                <a:solidFill>
                  <a:srgbClr val="003359"/>
                </a:solidFill>
                <a:latin typeface="Arial"/>
                <a:ea typeface="Arial"/>
                <a:cs typeface="Arial"/>
              </a:defRPr>
            </a:pPr>
            <a:r>
              <a:rPr sz="1050" b="1">
                <a:solidFill>
                  <a:srgbClr val="003359"/>
                </a:solidFill>
                <a:latin typeface="Arial"/>
                <a:ea typeface="Arial"/>
                <a:cs typeface="Arial"/>
              </a:rPr>
              <a:t>DONE</a:t>
            </a:r>
          </a:p>
        </p:txBody>
      </p:sp>
      <p:sp>
        <p:nvSpPr>
          <p:cNvPr id="27" name="Rectangle 26">
            <a:extLst>
              <a:ext uri="{FF2B5EF4-FFF2-40B4-BE49-F238E27FC236}">
                <a16:creationId xmlns:a16="http://schemas.microsoft.com/office/drawing/2014/main" id="{534E5F4C-9879-4717-9E54-0D3F553A293A}"/>
              </a:ext>
            </a:extLst>
          </p:cNvPr>
          <p:cNvSpPr>
            <a:spLocks noGrp="1"/>
          </p:cNvSpPr>
          <p:nvPr/>
        </p:nvSpPr>
        <p:spPr>
          <a:xfrm>
            <a:off x="1676400" y="4533900"/>
            <a:ext cx="8858250" cy="304800"/>
          </a:xfrm>
          <a:prstGeom prst="rect">
            <a:avLst/>
          </a:prstGeom>
          <a:noFill/>
          <a:ln w="0">
            <a:noFill/>
            <a:prstDash val="solid"/>
          </a:ln>
        </p:spPr>
        <p:txBody>
          <a:bodyPr lIns="0" tIns="0" rIns="0" bIns="0" anchor="t"/>
          <a:lstStyle/>
          <a:p>
            <a:pPr algn="l">
              <a:defRPr sz="1725" b="1">
                <a:solidFill>
                  <a:srgbClr val="111820"/>
                </a:solidFill>
                <a:latin typeface="Arial"/>
                <a:ea typeface="Arial"/>
                <a:cs typeface="Arial"/>
              </a:defRPr>
            </a:pPr>
            <a:r>
              <a:rPr sz="1725" b="1">
                <a:solidFill>
                  <a:srgbClr val="111820"/>
                </a:solidFill>
                <a:latin typeface="Arial"/>
                <a:ea typeface="Arial"/>
                <a:cs typeface="Arial"/>
              </a:rPr>
              <a:t>Improve diagram portability across web, server, and iOS</a:t>
            </a:r>
          </a:p>
        </p:txBody>
      </p:sp>
      <p:sp>
        <p:nvSpPr>
          <p:cNvPr id="28" name="Rectangle 27">
            <a:extLst>
              <a:ext uri="{FF2B5EF4-FFF2-40B4-BE49-F238E27FC236}">
                <a16:creationId xmlns:a16="http://schemas.microsoft.com/office/drawing/2014/main" id="{E8139BF3-7652-4D1E-A17B-ECE7A03F8ADA}"/>
              </a:ext>
            </a:extLst>
          </p:cNvPr>
          <p:cNvSpPr>
            <a:spLocks noGrp="1"/>
          </p:cNvSpPr>
          <p:nvPr/>
        </p:nvSpPr>
        <p:spPr>
          <a:xfrm>
            <a:off x="1676400" y="4895850"/>
            <a:ext cx="9334500" cy="295275"/>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Server PDF, SVG compatibility, visual fixes, and editable presentation export</a:t>
            </a:r>
          </a:p>
        </p:txBody>
      </p:sp>
      <p:sp>
        <p:nvSpPr>
          <p:cNvPr id="29" name="Oval 28">
            <a:extLst>
              <a:ext uri="{FF2B5EF4-FFF2-40B4-BE49-F238E27FC236}">
                <a16:creationId xmlns:a16="http://schemas.microsoft.com/office/drawing/2014/main" id="{2A713756-CB4F-47AF-BD1A-A64BB2BCB514}"/>
              </a:ext>
            </a:extLst>
          </p:cNvPr>
          <p:cNvSpPr>
            <a:spLocks noGrp="1"/>
          </p:cNvSpPr>
          <p:nvPr/>
        </p:nvSpPr>
        <p:spPr>
          <a:xfrm>
            <a:off x="10839450" y="4686300"/>
            <a:ext cx="342900" cy="342900"/>
          </a:xfrm>
          <a:prstGeom prst="ellipse">
            <a:avLst/>
          </a:prstGeom>
          <a:solidFill>
            <a:srgbClr val="A2AD00"/>
          </a:solidFill>
          <a:ln w="0">
            <a:noFill/>
            <a:prstDash val="solid"/>
          </a:ln>
        </p:spPr>
        <p:txBody>
          <a:bodyPr/>
          <a:lstStyle/>
          <a:p>
            <a:endParaRPr lang="de-DE"/>
          </a:p>
        </p:txBody>
      </p:sp>
      <p:sp>
        <p:nvSpPr>
          <p:cNvPr id="30" name="Rectangle 29">
            <a:extLst>
              <a:ext uri="{FF2B5EF4-FFF2-40B4-BE49-F238E27FC236}">
                <a16:creationId xmlns:a16="http://schemas.microsoft.com/office/drawing/2014/main" id="{90B55B43-7C83-40C9-A201-7CB761BA1D08}"/>
              </a:ext>
            </a:extLst>
          </p:cNvPr>
          <p:cNvSpPr>
            <a:spLocks noGrp="1"/>
          </p:cNvSpPr>
          <p:nvPr/>
        </p:nvSpPr>
        <p:spPr>
          <a:xfrm>
            <a:off x="10887075" y="4705350"/>
            <a:ext cx="247650" cy="257175"/>
          </a:xfrm>
          <a:prstGeom prst="rect">
            <a:avLst/>
          </a:prstGeom>
          <a:noFill/>
          <a:ln w="0">
            <a:noFill/>
            <a:prstDash val="solid"/>
          </a:ln>
        </p:spPr>
        <p:txBody>
          <a:bodyPr lIns="0" tIns="0" rIns="0" bIns="0" anchor="ct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a:t>
            </a:r>
          </a:p>
        </p:txBody>
      </p:sp>
      <p:sp>
        <p:nvSpPr>
          <p:cNvPr id="31" name="Rectangle 30">
            <a:extLst>
              <a:ext uri="{FF2B5EF4-FFF2-40B4-BE49-F238E27FC236}">
                <a16:creationId xmlns:a16="http://schemas.microsoft.com/office/drawing/2014/main" id="{6734FB86-A3F5-4B86-9B44-BC138677A91A}"/>
              </a:ext>
            </a:extLst>
          </p:cNvPr>
          <p:cNvSpPr>
            <a:spLocks noGrp="1"/>
          </p:cNvSpPr>
          <p:nvPr/>
        </p:nvSpPr>
        <p:spPr>
          <a:xfrm>
            <a:off x="1524000" y="5753100"/>
            <a:ext cx="9144000" cy="304800"/>
          </a:xfrm>
          <a:prstGeom prst="rect">
            <a:avLst/>
          </a:prstGeom>
          <a:noFill/>
          <a:ln w="0">
            <a:noFill/>
            <a:prstDash val="solid"/>
          </a:ln>
        </p:spPr>
        <p:txBody>
          <a:bodyPr lIns="0" tIns="0" rIns="0" bIns="0" anchor="t"/>
          <a:lstStyle/>
          <a:p>
            <a:pPr algn="ctr">
              <a:defRPr sz="1500" b="1">
                <a:solidFill>
                  <a:srgbClr val="E37222"/>
                </a:solidFill>
                <a:latin typeface="Arial"/>
                <a:ea typeface="Arial"/>
                <a:cs typeface="Arial"/>
              </a:defRPr>
            </a:pPr>
            <a:r>
              <a:rPr sz="1500" b="1">
                <a:solidFill>
                  <a:srgbClr val="E37222"/>
                </a:solidFill>
                <a:latin typeface="Arial"/>
                <a:ea typeface="Arial"/>
                <a:cs typeface="Arial"/>
              </a:rPr>
              <a:t>Realized does not mean finished: the evaluation identifies the next product-level work.</a:t>
            </a:r>
          </a:p>
        </p:txBody>
      </p:sp>
    </p:spTree>
    <p:extLst>
      <p:ext uri="{BB962C8B-B14F-4D97-AF65-F5344CB8AC3E}">
        <p14:creationId xmlns:p14="http://schemas.microsoft.com/office/powerpoint/2010/main" val="388979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ection label">
            <a:extLst>
              <a:ext uri="{FF2B5EF4-FFF2-40B4-BE49-F238E27FC236}">
                <a16:creationId xmlns:a16="http://schemas.microsoft.com/office/drawing/2014/main" id="{0B92D075-C859-4299-8E59-A9919CD444F5}"/>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FUTURE WORK</a:t>
            </a:r>
          </a:p>
        </p:txBody>
      </p:sp>
      <p:sp>
        <p:nvSpPr>
          <p:cNvPr id="2" name="Slide title">
            <a:extLst>
              <a:ext uri="{FF2B5EF4-FFF2-40B4-BE49-F238E27FC236}">
                <a16:creationId xmlns:a16="http://schemas.microsoft.com/office/drawing/2014/main" id="{E5A6942E-A479-431E-9904-81D7CE542B0D}"/>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The next gains are product-level</a:t>
            </a:r>
          </a:p>
        </p:txBody>
      </p:sp>
      <p:pic>
        <p:nvPicPr>
          <p:cNvPr id="25" name="Picture 24"/>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D941AA6D-035C-47A1-9196-8170C1E9C6BE}"/>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529684B7-6AC7-48AC-9B88-0455C492022F}"/>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19</a:t>
            </a:r>
          </a:p>
        </p:txBody>
      </p:sp>
      <p:sp>
        <p:nvSpPr>
          <p:cNvPr id="6" name="Footer">
            <a:extLst>
              <a:ext uri="{FF2B5EF4-FFF2-40B4-BE49-F238E27FC236}">
                <a16:creationId xmlns:a16="http://schemas.microsoft.com/office/drawing/2014/main" id="{64B34349-2EED-477D-BBF1-77879F5DDFA0}"/>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023CDAA9-313D-4D21-93EB-7E804BC3D70B}"/>
              </a:ext>
            </a:extLst>
          </p:cNvPr>
          <p:cNvSpPr>
            <a:spLocks noGrp="1"/>
          </p:cNvSpPr>
          <p:nvPr/>
        </p:nvSpPr>
        <p:spPr>
          <a:xfrm>
            <a:off x="666750" y="1562100"/>
            <a:ext cx="3333750" cy="3429000"/>
          </a:xfrm>
          <a:prstGeom prst="roundRect">
            <a:avLst>
              <a:gd name="adj" fmla="val 3429"/>
            </a:avLst>
          </a:prstGeom>
          <a:solidFill>
            <a:srgbClr val="EAF4FB"/>
          </a:solidFill>
          <a:ln w="11430">
            <a:solidFill>
              <a:srgbClr val="DDE3E8"/>
            </a:solidFill>
            <a:prstDash val="solid"/>
          </a:ln>
        </p:spPr>
        <p:txBody>
          <a:bodyPr/>
          <a:lstStyle/>
          <a:p>
            <a:endParaRPr lang="de-DE"/>
          </a:p>
        </p:txBody>
      </p:sp>
      <p:sp>
        <p:nvSpPr>
          <p:cNvPr id="8" name="Rectangle 7">
            <a:extLst>
              <a:ext uri="{FF2B5EF4-FFF2-40B4-BE49-F238E27FC236}">
                <a16:creationId xmlns:a16="http://schemas.microsoft.com/office/drawing/2014/main" id="{1AEBC181-A1DD-4314-B0FC-E56FF47BFA68}"/>
              </a:ext>
            </a:extLst>
          </p:cNvPr>
          <p:cNvSpPr>
            <a:spLocks noGrp="1"/>
          </p:cNvSpPr>
          <p:nvPr/>
        </p:nvSpPr>
        <p:spPr>
          <a:xfrm>
            <a:off x="666750" y="1562100"/>
            <a:ext cx="66675" cy="3429000"/>
          </a:xfrm>
          <a:prstGeom prst="rect">
            <a:avLst/>
          </a:prstGeom>
          <a:solidFill>
            <a:srgbClr val="0065BD"/>
          </a:solidFill>
          <a:ln w="0">
            <a:noFill/>
            <a:prstDash val="solid"/>
          </a:ln>
        </p:spPr>
        <p:txBody>
          <a:bodyPr/>
          <a:lstStyle/>
          <a:p>
            <a:endParaRPr lang="de-DE"/>
          </a:p>
        </p:txBody>
      </p:sp>
      <p:sp>
        <p:nvSpPr>
          <p:cNvPr id="9" name="Rectangle 8">
            <a:extLst>
              <a:ext uri="{FF2B5EF4-FFF2-40B4-BE49-F238E27FC236}">
                <a16:creationId xmlns:a16="http://schemas.microsoft.com/office/drawing/2014/main" id="{20915294-3242-48DC-93D7-084818EE71A2}"/>
              </a:ext>
            </a:extLst>
          </p:cNvPr>
          <p:cNvSpPr>
            <a:spLocks noGrp="1"/>
          </p:cNvSpPr>
          <p:nvPr/>
        </p:nvSpPr>
        <p:spPr>
          <a:xfrm>
            <a:off x="904875" y="1752600"/>
            <a:ext cx="2895600" cy="171450"/>
          </a:xfrm>
          <a:prstGeom prst="rect">
            <a:avLst/>
          </a:prstGeom>
          <a:noFill/>
          <a:ln w="0">
            <a:noFill/>
            <a:prstDash val="solid"/>
          </a:ln>
        </p:spPr>
        <p:txBody>
          <a:bodyPr lIns="0" tIns="0" rIns="0" bIns="0" anchor="t"/>
          <a:lstStyle/>
          <a:p>
            <a:pPr algn="l">
              <a:defRPr sz="825" b="1">
                <a:solidFill>
                  <a:srgbClr val="0065BD"/>
                </a:solidFill>
                <a:latin typeface="Arial"/>
                <a:ea typeface="Arial"/>
                <a:cs typeface="Arial"/>
              </a:defRPr>
            </a:pPr>
            <a:r>
              <a:rPr sz="825" b="1">
                <a:solidFill>
                  <a:srgbClr val="0065BD"/>
                </a:solidFill>
                <a:latin typeface="Arial"/>
                <a:ea typeface="Arial"/>
                <a:cs typeface="Arial"/>
              </a:rPr>
              <a:t>EVIDENCE</a:t>
            </a:r>
          </a:p>
        </p:txBody>
      </p:sp>
      <p:sp>
        <p:nvSpPr>
          <p:cNvPr id="10" name="Rectangle 9">
            <a:extLst>
              <a:ext uri="{FF2B5EF4-FFF2-40B4-BE49-F238E27FC236}">
                <a16:creationId xmlns:a16="http://schemas.microsoft.com/office/drawing/2014/main" id="{F38B40F1-86EC-4C83-9552-033489C57F50}"/>
              </a:ext>
            </a:extLst>
          </p:cNvPr>
          <p:cNvSpPr>
            <a:spLocks noGrp="1"/>
          </p:cNvSpPr>
          <p:nvPr/>
        </p:nvSpPr>
        <p:spPr>
          <a:xfrm>
            <a:off x="904875" y="20383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Measure usability</a:t>
            </a:r>
          </a:p>
        </p:txBody>
      </p:sp>
      <p:sp>
        <p:nvSpPr>
          <p:cNvPr id="11" name="Rectangle 10">
            <a:extLst>
              <a:ext uri="{FF2B5EF4-FFF2-40B4-BE49-F238E27FC236}">
                <a16:creationId xmlns:a16="http://schemas.microsoft.com/office/drawing/2014/main" id="{4260EDDA-2753-4940-92CD-8E774F9297FF}"/>
              </a:ext>
            </a:extLst>
          </p:cNvPr>
          <p:cNvSpPr>
            <a:spLocks noGrp="1"/>
          </p:cNvSpPr>
          <p:nvPr/>
        </p:nvSpPr>
        <p:spPr>
          <a:xfrm>
            <a:off x="904875" y="2762250"/>
            <a:ext cx="2876550" cy="209550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Test the feedback-driven edge and layout refinements systematically across diagram types, sizes, and user groups.</a:t>
            </a:r>
          </a:p>
        </p:txBody>
      </p:sp>
      <p:sp>
        <p:nvSpPr>
          <p:cNvPr id="12" name="Rectangle: Rounded Corners 11">
            <a:extLst>
              <a:ext uri="{FF2B5EF4-FFF2-40B4-BE49-F238E27FC236}">
                <a16:creationId xmlns:a16="http://schemas.microsoft.com/office/drawing/2014/main" id="{F1EAA2F8-9851-4CEA-BDFA-4B74875EE150}"/>
              </a:ext>
            </a:extLst>
          </p:cNvPr>
          <p:cNvSpPr>
            <a:spLocks noGrp="1"/>
          </p:cNvSpPr>
          <p:nvPr/>
        </p:nvSpPr>
        <p:spPr>
          <a:xfrm>
            <a:off x="4429125" y="1562100"/>
            <a:ext cx="3333750" cy="3429000"/>
          </a:xfrm>
          <a:prstGeom prst="roundRect">
            <a:avLst>
              <a:gd name="adj" fmla="val 3429"/>
            </a:avLst>
          </a:prstGeom>
          <a:solidFill>
            <a:srgbClr val="FFF1E7"/>
          </a:solidFill>
          <a:ln w="11430">
            <a:solidFill>
              <a:srgbClr val="DDE3E8"/>
            </a:solidFill>
            <a:prstDash val="solid"/>
          </a:ln>
        </p:spPr>
        <p:txBody>
          <a:bodyPr/>
          <a:lstStyle/>
          <a:p>
            <a:endParaRPr lang="de-DE"/>
          </a:p>
        </p:txBody>
      </p:sp>
      <p:sp>
        <p:nvSpPr>
          <p:cNvPr id="13" name="Rectangle 12">
            <a:extLst>
              <a:ext uri="{FF2B5EF4-FFF2-40B4-BE49-F238E27FC236}">
                <a16:creationId xmlns:a16="http://schemas.microsoft.com/office/drawing/2014/main" id="{19DD7B09-4FB5-4F0D-8EE6-710B66DDBCF5}"/>
              </a:ext>
            </a:extLst>
          </p:cNvPr>
          <p:cNvSpPr>
            <a:spLocks noGrp="1"/>
          </p:cNvSpPr>
          <p:nvPr/>
        </p:nvSpPr>
        <p:spPr>
          <a:xfrm>
            <a:off x="4429125" y="1562100"/>
            <a:ext cx="66675" cy="3429000"/>
          </a:xfrm>
          <a:prstGeom prst="rect">
            <a:avLst/>
          </a:prstGeom>
          <a:solidFill>
            <a:srgbClr val="E37222"/>
          </a:solidFill>
          <a:ln w="0">
            <a:noFill/>
            <a:prstDash val="solid"/>
          </a:ln>
        </p:spPr>
        <p:txBody>
          <a:bodyPr/>
          <a:lstStyle/>
          <a:p>
            <a:endParaRPr lang="de-DE"/>
          </a:p>
        </p:txBody>
      </p:sp>
      <p:sp>
        <p:nvSpPr>
          <p:cNvPr id="14" name="Rectangle 13">
            <a:extLst>
              <a:ext uri="{FF2B5EF4-FFF2-40B4-BE49-F238E27FC236}">
                <a16:creationId xmlns:a16="http://schemas.microsoft.com/office/drawing/2014/main" id="{CFFE4D66-8456-43C0-8E5E-F9345E32D150}"/>
              </a:ext>
            </a:extLst>
          </p:cNvPr>
          <p:cNvSpPr>
            <a:spLocks noGrp="1"/>
          </p:cNvSpPr>
          <p:nvPr/>
        </p:nvSpPr>
        <p:spPr>
          <a:xfrm>
            <a:off x="4667250" y="1752600"/>
            <a:ext cx="2895600" cy="171450"/>
          </a:xfrm>
          <a:prstGeom prst="rect">
            <a:avLst/>
          </a:prstGeom>
          <a:noFill/>
          <a:ln w="0">
            <a:noFill/>
            <a:prstDash val="solid"/>
          </a:ln>
        </p:spPr>
        <p:txBody>
          <a:bodyPr lIns="0" tIns="0" rIns="0" bIns="0" anchor="t"/>
          <a:lstStyle/>
          <a:p>
            <a:pPr algn="l">
              <a:defRPr sz="825" b="1">
                <a:solidFill>
                  <a:srgbClr val="E37222"/>
                </a:solidFill>
                <a:latin typeface="Arial"/>
                <a:ea typeface="Arial"/>
                <a:cs typeface="Arial"/>
              </a:defRPr>
            </a:pPr>
            <a:r>
              <a:rPr sz="825" b="1">
                <a:solidFill>
                  <a:srgbClr val="E37222"/>
                </a:solidFill>
                <a:latin typeface="Arial"/>
                <a:ea typeface="Arial"/>
                <a:cs typeface="Arial"/>
              </a:rPr>
              <a:t>COLLABORATION</a:t>
            </a:r>
          </a:p>
        </p:txBody>
      </p:sp>
      <p:sp>
        <p:nvSpPr>
          <p:cNvPr id="15" name="Rectangle 14">
            <a:extLst>
              <a:ext uri="{FF2B5EF4-FFF2-40B4-BE49-F238E27FC236}">
                <a16:creationId xmlns:a16="http://schemas.microsoft.com/office/drawing/2014/main" id="{A27C1F4B-F02B-458E-8421-754384F5BC6B}"/>
              </a:ext>
            </a:extLst>
          </p:cNvPr>
          <p:cNvSpPr>
            <a:spLocks noGrp="1"/>
          </p:cNvSpPr>
          <p:nvPr/>
        </p:nvSpPr>
        <p:spPr>
          <a:xfrm>
            <a:off x="4667250" y="20383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Strengthen ownership and review</a:t>
            </a:r>
          </a:p>
        </p:txBody>
      </p:sp>
      <p:sp>
        <p:nvSpPr>
          <p:cNvPr id="16" name="Rectangle 15">
            <a:extLst>
              <a:ext uri="{FF2B5EF4-FFF2-40B4-BE49-F238E27FC236}">
                <a16:creationId xmlns:a16="http://schemas.microsoft.com/office/drawing/2014/main" id="{C48EB6BD-692C-487A-9F5C-E9426413E729}"/>
              </a:ext>
            </a:extLst>
          </p:cNvPr>
          <p:cNvSpPr>
            <a:spLocks noGrp="1"/>
          </p:cNvSpPr>
          <p:nvPr/>
        </p:nvSpPr>
        <p:spPr>
          <a:xfrm>
            <a:off x="4667250" y="2762250"/>
            <a:ext cx="2876550" cy="209550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Add optional login, persistent shared diagrams, clearer sharing modes, local files, and review comments for supervision and assessment.</a:t>
            </a:r>
          </a:p>
        </p:txBody>
      </p:sp>
      <p:sp>
        <p:nvSpPr>
          <p:cNvPr id="17" name="Rectangle: Rounded Corners 16">
            <a:extLst>
              <a:ext uri="{FF2B5EF4-FFF2-40B4-BE49-F238E27FC236}">
                <a16:creationId xmlns:a16="http://schemas.microsoft.com/office/drawing/2014/main" id="{2CC2F615-0127-4D6A-8D2C-87D0E3869860}"/>
              </a:ext>
            </a:extLst>
          </p:cNvPr>
          <p:cNvSpPr>
            <a:spLocks noGrp="1"/>
          </p:cNvSpPr>
          <p:nvPr/>
        </p:nvSpPr>
        <p:spPr>
          <a:xfrm>
            <a:off x="8191500" y="1562100"/>
            <a:ext cx="3333750" cy="3429000"/>
          </a:xfrm>
          <a:prstGeom prst="roundRect">
            <a:avLst>
              <a:gd name="adj" fmla="val 3429"/>
            </a:avLst>
          </a:prstGeom>
          <a:solidFill>
            <a:srgbClr val="F1F5DA"/>
          </a:solidFill>
          <a:ln w="11430">
            <a:solidFill>
              <a:srgbClr val="DDE3E8"/>
            </a:solidFill>
            <a:prstDash val="solid"/>
          </a:ln>
        </p:spPr>
        <p:txBody>
          <a:bodyPr/>
          <a:lstStyle/>
          <a:p>
            <a:endParaRPr lang="de-DE"/>
          </a:p>
        </p:txBody>
      </p:sp>
      <p:sp>
        <p:nvSpPr>
          <p:cNvPr id="18" name="Rectangle 17">
            <a:extLst>
              <a:ext uri="{FF2B5EF4-FFF2-40B4-BE49-F238E27FC236}">
                <a16:creationId xmlns:a16="http://schemas.microsoft.com/office/drawing/2014/main" id="{DB81E6F7-5F09-4C5F-84E6-5E24E8F63408}"/>
              </a:ext>
            </a:extLst>
          </p:cNvPr>
          <p:cNvSpPr>
            <a:spLocks noGrp="1"/>
          </p:cNvSpPr>
          <p:nvPr/>
        </p:nvSpPr>
        <p:spPr>
          <a:xfrm>
            <a:off x="8191500" y="1562100"/>
            <a:ext cx="66675" cy="3429000"/>
          </a:xfrm>
          <a:prstGeom prst="rect">
            <a:avLst/>
          </a:prstGeom>
          <a:solidFill>
            <a:srgbClr val="A2AD00"/>
          </a:solidFill>
          <a:ln w="0">
            <a:noFill/>
            <a:prstDash val="solid"/>
          </a:ln>
        </p:spPr>
        <p:txBody>
          <a:bodyPr/>
          <a:lstStyle/>
          <a:p>
            <a:endParaRPr lang="de-DE"/>
          </a:p>
        </p:txBody>
      </p:sp>
      <p:sp>
        <p:nvSpPr>
          <p:cNvPr id="19" name="Rectangle 18">
            <a:extLst>
              <a:ext uri="{FF2B5EF4-FFF2-40B4-BE49-F238E27FC236}">
                <a16:creationId xmlns:a16="http://schemas.microsoft.com/office/drawing/2014/main" id="{9758C77E-EA29-4C60-BF18-CEF2F049A570}"/>
              </a:ext>
            </a:extLst>
          </p:cNvPr>
          <p:cNvSpPr>
            <a:spLocks noGrp="1"/>
          </p:cNvSpPr>
          <p:nvPr/>
        </p:nvSpPr>
        <p:spPr>
          <a:xfrm>
            <a:off x="8429625" y="1752600"/>
            <a:ext cx="2895600" cy="171450"/>
          </a:xfrm>
          <a:prstGeom prst="rect">
            <a:avLst/>
          </a:prstGeom>
          <a:noFill/>
          <a:ln w="0">
            <a:noFill/>
            <a:prstDash val="solid"/>
          </a:ln>
        </p:spPr>
        <p:txBody>
          <a:bodyPr lIns="0" tIns="0" rIns="0" bIns="0" anchor="t"/>
          <a:lstStyle/>
          <a:p>
            <a:pPr algn="l">
              <a:defRPr sz="825" b="1">
                <a:solidFill>
                  <a:srgbClr val="A2AD00"/>
                </a:solidFill>
                <a:latin typeface="Arial"/>
                <a:ea typeface="Arial"/>
                <a:cs typeface="Arial"/>
              </a:defRPr>
            </a:pPr>
            <a:r>
              <a:rPr sz="825" b="1">
                <a:solidFill>
                  <a:srgbClr val="A2AD00"/>
                </a:solidFill>
                <a:latin typeface="Arial"/>
                <a:ea typeface="Arial"/>
                <a:cs typeface="Arial"/>
              </a:rPr>
              <a:t>ECOSYSTEM</a:t>
            </a:r>
          </a:p>
        </p:txBody>
      </p:sp>
      <p:sp>
        <p:nvSpPr>
          <p:cNvPr id="20" name="Rectangle 19">
            <a:extLst>
              <a:ext uri="{FF2B5EF4-FFF2-40B4-BE49-F238E27FC236}">
                <a16:creationId xmlns:a16="http://schemas.microsoft.com/office/drawing/2014/main" id="{5A85E346-4D56-4547-8D75-B934BAF1C2DA}"/>
              </a:ext>
            </a:extLst>
          </p:cNvPr>
          <p:cNvSpPr>
            <a:spLocks noGrp="1"/>
          </p:cNvSpPr>
          <p:nvPr/>
        </p:nvSpPr>
        <p:spPr>
          <a:xfrm>
            <a:off x="8429625" y="2038350"/>
            <a:ext cx="2876550" cy="571500"/>
          </a:xfrm>
          <a:prstGeom prst="rect">
            <a:avLst/>
          </a:prstGeom>
          <a:noFill/>
          <a:ln w="0">
            <a:noFill/>
            <a:prstDash val="solid"/>
          </a:ln>
        </p:spPr>
        <p:txBody>
          <a:bodyPr lIns="0" tIns="0" rIns="0" bIns="0" anchor="t"/>
          <a:lstStyle/>
          <a:p>
            <a:pPr algn="l">
              <a:defRPr sz="1875" b="1">
                <a:solidFill>
                  <a:srgbClr val="111820"/>
                </a:solidFill>
                <a:latin typeface="Arial"/>
                <a:ea typeface="Arial"/>
                <a:cs typeface="Arial"/>
              </a:defRPr>
            </a:pPr>
            <a:r>
              <a:rPr sz="1875" b="1">
                <a:solidFill>
                  <a:srgbClr val="111820"/>
                </a:solidFill>
                <a:latin typeface="Arial"/>
                <a:ea typeface="Arial"/>
                <a:cs typeface="Arial"/>
              </a:rPr>
              <a:t>Connect teaching and development</a:t>
            </a:r>
          </a:p>
        </p:txBody>
      </p:sp>
      <p:sp>
        <p:nvSpPr>
          <p:cNvPr id="21" name="Rectangle 20">
            <a:extLst>
              <a:ext uri="{FF2B5EF4-FFF2-40B4-BE49-F238E27FC236}">
                <a16:creationId xmlns:a16="http://schemas.microsoft.com/office/drawing/2014/main" id="{BC43906E-CBB3-4476-A169-0518A5D21178}"/>
              </a:ext>
            </a:extLst>
          </p:cNvPr>
          <p:cNvSpPr>
            <a:spLocks noGrp="1"/>
          </p:cNvSpPr>
          <p:nvPr/>
        </p:nvSpPr>
        <p:spPr>
          <a:xfrm>
            <a:off x="8429625" y="2762250"/>
            <a:ext cx="2876550" cy="209550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Extend Artemis workflows, PlantUML interoperability, UML notation, Git-friendly projects, VS Code continuity, and export hardening.</a:t>
            </a:r>
          </a:p>
        </p:txBody>
      </p:sp>
      <p:sp>
        <p:nvSpPr>
          <p:cNvPr id="22" name="Rectangle 21">
            <a:extLst>
              <a:ext uri="{FF2B5EF4-FFF2-40B4-BE49-F238E27FC236}">
                <a16:creationId xmlns:a16="http://schemas.microsoft.com/office/drawing/2014/main" id="{E47F54CC-817F-43B0-9215-97BC48063515}"/>
              </a:ext>
            </a:extLst>
          </p:cNvPr>
          <p:cNvSpPr>
            <a:spLocks noGrp="1"/>
          </p:cNvSpPr>
          <p:nvPr/>
        </p:nvSpPr>
        <p:spPr>
          <a:xfrm>
            <a:off x="1619250" y="5543550"/>
            <a:ext cx="8953500" cy="342900"/>
          </a:xfrm>
          <a:prstGeom prst="rect">
            <a:avLst/>
          </a:prstGeom>
          <a:noFill/>
          <a:ln w="0">
            <a:noFill/>
            <a:prstDash val="solid"/>
          </a:ln>
        </p:spPr>
        <p:txBody>
          <a:bodyPr lIns="0" tIns="0" rIns="0" bIns="0" anchor="t"/>
          <a:lstStyle/>
          <a:p>
            <a:pPr algn="ctr">
              <a:defRPr sz="1650" b="1">
                <a:solidFill>
                  <a:srgbClr val="003359"/>
                </a:solidFill>
                <a:latin typeface="Arial"/>
                <a:ea typeface="Arial"/>
                <a:cs typeface="Arial"/>
              </a:defRPr>
            </a:pPr>
            <a:r>
              <a:rPr sz="1650" b="1">
                <a:solidFill>
                  <a:srgbClr val="003359"/>
                </a:solidFill>
                <a:latin typeface="Arial"/>
                <a:ea typeface="Arial"/>
                <a:cs typeface="Arial"/>
              </a:rPr>
              <a:t>Keep the student workflow simple while making advanced controls discoverable.</a:t>
            </a:r>
          </a:p>
        </p:txBody>
      </p:sp>
    </p:spTree>
    <p:extLst>
      <p:ext uri="{BB962C8B-B14F-4D97-AF65-F5344CB8AC3E}">
        <p14:creationId xmlns:p14="http://schemas.microsoft.com/office/powerpoint/2010/main" val="1308776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355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D6F652C-7AA8-4F3C-BF64-B30897E1E614}"/>
              </a:ext>
            </a:extLst>
          </p:cNvPr>
          <p:cNvSpPr>
            <a:spLocks noGrp="1"/>
          </p:cNvSpPr>
          <p:nvPr/>
        </p:nvSpPr>
        <p:spPr>
          <a:xfrm>
            <a:off x="495300" y="285750"/>
            <a:ext cx="6667500" cy="171450"/>
          </a:xfrm>
          <a:prstGeom prst="rect">
            <a:avLst/>
          </a:prstGeom>
          <a:noFill/>
          <a:ln w="0">
            <a:noFill/>
            <a:prstDash val="solid"/>
          </a:ln>
        </p:spPr>
        <p:txBody>
          <a:bodyPr lIns="0" tIns="0" rIns="0" bIns="0" anchor="t"/>
          <a:lstStyle/>
          <a:p>
            <a:pPr algn="l">
              <a:defRPr sz="900" b="1">
                <a:solidFill>
                  <a:srgbClr val="98C6EA"/>
                </a:solidFill>
                <a:latin typeface="Arial"/>
                <a:ea typeface="Arial"/>
                <a:cs typeface="Arial"/>
              </a:defRPr>
            </a:pPr>
            <a:r>
              <a:rPr sz="900" b="1">
                <a:solidFill>
                  <a:srgbClr val="98C6EA"/>
                </a:solidFill>
                <a:latin typeface="Arial"/>
                <a:ea typeface="Arial"/>
                <a:cs typeface="Arial"/>
              </a:rPr>
              <a:t>MASTER'S THESIS · APOLLON</a:t>
            </a:r>
          </a:p>
        </p:txBody>
      </p:sp>
      <p:pic>
        <p:nvPicPr>
          <p:cNvPr id="9" name="Picture 8"/>
          <p:cNvPicPr>
            <a:picLocks noChangeAspect="1"/>
          </p:cNvPicPr>
          <p:nvPr/>
        </p:nvPicPr>
        <p:blipFill>
          <a:blip r:embed="rId3"/>
          <a:stretch/>
        </p:blipFill>
        <p:spPr>
          <a:xfrm>
            <a:off x="10993315" y="266700"/>
            <a:ext cx="759069" cy="400050"/>
          </a:xfrm>
          <a:prstGeom prst="rect">
            <a:avLst/>
          </a:prstGeom>
        </p:spPr>
      </p:pic>
      <p:sp>
        <p:nvSpPr>
          <p:cNvPr id="3" name="Rectangle 2">
            <a:extLst>
              <a:ext uri="{FF2B5EF4-FFF2-40B4-BE49-F238E27FC236}">
                <a16:creationId xmlns:a16="http://schemas.microsoft.com/office/drawing/2014/main" id="{8CAB64EB-30D6-49B4-BC75-AEAC1193F00B}"/>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98C6EA"/>
                </a:solidFill>
                <a:latin typeface="Arial"/>
                <a:ea typeface="Arial"/>
                <a:cs typeface="Arial"/>
              </a:defRPr>
            </a:pPr>
            <a:r>
              <a:rPr sz="825" b="0">
                <a:solidFill>
                  <a:srgbClr val="98C6EA"/>
                </a:solidFill>
                <a:latin typeface="Arial"/>
                <a:ea typeface="Arial"/>
                <a:cs typeface="Arial"/>
              </a:rPr>
              <a:t>20</a:t>
            </a:r>
          </a:p>
        </p:txBody>
      </p:sp>
      <p:sp>
        <p:nvSpPr>
          <p:cNvPr id="4" name="Rectangle 3">
            <a:extLst>
              <a:ext uri="{FF2B5EF4-FFF2-40B4-BE49-F238E27FC236}">
                <a16:creationId xmlns:a16="http://schemas.microsoft.com/office/drawing/2014/main" id="{FD0B343F-437B-450E-9069-D8F5255DD326}"/>
              </a:ext>
            </a:extLst>
          </p:cNvPr>
          <p:cNvSpPr>
            <a:spLocks noGrp="1"/>
          </p:cNvSpPr>
          <p:nvPr/>
        </p:nvSpPr>
        <p:spPr>
          <a:xfrm>
            <a:off x="876300" y="1752600"/>
            <a:ext cx="9715500" cy="952500"/>
          </a:xfrm>
          <a:prstGeom prst="rect">
            <a:avLst/>
          </a:prstGeom>
          <a:noFill/>
          <a:ln w="0">
            <a:noFill/>
            <a:prstDash val="solid"/>
          </a:ln>
        </p:spPr>
        <p:txBody>
          <a:bodyPr lIns="0" tIns="0" rIns="0" bIns="0" anchor="t"/>
          <a:lstStyle/>
          <a:p>
            <a:pPr algn="l">
              <a:defRPr sz="3450" b="1">
                <a:solidFill>
                  <a:srgbClr val="FFFFFF"/>
                </a:solidFill>
                <a:latin typeface="Arial"/>
                <a:ea typeface="Arial"/>
                <a:cs typeface="Arial"/>
              </a:defRPr>
            </a:pPr>
            <a:r>
              <a:rPr sz="3450" b="1">
                <a:solidFill>
                  <a:srgbClr val="FFFFFF"/>
                </a:solidFill>
                <a:latin typeface="Arial"/>
                <a:ea typeface="Arial"/>
                <a:cs typeface="Arial"/>
              </a:rPr>
              <a:t>One maintained Apollon now serves every workflow</a:t>
            </a:r>
          </a:p>
        </p:txBody>
      </p:sp>
      <p:sp>
        <p:nvSpPr>
          <p:cNvPr id="5" name="Rectangle 4">
            <a:extLst>
              <a:ext uri="{FF2B5EF4-FFF2-40B4-BE49-F238E27FC236}">
                <a16:creationId xmlns:a16="http://schemas.microsoft.com/office/drawing/2014/main" id="{39EBB5F9-09EA-4107-AB64-58B6C8D229B8}"/>
              </a:ext>
            </a:extLst>
          </p:cNvPr>
          <p:cNvSpPr>
            <a:spLocks noGrp="1"/>
          </p:cNvSpPr>
          <p:nvPr/>
        </p:nvSpPr>
        <p:spPr>
          <a:xfrm>
            <a:off x="914400" y="3067050"/>
            <a:ext cx="8382000" cy="381000"/>
          </a:xfrm>
          <a:prstGeom prst="rect">
            <a:avLst/>
          </a:prstGeom>
          <a:noFill/>
          <a:ln w="0">
            <a:noFill/>
            <a:prstDash val="solid"/>
          </a:ln>
        </p:spPr>
        <p:txBody>
          <a:bodyPr lIns="0" tIns="0" rIns="0" bIns="0" anchor="t"/>
          <a:lstStyle/>
          <a:p>
            <a:pPr algn="l">
              <a:defRPr sz="1725" b="0">
                <a:solidFill>
                  <a:srgbClr val="98C6EA"/>
                </a:solidFill>
                <a:latin typeface="Arial"/>
                <a:ea typeface="Arial"/>
                <a:cs typeface="Arial"/>
              </a:defRPr>
            </a:pPr>
            <a:r>
              <a:rPr sz="1725" b="0">
                <a:solidFill>
                  <a:srgbClr val="98C6EA"/>
                </a:solidFill>
                <a:latin typeface="Arial"/>
                <a:ea typeface="Arial"/>
                <a:cs typeface="Arial"/>
              </a:rPr>
              <a:t>Standalone · iOS · Artemis · Athena · VS Code · export services</a:t>
            </a:r>
          </a:p>
        </p:txBody>
      </p:sp>
      <p:sp>
        <p:nvSpPr>
          <p:cNvPr id="6" name="Straight Connector 5">
            <a:extLst>
              <a:ext uri="{FF2B5EF4-FFF2-40B4-BE49-F238E27FC236}">
                <a16:creationId xmlns:a16="http://schemas.microsoft.com/office/drawing/2014/main" id="{B11545A9-1E8E-444E-8F35-AB22FFE07CED}"/>
              </a:ext>
            </a:extLst>
          </p:cNvPr>
          <p:cNvSpPr>
            <a:spLocks noGrp="1"/>
          </p:cNvSpPr>
          <p:nvPr/>
        </p:nvSpPr>
        <p:spPr>
          <a:xfrm>
            <a:off x="914400" y="3905250"/>
            <a:ext cx="2095500" cy="9525"/>
          </a:xfrm>
          <a:prstGeom prst="line">
            <a:avLst/>
          </a:prstGeom>
          <a:noFill/>
          <a:ln w="47625">
            <a:solidFill>
              <a:srgbClr val="98C6EA"/>
            </a:solidFill>
            <a:prstDash val="solid"/>
          </a:ln>
        </p:spPr>
        <p:txBody>
          <a:bodyPr/>
          <a:lstStyle/>
          <a:p>
            <a:endParaRPr lang="de-DE"/>
          </a:p>
        </p:txBody>
      </p:sp>
      <p:sp>
        <p:nvSpPr>
          <p:cNvPr id="7" name="Rectangle 6">
            <a:extLst>
              <a:ext uri="{FF2B5EF4-FFF2-40B4-BE49-F238E27FC236}">
                <a16:creationId xmlns:a16="http://schemas.microsoft.com/office/drawing/2014/main" id="{FCA017F1-9931-4288-8198-3A56F5ACB167}"/>
              </a:ext>
            </a:extLst>
          </p:cNvPr>
          <p:cNvSpPr>
            <a:spLocks noGrp="1"/>
          </p:cNvSpPr>
          <p:nvPr/>
        </p:nvSpPr>
        <p:spPr>
          <a:xfrm>
            <a:off x="914400" y="4438650"/>
            <a:ext cx="6096000" cy="552450"/>
          </a:xfrm>
          <a:prstGeom prst="rect">
            <a:avLst/>
          </a:prstGeom>
          <a:noFill/>
          <a:ln w="0">
            <a:noFill/>
            <a:prstDash val="solid"/>
          </a:ln>
        </p:spPr>
        <p:txBody>
          <a:bodyPr lIns="0" tIns="0" rIns="0" bIns="0" anchor="t"/>
          <a:lstStyle/>
          <a:p>
            <a:pPr algn="l">
              <a:defRPr sz="2550" b="1">
                <a:solidFill>
                  <a:srgbClr val="FFFFFF"/>
                </a:solidFill>
                <a:latin typeface="Arial"/>
                <a:ea typeface="Arial"/>
                <a:cs typeface="Arial"/>
              </a:defRPr>
            </a:pPr>
            <a:r>
              <a:rPr sz="2550" b="1">
                <a:solidFill>
                  <a:srgbClr val="FFFFFF"/>
                </a:solidFill>
                <a:latin typeface="Arial"/>
                <a:ea typeface="Arial"/>
                <a:cs typeface="Arial"/>
              </a:rPr>
              <a:t>Questions are welcome</a:t>
            </a:r>
          </a:p>
        </p:txBody>
      </p:sp>
    </p:spTree>
    <p:extLst>
      <p:ext uri="{BB962C8B-B14F-4D97-AF65-F5344CB8AC3E}">
        <p14:creationId xmlns:p14="http://schemas.microsoft.com/office/powerpoint/2010/main" val="1169695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3558"/>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DFAA1F-88FE-424F-97C4-3E0E652B72CD}"/>
              </a:ext>
            </a:extLst>
          </p:cNvPr>
          <p:cNvSpPr>
            <a:spLocks noGrp="1"/>
          </p:cNvSpPr>
          <p:nvPr/>
        </p:nvSpPr>
        <p:spPr>
          <a:xfrm>
            <a:off x="495300" y="285750"/>
            <a:ext cx="6667500" cy="171450"/>
          </a:xfrm>
          <a:prstGeom prst="rect">
            <a:avLst/>
          </a:prstGeom>
          <a:noFill/>
          <a:ln w="0">
            <a:noFill/>
            <a:prstDash val="solid"/>
          </a:ln>
        </p:spPr>
        <p:txBody>
          <a:bodyPr lIns="0" tIns="0" rIns="0" bIns="0" anchor="t"/>
          <a:lstStyle/>
          <a:p>
            <a:pPr algn="l">
              <a:defRPr sz="900" b="1">
                <a:solidFill>
                  <a:srgbClr val="98C6EA"/>
                </a:solidFill>
                <a:latin typeface="Arial"/>
                <a:ea typeface="Arial"/>
                <a:cs typeface="Arial"/>
              </a:defRPr>
            </a:pPr>
            <a:r>
              <a:rPr sz="900" b="1">
                <a:solidFill>
                  <a:srgbClr val="98C6EA"/>
                </a:solidFill>
                <a:latin typeface="Arial"/>
                <a:ea typeface="Arial"/>
                <a:cs typeface="Arial"/>
              </a:rPr>
              <a:t>ADDITIONAL MATERIAL</a:t>
            </a:r>
          </a:p>
        </p:txBody>
      </p:sp>
      <p:pic>
        <p:nvPicPr>
          <p:cNvPr id="7" name="Picture 6"/>
          <p:cNvPicPr>
            <a:picLocks noChangeAspect="1"/>
          </p:cNvPicPr>
          <p:nvPr/>
        </p:nvPicPr>
        <p:blipFill>
          <a:blip r:embed="rId3"/>
          <a:stretch/>
        </p:blipFill>
        <p:spPr>
          <a:xfrm>
            <a:off x="10993315" y="266700"/>
            <a:ext cx="759069" cy="400050"/>
          </a:xfrm>
          <a:prstGeom prst="rect">
            <a:avLst/>
          </a:prstGeom>
        </p:spPr>
      </p:pic>
      <p:sp>
        <p:nvSpPr>
          <p:cNvPr id="3" name="Rectangle 2">
            <a:extLst>
              <a:ext uri="{FF2B5EF4-FFF2-40B4-BE49-F238E27FC236}">
                <a16:creationId xmlns:a16="http://schemas.microsoft.com/office/drawing/2014/main" id="{8933D7AA-82C9-4464-9705-531181F76FE1}"/>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98C6EA"/>
                </a:solidFill>
                <a:latin typeface="Arial"/>
                <a:ea typeface="Arial"/>
                <a:cs typeface="Arial"/>
              </a:defRPr>
            </a:pPr>
            <a:r>
              <a:rPr sz="825" b="0">
                <a:solidFill>
                  <a:srgbClr val="98C6EA"/>
                </a:solidFill>
                <a:latin typeface="Arial"/>
                <a:ea typeface="Arial"/>
                <a:cs typeface="Arial"/>
              </a:rPr>
              <a:t>21</a:t>
            </a:r>
          </a:p>
        </p:txBody>
      </p:sp>
      <p:sp>
        <p:nvSpPr>
          <p:cNvPr id="4" name="Rectangle 3">
            <a:extLst>
              <a:ext uri="{FF2B5EF4-FFF2-40B4-BE49-F238E27FC236}">
                <a16:creationId xmlns:a16="http://schemas.microsoft.com/office/drawing/2014/main" id="{F3A76844-CDDA-49C2-A000-27E0DBE46CDB}"/>
              </a:ext>
            </a:extLst>
          </p:cNvPr>
          <p:cNvSpPr>
            <a:spLocks noGrp="1"/>
          </p:cNvSpPr>
          <p:nvPr/>
        </p:nvSpPr>
        <p:spPr>
          <a:xfrm>
            <a:off x="685800" y="2381250"/>
            <a:ext cx="7239000" cy="781050"/>
          </a:xfrm>
          <a:prstGeom prst="rect">
            <a:avLst/>
          </a:prstGeom>
          <a:noFill/>
          <a:ln w="0">
            <a:noFill/>
            <a:prstDash val="solid"/>
          </a:ln>
        </p:spPr>
        <p:txBody>
          <a:bodyPr lIns="0" tIns="0" rIns="0" bIns="0" anchor="t"/>
          <a:lstStyle/>
          <a:p>
            <a:pPr algn="l">
              <a:defRPr sz="4350" b="1">
                <a:solidFill>
                  <a:srgbClr val="FFFFFF"/>
                </a:solidFill>
                <a:latin typeface="Arial"/>
                <a:ea typeface="Arial"/>
                <a:cs typeface="Arial"/>
              </a:defRPr>
            </a:pPr>
            <a:r>
              <a:rPr sz="4350" b="1">
                <a:solidFill>
                  <a:srgbClr val="FFFFFF"/>
                </a:solidFill>
                <a:latin typeface="Arial"/>
                <a:ea typeface="Arial"/>
                <a:cs typeface="Arial"/>
              </a:rPr>
              <a:t>Appendix</a:t>
            </a:r>
          </a:p>
        </p:txBody>
      </p:sp>
      <p:sp>
        <p:nvSpPr>
          <p:cNvPr id="5" name="Rectangle 4">
            <a:extLst>
              <a:ext uri="{FF2B5EF4-FFF2-40B4-BE49-F238E27FC236}">
                <a16:creationId xmlns:a16="http://schemas.microsoft.com/office/drawing/2014/main" id="{7CA623F1-03EB-4842-850D-044037C86411}"/>
              </a:ext>
            </a:extLst>
          </p:cNvPr>
          <p:cNvSpPr>
            <a:spLocks noGrp="1"/>
          </p:cNvSpPr>
          <p:nvPr/>
        </p:nvSpPr>
        <p:spPr>
          <a:xfrm>
            <a:off x="723900" y="3409950"/>
            <a:ext cx="8382000" cy="400050"/>
          </a:xfrm>
          <a:prstGeom prst="rect">
            <a:avLst/>
          </a:prstGeom>
          <a:noFill/>
          <a:ln w="0">
            <a:noFill/>
            <a:prstDash val="solid"/>
          </a:ln>
        </p:spPr>
        <p:txBody>
          <a:bodyPr lIns="0" tIns="0" rIns="0" bIns="0" anchor="t"/>
          <a:lstStyle/>
          <a:p>
            <a:pPr algn="l">
              <a:defRPr sz="1800" b="0">
                <a:solidFill>
                  <a:srgbClr val="98C6EA"/>
                </a:solidFill>
                <a:latin typeface="Arial"/>
                <a:ea typeface="Arial"/>
                <a:cs typeface="Arial"/>
              </a:defRPr>
            </a:pPr>
            <a:r>
              <a:rPr sz="1800" b="0">
                <a:solidFill>
                  <a:srgbClr val="98C6EA"/>
                </a:solidFill>
                <a:latin typeface="Arial"/>
                <a:ea typeface="Arial"/>
                <a:cs typeface="Arial"/>
              </a:rPr>
              <a:t>Requirements · models · deployment · timeline · contributions</a:t>
            </a:r>
          </a:p>
        </p:txBody>
      </p:sp>
    </p:spTree>
    <p:extLst>
      <p:ext uri="{BB962C8B-B14F-4D97-AF65-F5344CB8AC3E}">
        <p14:creationId xmlns:p14="http://schemas.microsoft.com/office/powerpoint/2010/main" val="41714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ection label">
            <a:extLst>
              <a:ext uri="{FF2B5EF4-FFF2-40B4-BE49-F238E27FC236}">
                <a16:creationId xmlns:a16="http://schemas.microsoft.com/office/drawing/2014/main" id="{AC801E5A-B41A-4CB0-AA4F-5BF7F27C7EC0}"/>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TRACEABILITY</a:t>
            </a:r>
          </a:p>
        </p:txBody>
      </p:sp>
      <p:sp>
        <p:nvSpPr>
          <p:cNvPr id="2" name="Slide title">
            <a:extLst>
              <a:ext uri="{FF2B5EF4-FFF2-40B4-BE49-F238E27FC236}">
                <a16:creationId xmlns:a16="http://schemas.microsoft.com/office/drawing/2014/main" id="{941DC9A8-F083-4C57-84C2-906BF77D4C9C}"/>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The four objectives cover the full ecosystem</a:t>
            </a:r>
          </a:p>
        </p:txBody>
      </p:sp>
      <p:pic>
        <p:nvPicPr>
          <p:cNvPr id="37" name="Picture 36"/>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B23214F2-4B08-4747-8A42-F2D71144DB73}"/>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2B1AD713-8BF4-4D83-AB5D-74EEA32CFEE6}"/>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22</a:t>
            </a:r>
          </a:p>
        </p:txBody>
      </p:sp>
      <p:sp>
        <p:nvSpPr>
          <p:cNvPr id="6" name="Footer">
            <a:extLst>
              <a:ext uri="{FF2B5EF4-FFF2-40B4-BE49-F238E27FC236}">
                <a16:creationId xmlns:a16="http://schemas.microsoft.com/office/drawing/2014/main" id="{7844F45E-F295-4061-8D01-D4F2DAB6150E}"/>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6">
            <a:extLst>
              <a:ext uri="{FF2B5EF4-FFF2-40B4-BE49-F238E27FC236}">
                <a16:creationId xmlns:a16="http://schemas.microsoft.com/office/drawing/2014/main" id="{B19E99C7-261D-46A7-A094-12792E130B73}"/>
              </a:ext>
            </a:extLst>
          </p:cNvPr>
          <p:cNvSpPr>
            <a:spLocks noGrp="1"/>
          </p:cNvSpPr>
          <p:nvPr/>
        </p:nvSpPr>
        <p:spPr>
          <a:xfrm>
            <a:off x="704850" y="1409700"/>
            <a:ext cx="1143000" cy="266700"/>
          </a:xfrm>
          <a:prstGeom prst="rect">
            <a:avLst/>
          </a:prstGeom>
          <a:noFill/>
          <a:ln w="0">
            <a:noFill/>
            <a:prstDash val="solid"/>
          </a:ln>
        </p:spPr>
        <p:txBody>
          <a:bodyPr lIns="0" tIns="0" rIns="0" bIns="0" anchor="t"/>
          <a:lstStyle/>
          <a:p>
            <a:pPr algn="l">
              <a:defRPr sz="1125" b="1">
                <a:solidFill>
                  <a:srgbClr val="56616B"/>
                </a:solidFill>
                <a:latin typeface="Arial"/>
                <a:ea typeface="Arial"/>
                <a:cs typeface="Arial"/>
              </a:defRPr>
            </a:pPr>
            <a:r>
              <a:rPr sz="1125" b="1">
                <a:solidFill>
                  <a:srgbClr val="56616B"/>
                </a:solidFill>
                <a:latin typeface="Arial"/>
                <a:ea typeface="Arial"/>
                <a:cs typeface="Arial"/>
              </a:rPr>
              <a:t>Objective</a:t>
            </a:r>
          </a:p>
        </p:txBody>
      </p:sp>
      <p:sp>
        <p:nvSpPr>
          <p:cNvPr id="8" name="Rectangle 7">
            <a:extLst>
              <a:ext uri="{FF2B5EF4-FFF2-40B4-BE49-F238E27FC236}">
                <a16:creationId xmlns:a16="http://schemas.microsoft.com/office/drawing/2014/main" id="{BBC62417-B9CC-44A5-A6D2-D3F6F1489D5C}"/>
              </a:ext>
            </a:extLst>
          </p:cNvPr>
          <p:cNvSpPr>
            <a:spLocks noGrp="1"/>
          </p:cNvSpPr>
          <p:nvPr/>
        </p:nvSpPr>
        <p:spPr>
          <a:xfrm>
            <a:off x="2095500" y="1409700"/>
            <a:ext cx="2476500" cy="266700"/>
          </a:xfrm>
          <a:prstGeom prst="rect">
            <a:avLst/>
          </a:prstGeom>
          <a:noFill/>
          <a:ln w="0">
            <a:noFill/>
            <a:prstDash val="solid"/>
          </a:ln>
        </p:spPr>
        <p:txBody>
          <a:bodyPr lIns="0" tIns="0" rIns="0" bIns="0" anchor="t"/>
          <a:lstStyle/>
          <a:p>
            <a:pPr algn="l">
              <a:defRPr sz="1125" b="1">
                <a:solidFill>
                  <a:srgbClr val="56616B"/>
                </a:solidFill>
                <a:latin typeface="Arial"/>
                <a:ea typeface="Arial"/>
                <a:cs typeface="Arial"/>
              </a:defRPr>
            </a:pPr>
            <a:r>
              <a:rPr sz="1125" b="1">
                <a:solidFill>
                  <a:srgbClr val="56616B"/>
                </a:solidFill>
                <a:latin typeface="Arial"/>
                <a:ea typeface="Arial"/>
                <a:cs typeface="Arial"/>
              </a:rPr>
              <a:t>Requirement focus</a:t>
            </a:r>
          </a:p>
        </p:txBody>
      </p:sp>
      <p:sp>
        <p:nvSpPr>
          <p:cNvPr id="9" name="Rectangle 8">
            <a:extLst>
              <a:ext uri="{FF2B5EF4-FFF2-40B4-BE49-F238E27FC236}">
                <a16:creationId xmlns:a16="http://schemas.microsoft.com/office/drawing/2014/main" id="{2F1E12DE-CEB9-4982-BF71-96ABF2256757}"/>
              </a:ext>
            </a:extLst>
          </p:cNvPr>
          <p:cNvSpPr>
            <a:spLocks noGrp="1"/>
          </p:cNvSpPr>
          <p:nvPr/>
        </p:nvSpPr>
        <p:spPr>
          <a:xfrm>
            <a:off x="4686300" y="1409700"/>
            <a:ext cx="4495800" cy="266700"/>
          </a:xfrm>
          <a:prstGeom prst="rect">
            <a:avLst/>
          </a:prstGeom>
          <a:noFill/>
          <a:ln w="0">
            <a:noFill/>
            <a:prstDash val="solid"/>
          </a:ln>
        </p:spPr>
        <p:txBody>
          <a:bodyPr lIns="0" tIns="0" rIns="0" bIns="0" anchor="t"/>
          <a:lstStyle/>
          <a:p>
            <a:pPr algn="l">
              <a:defRPr sz="1125" b="1">
                <a:solidFill>
                  <a:srgbClr val="56616B"/>
                </a:solidFill>
                <a:latin typeface="Arial"/>
                <a:ea typeface="Arial"/>
                <a:cs typeface="Arial"/>
              </a:defRPr>
            </a:pPr>
            <a:r>
              <a:rPr sz="1125" b="1">
                <a:solidFill>
                  <a:srgbClr val="56616B"/>
                </a:solidFill>
                <a:latin typeface="Arial"/>
                <a:ea typeface="Arial"/>
                <a:cs typeface="Arial"/>
              </a:rPr>
              <a:t>Realized behavior</a:t>
            </a:r>
          </a:p>
        </p:txBody>
      </p:sp>
      <p:sp>
        <p:nvSpPr>
          <p:cNvPr id="10" name="Rectangle 9">
            <a:extLst>
              <a:ext uri="{FF2B5EF4-FFF2-40B4-BE49-F238E27FC236}">
                <a16:creationId xmlns:a16="http://schemas.microsoft.com/office/drawing/2014/main" id="{8A15F4DC-65EC-436F-8368-11716573328B}"/>
              </a:ext>
            </a:extLst>
          </p:cNvPr>
          <p:cNvSpPr>
            <a:spLocks noGrp="1"/>
          </p:cNvSpPr>
          <p:nvPr/>
        </p:nvSpPr>
        <p:spPr>
          <a:xfrm>
            <a:off x="9353550" y="1409700"/>
            <a:ext cx="2190750" cy="266700"/>
          </a:xfrm>
          <a:prstGeom prst="rect">
            <a:avLst/>
          </a:prstGeom>
          <a:noFill/>
          <a:ln w="0">
            <a:noFill/>
            <a:prstDash val="solid"/>
          </a:ln>
        </p:spPr>
        <p:txBody>
          <a:bodyPr lIns="0" tIns="0" rIns="0" bIns="0" anchor="t"/>
          <a:lstStyle/>
          <a:p>
            <a:pPr algn="l">
              <a:defRPr sz="1125" b="1">
                <a:solidFill>
                  <a:srgbClr val="56616B"/>
                </a:solidFill>
                <a:latin typeface="Arial"/>
                <a:ea typeface="Arial"/>
                <a:cs typeface="Arial"/>
              </a:defRPr>
            </a:pPr>
            <a:r>
              <a:rPr sz="1125" b="1">
                <a:solidFill>
                  <a:srgbClr val="56616B"/>
                </a:solidFill>
                <a:latin typeface="Arial"/>
                <a:ea typeface="Arial"/>
                <a:cs typeface="Arial"/>
              </a:rPr>
              <a:t>Primary environments</a:t>
            </a:r>
          </a:p>
        </p:txBody>
      </p:sp>
      <p:sp>
        <p:nvSpPr>
          <p:cNvPr id="11" name="Rectangle: Rounded Corners 10">
            <a:extLst>
              <a:ext uri="{FF2B5EF4-FFF2-40B4-BE49-F238E27FC236}">
                <a16:creationId xmlns:a16="http://schemas.microsoft.com/office/drawing/2014/main" id="{4BD027FE-58CA-4A1D-8A43-0100DE982468}"/>
              </a:ext>
            </a:extLst>
          </p:cNvPr>
          <p:cNvSpPr>
            <a:spLocks noGrp="1"/>
          </p:cNvSpPr>
          <p:nvPr/>
        </p:nvSpPr>
        <p:spPr>
          <a:xfrm>
            <a:off x="666750" y="1790700"/>
            <a:ext cx="704850" cy="685800"/>
          </a:xfrm>
          <a:prstGeom prst="roundRect">
            <a:avLst>
              <a:gd name="adj" fmla="val 16667"/>
            </a:avLst>
          </a:prstGeom>
          <a:solidFill>
            <a:srgbClr val="0065BD"/>
          </a:solidFill>
          <a:ln w="0">
            <a:noFill/>
            <a:prstDash val="solid"/>
          </a:ln>
        </p:spPr>
        <p:txBody>
          <a:bodyPr/>
          <a:lstStyle/>
          <a:p>
            <a:endParaRPr lang="de-DE"/>
          </a:p>
        </p:txBody>
      </p:sp>
      <p:sp>
        <p:nvSpPr>
          <p:cNvPr id="12" name="Rectangle 11">
            <a:extLst>
              <a:ext uri="{FF2B5EF4-FFF2-40B4-BE49-F238E27FC236}">
                <a16:creationId xmlns:a16="http://schemas.microsoft.com/office/drawing/2014/main" id="{69CC1D20-3812-4138-8B9F-DD1184858E5C}"/>
              </a:ext>
            </a:extLst>
          </p:cNvPr>
          <p:cNvSpPr>
            <a:spLocks noGrp="1"/>
          </p:cNvSpPr>
          <p:nvPr/>
        </p:nvSpPr>
        <p:spPr>
          <a:xfrm>
            <a:off x="800100" y="1981200"/>
            <a:ext cx="438150" cy="26670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O1</a:t>
            </a:r>
          </a:p>
        </p:txBody>
      </p:sp>
      <p:sp>
        <p:nvSpPr>
          <p:cNvPr id="13" name="Rectangle 12">
            <a:extLst>
              <a:ext uri="{FF2B5EF4-FFF2-40B4-BE49-F238E27FC236}">
                <a16:creationId xmlns:a16="http://schemas.microsoft.com/office/drawing/2014/main" id="{24BC6370-731B-4E25-82EF-B25688BACBC0}"/>
              </a:ext>
            </a:extLst>
          </p:cNvPr>
          <p:cNvSpPr>
            <a:spLocks noGrp="1"/>
          </p:cNvSpPr>
          <p:nvPr/>
        </p:nvSpPr>
        <p:spPr>
          <a:xfrm>
            <a:off x="2095500" y="1857375"/>
            <a:ext cx="2362200" cy="266700"/>
          </a:xfrm>
          <a:prstGeom prst="rect">
            <a:avLst/>
          </a:prstGeom>
          <a:noFill/>
          <a:ln w="0">
            <a:noFill/>
            <a:prstDash val="solid"/>
          </a:ln>
        </p:spPr>
        <p:txBody>
          <a:bodyPr lIns="0" tIns="0" rIns="0" bIns="0" anchor="t"/>
          <a:lstStyle/>
          <a:p>
            <a:pPr algn="l">
              <a:defRPr sz="1575" b="1">
                <a:solidFill>
                  <a:srgbClr val="003359"/>
                </a:solidFill>
                <a:latin typeface="Arial"/>
                <a:ea typeface="Arial"/>
                <a:cs typeface="Arial"/>
              </a:defRPr>
            </a:pPr>
            <a:r>
              <a:rPr sz="1575" b="1">
                <a:solidFill>
                  <a:srgbClr val="003359"/>
                </a:solidFill>
                <a:latin typeface="Arial"/>
                <a:ea typeface="Arial"/>
                <a:cs typeface="Arial"/>
              </a:rPr>
              <a:t>Usability</a:t>
            </a:r>
          </a:p>
        </p:txBody>
      </p:sp>
      <p:sp>
        <p:nvSpPr>
          <p:cNvPr id="14" name="Rectangle 13">
            <a:extLst>
              <a:ext uri="{FF2B5EF4-FFF2-40B4-BE49-F238E27FC236}">
                <a16:creationId xmlns:a16="http://schemas.microsoft.com/office/drawing/2014/main" id="{B039110F-C914-49A9-BE1B-3A3CA7C9875F}"/>
              </a:ext>
            </a:extLst>
          </p:cNvPr>
          <p:cNvSpPr>
            <a:spLocks noGrp="1"/>
          </p:cNvSpPr>
          <p:nvPr/>
        </p:nvSpPr>
        <p:spPr>
          <a:xfrm>
            <a:off x="4686300" y="1828800"/>
            <a:ext cx="43624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Edges · alignment · controls · standalone home and routing</a:t>
            </a:r>
          </a:p>
        </p:txBody>
      </p:sp>
      <p:sp>
        <p:nvSpPr>
          <p:cNvPr id="15" name="Rectangle 14">
            <a:extLst>
              <a:ext uri="{FF2B5EF4-FFF2-40B4-BE49-F238E27FC236}">
                <a16:creationId xmlns:a16="http://schemas.microsoft.com/office/drawing/2014/main" id="{E08C2A31-6308-496D-9001-3FA495D1087D}"/>
              </a:ext>
            </a:extLst>
          </p:cNvPr>
          <p:cNvSpPr>
            <a:spLocks noGrp="1"/>
          </p:cNvSpPr>
          <p:nvPr/>
        </p:nvSpPr>
        <p:spPr>
          <a:xfrm>
            <a:off x="9353550" y="1828800"/>
            <a:ext cx="21145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Library · standalone · iOS</a:t>
            </a:r>
          </a:p>
        </p:txBody>
      </p:sp>
      <p:sp>
        <p:nvSpPr>
          <p:cNvPr id="16" name="Straight Connector 15">
            <a:extLst>
              <a:ext uri="{FF2B5EF4-FFF2-40B4-BE49-F238E27FC236}">
                <a16:creationId xmlns:a16="http://schemas.microsoft.com/office/drawing/2014/main" id="{D4D9DA25-F002-4825-AB43-126B6933E061}"/>
              </a:ext>
            </a:extLst>
          </p:cNvPr>
          <p:cNvSpPr>
            <a:spLocks noGrp="1"/>
          </p:cNvSpPr>
          <p:nvPr/>
        </p:nvSpPr>
        <p:spPr>
          <a:xfrm>
            <a:off x="2095500" y="2571750"/>
            <a:ext cx="9372600" cy="9525"/>
          </a:xfrm>
          <a:prstGeom prst="line">
            <a:avLst/>
          </a:prstGeom>
          <a:noFill/>
          <a:ln w="9525">
            <a:solidFill>
              <a:srgbClr val="DDE3E8"/>
            </a:solidFill>
            <a:prstDash val="solid"/>
          </a:ln>
        </p:spPr>
        <p:txBody>
          <a:bodyPr/>
          <a:lstStyle/>
          <a:p>
            <a:endParaRPr lang="de-DE"/>
          </a:p>
        </p:txBody>
      </p:sp>
      <p:sp>
        <p:nvSpPr>
          <p:cNvPr id="17" name="Rectangle: Rounded Corners 16">
            <a:extLst>
              <a:ext uri="{FF2B5EF4-FFF2-40B4-BE49-F238E27FC236}">
                <a16:creationId xmlns:a16="http://schemas.microsoft.com/office/drawing/2014/main" id="{7973662D-5C0C-4EC9-8D7C-7291E375B4F9}"/>
              </a:ext>
            </a:extLst>
          </p:cNvPr>
          <p:cNvSpPr>
            <a:spLocks noGrp="1"/>
          </p:cNvSpPr>
          <p:nvPr/>
        </p:nvSpPr>
        <p:spPr>
          <a:xfrm>
            <a:off x="666750" y="2781300"/>
            <a:ext cx="704850" cy="685800"/>
          </a:xfrm>
          <a:prstGeom prst="roundRect">
            <a:avLst>
              <a:gd name="adj" fmla="val 16667"/>
            </a:avLst>
          </a:prstGeom>
          <a:solidFill>
            <a:srgbClr val="64A0C8"/>
          </a:solidFill>
          <a:ln w="0">
            <a:noFill/>
            <a:prstDash val="solid"/>
          </a:ln>
        </p:spPr>
        <p:txBody>
          <a:bodyPr/>
          <a:lstStyle/>
          <a:p>
            <a:endParaRPr lang="de-DE"/>
          </a:p>
        </p:txBody>
      </p:sp>
      <p:sp>
        <p:nvSpPr>
          <p:cNvPr id="18" name="Rectangle 17">
            <a:extLst>
              <a:ext uri="{FF2B5EF4-FFF2-40B4-BE49-F238E27FC236}">
                <a16:creationId xmlns:a16="http://schemas.microsoft.com/office/drawing/2014/main" id="{B248B3F0-AB68-470F-9C9C-4E736EA90026}"/>
              </a:ext>
            </a:extLst>
          </p:cNvPr>
          <p:cNvSpPr>
            <a:spLocks noGrp="1"/>
          </p:cNvSpPr>
          <p:nvPr/>
        </p:nvSpPr>
        <p:spPr>
          <a:xfrm>
            <a:off x="800100" y="2971800"/>
            <a:ext cx="438150" cy="26670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O2</a:t>
            </a:r>
          </a:p>
        </p:txBody>
      </p:sp>
      <p:sp>
        <p:nvSpPr>
          <p:cNvPr id="19" name="Rectangle 18">
            <a:extLst>
              <a:ext uri="{FF2B5EF4-FFF2-40B4-BE49-F238E27FC236}">
                <a16:creationId xmlns:a16="http://schemas.microsoft.com/office/drawing/2014/main" id="{F4600FBA-1A14-4295-B40D-C37A48CCC096}"/>
              </a:ext>
            </a:extLst>
          </p:cNvPr>
          <p:cNvSpPr>
            <a:spLocks noGrp="1"/>
          </p:cNvSpPr>
          <p:nvPr/>
        </p:nvSpPr>
        <p:spPr>
          <a:xfrm>
            <a:off x="2095500" y="2847975"/>
            <a:ext cx="2362200" cy="266700"/>
          </a:xfrm>
          <a:prstGeom prst="rect">
            <a:avLst/>
          </a:prstGeom>
          <a:noFill/>
          <a:ln w="0">
            <a:noFill/>
            <a:prstDash val="solid"/>
          </a:ln>
        </p:spPr>
        <p:txBody>
          <a:bodyPr lIns="0" tIns="0" rIns="0" bIns="0" anchor="t"/>
          <a:lstStyle/>
          <a:p>
            <a:pPr algn="l">
              <a:defRPr sz="1575" b="1">
                <a:solidFill>
                  <a:srgbClr val="003359"/>
                </a:solidFill>
                <a:latin typeface="Arial"/>
                <a:ea typeface="Arial"/>
                <a:cs typeface="Arial"/>
              </a:defRPr>
            </a:pPr>
            <a:r>
              <a:rPr sz="1575" b="1">
                <a:solidFill>
                  <a:srgbClr val="003359"/>
                </a:solidFill>
                <a:latin typeface="Arial"/>
                <a:ea typeface="Arial"/>
                <a:cs typeface="Arial"/>
              </a:rPr>
              <a:t>Collaboration</a:t>
            </a:r>
          </a:p>
        </p:txBody>
      </p:sp>
      <p:sp>
        <p:nvSpPr>
          <p:cNvPr id="20" name="Rectangle 19">
            <a:extLst>
              <a:ext uri="{FF2B5EF4-FFF2-40B4-BE49-F238E27FC236}">
                <a16:creationId xmlns:a16="http://schemas.microsoft.com/office/drawing/2014/main" id="{92EA0B91-4F54-496C-9BE5-936B053B1F96}"/>
              </a:ext>
            </a:extLst>
          </p:cNvPr>
          <p:cNvSpPr>
            <a:spLocks noGrp="1"/>
          </p:cNvSpPr>
          <p:nvPr/>
        </p:nvSpPr>
        <p:spPr>
          <a:xfrm>
            <a:off x="4686300" y="2819400"/>
            <a:ext cx="43624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Cursors · selections · drag highlights · viewport follow</a:t>
            </a:r>
          </a:p>
        </p:txBody>
      </p:sp>
      <p:sp>
        <p:nvSpPr>
          <p:cNvPr id="21" name="Rectangle 20">
            <a:extLst>
              <a:ext uri="{FF2B5EF4-FFF2-40B4-BE49-F238E27FC236}">
                <a16:creationId xmlns:a16="http://schemas.microsoft.com/office/drawing/2014/main" id="{E2414AAE-B6F9-4ECE-B886-21807990E781}"/>
              </a:ext>
            </a:extLst>
          </p:cNvPr>
          <p:cNvSpPr>
            <a:spLocks noGrp="1"/>
          </p:cNvSpPr>
          <p:nvPr/>
        </p:nvSpPr>
        <p:spPr>
          <a:xfrm>
            <a:off x="9353550" y="2819400"/>
            <a:ext cx="21145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Library · standalone · Artemis</a:t>
            </a:r>
          </a:p>
        </p:txBody>
      </p:sp>
      <p:sp>
        <p:nvSpPr>
          <p:cNvPr id="22" name="Straight Connector 21">
            <a:extLst>
              <a:ext uri="{FF2B5EF4-FFF2-40B4-BE49-F238E27FC236}">
                <a16:creationId xmlns:a16="http://schemas.microsoft.com/office/drawing/2014/main" id="{1E33C4CF-6D07-41C0-9AAE-4B39971125E4}"/>
              </a:ext>
            </a:extLst>
          </p:cNvPr>
          <p:cNvSpPr>
            <a:spLocks noGrp="1"/>
          </p:cNvSpPr>
          <p:nvPr/>
        </p:nvSpPr>
        <p:spPr>
          <a:xfrm>
            <a:off x="2095500" y="3562350"/>
            <a:ext cx="9372600" cy="9525"/>
          </a:xfrm>
          <a:prstGeom prst="line">
            <a:avLst/>
          </a:prstGeom>
          <a:noFill/>
          <a:ln w="9525">
            <a:solidFill>
              <a:srgbClr val="DDE3E8"/>
            </a:solidFill>
            <a:prstDash val="solid"/>
          </a:ln>
        </p:spPr>
        <p:txBody>
          <a:bodyPr/>
          <a:lstStyle/>
          <a:p>
            <a:endParaRPr lang="de-DE"/>
          </a:p>
        </p:txBody>
      </p:sp>
      <p:sp>
        <p:nvSpPr>
          <p:cNvPr id="23" name="Rectangle: Rounded Corners 22">
            <a:extLst>
              <a:ext uri="{FF2B5EF4-FFF2-40B4-BE49-F238E27FC236}">
                <a16:creationId xmlns:a16="http://schemas.microsoft.com/office/drawing/2014/main" id="{1241055E-C654-490F-B8D7-640AD000E41B}"/>
              </a:ext>
            </a:extLst>
          </p:cNvPr>
          <p:cNvSpPr>
            <a:spLocks noGrp="1"/>
          </p:cNvSpPr>
          <p:nvPr/>
        </p:nvSpPr>
        <p:spPr>
          <a:xfrm>
            <a:off x="666750" y="3771900"/>
            <a:ext cx="704850" cy="685800"/>
          </a:xfrm>
          <a:prstGeom prst="roundRect">
            <a:avLst>
              <a:gd name="adj" fmla="val 16667"/>
            </a:avLst>
          </a:prstGeom>
          <a:solidFill>
            <a:srgbClr val="A2AD00"/>
          </a:solidFill>
          <a:ln w="0">
            <a:noFill/>
            <a:prstDash val="solid"/>
          </a:ln>
        </p:spPr>
        <p:txBody>
          <a:bodyPr/>
          <a:lstStyle/>
          <a:p>
            <a:endParaRPr lang="de-DE"/>
          </a:p>
        </p:txBody>
      </p:sp>
      <p:sp>
        <p:nvSpPr>
          <p:cNvPr id="24" name="Rectangle 23">
            <a:extLst>
              <a:ext uri="{FF2B5EF4-FFF2-40B4-BE49-F238E27FC236}">
                <a16:creationId xmlns:a16="http://schemas.microsoft.com/office/drawing/2014/main" id="{8775FCD6-F6D1-4A97-883C-05181E46E4C2}"/>
              </a:ext>
            </a:extLst>
          </p:cNvPr>
          <p:cNvSpPr>
            <a:spLocks noGrp="1"/>
          </p:cNvSpPr>
          <p:nvPr/>
        </p:nvSpPr>
        <p:spPr>
          <a:xfrm>
            <a:off x="800100" y="3962400"/>
            <a:ext cx="438150" cy="26670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O3</a:t>
            </a:r>
          </a:p>
        </p:txBody>
      </p:sp>
      <p:sp>
        <p:nvSpPr>
          <p:cNvPr id="25" name="Rectangle 24">
            <a:extLst>
              <a:ext uri="{FF2B5EF4-FFF2-40B4-BE49-F238E27FC236}">
                <a16:creationId xmlns:a16="http://schemas.microsoft.com/office/drawing/2014/main" id="{E076B3F5-A3F0-4833-8892-E8F49D194E27}"/>
              </a:ext>
            </a:extLst>
          </p:cNvPr>
          <p:cNvSpPr>
            <a:spLocks noGrp="1"/>
          </p:cNvSpPr>
          <p:nvPr/>
        </p:nvSpPr>
        <p:spPr>
          <a:xfrm>
            <a:off x="2095500" y="3838575"/>
            <a:ext cx="2362200" cy="266700"/>
          </a:xfrm>
          <a:prstGeom prst="rect">
            <a:avLst/>
          </a:prstGeom>
          <a:noFill/>
          <a:ln w="0">
            <a:noFill/>
            <a:prstDash val="solid"/>
          </a:ln>
        </p:spPr>
        <p:txBody>
          <a:bodyPr lIns="0" tIns="0" rIns="0" bIns="0" anchor="t"/>
          <a:lstStyle/>
          <a:p>
            <a:pPr algn="l">
              <a:defRPr sz="1575" b="1">
                <a:solidFill>
                  <a:srgbClr val="003359"/>
                </a:solidFill>
                <a:latin typeface="Arial"/>
                <a:ea typeface="Arial"/>
                <a:cs typeface="Arial"/>
              </a:defRPr>
            </a:pPr>
            <a:r>
              <a:rPr sz="1575" b="1">
                <a:solidFill>
                  <a:srgbClr val="003359"/>
                </a:solidFill>
                <a:latin typeface="Arial"/>
                <a:ea typeface="Arial"/>
                <a:cs typeface="Arial"/>
              </a:rPr>
              <a:t>Compatibility</a:t>
            </a:r>
          </a:p>
        </p:txBody>
      </p:sp>
      <p:sp>
        <p:nvSpPr>
          <p:cNvPr id="26" name="Rectangle 25">
            <a:extLst>
              <a:ext uri="{FF2B5EF4-FFF2-40B4-BE49-F238E27FC236}">
                <a16:creationId xmlns:a16="http://schemas.microsoft.com/office/drawing/2014/main" id="{E3FF7270-5BFA-4D1A-8EDB-B0BFFD3339D2}"/>
              </a:ext>
            </a:extLst>
          </p:cNvPr>
          <p:cNvSpPr>
            <a:spLocks noGrp="1"/>
          </p:cNvSpPr>
          <p:nvPr/>
        </p:nvSpPr>
        <p:spPr>
          <a:xfrm>
            <a:off x="4686300" y="3810000"/>
            <a:ext cx="43624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Migration · quiz · assessment · Athena parsers · VS Code</a:t>
            </a:r>
          </a:p>
        </p:txBody>
      </p:sp>
      <p:sp>
        <p:nvSpPr>
          <p:cNvPr id="27" name="Rectangle 26">
            <a:extLst>
              <a:ext uri="{FF2B5EF4-FFF2-40B4-BE49-F238E27FC236}">
                <a16:creationId xmlns:a16="http://schemas.microsoft.com/office/drawing/2014/main" id="{E2D41219-DF7D-4A11-93E2-4F5F978C17A8}"/>
              </a:ext>
            </a:extLst>
          </p:cNvPr>
          <p:cNvSpPr>
            <a:spLocks noGrp="1"/>
          </p:cNvSpPr>
          <p:nvPr/>
        </p:nvSpPr>
        <p:spPr>
          <a:xfrm>
            <a:off x="9353550" y="3810000"/>
            <a:ext cx="21145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Artemis · Athena · VS Code</a:t>
            </a:r>
          </a:p>
        </p:txBody>
      </p:sp>
      <p:sp>
        <p:nvSpPr>
          <p:cNvPr id="28" name="Straight Connector 27">
            <a:extLst>
              <a:ext uri="{FF2B5EF4-FFF2-40B4-BE49-F238E27FC236}">
                <a16:creationId xmlns:a16="http://schemas.microsoft.com/office/drawing/2014/main" id="{38756106-1A67-4697-BAC9-A629D7D5430C}"/>
              </a:ext>
            </a:extLst>
          </p:cNvPr>
          <p:cNvSpPr>
            <a:spLocks noGrp="1"/>
          </p:cNvSpPr>
          <p:nvPr/>
        </p:nvSpPr>
        <p:spPr>
          <a:xfrm>
            <a:off x="2095500" y="4552950"/>
            <a:ext cx="9372600" cy="9525"/>
          </a:xfrm>
          <a:prstGeom prst="line">
            <a:avLst/>
          </a:prstGeom>
          <a:noFill/>
          <a:ln w="9525">
            <a:solidFill>
              <a:srgbClr val="DDE3E8"/>
            </a:solidFill>
            <a:prstDash val="solid"/>
          </a:ln>
        </p:spPr>
        <p:txBody>
          <a:bodyPr/>
          <a:lstStyle/>
          <a:p>
            <a:endParaRPr lang="de-DE"/>
          </a:p>
        </p:txBody>
      </p:sp>
      <p:sp>
        <p:nvSpPr>
          <p:cNvPr id="29" name="Rectangle: Rounded Corners 28">
            <a:extLst>
              <a:ext uri="{FF2B5EF4-FFF2-40B4-BE49-F238E27FC236}">
                <a16:creationId xmlns:a16="http://schemas.microsoft.com/office/drawing/2014/main" id="{39C72B8F-44BC-451B-8D46-13F25F44DF92}"/>
              </a:ext>
            </a:extLst>
          </p:cNvPr>
          <p:cNvSpPr>
            <a:spLocks noGrp="1"/>
          </p:cNvSpPr>
          <p:nvPr/>
        </p:nvSpPr>
        <p:spPr>
          <a:xfrm>
            <a:off x="666750" y="4762500"/>
            <a:ext cx="704850" cy="685800"/>
          </a:xfrm>
          <a:prstGeom prst="roundRect">
            <a:avLst>
              <a:gd name="adj" fmla="val 16667"/>
            </a:avLst>
          </a:prstGeom>
          <a:solidFill>
            <a:srgbClr val="E37222"/>
          </a:solidFill>
          <a:ln w="0">
            <a:noFill/>
            <a:prstDash val="solid"/>
          </a:ln>
        </p:spPr>
        <p:txBody>
          <a:bodyPr/>
          <a:lstStyle/>
          <a:p>
            <a:endParaRPr lang="de-DE"/>
          </a:p>
        </p:txBody>
      </p:sp>
      <p:sp>
        <p:nvSpPr>
          <p:cNvPr id="30" name="Rectangle 29">
            <a:extLst>
              <a:ext uri="{FF2B5EF4-FFF2-40B4-BE49-F238E27FC236}">
                <a16:creationId xmlns:a16="http://schemas.microsoft.com/office/drawing/2014/main" id="{9B216B8A-896F-4B51-92DE-CB4C5BC3CDED}"/>
              </a:ext>
            </a:extLst>
          </p:cNvPr>
          <p:cNvSpPr>
            <a:spLocks noGrp="1"/>
          </p:cNvSpPr>
          <p:nvPr/>
        </p:nvSpPr>
        <p:spPr>
          <a:xfrm>
            <a:off x="800100" y="4953000"/>
            <a:ext cx="438150" cy="266700"/>
          </a:xfrm>
          <a:prstGeom prst="rect">
            <a:avLst/>
          </a:prstGeom>
          <a:noFill/>
          <a:ln w="0">
            <a:noFill/>
            <a:prstDash val="solid"/>
          </a:ln>
        </p:spPr>
        <p:txBody>
          <a:bodyPr lIns="0" tIns="0" rIns="0" bIns="0" anchor="ct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O4</a:t>
            </a:r>
          </a:p>
        </p:txBody>
      </p:sp>
      <p:sp>
        <p:nvSpPr>
          <p:cNvPr id="31" name="Rectangle 30">
            <a:extLst>
              <a:ext uri="{FF2B5EF4-FFF2-40B4-BE49-F238E27FC236}">
                <a16:creationId xmlns:a16="http://schemas.microsoft.com/office/drawing/2014/main" id="{456E7473-EFAF-4D72-987E-7BB87C46338B}"/>
              </a:ext>
            </a:extLst>
          </p:cNvPr>
          <p:cNvSpPr>
            <a:spLocks noGrp="1"/>
          </p:cNvSpPr>
          <p:nvPr/>
        </p:nvSpPr>
        <p:spPr>
          <a:xfrm>
            <a:off x="2095500" y="4829175"/>
            <a:ext cx="2362200" cy="266700"/>
          </a:xfrm>
          <a:prstGeom prst="rect">
            <a:avLst/>
          </a:prstGeom>
          <a:noFill/>
          <a:ln w="0">
            <a:noFill/>
            <a:prstDash val="solid"/>
          </a:ln>
        </p:spPr>
        <p:txBody>
          <a:bodyPr lIns="0" tIns="0" rIns="0" bIns="0" anchor="t"/>
          <a:lstStyle/>
          <a:p>
            <a:pPr algn="l">
              <a:defRPr sz="1575" b="1">
                <a:solidFill>
                  <a:srgbClr val="003359"/>
                </a:solidFill>
                <a:latin typeface="Arial"/>
                <a:ea typeface="Arial"/>
                <a:cs typeface="Arial"/>
              </a:defRPr>
            </a:pPr>
            <a:r>
              <a:rPr sz="1575" b="1">
                <a:solidFill>
                  <a:srgbClr val="003359"/>
                </a:solidFill>
                <a:latin typeface="Arial"/>
                <a:ea typeface="Arial"/>
                <a:cs typeface="Arial"/>
              </a:rPr>
              <a:t>Portability</a:t>
            </a:r>
          </a:p>
        </p:txBody>
      </p:sp>
      <p:sp>
        <p:nvSpPr>
          <p:cNvPr id="32" name="Rectangle 31">
            <a:extLst>
              <a:ext uri="{FF2B5EF4-FFF2-40B4-BE49-F238E27FC236}">
                <a16:creationId xmlns:a16="http://schemas.microsoft.com/office/drawing/2014/main" id="{08D2CEAB-4812-4246-85D5-3B90BFEC1DF1}"/>
              </a:ext>
            </a:extLst>
          </p:cNvPr>
          <p:cNvSpPr>
            <a:spLocks noGrp="1"/>
          </p:cNvSpPr>
          <p:nvPr/>
        </p:nvSpPr>
        <p:spPr>
          <a:xfrm>
            <a:off x="4686300" y="4800600"/>
            <a:ext cx="43624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Server PDF · SVG modes · rendering fixes · PPTX export</a:t>
            </a:r>
          </a:p>
        </p:txBody>
      </p:sp>
      <p:sp>
        <p:nvSpPr>
          <p:cNvPr id="33" name="Rectangle 32">
            <a:extLst>
              <a:ext uri="{FF2B5EF4-FFF2-40B4-BE49-F238E27FC236}">
                <a16:creationId xmlns:a16="http://schemas.microsoft.com/office/drawing/2014/main" id="{1CF436D8-DBED-4D79-8C57-41CE81D5C3AB}"/>
              </a:ext>
            </a:extLst>
          </p:cNvPr>
          <p:cNvSpPr>
            <a:spLocks noGrp="1"/>
          </p:cNvSpPr>
          <p:nvPr/>
        </p:nvSpPr>
        <p:spPr>
          <a:xfrm>
            <a:off x="9353550" y="4800600"/>
            <a:ext cx="2114550" cy="5334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Web · server · iOS</a:t>
            </a:r>
          </a:p>
        </p:txBody>
      </p:sp>
      <p:sp>
        <p:nvSpPr>
          <p:cNvPr id="34" name="Straight Connector 33">
            <a:extLst>
              <a:ext uri="{FF2B5EF4-FFF2-40B4-BE49-F238E27FC236}">
                <a16:creationId xmlns:a16="http://schemas.microsoft.com/office/drawing/2014/main" id="{97A518A6-D594-42BF-9B09-E40A4DE3E587}"/>
              </a:ext>
            </a:extLst>
          </p:cNvPr>
          <p:cNvSpPr>
            <a:spLocks noGrp="1"/>
          </p:cNvSpPr>
          <p:nvPr/>
        </p:nvSpPr>
        <p:spPr>
          <a:xfrm>
            <a:off x="2095500" y="5543550"/>
            <a:ext cx="9372600" cy="9525"/>
          </a:xfrm>
          <a:prstGeom prst="line">
            <a:avLst/>
          </a:prstGeom>
          <a:noFill/>
          <a:ln w="9525">
            <a:solidFill>
              <a:srgbClr val="DDE3E8"/>
            </a:solidFill>
            <a:prstDash val="solid"/>
          </a:ln>
        </p:spPr>
        <p:txBody>
          <a:bodyPr/>
          <a:lstStyle/>
          <a:p>
            <a:endParaRPr lang="de-DE"/>
          </a:p>
        </p:txBody>
      </p:sp>
    </p:spTree>
    <p:extLst>
      <p:ext uri="{BB962C8B-B14F-4D97-AF65-F5344CB8AC3E}">
        <p14:creationId xmlns:p14="http://schemas.microsoft.com/office/powerpoint/2010/main" val="1621775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 label">
            <a:extLst>
              <a:ext uri="{FF2B5EF4-FFF2-40B4-BE49-F238E27FC236}">
                <a16:creationId xmlns:a16="http://schemas.microsoft.com/office/drawing/2014/main" id="{5808FC73-C083-452F-BCC6-4396EC09120C}"/>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SYSTEM MODEL</a:t>
            </a:r>
          </a:p>
        </p:txBody>
      </p:sp>
      <p:sp>
        <p:nvSpPr>
          <p:cNvPr id="2" name="Slide title">
            <a:extLst>
              <a:ext uri="{FF2B5EF4-FFF2-40B4-BE49-F238E27FC236}">
                <a16:creationId xmlns:a16="http://schemas.microsoft.com/office/drawing/2014/main" id="{FB3CC325-6DC8-4E40-A593-98C5D2BDD52A}"/>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Diagram data and session awareness stay separate</a:t>
            </a:r>
          </a:p>
        </p:txBody>
      </p:sp>
      <p:pic>
        <p:nvPicPr>
          <p:cNvPr id="10" name="Picture 9"/>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450402BF-3F38-45EB-BDC8-EEC00E5C3C4B}"/>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6A5639E8-6648-4549-B16F-389514C3EE52}"/>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23</a:t>
            </a:r>
          </a:p>
        </p:txBody>
      </p:sp>
      <p:sp>
        <p:nvSpPr>
          <p:cNvPr id="6" name="Footer">
            <a:extLst>
              <a:ext uri="{FF2B5EF4-FFF2-40B4-BE49-F238E27FC236}">
                <a16:creationId xmlns:a16="http://schemas.microsoft.com/office/drawing/2014/main" id="{B7F9A9DD-925D-4ACE-9429-0B784A94212C}"/>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14" name="Picture 13"/>
          <p:cNvPicPr>
            <a:picLocks noChangeAspect="1"/>
          </p:cNvPicPr>
          <p:nvPr/>
        </p:nvPicPr>
        <p:blipFill>
          <a:blip r:embed="rId4"/>
          <a:stretch/>
        </p:blipFill>
        <p:spPr>
          <a:xfrm>
            <a:off x="2157329" y="1333500"/>
            <a:ext cx="7877342" cy="4762500"/>
          </a:xfrm>
          <a:prstGeom prst="rect">
            <a:avLst/>
          </a:prstGeom>
        </p:spPr>
      </p:pic>
    </p:spTree>
    <p:extLst>
      <p:ext uri="{BB962C8B-B14F-4D97-AF65-F5344CB8AC3E}">
        <p14:creationId xmlns:p14="http://schemas.microsoft.com/office/powerpoint/2010/main" val="44987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 label">
            <a:extLst>
              <a:ext uri="{FF2B5EF4-FFF2-40B4-BE49-F238E27FC236}">
                <a16:creationId xmlns:a16="http://schemas.microsoft.com/office/drawing/2014/main" id="{93DF01D6-BDB0-406F-BE69-A0A8CEA1F54A}"/>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COMMUNICATION MODEL</a:t>
            </a:r>
          </a:p>
        </p:txBody>
      </p:sp>
      <p:sp>
        <p:nvSpPr>
          <p:cNvPr id="2" name="Slide title">
            <a:extLst>
              <a:ext uri="{FF2B5EF4-FFF2-40B4-BE49-F238E27FC236}">
                <a16:creationId xmlns:a16="http://schemas.microsoft.com/office/drawing/2014/main" id="{C6D1E466-8556-49CC-B51B-15EF44489DA4}"/>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Model updates and awareness travel as separate flows</a:t>
            </a:r>
          </a:p>
        </p:txBody>
      </p:sp>
      <p:pic>
        <p:nvPicPr>
          <p:cNvPr id="19" name="Picture 18"/>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6A6B19B7-D587-49A9-BB3F-49F187B9233E}"/>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49332EAC-BF74-437E-B645-DBDE83308B3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24</a:t>
            </a:r>
          </a:p>
        </p:txBody>
      </p:sp>
      <p:sp>
        <p:nvSpPr>
          <p:cNvPr id="6" name="Footer">
            <a:extLst>
              <a:ext uri="{FF2B5EF4-FFF2-40B4-BE49-F238E27FC236}">
                <a16:creationId xmlns:a16="http://schemas.microsoft.com/office/drawing/2014/main" id="{2916E3D2-E768-4A86-AD0D-575955D9015E}"/>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23" name="Picture 22"/>
          <p:cNvPicPr>
            <a:picLocks noChangeAspect="1"/>
          </p:cNvPicPr>
          <p:nvPr/>
        </p:nvPicPr>
        <p:blipFill>
          <a:blip r:embed="rId4"/>
          <a:stretch/>
        </p:blipFill>
        <p:spPr>
          <a:xfrm>
            <a:off x="1428649" y="1333500"/>
            <a:ext cx="5677103" cy="4895850"/>
          </a:xfrm>
          <a:prstGeom prst="rect">
            <a:avLst/>
          </a:prstGeom>
        </p:spPr>
      </p:pic>
      <p:sp>
        <p:nvSpPr>
          <p:cNvPr id="8" name="Rectangle: Rounded Corners 7">
            <a:extLst>
              <a:ext uri="{FF2B5EF4-FFF2-40B4-BE49-F238E27FC236}">
                <a16:creationId xmlns:a16="http://schemas.microsoft.com/office/drawing/2014/main" id="{5F12151A-A797-4E48-AF48-50D332B1721E}"/>
              </a:ext>
            </a:extLst>
          </p:cNvPr>
          <p:cNvSpPr>
            <a:spLocks noGrp="1"/>
          </p:cNvSpPr>
          <p:nvPr/>
        </p:nvSpPr>
        <p:spPr>
          <a:xfrm>
            <a:off x="8305800" y="1466850"/>
            <a:ext cx="3219450" cy="1676400"/>
          </a:xfrm>
          <a:prstGeom prst="roundRect">
            <a:avLst>
              <a:gd name="adj" fmla="val 6818"/>
            </a:avLst>
          </a:prstGeom>
          <a:solidFill>
            <a:srgbClr val="EAF4FB"/>
          </a:solidFill>
          <a:ln w="11430">
            <a:solidFill>
              <a:srgbClr val="DDE3E8"/>
            </a:solidFill>
            <a:prstDash val="solid"/>
          </a:ln>
        </p:spPr>
        <p:txBody>
          <a:bodyPr/>
          <a:lstStyle/>
          <a:p>
            <a:endParaRPr lang="de-DE"/>
          </a:p>
        </p:txBody>
      </p:sp>
      <p:sp>
        <p:nvSpPr>
          <p:cNvPr id="9" name="Rectangle 8">
            <a:extLst>
              <a:ext uri="{FF2B5EF4-FFF2-40B4-BE49-F238E27FC236}">
                <a16:creationId xmlns:a16="http://schemas.microsoft.com/office/drawing/2014/main" id="{B16B6235-F71B-4DF8-97DD-EF8D3CAE274E}"/>
              </a:ext>
            </a:extLst>
          </p:cNvPr>
          <p:cNvSpPr>
            <a:spLocks noGrp="1"/>
          </p:cNvSpPr>
          <p:nvPr/>
        </p:nvSpPr>
        <p:spPr>
          <a:xfrm>
            <a:off x="8305800" y="1466850"/>
            <a:ext cx="66675" cy="1676400"/>
          </a:xfrm>
          <a:prstGeom prst="rect">
            <a:avLst/>
          </a:prstGeom>
          <a:solidFill>
            <a:srgbClr val="0065BD"/>
          </a:solidFill>
          <a:ln w="0">
            <a:noFill/>
            <a:prstDash val="solid"/>
          </a:ln>
        </p:spPr>
        <p:txBody>
          <a:bodyPr/>
          <a:lstStyle/>
          <a:p>
            <a:endParaRPr lang="de-DE"/>
          </a:p>
        </p:txBody>
      </p:sp>
      <p:sp>
        <p:nvSpPr>
          <p:cNvPr id="10" name="Rectangle 9">
            <a:extLst>
              <a:ext uri="{FF2B5EF4-FFF2-40B4-BE49-F238E27FC236}">
                <a16:creationId xmlns:a16="http://schemas.microsoft.com/office/drawing/2014/main" id="{0B6E1616-7246-47A2-A0C2-C78A76C6A11F}"/>
              </a:ext>
            </a:extLst>
          </p:cNvPr>
          <p:cNvSpPr>
            <a:spLocks noGrp="1"/>
          </p:cNvSpPr>
          <p:nvPr/>
        </p:nvSpPr>
        <p:spPr>
          <a:xfrm>
            <a:off x="8543925" y="1695450"/>
            <a:ext cx="27622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Persisted flow</a:t>
            </a:r>
          </a:p>
        </p:txBody>
      </p:sp>
      <p:sp>
        <p:nvSpPr>
          <p:cNvPr id="11" name="Rectangle 10">
            <a:extLst>
              <a:ext uri="{FF2B5EF4-FFF2-40B4-BE49-F238E27FC236}">
                <a16:creationId xmlns:a16="http://schemas.microsoft.com/office/drawing/2014/main" id="{DF1DFB86-CBFC-4FD8-A6CF-ECD5F268A719}"/>
              </a:ext>
            </a:extLst>
          </p:cNvPr>
          <p:cNvSpPr>
            <a:spLocks noGrp="1"/>
          </p:cNvSpPr>
          <p:nvPr/>
        </p:nvSpPr>
        <p:spPr>
          <a:xfrm>
            <a:off x="8543925" y="2190750"/>
            <a:ext cx="2762250" cy="81915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CRDT document updates synchronize the diagram model and can be merged after reconnect.</a:t>
            </a:r>
          </a:p>
        </p:txBody>
      </p:sp>
      <p:sp>
        <p:nvSpPr>
          <p:cNvPr id="12" name="Rectangle: Rounded Corners 11">
            <a:extLst>
              <a:ext uri="{FF2B5EF4-FFF2-40B4-BE49-F238E27FC236}">
                <a16:creationId xmlns:a16="http://schemas.microsoft.com/office/drawing/2014/main" id="{D44C0105-A696-43F0-A298-CAB958D5CE25}"/>
              </a:ext>
            </a:extLst>
          </p:cNvPr>
          <p:cNvSpPr>
            <a:spLocks noGrp="1"/>
          </p:cNvSpPr>
          <p:nvPr/>
        </p:nvSpPr>
        <p:spPr>
          <a:xfrm>
            <a:off x="8305800" y="3448050"/>
            <a:ext cx="3219450" cy="1676400"/>
          </a:xfrm>
          <a:prstGeom prst="roundRect">
            <a:avLst>
              <a:gd name="adj" fmla="val 6818"/>
            </a:avLst>
          </a:prstGeom>
          <a:solidFill>
            <a:srgbClr val="FFF1E7"/>
          </a:solidFill>
          <a:ln w="11430">
            <a:solidFill>
              <a:srgbClr val="DDE3E8"/>
            </a:solidFill>
            <a:prstDash val="solid"/>
          </a:ln>
        </p:spPr>
        <p:txBody>
          <a:bodyPr/>
          <a:lstStyle/>
          <a:p>
            <a:endParaRPr lang="de-DE"/>
          </a:p>
        </p:txBody>
      </p:sp>
      <p:sp>
        <p:nvSpPr>
          <p:cNvPr id="13" name="Rectangle 12">
            <a:extLst>
              <a:ext uri="{FF2B5EF4-FFF2-40B4-BE49-F238E27FC236}">
                <a16:creationId xmlns:a16="http://schemas.microsoft.com/office/drawing/2014/main" id="{46FFA2AD-C4F3-46C2-9123-E14C54A723BE}"/>
              </a:ext>
            </a:extLst>
          </p:cNvPr>
          <p:cNvSpPr>
            <a:spLocks noGrp="1"/>
          </p:cNvSpPr>
          <p:nvPr/>
        </p:nvSpPr>
        <p:spPr>
          <a:xfrm>
            <a:off x="8305800" y="3448050"/>
            <a:ext cx="66675" cy="1676400"/>
          </a:xfrm>
          <a:prstGeom prst="rect">
            <a:avLst/>
          </a:prstGeom>
          <a:solidFill>
            <a:srgbClr val="E37222"/>
          </a:solidFill>
          <a:ln w="0">
            <a:noFill/>
            <a:prstDash val="solid"/>
          </a:ln>
        </p:spPr>
        <p:txBody>
          <a:bodyPr/>
          <a:lstStyle/>
          <a:p>
            <a:endParaRPr lang="de-DE"/>
          </a:p>
        </p:txBody>
      </p:sp>
      <p:sp>
        <p:nvSpPr>
          <p:cNvPr id="14" name="Rectangle 13">
            <a:extLst>
              <a:ext uri="{FF2B5EF4-FFF2-40B4-BE49-F238E27FC236}">
                <a16:creationId xmlns:a16="http://schemas.microsoft.com/office/drawing/2014/main" id="{D397EEEB-A0AE-4003-8C94-0FA5687AD4A5}"/>
              </a:ext>
            </a:extLst>
          </p:cNvPr>
          <p:cNvSpPr>
            <a:spLocks noGrp="1"/>
          </p:cNvSpPr>
          <p:nvPr/>
        </p:nvSpPr>
        <p:spPr>
          <a:xfrm>
            <a:off x="8543925" y="3676650"/>
            <a:ext cx="2762250" cy="36195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Transient flow</a:t>
            </a:r>
          </a:p>
        </p:txBody>
      </p:sp>
      <p:sp>
        <p:nvSpPr>
          <p:cNvPr id="15" name="Rectangle 14">
            <a:extLst>
              <a:ext uri="{FF2B5EF4-FFF2-40B4-BE49-F238E27FC236}">
                <a16:creationId xmlns:a16="http://schemas.microsoft.com/office/drawing/2014/main" id="{13C60B39-5093-43B9-94CF-4B907ECACA0A}"/>
              </a:ext>
            </a:extLst>
          </p:cNvPr>
          <p:cNvSpPr>
            <a:spLocks noGrp="1"/>
          </p:cNvSpPr>
          <p:nvPr/>
        </p:nvSpPr>
        <p:spPr>
          <a:xfrm>
            <a:off x="8543925" y="4171950"/>
            <a:ext cx="2762250" cy="819150"/>
          </a:xfrm>
          <a:prstGeom prst="rect">
            <a:avLst/>
          </a:prstGeom>
          <a:noFill/>
          <a:ln w="0">
            <a:noFill/>
            <a:prstDash val="solid"/>
          </a:ln>
        </p:spPr>
        <p:txBody>
          <a:bodyPr lIns="0" tIns="0" rIns="0" bIns="0" anchor="t"/>
          <a:lstStyle/>
          <a:p>
            <a:pPr algn="l">
              <a:defRPr sz="1275" b="0">
                <a:solidFill>
                  <a:srgbClr val="56616B"/>
                </a:solidFill>
                <a:latin typeface="Arial"/>
                <a:ea typeface="Arial"/>
                <a:cs typeface="Arial"/>
              </a:defRPr>
            </a:pPr>
            <a:r>
              <a:rPr sz="1275" b="0">
                <a:solidFill>
                  <a:srgbClr val="56616B"/>
                </a:solidFill>
                <a:latin typeface="Arial"/>
                <a:ea typeface="Arial"/>
                <a:cs typeface="Arial"/>
              </a:rPr>
              <a:t>Cursor, selection, drag, viewport, and presence updates disappear with the session.</a:t>
            </a:r>
          </a:p>
        </p:txBody>
      </p:sp>
      <p:sp>
        <p:nvSpPr>
          <p:cNvPr id="16" name="Rectangle 15">
            <a:extLst>
              <a:ext uri="{FF2B5EF4-FFF2-40B4-BE49-F238E27FC236}">
                <a16:creationId xmlns:a16="http://schemas.microsoft.com/office/drawing/2014/main" id="{119D1231-6AED-4B93-9D40-DAB95FE96A3E}"/>
              </a:ext>
            </a:extLst>
          </p:cNvPr>
          <p:cNvSpPr>
            <a:spLocks noGrp="1"/>
          </p:cNvSpPr>
          <p:nvPr/>
        </p:nvSpPr>
        <p:spPr>
          <a:xfrm>
            <a:off x="8477250" y="5524500"/>
            <a:ext cx="2857500" cy="285750"/>
          </a:xfrm>
          <a:prstGeom prst="rect">
            <a:avLst/>
          </a:prstGeom>
          <a:noFill/>
          <a:ln w="0">
            <a:noFill/>
            <a:prstDash val="solid"/>
          </a:ln>
        </p:spPr>
        <p:txBody>
          <a:bodyPr lIns="0" tIns="0" rIns="0" bIns="0" anchor="t"/>
          <a:lstStyle/>
          <a:p>
            <a:pPr algn="ctr">
              <a:defRPr sz="1500" b="1">
                <a:solidFill>
                  <a:srgbClr val="003359"/>
                </a:solidFill>
                <a:latin typeface="Arial"/>
                <a:ea typeface="Arial"/>
                <a:cs typeface="Arial"/>
              </a:defRPr>
            </a:pPr>
            <a:r>
              <a:rPr sz="1500" b="1">
                <a:solidFill>
                  <a:srgbClr val="003359"/>
                </a:solidFill>
                <a:latin typeface="Arial"/>
                <a:ea typeface="Arial"/>
                <a:cs typeface="Arial"/>
              </a:rPr>
              <a:t>One relay, two meanings</a:t>
            </a:r>
          </a:p>
        </p:txBody>
      </p:sp>
    </p:spTree>
    <p:extLst>
      <p:ext uri="{BB962C8B-B14F-4D97-AF65-F5344CB8AC3E}">
        <p14:creationId xmlns:p14="http://schemas.microsoft.com/office/powerpoint/2010/main" val="597937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 label">
            <a:extLst>
              <a:ext uri="{FF2B5EF4-FFF2-40B4-BE49-F238E27FC236}">
                <a16:creationId xmlns:a16="http://schemas.microsoft.com/office/drawing/2014/main" id="{F05D8A52-4C04-4D49-BC29-C9DD845E741D}"/>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DEPLOYMENT</a:t>
            </a:r>
          </a:p>
        </p:txBody>
      </p:sp>
      <p:sp>
        <p:nvSpPr>
          <p:cNvPr id="2" name="Slide title">
            <a:extLst>
              <a:ext uri="{FF2B5EF4-FFF2-40B4-BE49-F238E27FC236}">
                <a16:creationId xmlns:a16="http://schemas.microsoft.com/office/drawing/2014/main" id="{9748E97C-3E92-476E-97F1-F637CAB10B5F}"/>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Each host owns the data it persists</a:t>
            </a:r>
          </a:p>
        </p:txBody>
      </p:sp>
      <p:pic>
        <p:nvPicPr>
          <p:cNvPr id="19" name="Picture 18"/>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95C2F8CB-F870-4DB4-B5CE-F4C28F0C7B80}"/>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837A5B74-AC26-4317-AC4E-4F4B9F3FBF4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25</a:t>
            </a:r>
          </a:p>
        </p:txBody>
      </p:sp>
      <p:sp>
        <p:nvSpPr>
          <p:cNvPr id="6" name="Footer">
            <a:extLst>
              <a:ext uri="{FF2B5EF4-FFF2-40B4-BE49-F238E27FC236}">
                <a16:creationId xmlns:a16="http://schemas.microsoft.com/office/drawing/2014/main" id="{DDE74C78-9BD5-46BE-94F4-7473F07C22BD}"/>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23" name="Picture 22"/>
          <p:cNvPicPr>
            <a:picLocks noChangeAspect="1"/>
          </p:cNvPicPr>
          <p:nvPr/>
        </p:nvPicPr>
        <p:blipFill>
          <a:blip r:embed="rId4"/>
          <a:stretch/>
        </p:blipFill>
        <p:spPr>
          <a:xfrm>
            <a:off x="1251972" y="1333500"/>
            <a:ext cx="6125706" cy="4914900"/>
          </a:xfrm>
          <a:prstGeom prst="rect">
            <a:avLst/>
          </a:prstGeom>
        </p:spPr>
      </p:pic>
      <p:sp>
        <p:nvSpPr>
          <p:cNvPr id="8" name="Rectangle 7">
            <a:extLst>
              <a:ext uri="{FF2B5EF4-FFF2-40B4-BE49-F238E27FC236}">
                <a16:creationId xmlns:a16="http://schemas.microsoft.com/office/drawing/2014/main" id="{E03965F8-0FE6-4640-A32B-698CD5004A43}"/>
              </a:ext>
            </a:extLst>
          </p:cNvPr>
          <p:cNvSpPr>
            <a:spLocks noGrp="1"/>
          </p:cNvSpPr>
          <p:nvPr/>
        </p:nvSpPr>
        <p:spPr>
          <a:xfrm>
            <a:off x="8439150" y="1504950"/>
            <a:ext cx="2667000" cy="266700"/>
          </a:xfrm>
          <a:prstGeom prst="rect">
            <a:avLst/>
          </a:prstGeom>
          <a:noFill/>
          <a:ln w="0">
            <a:noFill/>
            <a:prstDash val="solid"/>
          </a:ln>
        </p:spPr>
        <p:txBody>
          <a:bodyPr lIns="0" tIns="0" rIns="0" bIns="0" anchor="t"/>
          <a:lstStyle/>
          <a:p>
            <a:pPr algn="l">
              <a:defRPr sz="1650" b="1">
                <a:solidFill>
                  <a:srgbClr val="003359"/>
                </a:solidFill>
                <a:latin typeface="Arial"/>
                <a:ea typeface="Arial"/>
                <a:cs typeface="Arial"/>
              </a:defRPr>
            </a:pPr>
            <a:r>
              <a:rPr sz="1650" b="1">
                <a:solidFill>
                  <a:srgbClr val="003359"/>
                </a:solidFill>
                <a:latin typeface="Arial"/>
                <a:ea typeface="Arial"/>
                <a:cs typeface="Arial"/>
              </a:rPr>
              <a:t>Browser / iOS</a:t>
            </a:r>
          </a:p>
        </p:txBody>
      </p:sp>
      <p:sp>
        <p:nvSpPr>
          <p:cNvPr id="9" name="Rectangle 8">
            <a:extLst>
              <a:ext uri="{FF2B5EF4-FFF2-40B4-BE49-F238E27FC236}">
                <a16:creationId xmlns:a16="http://schemas.microsoft.com/office/drawing/2014/main" id="{BA362B47-7441-4732-A7B4-582D219D7916}"/>
              </a:ext>
            </a:extLst>
          </p:cNvPr>
          <p:cNvSpPr>
            <a:spLocks noGrp="1"/>
          </p:cNvSpPr>
          <p:nvPr/>
        </p:nvSpPr>
        <p:spPr>
          <a:xfrm>
            <a:off x="8439150" y="1847850"/>
            <a:ext cx="2667000" cy="26670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localStorage + IndexedDB</a:t>
            </a:r>
          </a:p>
        </p:txBody>
      </p:sp>
      <p:sp>
        <p:nvSpPr>
          <p:cNvPr id="10" name="Straight Connector 9">
            <a:extLst>
              <a:ext uri="{FF2B5EF4-FFF2-40B4-BE49-F238E27FC236}">
                <a16:creationId xmlns:a16="http://schemas.microsoft.com/office/drawing/2014/main" id="{B0E2213E-188D-45CE-BE61-6E66B70915D6}"/>
              </a:ext>
            </a:extLst>
          </p:cNvPr>
          <p:cNvSpPr>
            <a:spLocks noGrp="1"/>
          </p:cNvSpPr>
          <p:nvPr/>
        </p:nvSpPr>
        <p:spPr>
          <a:xfrm>
            <a:off x="8439150" y="2305050"/>
            <a:ext cx="2724150" cy="9525"/>
          </a:xfrm>
          <a:prstGeom prst="line">
            <a:avLst/>
          </a:prstGeom>
          <a:noFill/>
          <a:ln w="11430">
            <a:solidFill>
              <a:srgbClr val="DDE3E8"/>
            </a:solidFill>
            <a:prstDash val="solid"/>
          </a:ln>
        </p:spPr>
        <p:txBody>
          <a:bodyPr/>
          <a:lstStyle/>
          <a:p>
            <a:endParaRPr lang="de-DE"/>
          </a:p>
        </p:txBody>
      </p:sp>
      <p:sp>
        <p:nvSpPr>
          <p:cNvPr id="11" name="Rectangle 10">
            <a:extLst>
              <a:ext uri="{FF2B5EF4-FFF2-40B4-BE49-F238E27FC236}">
                <a16:creationId xmlns:a16="http://schemas.microsoft.com/office/drawing/2014/main" id="{E74E1F12-BA6A-46C0-9C4E-18F9EB07321A}"/>
              </a:ext>
            </a:extLst>
          </p:cNvPr>
          <p:cNvSpPr>
            <a:spLocks noGrp="1"/>
          </p:cNvSpPr>
          <p:nvPr/>
        </p:nvSpPr>
        <p:spPr>
          <a:xfrm>
            <a:off x="8439150" y="2571750"/>
            <a:ext cx="2667000" cy="266700"/>
          </a:xfrm>
          <a:prstGeom prst="rect">
            <a:avLst/>
          </a:prstGeom>
          <a:noFill/>
          <a:ln w="0">
            <a:noFill/>
            <a:prstDash val="solid"/>
          </a:ln>
        </p:spPr>
        <p:txBody>
          <a:bodyPr lIns="0" tIns="0" rIns="0" bIns="0" anchor="t"/>
          <a:lstStyle/>
          <a:p>
            <a:pPr algn="l">
              <a:defRPr sz="1650" b="1">
                <a:solidFill>
                  <a:srgbClr val="003359"/>
                </a:solidFill>
                <a:latin typeface="Arial"/>
                <a:ea typeface="Arial"/>
                <a:cs typeface="Arial"/>
              </a:defRPr>
            </a:pPr>
            <a:r>
              <a:rPr sz="1650" b="1">
                <a:solidFill>
                  <a:srgbClr val="003359"/>
                </a:solidFill>
                <a:latin typeface="Arial"/>
                <a:ea typeface="Arial"/>
                <a:cs typeface="Arial"/>
              </a:rPr>
              <a:t>Standalone server</a:t>
            </a:r>
          </a:p>
        </p:txBody>
      </p:sp>
      <p:sp>
        <p:nvSpPr>
          <p:cNvPr id="12" name="Rectangle 11">
            <a:extLst>
              <a:ext uri="{FF2B5EF4-FFF2-40B4-BE49-F238E27FC236}">
                <a16:creationId xmlns:a16="http://schemas.microsoft.com/office/drawing/2014/main" id="{EA0DDB21-DC3A-429E-8DD0-CD6A206A036E}"/>
              </a:ext>
            </a:extLst>
          </p:cNvPr>
          <p:cNvSpPr>
            <a:spLocks noGrp="1"/>
          </p:cNvSpPr>
          <p:nvPr/>
        </p:nvSpPr>
        <p:spPr>
          <a:xfrm>
            <a:off x="8439150" y="2914650"/>
            <a:ext cx="2724150" cy="4762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Redis Stack + in-memory presence</a:t>
            </a:r>
          </a:p>
        </p:txBody>
      </p:sp>
      <p:sp>
        <p:nvSpPr>
          <p:cNvPr id="13" name="Straight Connector 12">
            <a:extLst>
              <a:ext uri="{FF2B5EF4-FFF2-40B4-BE49-F238E27FC236}">
                <a16:creationId xmlns:a16="http://schemas.microsoft.com/office/drawing/2014/main" id="{038A60E2-5BF2-43E0-AB18-42089120B6B9}"/>
              </a:ext>
            </a:extLst>
          </p:cNvPr>
          <p:cNvSpPr>
            <a:spLocks noGrp="1"/>
          </p:cNvSpPr>
          <p:nvPr/>
        </p:nvSpPr>
        <p:spPr>
          <a:xfrm>
            <a:off x="8439150" y="3619500"/>
            <a:ext cx="2724150" cy="9525"/>
          </a:xfrm>
          <a:prstGeom prst="line">
            <a:avLst/>
          </a:prstGeom>
          <a:noFill/>
          <a:ln w="11430">
            <a:solidFill>
              <a:srgbClr val="DDE3E8"/>
            </a:solidFill>
            <a:prstDash val="solid"/>
          </a:ln>
        </p:spPr>
        <p:txBody>
          <a:bodyPr/>
          <a:lstStyle/>
          <a:p>
            <a:endParaRPr lang="de-DE"/>
          </a:p>
        </p:txBody>
      </p:sp>
      <p:sp>
        <p:nvSpPr>
          <p:cNvPr id="14" name="Rectangle 13">
            <a:extLst>
              <a:ext uri="{FF2B5EF4-FFF2-40B4-BE49-F238E27FC236}">
                <a16:creationId xmlns:a16="http://schemas.microsoft.com/office/drawing/2014/main" id="{57A7E08D-187F-449F-93C7-C22F475557A6}"/>
              </a:ext>
            </a:extLst>
          </p:cNvPr>
          <p:cNvSpPr>
            <a:spLocks noGrp="1"/>
          </p:cNvSpPr>
          <p:nvPr/>
        </p:nvSpPr>
        <p:spPr>
          <a:xfrm>
            <a:off x="8439150" y="3886200"/>
            <a:ext cx="2667000" cy="266700"/>
          </a:xfrm>
          <a:prstGeom prst="rect">
            <a:avLst/>
          </a:prstGeom>
          <a:noFill/>
          <a:ln w="0">
            <a:noFill/>
            <a:prstDash val="solid"/>
          </a:ln>
        </p:spPr>
        <p:txBody>
          <a:bodyPr lIns="0" tIns="0" rIns="0" bIns="0" anchor="t"/>
          <a:lstStyle/>
          <a:p>
            <a:pPr algn="l">
              <a:defRPr sz="1650" b="1">
                <a:solidFill>
                  <a:srgbClr val="003359"/>
                </a:solidFill>
                <a:latin typeface="Arial"/>
                <a:ea typeface="Arial"/>
                <a:cs typeface="Arial"/>
              </a:defRPr>
            </a:pPr>
            <a:r>
              <a:rPr sz="1650" b="1">
                <a:solidFill>
                  <a:srgbClr val="003359"/>
                </a:solidFill>
                <a:latin typeface="Arial"/>
                <a:ea typeface="Arial"/>
                <a:cs typeface="Arial"/>
              </a:rPr>
              <a:t>Artemis / VS Code</a:t>
            </a:r>
          </a:p>
        </p:txBody>
      </p:sp>
      <p:sp>
        <p:nvSpPr>
          <p:cNvPr id="15" name="Rectangle 14">
            <a:extLst>
              <a:ext uri="{FF2B5EF4-FFF2-40B4-BE49-F238E27FC236}">
                <a16:creationId xmlns:a16="http://schemas.microsoft.com/office/drawing/2014/main" id="{CE5A5781-D1A4-4DA3-A0ED-5AE80D943CE4}"/>
              </a:ext>
            </a:extLst>
          </p:cNvPr>
          <p:cNvSpPr>
            <a:spLocks noGrp="1"/>
          </p:cNvSpPr>
          <p:nvPr/>
        </p:nvSpPr>
        <p:spPr>
          <a:xfrm>
            <a:off x="8439150" y="4229100"/>
            <a:ext cx="2724150" cy="476250"/>
          </a:xfrm>
          <a:prstGeom prst="rect">
            <a:avLst/>
          </a:prstGeom>
          <a:noFill/>
          <a:ln w="0">
            <a:noFill/>
            <a:prstDash val="solid"/>
          </a:ln>
        </p:spPr>
        <p:txBody>
          <a:bodyPr lIns="0" tIns="0" rIns="0" bIns="0" anchor="t"/>
          <a:lstStyle/>
          <a:p>
            <a:pPr algn="l">
              <a:defRPr sz="1200" b="0">
                <a:solidFill>
                  <a:srgbClr val="56616B"/>
                </a:solidFill>
                <a:latin typeface="Arial"/>
                <a:ea typeface="Arial"/>
                <a:cs typeface="Arial"/>
              </a:defRPr>
            </a:pPr>
            <a:r>
              <a:rPr sz="1200" b="0">
                <a:solidFill>
                  <a:srgbClr val="56616B"/>
                </a:solidFill>
                <a:latin typeface="Arial"/>
                <a:ea typeface="Arial"/>
                <a:cs typeface="Arial"/>
              </a:rPr>
              <a:t>Artemis persistence / workspace files</a:t>
            </a:r>
          </a:p>
        </p:txBody>
      </p:sp>
      <p:sp>
        <p:nvSpPr>
          <p:cNvPr id="16" name="Rectangle 15">
            <a:extLst>
              <a:ext uri="{FF2B5EF4-FFF2-40B4-BE49-F238E27FC236}">
                <a16:creationId xmlns:a16="http://schemas.microsoft.com/office/drawing/2014/main" id="{13EBB335-8DDD-4368-87A1-BEE5C57B645D}"/>
              </a:ext>
            </a:extLst>
          </p:cNvPr>
          <p:cNvSpPr>
            <a:spLocks noGrp="1"/>
          </p:cNvSpPr>
          <p:nvPr/>
        </p:nvSpPr>
        <p:spPr>
          <a:xfrm>
            <a:off x="8439150" y="5219700"/>
            <a:ext cx="2724150" cy="628650"/>
          </a:xfrm>
          <a:prstGeom prst="rect">
            <a:avLst/>
          </a:prstGeom>
          <a:noFill/>
          <a:ln w="0">
            <a:noFill/>
            <a:prstDash val="solid"/>
          </a:ln>
        </p:spPr>
        <p:txBody>
          <a:bodyPr lIns="0" tIns="0" rIns="0" bIns="0" anchor="t"/>
          <a:lstStyle/>
          <a:p>
            <a:pPr algn="ctr">
              <a:defRPr sz="1350" b="1">
                <a:solidFill>
                  <a:srgbClr val="E37222"/>
                </a:solidFill>
                <a:latin typeface="Arial"/>
                <a:ea typeface="Arial"/>
                <a:cs typeface="Arial"/>
              </a:defRPr>
            </a:pPr>
            <a:r>
              <a:rPr sz="1350" b="1">
                <a:solidFill>
                  <a:srgbClr val="E37222"/>
                </a:solidFill>
                <a:latin typeface="Arial"/>
                <a:ea typeface="Arial"/>
                <a:cs typeface="Arial"/>
              </a:rPr>
              <a:t>Exports are derived artifacts, not the source model.</a:t>
            </a:r>
          </a:p>
        </p:txBody>
      </p:sp>
    </p:spTree>
    <p:extLst>
      <p:ext uri="{BB962C8B-B14F-4D97-AF65-F5344CB8AC3E}">
        <p14:creationId xmlns:p14="http://schemas.microsoft.com/office/powerpoint/2010/main" val="454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 label">
            <a:extLst>
              <a:ext uri="{FF2B5EF4-FFF2-40B4-BE49-F238E27FC236}">
                <a16:creationId xmlns:a16="http://schemas.microsoft.com/office/drawing/2014/main" id="{15DADEE3-8100-4E3B-8C85-DE140E1780E7}"/>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IMPLEMENTATION</a:t>
            </a:r>
          </a:p>
        </p:txBody>
      </p:sp>
      <p:sp>
        <p:nvSpPr>
          <p:cNvPr id="2" name="Slide title">
            <a:extLst>
              <a:ext uri="{FF2B5EF4-FFF2-40B4-BE49-F238E27FC236}">
                <a16:creationId xmlns:a16="http://schemas.microsoft.com/office/drawing/2014/main" id="{8AFEE92B-2E48-4E6A-AAC1-173015C735A1}"/>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The ecosystem work advanced in connected iterations</a:t>
            </a:r>
          </a:p>
        </p:txBody>
      </p:sp>
      <p:pic>
        <p:nvPicPr>
          <p:cNvPr id="30" name="Picture 29"/>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56B2F2E3-76D9-40B9-8394-591C64E8D702}"/>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EA7EBF7F-5482-4EA7-A9B8-362EADD9ED31}"/>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26</a:t>
            </a:r>
          </a:p>
        </p:txBody>
      </p:sp>
      <p:sp>
        <p:nvSpPr>
          <p:cNvPr id="6" name="Footer">
            <a:extLst>
              <a:ext uri="{FF2B5EF4-FFF2-40B4-BE49-F238E27FC236}">
                <a16:creationId xmlns:a16="http://schemas.microsoft.com/office/drawing/2014/main" id="{06D04FEA-8F33-4C19-AFB6-79DEB2FA2FB3}"/>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Straight Connector 6">
            <a:extLst>
              <a:ext uri="{FF2B5EF4-FFF2-40B4-BE49-F238E27FC236}">
                <a16:creationId xmlns:a16="http://schemas.microsoft.com/office/drawing/2014/main" id="{7278A3B9-C627-4C9E-AC29-8DC9828323B3}"/>
              </a:ext>
            </a:extLst>
          </p:cNvPr>
          <p:cNvSpPr>
            <a:spLocks noGrp="1"/>
          </p:cNvSpPr>
          <p:nvPr/>
        </p:nvSpPr>
        <p:spPr>
          <a:xfrm>
            <a:off x="1504950" y="1657350"/>
            <a:ext cx="0" cy="3943350"/>
          </a:xfrm>
          <a:prstGeom prst="line">
            <a:avLst/>
          </a:prstGeom>
          <a:noFill/>
          <a:ln w="38100">
            <a:solidFill>
              <a:srgbClr val="DDE3E8"/>
            </a:solidFill>
            <a:prstDash val="solid"/>
          </a:ln>
        </p:spPr>
        <p:txBody>
          <a:bodyPr/>
          <a:lstStyle/>
          <a:p>
            <a:endParaRPr lang="de-DE"/>
          </a:p>
        </p:txBody>
      </p:sp>
      <p:sp>
        <p:nvSpPr>
          <p:cNvPr id="8" name="Oval 7">
            <a:extLst>
              <a:ext uri="{FF2B5EF4-FFF2-40B4-BE49-F238E27FC236}">
                <a16:creationId xmlns:a16="http://schemas.microsoft.com/office/drawing/2014/main" id="{CE01E7EF-87F1-437B-8968-A3B67C8249FF}"/>
              </a:ext>
            </a:extLst>
          </p:cNvPr>
          <p:cNvSpPr>
            <a:spLocks noGrp="1"/>
          </p:cNvSpPr>
          <p:nvPr/>
        </p:nvSpPr>
        <p:spPr>
          <a:xfrm>
            <a:off x="1257300" y="1543050"/>
            <a:ext cx="495300" cy="495300"/>
          </a:xfrm>
          <a:prstGeom prst="ellipse">
            <a:avLst/>
          </a:prstGeom>
          <a:solidFill>
            <a:srgbClr val="0065BD"/>
          </a:solidFill>
          <a:ln w="0">
            <a:noFill/>
            <a:prstDash val="solid"/>
          </a:ln>
        </p:spPr>
        <p:txBody>
          <a:bodyPr/>
          <a:lstStyle/>
          <a:p>
            <a:endParaRPr lang="de-DE"/>
          </a:p>
        </p:txBody>
      </p:sp>
      <p:sp>
        <p:nvSpPr>
          <p:cNvPr id="9" name="Rectangle 8">
            <a:extLst>
              <a:ext uri="{FF2B5EF4-FFF2-40B4-BE49-F238E27FC236}">
                <a16:creationId xmlns:a16="http://schemas.microsoft.com/office/drawing/2014/main" id="{048E7FA2-CCF2-4BDC-B251-55F074F94A4B}"/>
              </a:ext>
            </a:extLst>
          </p:cNvPr>
          <p:cNvSpPr>
            <a:spLocks noGrp="1"/>
          </p:cNvSpPr>
          <p:nvPr/>
        </p:nvSpPr>
        <p:spPr>
          <a:xfrm>
            <a:off x="723900" y="1657350"/>
            <a:ext cx="476250" cy="228600"/>
          </a:xfrm>
          <a:prstGeom prst="rect">
            <a:avLst/>
          </a:prstGeom>
          <a:noFill/>
          <a:ln w="0">
            <a:noFill/>
            <a:prstDash val="solid"/>
          </a:ln>
        </p:spPr>
        <p:txBody>
          <a:bodyPr lIns="0" tIns="0" rIns="0" bIns="0" anchor="t"/>
          <a:lstStyle/>
          <a:p>
            <a:pPr algn="r">
              <a:defRPr sz="1050" b="1">
                <a:solidFill>
                  <a:srgbClr val="0065BD"/>
                </a:solidFill>
                <a:latin typeface="Arial"/>
                <a:ea typeface="Arial"/>
                <a:cs typeface="Arial"/>
              </a:defRPr>
            </a:pPr>
            <a:r>
              <a:rPr sz="1050" b="1">
                <a:solidFill>
                  <a:srgbClr val="0065BD"/>
                </a:solidFill>
                <a:latin typeface="Arial"/>
                <a:ea typeface="Arial"/>
                <a:cs typeface="Arial"/>
              </a:rPr>
              <a:t>FEB</a:t>
            </a:r>
          </a:p>
        </p:txBody>
      </p:sp>
      <p:sp>
        <p:nvSpPr>
          <p:cNvPr id="10" name="Rectangle 9">
            <a:extLst>
              <a:ext uri="{FF2B5EF4-FFF2-40B4-BE49-F238E27FC236}">
                <a16:creationId xmlns:a16="http://schemas.microsoft.com/office/drawing/2014/main" id="{B4D9204D-0E94-4D5E-84AB-CBF70916C601}"/>
              </a:ext>
            </a:extLst>
          </p:cNvPr>
          <p:cNvSpPr>
            <a:spLocks noGrp="1"/>
          </p:cNvSpPr>
          <p:nvPr/>
        </p:nvSpPr>
        <p:spPr>
          <a:xfrm>
            <a:off x="2114550" y="1590675"/>
            <a:ext cx="8572500" cy="342900"/>
          </a:xfrm>
          <a:prstGeom prst="rect">
            <a:avLst/>
          </a:prstGeom>
          <a:noFill/>
          <a:ln w="0">
            <a:noFill/>
            <a:prstDash val="solid"/>
          </a:ln>
        </p:spPr>
        <p:txBody>
          <a:bodyPr lIns="0" tIns="0" rIns="0" bIns="0" anchor="t"/>
          <a:lstStyle/>
          <a:p>
            <a:pPr algn="l">
              <a:defRPr sz="1650" b="0">
                <a:solidFill>
                  <a:srgbClr val="111820"/>
                </a:solidFill>
                <a:latin typeface="Arial"/>
                <a:ea typeface="Arial"/>
                <a:cs typeface="Arial"/>
              </a:defRPr>
            </a:pPr>
            <a:r>
              <a:rPr sz="1650" b="0">
                <a:solidFill>
                  <a:srgbClr val="111820"/>
                </a:solidFill>
                <a:latin typeface="Arial"/>
                <a:ea typeface="Arial"/>
                <a:cs typeface="Arial"/>
              </a:rPr>
              <a:t>iOS export · VS Code migration · server PDF</a:t>
            </a:r>
          </a:p>
        </p:txBody>
      </p:sp>
      <p:sp>
        <p:nvSpPr>
          <p:cNvPr id="11" name="Straight Connector 10">
            <a:extLst>
              <a:ext uri="{FF2B5EF4-FFF2-40B4-BE49-F238E27FC236}">
                <a16:creationId xmlns:a16="http://schemas.microsoft.com/office/drawing/2014/main" id="{0927D712-CC9D-4E31-87C9-CA5633D1D51D}"/>
              </a:ext>
            </a:extLst>
          </p:cNvPr>
          <p:cNvSpPr>
            <a:spLocks noGrp="1"/>
          </p:cNvSpPr>
          <p:nvPr/>
        </p:nvSpPr>
        <p:spPr>
          <a:xfrm>
            <a:off x="2114550" y="2171700"/>
            <a:ext cx="8572500" cy="9525"/>
          </a:xfrm>
          <a:prstGeom prst="line">
            <a:avLst/>
          </a:prstGeom>
          <a:noFill/>
          <a:ln w="9525">
            <a:solidFill>
              <a:srgbClr val="DDE3E8"/>
            </a:solidFill>
            <a:prstDash val="solid"/>
          </a:ln>
        </p:spPr>
        <p:txBody>
          <a:bodyPr/>
          <a:lstStyle/>
          <a:p>
            <a:endParaRPr lang="de-DE"/>
          </a:p>
        </p:txBody>
      </p:sp>
      <p:sp>
        <p:nvSpPr>
          <p:cNvPr id="12" name="Oval 11">
            <a:extLst>
              <a:ext uri="{FF2B5EF4-FFF2-40B4-BE49-F238E27FC236}">
                <a16:creationId xmlns:a16="http://schemas.microsoft.com/office/drawing/2014/main" id="{37376AF0-D31D-4027-A169-6809FE9421A5}"/>
              </a:ext>
            </a:extLst>
          </p:cNvPr>
          <p:cNvSpPr>
            <a:spLocks noGrp="1"/>
          </p:cNvSpPr>
          <p:nvPr/>
        </p:nvSpPr>
        <p:spPr>
          <a:xfrm>
            <a:off x="1257300" y="2457450"/>
            <a:ext cx="495300" cy="495300"/>
          </a:xfrm>
          <a:prstGeom prst="ellipse">
            <a:avLst/>
          </a:prstGeom>
          <a:solidFill>
            <a:srgbClr val="64A0C8"/>
          </a:solidFill>
          <a:ln w="0">
            <a:noFill/>
            <a:prstDash val="solid"/>
          </a:ln>
        </p:spPr>
        <p:txBody>
          <a:bodyPr/>
          <a:lstStyle/>
          <a:p>
            <a:endParaRPr lang="de-DE"/>
          </a:p>
        </p:txBody>
      </p:sp>
      <p:sp>
        <p:nvSpPr>
          <p:cNvPr id="13" name="Rectangle 12">
            <a:extLst>
              <a:ext uri="{FF2B5EF4-FFF2-40B4-BE49-F238E27FC236}">
                <a16:creationId xmlns:a16="http://schemas.microsoft.com/office/drawing/2014/main" id="{B3C47D14-D32A-41E5-921F-F6D4476D2227}"/>
              </a:ext>
            </a:extLst>
          </p:cNvPr>
          <p:cNvSpPr>
            <a:spLocks noGrp="1"/>
          </p:cNvSpPr>
          <p:nvPr/>
        </p:nvSpPr>
        <p:spPr>
          <a:xfrm>
            <a:off x="723900" y="2571750"/>
            <a:ext cx="476250" cy="228600"/>
          </a:xfrm>
          <a:prstGeom prst="rect">
            <a:avLst/>
          </a:prstGeom>
          <a:noFill/>
          <a:ln w="0">
            <a:noFill/>
            <a:prstDash val="solid"/>
          </a:ln>
        </p:spPr>
        <p:txBody>
          <a:bodyPr lIns="0" tIns="0" rIns="0" bIns="0" anchor="t"/>
          <a:lstStyle/>
          <a:p>
            <a:pPr algn="r">
              <a:defRPr sz="1050" b="1">
                <a:solidFill>
                  <a:srgbClr val="64A0C8"/>
                </a:solidFill>
                <a:latin typeface="Arial"/>
                <a:ea typeface="Arial"/>
                <a:cs typeface="Arial"/>
              </a:defRPr>
            </a:pPr>
            <a:r>
              <a:rPr sz="1050" b="1">
                <a:solidFill>
                  <a:srgbClr val="64A0C8"/>
                </a:solidFill>
                <a:latin typeface="Arial"/>
                <a:ea typeface="Arial"/>
                <a:cs typeface="Arial"/>
              </a:rPr>
              <a:t>MAR</a:t>
            </a:r>
          </a:p>
        </p:txBody>
      </p:sp>
      <p:sp>
        <p:nvSpPr>
          <p:cNvPr id="14" name="Rectangle 13">
            <a:extLst>
              <a:ext uri="{FF2B5EF4-FFF2-40B4-BE49-F238E27FC236}">
                <a16:creationId xmlns:a16="http://schemas.microsoft.com/office/drawing/2014/main" id="{48E7FCED-C6B3-468D-88FC-41DF50446865}"/>
              </a:ext>
            </a:extLst>
          </p:cNvPr>
          <p:cNvSpPr>
            <a:spLocks noGrp="1"/>
          </p:cNvSpPr>
          <p:nvPr/>
        </p:nvSpPr>
        <p:spPr>
          <a:xfrm>
            <a:off x="2114550" y="2505075"/>
            <a:ext cx="8572500" cy="342900"/>
          </a:xfrm>
          <a:prstGeom prst="rect">
            <a:avLst/>
          </a:prstGeom>
          <a:noFill/>
          <a:ln w="0">
            <a:noFill/>
            <a:prstDash val="solid"/>
          </a:ln>
        </p:spPr>
        <p:txBody>
          <a:bodyPr lIns="0" tIns="0" rIns="0" bIns="0" anchor="t"/>
          <a:lstStyle/>
          <a:p>
            <a:pPr algn="l">
              <a:defRPr sz="1650" b="0">
                <a:solidFill>
                  <a:srgbClr val="111820"/>
                </a:solidFill>
                <a:latin typeface="Arial"/>
                <a:ea typeface="Arial"/>
                <a:cs typeface="Arial"/>
              </a:defRPr>
            </a:pPr>
            <a:r>
              <a:rPr sz="1650" b="0">
                <a:solidFill>
                  <a:srgbClr val="111820"/>
                </a:solidFill>
                <a:latin typeface="Arial"/>
                <a:ea typeface="Arial"/>
                <a:cs typeface="Arial"/>
              </a:rPr>
              <a:t>Alignment · SVG compatibility · server conversion</a:t>
            </a:r>
          </a:p>
        </p:txBody>
      </p:sp>
      <p:sp>
        <p:nvSpPr>
          <p:cNvPr id="15" name="Straight Connector 14">
            <a:extLst>
              <a:ext uri="{FF2B5EF4-FFF2-40B4-BE49-F238E27FC236}">
                <a16:creationId xmlns:a16="http://schemas.microsoft.com/office/drawing/2014/main" id="{781BFB60-95A5-4910-9222-26BF972510C4}"/>
              </a:ext>
            </a:extLst>
          </p:cNvPr>
          <p:cNvSpPr>
            <a:spLocks noGrp="1"/>
          </p:cNvSpPr>
          <p:nvPr/>
        </p:nvSpPr>
        <p:spPr>
          <a:xfrm>
            <a:off x="2114550" y="3086100"/>
            <a:ext cx="8572500" cy="9525"/>
          </a:xfrm>
          <a:prstGeom prst="line">
            <a:avLst/>
          </a:prstGeom>
          <a:noFill/>
          <a:ln w="9525">
            <a:solidFill>
              <a:srgbClr val="DDE3E8"/>
            </a:solidFill>
            <a:prstDash val="solid"/>
          </a:ln>
        </p:spPr>
        <p:txBody>
          <a:bodyPr/>
          <a:lstStyle/>
          <a:p>
            <a:endParaRPr lang="de-DE"/>
          </a:p>
        </p:txBody>
      </p:sp>
      <p:sp>
        <p:nvSpPr>
          <p:cNvPr id="16" name="Oval 15">
            <a:extLst>
              <a:ext uri="{FF2B5EF4-FFF2-40B4-BE49-F238E27FC236}">
                <a16:creationId xmlns:a16="http://schemas.microsoft.com/office/drawing/2014/main" id="{536E1B30-4B1A-4263-9E3D-B7C2E9203ACA}"/>
              </a:ext>
            </a:extLst>
          </p:cNvPr>
          <p:cNvSpPr>
            <a:spLocks noGrp="1"/>
          </p:cNvSpPr>
          <p:nvPr/>
        </p:nvSpPr>
        <p:spPr>
          <a:xfrm>
            <a:off x="1257300" y="3371850"/>
            <a:ext cx="495300" cy="495300"/>
          </a:xfrm>
          <a:prstGeom prst="ellipse">
            <a:avLst/>
          </a:prstGeom>
          <a:solidFill>
            <a:srgbClr val="E37222"/>
          </a:solidFill>
          <a:ln w="0">
            <a:noFill/>
            <a:prstDash val="solid"/>
          </a:ln>
        </p:spPr>
        <p:txBody>
          <a:bodyPr/>
          <a:lstStyle/>
          <a:p>
            <a:endParaRPr lang="de-DE"/>
          </a:p>
        </p:txBody>
      </p:sp>
      <p:sp>
        <p:nvSpPr>
          <p:cNvPr id="17" name="Rectangle 16">
            <a:extLst>
              <a:ext uri="{FF2B5EF4-FFF2-40B4-BE49-F238E27FC236}">
                <a16:creationId xmlns:a16="http://schemas.microsoft.com/office/drawing/2014/main" id="{6674F558-0E10-41E2-AB18-9E0F16B9419E}"/>
              </a:ext>
            </a:extLst>
          </p:cNvPr>
          <p:cNvSpPr>
            <a:spLocks noGrp="1"/>
          </p:cNvSpPr>
          <p:nvPr/>
        </p:nvSpPr>
        <p:spPr>
          <a:xfrm>
            <a:off x="723900" y="3486150"/>
            <a:ext cx="476250" cy="228600"/>
          </a:xfrm>
          <a:prstGeom prst="rect">
            <a:avLst/>
          </a:prstGeom>
          <a:noFill/>
          <a:ln w="0">
            <a:noFill/>
            <a:prstDash val="solid"/>
          </a:ln>
        </p:spPr>
        <p:txBody>
          <a:bodyPr lIns="0" tIns="0" rIns="0" bIns="0" anchor="t"/>
          <a:lstStyle/>
          <a:p>
            <a:pPr algn="r">
              <a:defRPr sz="1050" b="1">
                <a:solidFill>
                  <a:srgbClr val="E37222"/>
                </a:solidFill>
                <a:latin typeface="Arial"/>
                <a:ea typeface="Arial"/>
                <a:cs typeface="Arial"/>
              </a:defRPr>
            </a:pPr>
            <a:r>
              <a:rPr sz="1050" b="1">
                <a:solidFill>
                  <a:srgbClr val="E37222"/>
                </a:solidFill>
                <a:latin typeface="Arial"/>
                <a:ea typeface="Arial"/>
                <a:cs typeface="Arial"/>
              </a:rPr>
              <a:t>APR</a:t>
            </a:r>
          </a:p>
        </p:txBody>
      </p:sp>
      <p:sp>
        <p:nvSpPr>
          <p:cNvPr id="18" name="Rectangle 17">
            <a:extLst>
              <a:ext uri="{FF2B5EF4-FFF2-40B4-BE49-F238E27FC236}">
                <a16:creationId xmlns:a16="http://schemas.microsoft.com/office/drawing/2014/main" id="{93DFABC5-1812-4645-B89D-6F68DFE3933F}"/>
              </a:ext>
            </a:extLst>
          </p:cNvPr>
          <p:cNvSpPr>
            <a:spLocks noGrp="1"/>
          </p:cNvSpPr>
          <p:nvPr/>
        </p:nvSpPr>
        <p:spPr>
          <a:xfrm>
            <a:off x="2114550" y="3419475"/>
            <a:ext cx="8572500" cy="34290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Artemis migration · Athena · quiz generation</a:t>
            </a:r>
          </a:p>
        </p:txBody>
      </p:sp>
      <p:sp>
        <p:nvSpPr>
          <p:cNvPr id="19" name="Straight Connector 18">
            <a:extLst>
              <a:ext uri="{FF2B5EF4-FFF2-40B4-BE49-F238E27FC236}">
                <a16:creationId xmlns:a16="http://schemas.microsoft.com/office/drawing/2014/main" id="{4F8059A3-F79F-4D5F-B8C1-2A27A66706FD}"/>
              </a:ext>
            </a:extLst>
          </p:cNvPr>
          <p:cNvSpPr>
            <a:spLocks noGrp="1"/>
          </p:cNvSpPr>
          <p:nvPr/>
        </p:nvSpPr>
        <p:spPr>
          <a:xfrm>
            <a:off x="2114550" y="4000500"/>
            <a:ext cx="8572500" cy="9525"/>
          </a:xfrm>
          <a:prstGeom prst="line">
            <a:avLst/>
          </a:prstGeom>
          <a:noFill/>
          <a:ln w="9525">
            <a:solidFill>
              <a:srgbClr val="DDE3E8"/>
            </a:solidFill>
            <a:prstDash val="solid"/>
          </a:ln>
        </p:spPr>
        <p:txBody>
          <a:bodyPr/>
          <a:lstStyle/>
          <a:p>
            <a:endParaRPr lang="de-DE"/>
          </a:p>
        </p:txBody>
      </p:sp>
      <p:sp>
        <p:nvSpPr>
          <p:cNvPr id="20" name="Oval 19">
            <a:extLst>
              <a:ext uri="{FF2B5EF4-FFF2-40B4-BE49-F238E27FC236}">
                <a16:creationId xmlns:a16="http://schemas.microsoft.com/office/drawing/2014/main" id="{3E1E2F9C-5A9B-4985-ABA7-345CC58CDE71}"/>
              </a:ext>
            </a:extLst>
          </p:cNvPr>
          <p:cNvSpPr>
            <a:spLocks noGrp="1"/>
          </p:cNvSpPr>
          <p:nvPr/>
        </p:nvSpPr>
        <p:spPr>
          <a:xfrm>
            <a:off x="1257300" y="4286250"/>
            <a:ext cx="495300" cy="495300"/>
          </a:xfrm>
          <a:prstGeom prst="ellipse">
            <a:avLst/>
          </a:prstGeom>
          <a:solidFill>
            <a:srgbClr val="A2AD00"/>
          </a:solidFill>
          <a:ln w="0">
            <a:noFill/>
            <a:prstDash val="solid"/>
          </a:ln>
        </p:spPr>
        <p:txBody>
          <a:bodyPr/>
          <a:lstStyle/>
          <a:p>
            <a:endParaRPr lang="de-DE"/>
          </a:p>
        </p:txBody>
      </p:sp>
      <p:sp>
        <p:nvSpPr>
          <p:cNvPr id="21" name="Rectangle 20">
            <a:extLst>
              <a:ext uri="{FF2B5EF4-FFF2-40B4-BE49-F238E27FC236}">
                <a16:creationId xmlns:a16="http://schemas.microsoft.com/office/drawing/2014/main" id="{EE961E2C-656E-44AB-B32B-49FEE93E2959}"/>
              </a:ext>
            </a:extLst>
          </p:cNvPr>
          <p:cNvSpPr>
            <a:spLocks noGrp="1"/>
          </p:cNvSpPr>
          <p:nvPr/>
        </p:nvSpPr>
        <p:spPr>
          <a:xfrm>
            <a:off x="723900" y="4400550"/>
            <a:ext cx="476250" cy="228600"/>
          </a:xfrm>
          <a:prstGeom prst="rect">
            <a:avLst/>
          </a:prstGeom>
          <a:noFill/>
          <a:ln w="0">
            <a:noFill/>
            <a:prstDash val="solid"/>
          </a:ln>
        </p:spPr>
        <p:txBody>
          <a:bodyPr lIns="0" tIns="0" rIns="0" bIns="0" anchor="t"/>
          <a:lstStyle/>
          <a:p>
            <a:pPr algn="r">
              <a:defRPr sz="1050" b="1">
                <a:solidFill>
                  <a:srgbClr val="A2AD00"/>
                </a:solidFill>
                <a:latin typeface="Arial"/>
                <a:ea typeface="Arial"/>
                <a:cs typeface="Arial"/>
              </a:defRPr>
            </a:pPr>
            <a:r>
              <a:rPr sz="1050" b="1">
                <a:solidFill>
                  <a:srgbClr val="A2AD00"/>
                </a:solidFill>
                <a:latin typeface="Arial"/>
                <a:ea typeface="Arial"/>
                <a:cs typeface="Arial"/>
              </a:rPr>
              <a:t>MAY</a:t>
            </a:r>
          </a:p>
        </p:txBody>
      </p:sp>
      <p:sp>
        <p:nvSpPr>
          <p:cNvPr id="22" name="Rectangle 21">
            <a:extLst>
              <a:ext uri="{FF2B5EF4-FFF2-40B4-BE49-F238E27FC236}">
                <a16:creationId xmlns:a16="http://schemas.microsoft.com/office/drawing/2014/main" id="{3E79ACAA-AA3C-4B21-84E6-12DF36CA517D}"/>
              </a:ext>
            </a:extLst>
          </p:cNvPr>
          <p:cNvSpPr>
            <a:spLocks noGrp="1"/>
          </p:cNvSpPr>
          <p:nvPr/>
        </p:nvSpPr>
        <p:spPr>
          <a:xfrm>
            <a:off x="2114550" y="4333875"/>
            <a:ext cx="8572500" cy="34290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Nested quiz selections · iOS PPTX · collaboration</a:t>
            </a:r>
          </a:p>
        </p:txBody>
      </p:sp>
      <p:sp>
        <p:nvSpPr>
          <p:cNvPr id="23" name="Straight Connector 22">
            <a:extLst>
              <a:ext uri="{FF2B5EF4-FFF2-40B4-BE49-F238E27FC236}">
                <a16:creationId xmlns:a16="http://schemas.microsoft.com/office/drawing/2014/main" id="{33BFCB3B-7652-4959-953F-27397719B547}"/>
              </a:ext>
            </a:extLst>
          </p:cNvPr>
          <p:cNvSpPr>
            <a:spLocks noGrp="1"/>
          </p:cNvSpPr>
          <p:nvPr/>
        </p:nvSpPr>
        <p:spPr>
          <a:xfrm>
            <a:off x="2114550" y="4914900"/>
            <a:ext cx="8572500" cy="9525"/>
          </a:xfrm>
          <a:prstGeom prst="line">
            <a:avLst/>
          </a:prstGeom>
          <a:noFill/>
          <a:ln w="9525">
            <a:solidFill>
              <a:srgbClr val="DDE3E8"/>
            </a:solidFill>
            <a:prstDash val="solid"/>
          </a:ln>
        </p:spPr>
        <p:txBody>
          <a:bodyPr/>
          <a:lstStyle/>
          <a:p>
            <a:endParaRPr lang="de-DE"/>
          </a:p>
        </p:txBody>
      </p:sp>
      <p:sp>
        <p:nvSpPr>
          <p:cNvPr id="24" name="Oval 23">
            <a:extLst>
              <a:ext uri="{FF2B5EF4-FFF2-40B4-BE49-F238E27FC236}">
                <a16:creationId xmlns:a16="http://schemas.microsoft.com/office/drawing/2014/main" id="{85B183F7-969E-4BA5-A790-9FB86F123842}"/>
              </a:ext>
            </a:extLst>
          </p:cNvPr>
          <p:cNvSpPr>
            <a:spLocks noGrp="1"/>
          </p:cNvSpPr>
          <p:nvPr/>
        </p:nvSpPr>
        <p:spPr>
          <a:xfrm>
            <a:off x="1257300" y="5200650"/>
            <a:ext cx="495300" cy="495300"/>
          </a:xfrm>
          <a:prstGeom prst="ellipse">
            <a:avLst/>
          </a:prstGeom>
          <a:solidFill>
            <a:srgbClr val="0065BD"/>
          </a:solidFill>
          <a:ln w="0">
            <a:noFill/>
            <a:prstDash val="solid"/>
          </a:ln>
        </p:spPr>
        <p:txBody>
          <a:bodyPr/>
          <a:lstStyle/>
          <a:p>
            <a:endParaRPr lang="de-DE"/>
          </a:p>
        </p:txBody>
      </p:sp>
      <p:sp>
        <p:nvSpPr>
          <p:cNvPr id="25" name="Rectangle 24">
            <a:extLst>
              <a:ext uri="{FF2B5EF4-FFF2-40B4-BE49-F238E27FC236}">
                <a16:creationId xmlns:a16="http://schemas.microsoft.com/office/drawing/2014/main" id="{E3672AA0-2AC7-43C8-B3B5-4E6633523873}"/>
              </a:ext>
            </a:extLst>
          </p:cNvPr>
          <p:cNvSpPr>
            <a:spLocks noGrp="1"/>
          </p:cNvSpPr>
          <p:nvPr/>
        </p:nvSpPr>
        <p:spPr>
          <a:xfrm>
            <a:off x="723900" y="5314950"/>
            <a:ext cx="476250" cy="228600"/>
          </a:xfrm>
          <a:prstGeom prst="rect">
            <a:avLst/>
          </a:prstGeom>
          <a:noFill/>
          <a:ln w="0">
            <a:noFill/>
            <a:prstDash val="solid"/>
          </a:ln>
        </p:spPr>
        <p:txBody>
          <a:bodyPr lIns="0" tIns="0" rIns="0" bIns="0" anchor="t"/>
          <a:lstStyle/>
          <a:p>
            <a:pPr algn="r">
              <a:defRPr sz="1050" b="1">
                <a:solidFill>
                  <a:srgbClr val="0065BD"/>
                </a:solidFill>
                <a:latin typeface="Arial"/>
                <a:ea typeface="Arial"/>
                <a:cs typeface="Arial"/>
              </a:defRPr>
            </a:pPr>
            <a:r>
              <a:rPr sz="1050" b="1">
                <a:solidFill>
                  <a:srgbClr val="0065BD"/>
                </a:solidFill>
                <a:latin typeface="Arial"/>
                <a:ea typeface="Arial"/>
                <a:cs typeface="Arial"/>
              </a:rPr>
              <a:t>JUN</a:t>
            </a:r>
          </a:p>
        </p:txBody>
      </p:sp>
      <p:sp>
        <p:nvSpPr>
          <p:cNvPr id="26" name="Rectangle 25">
            <a:extLst>
              <a:ext uri="{FF2B5EF4-FFF2-40B4-BE49-F238E27FC236}">
                <a16:creationId xmlns:a16="http://schemas.microsoft.com/office/drawing/2014/main" id="{C0FFCB73-5D40-40C7-9C72-5F7629E1DCDC}"/>
              </a:ext>
            </a:extLst>
          </p:cNvPr>
          <p:cNvSpPr>
            <a:spLocks noGrp="1"/>
          </p:cNvSpPr>
          <p:nvPr/>
        </p:nvSpPr>
        <p:spPr>
          <a:xfrm>
            <a:off x="2114550" y="5248275"/>
            <a:ext cx="8572500" cy="342900"/>
          </a:xfrm>
          <a:prstGeom prst="rect">
            <a:avLst/>
          </a:prstGeom>
          <a:noFill/>
          <a:ln w="0">
            <a:noFill/>
            <a:prstDash val="solid"/>
          </a:ln>
        </p:spPr>
        <p:txBody>
          <a:bodyPr lIns="0" tIns="0" rIns="0" bIns="0" anchor="t"/>
          <a:lstStyle/>
          <a:p>
            <a:pPr algn="l">
              <a:defRPr sz="1650" b="1">
                <a:solidFill>
                  <a:srgbClr val="111820"/>
                </a:solidFill>
                <a:latin typeface="Arial"/>
                <a:ea typeface="Arial"/>
                <a:cs typeface="Arial"/>
              </a:defRPr>
            </a:pPr>
            <a:r>
              <a:rPr sz="1650" b="1">
                <a:solidFill>
                  <a:srgbClr val="111820"/>
                </a:solidFill>
                <a:latin typeface="Arial"/>
                <a:ea typeface="Arial"/>
                <a:cs typeface="Arial"/>
              </a:rPr>
              <a:t>Home page · team awareness · edge overhaul · UI modernization</a:t>
            </a:r>
          </a:p>
        </p:txBody>
      </p:sp>
      <p:sp>
        <p:nvSpPr>
          <p:cNvPr id="27" name="Rectangle 26">
            <a:extLst>
              <a:ext uri="{FF2B5EF4-FFF2-40B4-BE49-F238E27FC236}">
                <a16:creationId xmlns:a16="http://schemas.microsoft.com/office/drawing/2014/main" id="{6E60B8A3-352B-43D8-B53B-6E9D2246E636}"/>
              </a:ext>
            </a:extLst>
          </p:cNvPr>
          <p:cNvSpPr>
            <a:spLocks noGrp="1"/>
          </p:cNvSpPr>
          <p:nvPr/>
        </p:nvSpPr>
        <p:spPr>
          <a:xfrm>
            <a:off x="2114550" y="5962650"/>
            <a:ext cx="8572500" cy="266700"/>
          </a:xfrm>
          <a:prstGeom prst="rect">
            <a:avLst/>
          </a:prstGeom>
          <a:noFill/>
          <a:ln w="0">
            <a:noFill/>
            <a:prstDash val="solid"/>
          </a:ln>
        </p:spPr>
        <p:txBody>
          <a:bodyPr lIns="0" tIns="0" rIns="0" bIns="0" anchor="t"/>
          <a:lstStyle/>
          <a:p>
            <a:pPr algn="l">
              <a:defRPr sz="1425" b="1">
                <a:solidFill>
                  <a:srgbClr val="E37222"/>
                </a:solidFill>
                <a:latin typeface="Arial"/>
                <a:ea typeface="Arial"/>
                <a:cs typeface="Arial"/>
              </a:defRPr>
            </a:pPr>
            <a:r>
              <a:rPr sz="1425" b="1">
                <a:solidFill>
                  <a:srgbClr val="E37222"/>
                </a:solidFill>
                <a:latin typeface="Arial"/>
                <a:ea typeface="Arial"/>
                <a:cs typeface="Arial"/>
              </a:rPr>
              <a:t>Integration feedback created follow-up requirements instead of being postponed to the end.</a:t>
            </a:r>
          </a:p>
        </p:txBody>
      </p:sp>
    </p:spTree>
    <p:extLst>
      <p:ext uri="{BB962C8B-B14F-4D97-AF65-F5344CB8AC3E}">
        <p14:creationId xmlns:p14="http://schemas.microsoft.com/office/powerpoint/2010/main" val="1955680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ection label">
            <a:extLst>
              <a:ext uri="{FF2B5EF4-FFF2-40B4-BE49-F238E27FC236}">
                <a16:creationId xmlns:a16="http://schemas.microsoft.com/office/drawing/2014/main" id="{5B08A73F-61DD-4F1C-A4DF-B9BC87EB7F00}"/>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CONTRIBUTIONS</a:t>
            </a:r>
          </a:p>
        </p:txBody>
      </p:sp>
      <p:sp>
        <p:nvSpPr>
          <p:cNvPr id="2" name="Slide title">
            <a:extLst>
              <a:ext uri="{FF2B5EF4-FFF2-40B4-BE49-F238E27FC236}">
                <a16:creationId xmlns:a16="http://schemas.microsoft.com/office/drawing/2014/main" id="{AC59B7F1-01D0-4D62-84C2-4B7D5678BC8B}"/>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Contribution ownership is documented for handoffs</a:t>
            </a:r>
          </a:p>
        </p:txBody>
      </p:sp>
      <p:pic>
        <p:nvPicPr>
          <p:cNvPr id="16" name="Picture 15"/>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31BBCD5F-AE0B-4CE7-B4B5-55116D7EC1E3}"/>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AF350A35-98A7-47BB-A30B-5F156CDBF442}"/>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27</a:t>
            </a:r>
          </a:p>
        </p:txBody>
      </p:sp>
      <p:sp>
        <p:nvSpPr>
          <p:cNvPr id="6" name="Footer">
            <a:extLst>
              <a:ext uri="{FF2B5EF4-FFF2-40B4-BE49-F238E27FC236}">
                <a16:creationId xmlns:a16="http://schemas.microsoft.com/office/drawing/2014/main" id="{253EA86E-8ABD-4060-B208-5F24DEB673D3}"/>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sp>
        <p:nvSpPr>
          <p:cNvPr id="7" name="Rectangle: Rounded Corners 6">
            <a:extLst>
              <a:ext uri="{FF2B5EF4-FFF2-40B4-BE49-F238E27FC236}">
                <a16:creationId xmlns:a16="http://schemas.microsoft.com/office/drawing/2014/main" id="{CE2887C7-F0FE-44F3-A6BC-2CDCB0322EDF}"/>
              </a:ext>
            </a:extLst>
          </p:cNvPr>
          <p:cNvSpPr>
            <a:spLocks noGrp="1"/>
          </p:cNvSpPr>
          <p:nvPr/>
        </p:nvSpPr>
        <p:spPr>
          <a:xfrm>
            <a:off x="628650" y="1485900"/>
            <a:ext cx="5219700" cy="4171950"/>
          </a:xfrm>
          <a:prstGeom prst="roundRect">
            <a:avLst>
              <a:gd name="adj" fmla="val 2740"/>
            </a:avLst>
          </a:prstGeom>
          <a:solidFill>
            <a:srgbClr val="EAF4FB"/>
          </a:solidFill>
          <a:ln w="11430">
            <a:solidFill>
              <a:srgbClr val="98C6EA"/>
            </a:solidFill>
            <a:prstDash val="solid"/>
          </a:ln>
        </p:spPr>
        <p:txBody>
          <a:bodyPr/>
          <a:lstStyle/>
          <a:p>
            <a:endParaRPr lang="de-DE"/>
          </a:p>
        </p:txBody>
      </p:sp>
      <p:sp>
        <p:nvSpPr>
          <p:cNvPr id="8" name="Rectangle: Rounded Corners 7">
            <a:extLst>
              <a:ext uri="{FF2B5EF4-FFF2-40B4-BE49-F238E27FC236}">
                <a16:creationId xmlns:a16="http://schemas.microsoft.com/office/drawing/2014/main" id="{67C5F9BD-2A6D-43BD-8123-D4967F302922}"/>
              </a:ext>
            </a:extLst>
          </p:cNvPr>
          <p:cNvSpPr>
            <a:spLocks noGrp="1"/>
          </p:cNvSpPr>
          <p:nvPr/>
        </p:nvSpPr>
        <p:spPr>
          <a:xfrm>
            <a:off x="6343650" y="1485900"/>
            <a:ext cx="5219700" cy="4171950"/>
          </a:xfrm>
          <a:prstGeom prst="roundRect">
            <a:avLst>
              <a:gd name="adj" fmla="val 2740"/>
            </a:avLst>
          </a:prstGeom>
          <a:solidFill>
            <a:srgbClr val="F7F9FB"/>
          </a:solidFill>
          <a:ln w="11430">
            <a:solidFill>
              <a:srgbClr val="DDE3E8"/>
            </a:solidFill>
            <a:prstDash val="solid"/>
          </a:ln>
        </p:spPr>
        <p:txBody>
          <a:bodyPr/>
          <a:lstStyle/>
          <a:p>
            <a:endParaRPr lang="de-DE"/>
          </a:p>
        </p:txBody>
      </p:sp>
      <p:sp>
        <p:nvSpPr>
          <p:cNvPr id="9" name="Rectangle 8">
            <a:extLst>
              <a:ext uri="{FF2B5EF4-FFF2-40B4-BE49-F238E27FC236}">
                <a16:creationId xmlns:a16="http://schemas.microsoft.com/office/drawing/2014/main" id="{E1068BC7-D94D-4ADD-9B1D-F4F2D7C7615A}"/>
              </a:ext>
            </a:extLst>
          </p:cNvPr>
          <p:cNvSpPr>
            <a:spLocks noGrp="1"/>
          </p:cNvSpPr>
          <p:nvPr/>
        </p:nvSpPr>
        <p:spPr>
          <a:xfrm>
            <a:off x="971550" y="1809750"/>
            <a:ext cx="4476750" cy="323850"/>
          </a:xfrm>
          <a:prstGeom prst="rect">
            <a:avLst/>
          </a:prstGeom>
          <a:noFill/>
          <a:ln w="0">
            <a:noFill/>
            <a:prstDash val="solid"/>
          </a:ln>
        </p:spPr>
        <p:txBody>
          <a:bodyPr lIns="0" tIns="0" rIns="0" bIns="0" anchor="t"/>
          <a:lstStyle/>
          <a:p>
            <a:pPr algn="l">
              <a:defRPr sz="2025" b="1">
                <a:solidFill>
                  <a:srgbClr val="003359"/>
                </a:solidFill>
                <a:latin typeface="Arial"/>
                <a:ea typeface="Arial"/>
                <a:cs typeface="Arial"/>
              </a:defRPr>
            </a:pPr>
            <a:r>
              <a:rPr sz="2025" b="1">
                <a:solidFill>
                  <a:srgbClr val="003359"/>
                </a:solidFill>
                <a:latin typeface="Arial"/>
                <a:ea typeface="Arial"/>
                <a:cs typeface="Arial"/>
              </a:rPr>
              <a:t>Fady - documented inventory</a:t>
            </a:r>
          </a:p>
        </p:txBody>
      </p:sp>
      <p:sp>
        <p:nvSpPr>
          <p:cNvPr id="10" name="Rectangle 9">
            <a:extLst>
              <a:ext uri="{FF2B5EF4-FFF2-40B4-BE49-F238E27FC236}">
                <a16:creationId xmlns:a16="http://schemas.microsoft.com/office/drawing/2014/main" id="{4BAAA1A9-B854-4EC5-BC45-C6D3120B082A}"/>
              </a:ext>
            </a:extLst>
          </p:cNvPr>
          <p:cNvSpPr>
            <a:spLocks noGrp="1"/>
          </p:cNvSpPr>
          <p:nvPr/>
        </p:nvSpPr>
        <p:spPr>
          <a:xfrm>
            <a:off x="990600" y="2438400"/>
            <a:ext cx="4305300" cy="238125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Edge interaction and usability</a:t>
            </a:r>
          </a:p>
          <a:p>
            <a:pPr algn="l">
              <a:defRPr sz="1425" b="0">
                <a:solidFill>
                  <a:srgbClr val="56616B"/>
                </a:solidFill>
                <a:latin typeface="Arial"/>
                <a:ea typeface="Arial"/>
                <a:cs typeface="Arial"/>
              </a:defRPr>
            </a:pPr>
            <a:r>
              <a:rPr sz="1425" b="0">
                <a:solidFill>
                  <a:srgbClr val="56616B"/>
                </a:solidFill>
                <a:latin typeface="Arial"/>
                <a:ea typeface="Arial"/>
                <a:cs typeface="Arial"/>
              </a:rPr>
              <a:t>Standalone dashboard, routing, and UI modernization</a:t>
            </a:r>
          </a:p>
          <a:p>
            <a:pPr algn="l">
              <a:defRPr sz="1425" b="0">
                <a:solidFill>
                  <a:srgbClr val="56616B"/>
                </a:solidFill>
                <a:latin typeface="Arial"/>
                <a:ea typeface="Arial"/>
                <a:cs typeface="Arial"/>
              </a:defRPr>
            </a:pPr>
            <a:r>
              <a:rPr sz="1425" b="0">
                <a:solidFill>
                  <a:srgbClr val="56616B"/>
                </a:solidFill>
                <a:latin typeface="Arial"/>
                <a:ea typeface="Arial"/>
                <a:cs typeface="Arial"/>
              </a:rPr>
              <a:t>Server PDF and SVG/export correctness</a:t>
            </a:r>
          </a:p>
          <a:p>
            <a:pPr algn="l">
              <a:defRPr sz="1425" b="0">
                <a:solidFill>
                  <a:srgbClr val="56616B"/>
                </a:solidFill>
                <a:latin typeface="Arial"/>
                <a:ea typeface="Arial"/>
                <a:cs typeface="Arial"/>
              </a:defRPr>
            </a:pPr>
            <a:r>
              <a:rPr sz="1425" b="0">
                <a:solidFill>
                  <a:srgbClr val="56616B"/>
                </a:solidFill>
                <a:latin typeface="Arial"/>
                <a:ea typeface="Arial"/>
                <a:cs typeface="Arial"/>
              </a:rPr>
              <a:t>Artemis quiz generation and nested selections</a:t>
            </a:r>
          </a:p>
          <a:p>
            <a:pPr algn="l">
              <a:defRPr sz="1425" b="0">
                <a:solidFill>
                  <a:srgbClr val="56616B"/>
                </a:solidFill>
                <a:latin typeface="Arial"/>
                <a:ea typeface="Arial"/>
                <a:cs typeface="Arial"/>
              </a:defRPr>
            </a:pPr>
            <a:r>
              <a:rPr sz="1425" b="0">
                <a:solidFill>
                  <a:srgbClr val="56616B"/>
                </a:solidFill>
                <a:latin typeface="Arial"/>
                <a:ea typeface="Arial"/>
                <a:cs typeface="Arial"/>
              </a:rPr>
              <a:t>Assessment fixes and migration contributions</a:t>
            </a:r>
          </a:p>
        </p:txBody>
      </p:sp>
      <p:sp>
        <p:nvSpPr>
          <p:cNvPr id="11" name="Rectangle 10">
            <a:extLst>
              <a:ext uri="{FF2B5EF4-FFF2-40B4-BE49-F238E27FC236}">
                <a16:creationId xmlns:a16="http://schemas.microsoft.com/office/drawing/2014/main" id="{11AC208C-5914-4B23-B1C4-F0FA89150A70}"/>
              </a:ext>
            </a:extLst>
          </p:cNvPr>
          <p:cNvSpPr>
            <a:spLocks noGrp="1"/>
          </p:cNvSpPr>
          <p:nvPr/>
        </p:nvSpPr>
        <p:spPr>
          <a:xfrm>
            <a:off x="6686550" y="1809750"/>
            <a:ext cx="4476750" cy="323850"/>
          </a:xfrm>
          <a:prstGeom prst="rect">
            <a:avLst/>
          </a:prstGeom>
          <a:noFill/>
          <a:ln w="0">
            <a:noFill/>
            <a:prstDash val="solid"/>
          </a:ln>
        </p:spPr>
        <p:txBody>
          <a:bodyPr lIns="0" tIns="0" rIns="0" bIns="0" anchor="t"/>
          <a:lstStyle/>
          <a:p>
            <a:pPr algn="l">
              <a:defRPr sz="2025" b="1">
                <a:solidFill>
                  <a:srgbClr val="003359"/>
                </a:solidFill>
                <a:latin typeface="Arial"/>
                <a:ea typeface="Arial"/>
                <a:cs typeface="Arial"/>
              </a:defRPr>
            </a:pPr>
            <a:r>
              <a:rPr sz="2025" b="1">
                <a:solidFill>
                  <a:srgbClr val="003359"/>
                </a:solidFill>
                <a:latin typeface="Arial"/>
                <a:ea typeface="Arial"/>
                <a:cs typeface="Arial"/>
              </a:rPr>
              <a:t>Ravi - remaining thesis work</a:t>
            </a:r>
          </a:p>
        </p:txBody>
      </p:sp>
      <p:sp>
        <p:nvSpPr>
          <p:cNvPr id="12" name="Rectangle 11">
            <a:extLst>
              <a:ext uri="{FF2B5EF4-FFF2-40B4-BE49-F238E27FC236}">
                <a16:creationId xmlns:a16="http://schemas.microsoft.com/office/drawing/2014/main" id="{D48677DE-D99D-4F4B-B5C5-2BE7D54B9F21}"/>
              </a:ext>
            </a:extLst>
          </p:cNvPr>
          <p:cNvSpPr>
            <a:spLocks noGrp="1"/>
          </p:cNvSpPr>
          <p:nvPr/>
        </p:nvSpPr>
        <p:spPr>
          <a:xfrm>
            <a:off x="6705600" y="2438400"/>
            <a:ext cx="4305300" cy="2381250"/>
          </a:xfrm>
          <a:prstGeom prst="rect">
            <a:avLst/>
          </a:prstGeom>
          <a:noFill/>
          <a:ln w="0">
            <a:noFill/>
            <a:prstDash val="solid"/>
          </a:ln>
        </p:spPr>
        <p:txBody>
          <a:bodyPr lIns="0" tIns="0" rIns="0" bIns="0" anchor="t"/>
          <a:lstStyle/>
          <a:p>
            <a:pPr algn="l">
              <a:defRPr sz="1425" b="0">
                <a:solidFill>
                  <a:srgbClr val="56616B"/>
                </a:solidFill>
                <a:latin typeface="Arial"/>
                <a:ea typeface="Arial"/>
                <a:cs typeface="Arial"/>
              </a:defRPr>
            </a:pPr>
            <a:r>
              <a:rPr sz="1425" b="0">
                <a:solidFill>
                  <a:srgbClr val="56616B"/>
                </a:solidFill>
                <a:latin typeface="Arial"/>
                <a:ea typeface="Arial"/>
                <a:cs typeface="Arial"/>
              </a:rPr>
              <a:t>Mobile/iOS support</a:t>
            </a:r>
          </a:p>
          <a:p>
            <a:pPr algn="l">
              <a:defRPr sz="1425" b="0">
                <a:solidFill>
                  <a:srgbClr val="56616B"/>
                </a:solidFill>
                <a:latin typeface="Arial"/>
                <a:ea typeface="Arial"/>
                <a:cs typeface="Arial"/>
              </a:defRPr>
            </a:pPr>
            <a:r>
              <a:rPr sz="1425" b="0">
                <a:solidFill>
                  <a:srgbClr val="56616B"/>
                </a:solidFill>
                <a:latin typeface="Arial"/>
                <a:ea typeface="Arial"/>
                <a:cs typeface="Arial"/>
              </a:rPr>
              <a:t>Collaboration awareness and library reuse</a:t>
            </a:r>
          </a:p>
          <a:p>
            <a:pPr algn="l">
              <a:defRPr sz="1425" b="0">
                <a:solidFill>
                  <a:srgbClr val="56616B"/>
                </a:solidFill>
                <a:latin typeface="Arial"/>
                <a:ea typeface="Arial"/>
                <a:cs typeface="Arial"/>
              </a:defRPr>
            </a:pPr>
            <a:r>
              <a:rPr sz="1425" b="0">
                <a:solidFill>
                  <a:srgbClr val="56616B"/>
                </a:solidFill>
                <a:latin typeface="Arial"/>
                <a:ea typeface="Arial"/>
                <a:cs typeface="Arial"/>
              </a:rPr>
              <a:t>Athena model compatibility</a:t>
            </a:r>
          </a:p>
          <a:p>
            <a:pPr algn="l">
              <a:defRPr sz="1425" b="0">
                <a:solidFill>
                  <a:srgbClr val="56616B"/>
                </a:solidFill>
                <a:latin typeface="Arial"/>
                <a:ea typeface="Arial"/>
                <a:cs typeface="Arial"/>
              </a:defRPr>
            </a:pPr>
            <a:r>
              <a:rPr sz="1425" b="0">
                <a:solidFill>
                  <a:srgbClr val="56616B"/>
                </a:solidFill>
                <a:latin typeface="Arial"/>
                <a:ea typeface="Arial"/>
                <a:cs typeface="Arial"/>
              </a:rPr>
              <a:t>VS Code extension migration</a:t>
            </a:r>
          </a:p>
          <a:p>
            <a:pPr algn="l">
              <a:defRPr sz="1425" b="0">
                <a:solidFill>
                  <a:srgbClr val="56616B"/>
                </a:solidFill>
                <a:latin typeface="Arial"/>
                <a:ea typeface="Arial"/>
                <a:cs typeface="Arial"/>
              </a:defRPr>
            </a:pPr>
            <a:r>
              <a:rPr sz="1425" b="0">
                <a:solidFill>
                  <a:srgbClr val="56616B"/>
                </a:solidFill>
                <a:latin typeface="Arial"/>
                <a:ea typeface="Arial"/>
                <a:cs typeface="Arial"/>
              </a:rPr>
              <a:t>Remaining joint ecosystem integration described by the thesis</a:t>
            </a:r>
          </a:p>
        </p:txBody>
      </p:sp>
      <p:sp>
        <p:nvSpPr>
          <p:cNvPr id="13" name="Rectangle 12">
            <a:extLst>
              <a:ext uri="{FF2B5EF4-FFF2-40B4-BE49-F238E27FC236}">
                <a16:creationId xmlns:a16="http://schemas.microsoft.com/office/drawing/2014/main" id="{01AB04D0-AA28-4944-A8EC-27E0FE8990C4}"/>
              </a:ext>
            </a:extLst>
          </p:cNvPr>
          <p:cNvSpPr>
            <a:spLocks noGrp="1"/>
          </p:cNvSpPr>
          <p:nvPr/>
        </p:nvSpPr>
        <p:spPr>
          <a:xfrm>
            <a:off x="1466850" y="5943600"/>
            <a:ext cx="9258300" cy="266700"/>
          </a:xfrm>
          <a:prstGeom prst="rect">
            <a:avLst/>
          </a:prstGeom>
          <a:noFill/>
          <a:ln w="0">
            <a:noFill/>
            <a:prstDash val="solid"/>
          </a:ln>
        </p:spPr>
        <p:txBody>
          <a:bodyPr lIns="0" tIns="0" rIns="0" bIns="0" anchor="t"/>
          <a:lstStyle/>
          <a:p>
            <a:pPr algn="ctr">
              <a:defRPr sz="1350" b="1">
                <a:solidFill>
                  <a:srgbClr val="E37222"/>
                </a:solidFill>
                <a:latin typeface="Arial"/>
                <a:ea typeface="Arial"/>
                <a:cs typeface="Arial"/>
              </a:defRPr>
            </a:pPr>
            <a:r>
              <a:rPr sz="1350" b="1">
                <a:solidFill>
                  <a:srgbClr val="E37222"/>
                </a:solidFill>
                <a:latin typeface="Arial"/>
                <a:ea typeface="Arial"/>
                <a:cs typeface="Arial"/>
              </a:rPr>
              <a:t>Visible main slides tell the joint thesis story; this appendix supports detailed implementation questions.</a:t>
            </a:r>
          </a:p>
        </p:txBody>
      </p:sp>
    </p:spTree>
    <p:extLst>
      <p:ext uri="{BB962C8B-B14F-4D97-AF65-F5344CB8AC3E}">
        <p14:creationId xmlns:p14="http://schemas.microsoft.com/office/powerpoint/2010/main" val="1403607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 label">
            <a:extLst>
              <a:ext uri="{FF2B5EF4-FFF2-40B4-BE49-F238E27FC236}">
                <a16:creationId xmlns:a16="http://schemas.microsoft.com/office/drawing/2014/main" id="{06377CC8-23B4-42C2-9B8D-84FD6988B5AD}"/>
              </a:ext>
            </a:extLst>
          </p:cNvPr>
          <p:cNvSpPr>
            <a:spLocks noGrp="1"/>
          </p:cNvSpPr>
          <p:nvPr/>
        </p:nvSpPr>
        <p:spPr>
          <a:xfrm>
            <a:off x="495300" y="228600"/>
            <a:ext cx="5715000" cy="190500"/>
          </a:xfrm>
          <a:prstGeom prst="rect">
            <a:avLst/>
          </a:prstGeom>
          <a:noFill/>
          <a:ln w="0">
            <a:noFill/>
            <a:prstDash val="solid"/>
          </a:ln>
        </p:spPr>
        <p:txBody>
          <a:bodyPr lIns="0" tIns="0" rIns="0" bIns="0" anchor="t"/>
          <a:lstStyle/>
          <a:p>
            <a:pPr algn="l">
              <a:defRPr sz="900" b="1">
                <a:solidFill>
                  <a:srgbClr val="0065BD"/>
                </a:solidFill>
                <a:latin typeface="Arial"/>
                <a:ea typeface="Arial"/>
                <a:cs typeface="Arial"/>
              </a:defRPr>
            </a:pPr>
            <a:r>
              <a:rPr sz="900" b="1">
                <a:solidFill>
                  <a:srgbClr val="0065BD"/>
                </a:solidFill>
                <a:latin typeface="Arial"/>
                <a:ea typeface="Arial"/>
                <a:cs typeface="Arial"/>
              </a:rPr>
              <a:t>APPENDIX · USE-CASE MODEL</a:t>
            </a:r>
          </a:p>
        </p:txBody>
      </p:sp>
      <p:sp>
        <p:nvSpPr>
          <p:cNvPr id="2" name="Slide title">
            <a:extLst>
              <a:ext uri="{FF2B5EF4-FFF2-40B4-BE49-F238E27FC236}">
                <a16:creationId xmlns:a16="http://schemas.microsoft.com/office/drawing/2014/main" id="{11D7F190-86A8-451E-834A-3F3926F613DF}"/>
              </a:ext>
            </a:extLst>
          </p:cNvPr>
          <p:cNvSpPr>
            <a:spLocks noGrp="1"/>
          </p:cNvSpPr>
          <p:nvPr/>
        </p:nvSpPr>
        <p:spPr>
          <a:xfrm>
            <a:off x="495300" y="457200"/>
            <a:ext cx="10096500" cy="476250"/>
          </a:xfrm>
          <a:prstGeom prst="rect">
            <a:avLst/>
          </a:prstGeom>
          <a:noFill/>
          <a:ln w="0">
            <a:noFill/>
            <a:prstDash val="solid"/>
          </a:ln>
        </p:spPr>
        <p:txBody>
          <a:bodyPr lIns="0" tIns="0" rIns="0" bIns="0" anchor="t"/>
          <a:lstStyle/>
          <a:p>
            <a:pPr algn="l">
              <a:defRPr sz="2625" b="1">
                <a:solidFill>
                  <a:srgbClr val="111820"/>
                </a:solidFill>
                <a:latin typeface="Arial"/>
                <a:ea typeface="Arial"/>
                <a:cs typeface="Arial"/>
              </a:defRPr>
            </a:pPr>
            <a:r>
              <a:rPr sz="2625" b="1">
                <a:solidFill>
                  <a:srgbClr val="111820"/>
                </a:solidFill>
                <a:latin typeface="Arial"/>
                <a:ea typeface="Arial"/>
                <a:cs typeface="Arial"/>
              </a:rPr>
              <a:t>Added use cases make the new scope explicit</a:t>
            </a:r>
          </a:p>
        </p:txBody>
      </p:sp>
      <p:pic>
        <p:nvPicPr>
          <p:cNvPr id="18" name="Picture 17"/>
          <p:cNvPicPr>
            <a:picLocks noChangeAspect="1"/>
          </p:cNvPicPr>
          <p:nvPr/>
        </p:nvPicPr>
        <p:blipFill>
          <a:blip r:embed="rId3"/>
          <a:stretch/>
        </p:blipFill>
        <p:spPr>
          <a:xfrm>
            <a:off x="11106150" y="219847"/>
            <a:ext cx="647700" cy="341355"/>
          </a:xfrm>
          <a:prstGeom prst="rect">
            <a:avLst/>
          </a:prstGeom>
        </p:spPr>
      </p:pic>
      <p:sp>
        <p:nvSpPr>
          <p:cNvPr id="4" name="Straight Connector 3">
            <a:extLst>
              <a:ext uri="{FF2B5EF4-FFF2-40B4-BE49-F238E27FC236}">
                <a16:creationId xmlns:a16="http://schemas.microsoft.com/office/drawing/2014/main" id="{735E40F8-87F8-43A6-9E60-566C5921C8B3}"/>
              </a:ext>
            </a:extLst>
          </p:cNvPr>
          <p:cNvSpPr>
            <a:spLocks noGrp="1"/>
          </p:cNvSpPr>
          <p:nvPr/>
        </p:nvSpPr>
        <p:spPr>
          <a:xfrm>
            <a:off x="495300" y="1095375"/>
            <a:ext cx="11258550" cy="9525"/>
          </a:xfrm>
          <a:prstGeom prst="line">
            <a:avLst/>
          </a:prstGeom>
          <a:noFill/>
          <a:ln w="11430">
            <a:solidFill>
              <a:srgbClr val="DDE3E8"/>
            </a:solidFill>
            <a:prstDash val="solid"/>
          </a:ln>
        </p:spPr>
        <p:txBody>
          <a:bodyPr/>
          <a:lstStyle/>
          <a:p>
            <a:endParaRPr lang="de-DE"/>
          </a:p>
        </p:txBody>
      </p:sp>
      <p:sp>
        <p:nvSpPr>
          <p:cNvPr id="5" name="Slide number">
            <a:extLst>
              <a:ext uri="{FF2B5EF4-FFF2-40B4-BE49-F238E27FC236}">
                <a16:creationId xmlns:a16="http://schemas.microsoft.com/office/drawing/2014/main" id="{C91423FA-7BBD-4746-BFE9-4B72E9A2F8DA}"/>
              </a:ext>
            </a:extLst>
          </p:cNvPr>
          <p:cNvSpPr>
            <a:spLocks noGrp="1"/>
          </p:cNvSpPr>
          <p:nvPr/>
        </p:nvSpPr>
        <p:spPr>
          <a:xfrm>
            <a:off x="11334750" y="6486525"/>
            <a:ext cx="419100" cy="171450"/>
          </a:xfrm>
          <a:prstGeom prst="rect">
            <a:avLst/>
          </a:prstGeom>
          <a:noFill/>
          <a:ln w="0">
            <a:noFill/>
            <a:prstDash val="solid"/>
          </a:ln>
        </p:spPr>
        <p:txBody>
          <a:bodyPr lIns="0" tIns="0" rIns="0" bIns="0" anchor="t"/>
          <a:lstStyle/>
          <a:p>
            <a:pPr algn="r">
              <a:defRPr sz="825" b="0">
                <a:solidFill>
                  <a:srgbClr val="8A949E"/>
                </a:solidFill>
                <a:latin typeface="Arial"/>
                <a:ea typeface="Arial"/>
                <a:cs typeface="Arial"/>
              </a:defRPr>
            </a:pPr>
            <a:r>
              <a:rPr sz="825" b="0">
                <a:solidFill>
                  <a:srgbClr val="8A949E"/>
                </a:solidFill>
                <a:latin typeface="Arial"/>
                <a:ea typeface="Arial"/>
                <a:cs typeface="Arial"/>
              </a:rPr>
              <a:t>28</a:t>
            </a:r>
          </a:p>
        </p:txBody>
      </p:sp>
      <p:sp>
        <p:nvSpPr>
          <p:cNvPr id="6" name="Footer">
            <a:extLst>
              <a:ext uri="{FF2B5EF4-FFF2-40B4-BE49-F238E27FC236}">
                <a16:creationId xmlns:a16="http://schemas.microsoft.com/office/drawing/2014/main" id="{BD4EC99D-C5EB-4200-AEE6-3C052B4485AC}"/>
              </a:ext>
            </a:extLst>
          </p:cNvPr>
          <p:cNvSpPr>
            <a:spLocks noGrp="1"/>
          </p:cNvSpPr>
          <p:nvPr/>
        </p:nvSpPr>
        <p:spPr>
          <a:xfrm>
            <a:off x="495300" y="6486525"/>
            <a:ext cx="7429500" cy="171450"/>
          </a:xfrm>
          <a:prstGeom prst="rect">
            <a:avLst/>
          </a:prstGeom>
          <a:noFill/>
          <a:ln w="0">
            <a:noFill/>
            <a:prstDash val="solid"/>
          </a:ln>
        </p:spPr>
        <p:txBody>
          <a:bodyPr lIns="0" tIns="0" rIns="0" bIns="0" anchor="t"/>
          <a:lstStyle/>
          <a:p>
            <a:pPr algn="l">
              <a:defRPr sz="825" b="0">
                <a:solidFill>
                  <a:srgbClr val="8A949E"/>
                </a:solidFill>
                <a:latin typeface="Arial"/>
                <a:ea typeface="Arial"/>
                <a:cs typeface="Arial"/>
              </a:defRPr>
            </a:pPr>
            <a:r>
              <a:rPr sz="825" b="0">
                <a:solidFill>
                  <a:srgbClr val="8A949E"/>
                </a:solidFill>
                <a:latin typeface="Arial"/>
                <a:ea typeface="Arial"/>
                <a:cs typeface="Arial"/>
              </a:rPr>
              <a:t>Fady Samaan · Ravi Tamang  |  Master's Thesis · Apollon</a:t>
            </a:r>
          </a:p>
        </p:txBody>
      </p:sp>
      <p:pic>
        <p:nvPicPr>
          <p:cNvPr id="22" name="Picture 21"/>
          <p:cNvPicPr>
            <a:picLocks noChangeAspect="1"/>
          </p:cNvPicPr>
          <p:nvPr/>
        </p:nvPicPr>
        <p:blipFill>
          <a:blip r:embed="rId4"/>
          <a:stretch/>
        </p:blipFill>
        <p:spPr>
          <a:xfrm>
            <a:off x="1181436" y="1295400"/>
            <a:ext cx="4476078" cy="5029200"/>
          </a:xfrm>
          <a:prstGeom prst="rect">
            <a:avLst/>
          </a:prstGeom>
        </p:spPr>
      </p:pic>
      <p:sp>
        <p:nvSpPr>
          <p:cNvPr id="8" name="Rectangle 7">
            <a:extLst>
              <a:ext uri="{FF2B5EF4-FFF2-40B4-BE49-F238E27FC236}">
                <a16:creationId xmlns:a16="http://schemas.microsoft.com/office/drawing/2014/main" id="{24382B62-563C-4C08-A46F-C456A8D7C3CC}"/>
              </a:ext>
            </a:extLst>
          </p:cNvPr>
          <p:cNvSpPr>
            <a:spLocks noGrp="1"/>
          </p:cNvSpPr>
          <p:nvPr/>
        </p:nvSpPr>
        <p:spPr>
          <a:xfrm>
            <a:off x="7239000" y="1562100"/>
            <a:ext cx="3333750" cy="266700"/>
          </a:xfrm>
          <a:prstGeom prst="rect">
            <a:avLst/>
          </a:prstGeom>
          <a:noFill/>
          <a:ln w="0">
            <a:noFill/>
            <a:prstDash val="solid"/>
          </a:ln>
        </p:spPr>
        <p:txBody>
          <a:bodyPr lIns="0" tIns="0" rIns="0" bIns="0" anchor="t"/>
          <a:lstStyle/>
          <a:p>
            <a:pPr algn="l">
              <a:defRPr sz="1725" b="1">
                <a:solidFill>
                  <a:srgbClr val="003359"/>
                </a:solidFill>
                <a:latin typeface="Arial"/>
                <a:ea typeface="Arial"/>
                <a:cs typeface="Arial"/>
              </a:defRPr>
            </a:pPr>
            <a:r>
              <a:rPr sz="1725" b="1">
                <a:solidFill>
                  <a:srgbClr val="003359"/>
                </a:solidFill>
                <a:latin typeface="Arial"/>
                <a:ea typeface="Arial"/>
                <a:cs typeface="Arial"/>
              </a:rPr>
              <a:t>Legend</a:t>
            </a:r>
          </a:p>
        </p:txBody>
      </p:sp>
      <p:sp>
        <p:nvSpPr>
          <p:cNvPr id="9" name="Rectangle: Rounded Corners 8">
            <a:extLst>
              <a:ext uri="{FF2B5EF4-FFF2-40B4-BE49-F238E27FC236}">
                <a16:creationId xmlns:a16="http://schemas.microsoft.com/office/drawing/2014/main" id="{A37AAF0F-437C-4FD7-A0AE-D4713081C5C7}"/>
              </a:ext>
            </a:extLst>
          </p:cNvPr>
          <p:cNvSpPr>
            <a:spLocks noGrp="1"/>
          </p:cNvSpPr>
          <p:nvPr/>
        </p:nvSpPr>
        <p:spPr>
          <a:xfrm>
            <a:off x="7239000" y="2095500"/>
            <a:ext cx="3524250" cy="742950"/>
          </a:xfrm>
          <a:prstGeom prst="roundRect">
            <a:avLst>
              <a:gd name="adj" fmla="val 15385"/>
            </a:avLst>
          </a:prstGeom>
          <a:solidFill>
            <a:srgbClr val="FFFFFF"/>
          </a:solidFill>
          <a:ln w="11430">
            <a:solidFill>
              <a:srgbClr val="111820"/>
            </a:solidFill>
            <a:prstDash val="solid"/>
          </a:ln>
        </p:spPr>
        <p:txBody>
          <a:bodyPr/>
          <a:lstStyle/>
          <a:p>
            <a:endParaRPr lang="de-DE"/>
          </a:p>
        </p:txBody>
      </p:sp>
      <p:sp>
        <p:nvSpPr>
          <p:cNvPr id="10" name="Rectangle 9">
            <a:extLst>
              <a:ext uri="{FF2B5EF4-FFF2-40B4-BE49-F238E27FC236}">
                <a16:creationId xmlns:a16="http://schemas.microsoft.com/office/drawing/2014/main" id="{FCE626B8-7825-422E-8176-592FFCF5C155}"/>
              </a:ext>
            </a:extLst>
          </p:cNvPr>
          <p:cNvSpPr>
            <a:spLocks noGrp="1"/>
          </p:cNvSpPr>
          <p:nvPr/>
        </p:nvSpPr>
        <p:spPr>
          <a:xfrm>
            <a:off x="7505700" y="2324100"/>
            <a:ext cx="2990850" cy="285750"/>
          </a:xfrm>
          <a:prstGeom prst="rect">
            <a:avLst/>
          </a:prstGeom>
          <a:noFill/>
          <a:ln w="0">
            <a:noFill/>
            <a:prstDash val="solid"/>
          </a:ln>
        </p:spPr>
        <p:txBody>
          <a:bodyPr lIns="0" tIns="0" rIns="0" bIns="0" anchor="t"/>
          <a:lstStyle/>
          <a:p>
            <a:pPr algn="ctr">
              <a:defRPr sz="1500" b="1">
                <a:solidFill>
                  <a:srgbClr val="111820"/>
                </a:solidFill>
                <a:latin typeface="Arial"/>
                <a:ea typeface="Arial"/>
                <a:cs typeface="Arial"/>
              </a:defRPr>
            </a:pPr>
            <a:r>
              <a:rPr sz="1500" b="1">
                <a:solidFill>
                  <a:srgbClr val="111820"/>
                </a:solidFill>
                <a:latin typeface="Arial"/>
                <a:ea typeface="Arial"/>
                <a:cs typeface="Arial"/>
              </a:rPr>
              <a:t>Existing</a:t>
            </a:r>
          </a:p>
        </p:txBody>
      </p:sp>
      <p:sp>
        <p:nvSpPr>
          <p:cNvPr id="11" name="Rectangle: Rounded Corners 10">
            <a:extLst>
              <a:ext uri="{FF2B5EF4-FFF2-40B4-BE49-F238E27FC236}">
                <a16:creationId xmlns:a16="http://schemas.microsoft.com/office/drawing/2014/main" id="{171246CB-1A18-4FFC-A2F5-65F0ACFD29EF}"/>
              </a:ext>
            </a:extLst>
          </p:cNvPr>
          <p:cNvSpPr>
            <a:spLocks noGrp="1"/>
          </p:cNvSpPr>
          <p:nvPr/>
        </p:nvSpPr>
        <p:spPr>
          <a:xfrm>
            <a:off x="7239000" y="3067050"/>
            <a:ext cx="3524250" cy="742950"/>
          </a:xfrm>
          <a:prstGeom prst="roundRect">
            <a:avLst>
              <a:gd name="adj" fmla="val 15385"/>
            </a:avLst>
          </a:prstGeom>
          <a:solidFill>
            <a:srgbClr val="FFF1E7"/>
          </a:solidFill>
          <a:ln w="11430">
            <a:solidFill>
              <a:srgbClr val="E37222"/>
            </a:solidFill>
            <a:prstDash val="solid"/>
          </a:ln>
        </p:spPr>
        <p:txBody>
          <a:bodyPr/>
          <a:lstStyle/>
          <a:p>
            <a:endParaRPr lang="de-DE"/>
          </a:p>
        </p:txBody>
      </p:sp>
      <p:sp>
        <p:nvSpPr>
          <p:cNvPr id="12" name="Rectangle 11">
            <a:extLst>
              <a:ext uri="{FF2B5EF4-FFF2-40B4-BE49-F238E27FC236}">
                <a16:creationId xmlns:a16="http://schemas.microsoft.com/office/drawing/2014/main" id="{A20A70BE-A854-4C7D-A25D-E9E02B711B94}"/>
              </a:ext>
            </a:extLst>
          </p:cNvPr>
          <p:cNvSpPr>
            <a:spLocks noGrp="1"/>
          </p:cNvSpPr>
          <p:nvPr/>
        </p:nvSpPr>
        <p:spPr>
          <a:xfrm>
            <a:off x="7505700" y="3295650"/>
            <a:ext cx="2990850" cy="285750"/>
          </a:xfrm>
          <a:prstGeom prst="rect">
            <a:avLst/>
          </a:prstGeom>
          <a:noFill/>
          <a:ln w="0">
            <a:noFill/>
            <a:prstDash val="solid"/>
          </a:ln>
        </p:spPr>
        <p:txBody>
          <a:bodyPr lIns="0" tIns="0" rIns="0" bIns="0" anchor="t"/>
          <a:lstStyle/>
          <a:p>
            <a:pPr algn="ctr">
              <a:defRPr sz="1500" b="1">
                <a:solidFill>
                  <a:srgbClr val="E37222"/>
                </a:solidFill>
                <a:latin typeface="Arial"/>
                <a:ea typeface="Arial"/>
                <a:cs typeface="Arial"/>
              </a:defRPr>
            </a:pPr>
            <a:r>
              <a:rPr sz="1500" b="1">
                <a:solidFill>
                  <a:srgbClr val="E37222"/>
                </a:solidFill>
                <a:latin typeface="Arial"/>
                <a:ea typeface="Arial"/>
                <a:cs typeface="Arial"/>
              </a:rPr>
              <a:t>Modified</a:t>
            </a:r>
          </a:p>
        </p:txBody>
      </p:sp>
      <p:sp>
        <p:nvSpPr>
          <p:cNvPr id="13" name="Rectangle: Rounded Corners 12">
            <a:extLst>
              <a:ext uri="{FF2B5EF4-FFF2-40B4-BE49-F238E27FC236}">
                <a16:creationId xmlns:a16="http://schemas.microsoft.com/office/drawing/2014/main" id="{FBB924C4-955A-4375-BEAF-7215171E4216}"/>
              </a:ext>
            </a:extLst>
          </p:cNvPr>
          <p:cNvSpPr>
            <a:spLocks noGrp="1"/>
          </p:cNvSpPr>
          <p:nvPr/>
        </p:nvSpPr>
        <p:spPr>
          <a:xfrm>
            <a:off x="7239000" y="4038600"/>
            <a:ext cx="3524250" cy="742950"/>
          </a:xfrm>
          <a:prstGeom prst="roundRect">
            <a:avLst>
              <a:gd name="adj" fmla="val 15385"/>
            </a:avLst>
          </a:prstGeom>
          <a:solidFill>
            <a:srgbClr val="EAF4FB"/>
          </a:solidFill>
          <a:ln w="11430">
            <a:solidFill>
              <a:srgbClr val="0065BD"/>
            </a:solidFill>
            <a:prstDash val="solid"/>
          </a:ln>
        </p:spPr>
        <p:txBody>
          <a:bodyPr/>
          <a:lstStyle/>
          <a:p>
            <a:endParaRPr lang="de-DE"/>
          </a:p>
        </p:txBody>
      </p:sp>
      <p:sp>
        <p:nvSpPr>
          <p:cNvPr id="14" name="Rectangle 13">
            <a:extLst>
              <a:ext uri="{FF2B5EF4-FFF2-40B4-BE49-F238E27FC236}">
                <a16:creationId xmlns:a16="http://schemas.microsoft.com/office/drawing/2014/main" id="{90477530-4E88-4044-AF1D-322DA4EA747E}"/>
              </a:ext>
            </a:extLst>
          </p:cNvPr>
          <p:cNvSpPr>
            <a:spLocks noGrp="1"/>
          </p:cNvSpPr>
          <p:nvPr/>
        </p:nvSpPr>
        <p:spPr>
          <a:xfrm>
            <a:off x="7505700" y="4267200"/>
            <a:ext cx="2990850" cy="285750"/>
          </a:xfrm>
          <a:prstGeom prst="rect">
            <a:avLst/>
          </a:prstGeom>
          <a:noFill/>
          <a:ln w="0">
            <a:noFill/>
            <a:prstDash val="solid"/>
          </a:ln>
        </p:spPr>
        <p:txBody>
          <a:bodyPr lIns="0" tIns="0" rIns="0" bIns="0" anchor="t"/>
          <a:lstStyle/>
          <a:p>
            <a:pPr algn="ctr">
              <a:defRPr sz="1500" b="1">
                <a:solidFill>
                  <a:srgbClr val="0065BD"/>
                </a:solidFill>
                <a:latin typeface="Arial"/>
                <a:ea typeface="Arial"/>
                <a:cs typeface="Arial"/>
              </a:defRPr>
            </a:pPr>
            <a:r>
              <a:rPr sz="1500" b="1">
                <a:solidFill>
                  <a:srgbClr val="0065BD"/>
                </a:solidFill>
                <a:latin typeface="Arial"/>
                <a:ea typeface="Arial"/>
                <a:cs typeface="Arial"/>
              </a:rPr>
              <a:t>Added</a:t>
            </a:r>
          </a:p>
        </p:txBody>
      </p:sp>
      <p:sp>
        <p:nvSpPr>
          <p:cNvPr id="15" name="Rectangle 14">
            <a:extLst>
              <a:ext uri="{FF2B5EF4-FFF2-40B4-BE49-F238E27FC236}">
                <a16:creationId xmlns:a16="http://schemas.microsoft.com/office/drawing/2014/main" id="{336E129A-50B8-410A-8D6C-DB49702E7282}"/>
              </a:ext>
            </a:extLst>
          </p:cNvPr>
          <p:cNvSpPr>
            <a:spLocks noGrp="1"/>
          </p:cNvSpPr>
          <p:nvPr/>
        </p:nvSpPr>
        <p:spPr>
          <a:xfrm>
            <a:off x="7239000" y="5219700"/>
            <a:ext cx="3524250" cy="704850"/>
          </a:xfrm>
          <a:prstGeom prst="rect">
            <a:avLst/>
          </a:prstGeom>
          <a:noFill/>
          <a:ln w="0">
            <a:noFill/>
            <a:prstDash val="solid"/>
          </a:ln>
        </p:spPr>
        <p:txBody>
          <a:bodyPr lIns="0" tIns="0" rIns="0" bIns="0" anchor="t"/>
          <a:lstStyle/>
          <a:p>
            <a:pPr algn="ctr">
              <a:defRPr sz="1350" b="0">
                <a:solidFill>
                  <a:srgbClr val="56616B"/>
                </a:solidFill>
                <a:latin typeface="Arial"/>
                <a:ea typeface="Arial"/>
                <a:cs typeface="Arial"/>
              </a:defRPr>
            </a:pPr>
            <a:r>
              <a:rPr sz="1350" b="0">
                <a:solidFill>
                  <a:srgbClr val="56616B"/>
                </a:solidFill>
                <a:latin typeface="Arial"/>
                <a:ea typeface="Arial"/>
                <a:cs typeface="Arial"/>
              </a:rPr>
              <a:t>New scope includes diagram management, collaborator following, and editable PPTX export.</a:t>
            </a:r>
          </a:p>
        </p:txBody>
      </p:sp>
    </p:spTree>
    <p:extLst>
      <p:ext uri="{BB962C8B-B14F-4D97-AF65-F5344CB8AC3E}">
        <p14:creationId xmlns:p14="http://schemas.microsoft.com/office/powerpoint/2010/main" val="622720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TUM">
      <a:dk1>
        <a:srgbClr val="000000"/>
      </a:dk1>
      <a:lt1>
        <a:srgbClr val="FFFFFF"/>
      </a:lt1>
      <a:dk2>
        <a:srgbClr val="003359"/>
      </a:dk2>
      <a:lt2>
        <a:srgbClr val="EAF4FB"/>
      </a:lt2>
      <a:accent1>
        <a:srgbClr val="0065BD"/>
      </a:accent1>
      <a:accent2>
        <a:srgbClr val="98C6EA"/>
      </a:accent2>
      <a:accent3>
        <a:srgbClr val="64A0C8"/>
      </a:accent3>
      <a:accent4>
        <a:srgbClr val="DAD7CB"/>
      </a:accent4>
      <a:accent5>
        <a:srgbClr val="A2AD00"/>
      </a:accent5>
      <a:accent6>
        <a:srgbClr val="E37222"/>
      </a:accent6>
      <a:hlink>
        <a:srgbClr val="0065BD"/>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3045</Words>
  <Application>Microsoft Office PowerPoint</Application>
  <DocSecurity>0</DocSecurity>
  <PresentationFormat>Widescreen</PresentationFormat>
  <Paragraphs>422</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Fady Samaan</cp:lastModifiedBy>
  <cp:revision>1</cp:revision>
  <dcterms:created xsi:type="dcterms:W3CDTF">2026-07-23T15:35:50Z</dcterms:created>
  <dcterms:modified xsi:type="dcterms:W3CDTF">2026-07-23T15:57:09Z</dcterms:modified>
</cp:coreProperties>
</file>